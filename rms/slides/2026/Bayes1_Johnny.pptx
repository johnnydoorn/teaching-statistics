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739" r:id="rId8"/>
    <p:sldMasterId id="2147483752" r:id="rId9"/>
    <p:sldMasterId id="2147483765" r:id="rId10"/>
    <p:sldMasterId id="2147483778" r:id="rId11"/>
  </p:sldMasterIdLst>
  <p:notesMasterIdLst>
    <p:notesMasterId r:id="rId90"/>
  </p:notesMasterIdLst>
  <p:sldIdLst>
    <p:sldId id="256" r:id="rId12"/>
    <p:sldId id="328" r:id="rId13"/>
    <p:sldId id="330" r:id="rId14"/>
    <p:sldId id="327" r:id="rId15"/>
    <p:sldId id="257" r:id="rId16"/>
    <p:sldId id="333" r:id="rId17"/>
    <p:sldId id="258" r:id="rId18"/>
    <p:sldId id="259" r:id="rId19"/>
    <p:sldId id="260" r:id="rId20"/>
    <p:sldId id="334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03" r:id="rId64"/>
    <p:sldId id="304" r:id="rId65"/>
    <p:sldId id="305" r:id="rId66"/>
    <p:sldId id="306" r:id="rId67"/>
    <p:sldId id="307" r:id="rId68"/>
    <p:sldId id="308" r:id="rId69"/>
    <p:sldId id="309" r:id="rId70"/>
    <p:sldId id="310" r:id="rId71"/>
    <p:sldId id="311" r:id="rId72"/>
    <p:sldId id="312" r:id="rId73"/>
    <p:sldId id="313" r:id="rId74"/>
    <p:sldId id="314" r:id="rId75"/>
    <p:sldId id="315" r:id="rId76"/>
    <p:sldId id="316" r:id="rId77"/>
    <p:sldId id="317" r:id="rId78"/>
    <p:sldId id="318" r:id="rId79"/>
    <p:sldId id="319" r:id="rId80"/>
    <p:sldId id="320" r:id="rId81"/>
    <p:sldId id="322" r:id="rId82"/>
    <p:sldId id="331" r:id="rId83"/>
    <p:sldId id="321" r:id="rId84"/>
    <p:sldId id="323" r:id="rId85"/>
    <p:sldId id="324" r:id="rId86"/>
    <p:sldId id="329" r:id="rId87"/>
    <p:sldId id="325" r:id="rId88"/>
    <p:sldId id="326" r:id="rId89"/>
  </p:sldIdLst>
  <p:sldSz cx="12192000" cy="6858000"/>
  <p:notesSz cx="9144000" cy="6858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/>
    <p:restoredTop sz="94694"/>
  </p:normalViewPr>
  <p:slideViewPr>
    <p:cSldViewPr snapToGrid="0">
      <p:cViewPr varScale="1">
        <p:scale>
          <a:sx n="121" d="100"/>
          <a:sy n="121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84" Type="http://schemas.openxmlformats.org/officeDocument/2006/relationships/slide" Target="slides/slide73.xml"/><Relationship Id="rId89" Type="http://schemas.openxmlformats.org/officeDocument/2006/relationships/slide" Target="slides/slide78.xml"/><Relationship Id="rId16" Type="http://schemas.openxmlformats.org/officeDocument/2006/relationships/slide" Target="slides/slide5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74" Type="http://schemas.openxmlformats.org/officeDocument/2006/relationships/slide" Target="slides/slide63.xml"/><Relationship Id="rId79" Type="http://schemas.openxmlformats.org/officeDocument/2006/relationships/slide" Target="slides/slide68.xml"/><Relationship Id="rId5" Type="http://schemas.openxmlformats.org/officeDocument/2006/relationships/slideMaster" Target="slideMasters/slideMaster5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80" Type="http://schemas.openxmlformats.org/officeDocument/2006/relationships/slide" Target="slides/slide69.xml"/><Relationship Id="rId85" Type="http://schemas.openxmlformats.org/officeDocument/2006/relationships/slide" Target="slides/slide74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slide" Target="slides/slide48.xml"/><Relationship Id="rId67" Type="http://schemas.openxmlformats.org/officeDocument/2006/relationships/slide" Target="slides/slide56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slide" Target="slides/slide43.xml"/><Relationship Id="rId62" Type="http://schemas.openxmlformats.org/officeDocument/2006/relationships/slide" Target="slides/slide51.xml"/><Relationship Id="rId70" Type="http://schemas.openxmlformats.org/officeDocument/2006/relationships/slide" Target="slides/slide59.xml"/><Relationship Id="rId75" Type="http://schemas.openxmlformats.org/officeDocument/2006/relationships/slide" Target="slides/slide64.xml"/><Relationship Id="rId83" Type="http://schemas.openxmlformats.org/officeDocument/2006/relationships/slide" Target="slides/slide72.xml"/><Relationship Id="rId88" Type="http://schemas.openxmlformats.org/officeDocument/2006/relationships/slide" Target="slides/slide7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slide" Target="slides/slide46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73" Type="http://schemas.openxmlformats.org/officeDocument/2006/relationships/slide" Target="slides/slide62.xml"/><Relationship Id="rId78" Type="http://schemas.openxmlformats.org/officeDocument/2006/relationships/slide" Target="slides/slide67.xml"/><Relationship Id="rId81" Type="http://schemas.openxmlformats.org/officeDocument/2006/relationships/slide" Target="slides/slide70.xml"/><Relationship Id="rId86" Type="http://schemas.openxmlformats.org/officeDocument/2006/relationships/slide" Target="slides/slide75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6" Type="http://schemas.openxmlformats.org/officeDocument/2006/relationships/slide" Target="slides/slide65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0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4" Type="http://schemas.openxmlformats.org/officeDocument/2006/relationships/slide" Target="slides/slide13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66" Type="http://schemas.openxmlformats.org/officeDocument/2006/relationships/slide" Target="slides/slide55.xml"/><Relationship Id="rId87" Type="http://schemas.openxmlformats.org/officeDocument/2006/relationships/slide" Target="slides/slide76.xml"/><Relationship Id="rId61" Type="http://schemas.openxmlformats.org/officeDocument/2006/relationships/slide" Target="slides/slide50.xml"/><Relationship Id="rId82" Type="http://schemas.openxmlformats.org/officeDocument/2006/relationships/slide" Target="slides/slide71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56" Type="http://schemas.openxmlformats.org/officeDocument/2006/relationships/slide" Target="slides/slide45.xml"/><Relationship Id="rId7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3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3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3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E53C7119-0A39-4350-AB48-F6208D50D27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CustomShape 1"/>
          <p:cNvSpPr/>
          <p:nvPr/>
        </p:nvSpPr>
        <p:spPr>
          <a:xfrm>
            <a:off x="3884760" y="8685360"/>
            <a:ext cx="2954520" cy="44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609CB089-D6BB-402B-9B80-1F329CBEE9A0}" type="slidenum">
              <a:rPr lang="en-US" sz="1200" b="0" strike="noStrike" spc="-1">
                <a:solidFill>
                  <a:srgbClr val="000000"/>
                </a:solidFill>
                <a:latin typeface="Arial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8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5763" y="695325"/>
            <a:ext cx="6078537" cy="3419475"/>
          </a:xfrm>
          <a:prstGeom prst="rect">
            <a:avLst/>
          </a:prstGeom>
          <a:ln w="0">
            <a:noFill/>
          </a:ln>
        </p:spPr>
      </p:sp>
      <p:sp>
        <p:nvSpPr>
          <p:cNvPr id="8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9120" cy="358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 marL="216000" indent="-20088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E53C7119-0A39-4350-AB48-F6208D50D27C}" type="slidenum">
              <a:rPr lang="en-US" sz="1400" b="0" strike="noStrike" spc="-1" smtClean="0">
                <a:latin typeface="Times New Roman"/>
              </a:rPr>
              <a:t>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0584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E53C7119-0A39-4350-AB48-F6208D50D27C}" type="slidenum">
              <a:rPr lang="en-US" sz="1400" b="0" strike="noStrike" spc="-1" smtClean="0">
                <a:latin typeface="Times New Roman"/>
              </a:rPr>
              <a:t>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8869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D2040-677C-6218-466B-8605FE729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D11C96-138F-3D11-FB16-61F0409B4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8B714-0AB0-EC9C-C5B9-8EACD6346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0D656-E9B2-F687-F48A-E1EBCB8043B6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E53C7119-0A39-4350-AB48-F6208D50D27C}" type="slidenum">
              <a:rPr lang="en-US" sz="1400" b="0" strike="noStrike" spc="-1" smtClean="0">
                <a:latin typeface="Times New Roman"/>
              </a:r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866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E53C7119-0A39-4350-AB48-F6208D50D27C}" type="slidenum">
              <a:rPr lang="en-US" sz="1400" b="0" strike="noStrike" spc="-1" smtClean="0">
                <a:latin typeface="Times New Roman"/>
              </a:rPr>
              <a:t>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0244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E53C7119-0A39-4350-AB48-F6208D50D27C}" type="slidenum">
              <a:rPr lang="en-US" sz="1400" b="0" strike="noStrike" spc="-1" smtClean="0">
                <a:latin typeface="Times New Roman"/>
              </a:rPr>
              <a:t>72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7023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E53C7119-0A39-4350-AB48-F6208D50D27C}" type="slidenum">
              <a:rPr lang="en-US" sz="1400" b="0" strike="noStrike" spc="-1" smtClean="0">
                <a:latin typeface="Times New Roman"/>
              </a:rPr>
              <a:t>76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5612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94800"/>
            <a:ext cx="6088320" cy="3421440"/>
          </a:xfrm>
          <a:prstGeom prst="rect">
            <a:avLst/>
          </a:prstGeom>
          <a:ln w="0">
            <a:noFill/>
          </a:ln>
        </p:spPr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920" cy="358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878" name="CustomShape 3"/>
          <p:cNvSpPr/>
          <p:nvPr/>
        </p:nvSpPr>
        <p:spPr>
          <a:xfrm>
            <a:off x="3884760" y="8685360"/>
            <a:ext cx="2956320" cy="44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BC863C7A-E2DA-48AC-9BFB-574C93A3E792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77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94800"/>
            <a:ext cx="6088320" cy="3421440"/>
          </a:xfrm>
          <a:prstGeom prst="rect">
            <a:avLst/>
          </a:prstGeom>
          <a:ln w="0">
            <a:noFill/>
          </a:ln>
        </p:spPr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380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881" name="CustomShape 3"/>
          <p:cNvSpPr/>
          <p:nvPr/>
        </p:nvSpPr>
        <p:spPr>
          <a:xfrm>
            <a:off x="3884760" y="8685360"/>
            <a:ext cx="2959200" cy="44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E59768D3-9C76-4B88-B08F-F98D11F2028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78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11483640" y="6492600"/>
            <a:ext cx="1250640" cy="35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fld id="{14109587-B0A6-4082-A44E-16D07E97573F}" type="slidenum"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800" b="0" strike="noStrike" spc="-1"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11483640" y="6492600"/>
            <a:ext cx="1250640" cy="35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fld id="{F1162A67-4B6A-492D-8799-5427FEBA3F20}" type="slidenum"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800" b="0" strike="noStrike" spc="-1"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11483640" y="6492600"/>
            <a:ext cx="1250640" cy="35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fld id="{E7B8AB01-9440-468D-9427-B7D4279EA16B}" type="slidenum"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800" b="0" strike="noStrike" spc="-1"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1483640" y="6492600"/>
            <a:ext cx="1250640" cy="35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fld id="{6AC15A7F-AA91-4B7E-967E-F84E0760EC49}" type="slidenum"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800" b="0" strike="noStrike" spc="-1"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11483640" y="6492600"/>
            <a:ext cx="1250640" cy="35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fld id="{92750017-BFF1-4595-8ECC-60032B5E33CE}" type="slidenum"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800" b="0" strike="noStrike" spc="-1">
              <a:latin typeface="Aria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ustomShape 1"/>
          <p:cNvSpPr/>
          <p:nvPr/>
        </p:nvSpPr>
        <p:spPr>
          <a:xfrm>
            <a:off x="11483640" y="6492600"/>
            <a:ext cx="1250640" cy="35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fld id="{FB2ED955-160E-4E5B-BE7B-35779307A727}" type="slidenum"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800" b="0" strike="noStrike" spc="-1">
              <a:latin typeface="Arial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11483640" y="6492600"/>
            <a:ext cx="1250640" cy="35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fld id="{1CECFEA9-F576-42D4-AB83-F9DF20839305}" type="slidenum"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800" b="0" strike="noStrike" spc="-1">
              <a:latin typeface="Arial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CustomShape 1"/>
          <p:cNvSpPr/>
          <p:nvPr/>
        </p:nvSpPr>
        <p:spPr>
          <a:xfrm>
            <a:off x="11483640" y="6492600"/>
            <a:ext cx="1250640" cy="35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fld id="{A7CD7C4A-C2C7-4D6F-9F11-14B5FBBDD618}" type="slidenum"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800" b="0" strike="noStrike" spc="-1"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CustomShape 1"/>
          <p:cNvSpPr/>
          <p:nvPr/>
        </p:nvSpPr>
        <p:spPr>
          <a:xfrm>
            <a:off x="11483640" y="6492600"/>
            <a:ext cx="1250640" cy="35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fld id="{AA60C2D1-64FF-42CD-8811-52D3EAF74C57}" type="slidenum"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800" b="0" strike="noStrike" spc="-1">
              <a:latin typeface="Arial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CustomShape 1"/>
          <p:cNvSpPr/>
          <p:nvPr/>
        </p:nvSpPr>
        <p:spPr>
          <a:xfrm>
            <a:off x="11483640" y="6492600"/>
            <a:ext cx="1250640" cy="35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fld id="{3EB561CB-837E-42A7-932F-3C6B39515393}" type="slidenum"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800" b="0" strike="noStrike" spc="-1">
              <a:latin typeface="Arial"/>
            </a:endParaRPr>
          </a:p>
        </p:txBody>
      </p:sp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andfonline.com/doi/full/10.1080/00224545.2023.2232093?src=exp-o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ohnnydoorn.github.io/IntroductionBayesianInferenc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app.goo.gl/vVeK3aCpw9vHckmi6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arxiv.org/pdf/2310.0415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hyperlink" Target="https://news.stanford.edu/pr/2004/diaconis-69.html" TargetMode="Externa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aglit.me/antivichmfy" TargetMode="External"/><Relationship Id="rId2" Type="http://schemas.openxmlformats.org/officeDocument/2006/relationships/hyperlink" Target="https://researchmethodsuva.shinyapps.io/test/" TargetMode="Externa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3.xml"/><Relationship Id="rId6" Type="http://schemas.openxmlformats.org/officeDocument/2006/relationships/image" Target="../media/image34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4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7.xml"/><Relationship Id="rId4" Type="http://schemas.openxmlformats.org/officeDocument/2006/relationships/image" Target="../media/image5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7.xml"/><Relationship Id="rId4" Type="http://schemas.openxmlformats.org/officeDocument/2006/relationships/image" Target="../media/image53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johnnydoorn.github.io/IntroductionBayesianInference/" TargetMode="External"/><Relationship Id="rId1" Type="http://schemas.openxmlformats.org/officeDocument/2006/relationships/slideLayout" Target="../slideLayouts/slideLayout109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hyperlink" Target="https://johnnydoorn.github.io/IntroductionBayesianInference/06-exercises.html#summary-stats" TargetMode="External"/><Relationship Id="rId3" Type="http://schemas.openxmlformats.org/officeDocument/2006/relationships/hyperlink" Target="https://jasp-stats.org/download/" TargetMode="External"/><Relationship Id="rId7" Type="http://schemas.openxmlformats.org/officeDocument/2006/relationships/hyperlink" Target="https://johnnydoorn.github.io/teaching-statistics/jasp-gifs/2024/Bayesian-Correlation_Summary-Statistics.mp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9.xml"/><Relationship Id="rId6" Type="http://schemas.openxmlformats.org/officeDocument/2006/relationships/hyperlink" Target="https://johnnydoorn.github.io/teaching-statistics/jasp-gifs/2024/Bayesian-TTest_Summary-Statistics.mp4" TargetMode="External"/><Relationship Id="rId5" Type="http://schemas.openxmlformats.org/officeDocument/2006/relationships/hyperlink" Target="https://johnnydoorn.github.io/teaching-statistics/jasp-gifs/2024/Binomial-Test_SummaryStatistics.mp4" TargetMode="External"/><Relationship Id="rId4" Type="http://schemas.openxmlformats.org/officeDocument/2006/relationships/hyperlink" Target="https://apps.uva.nl/" TargetMode="Externa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johnnydoorn.github.io/IntroductionBayesianInference/06-exercises.html" TargetMode="External"/><Relationship Id="rId1" Type="http://schemas.openxmlformats.org/officeDocument/2006/relationships/slideLayout" Target="../slideLayouts/slideLayout10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TDjifpGj-k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psyarxiv.com/w5vbp/downloa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1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roup 1"/>
          <p:cNvGrpSpPr/>
          <p:nvPr/>
        </p:nvGrpSpPr>
        <p:grpSpPr>
          <a:xfrm>
            <a:off x="1622520" y="-789120"/>
            <a:ext cx="9007200" cy="7662240"/>
            <a:chOff x="1622520" y="-789120"/>
            <a:chExt cx="9007200" cy="7662240"/>
          </a:xfrm>
        </p:grpSpPr>
        <p:sp>
          <p:nvSpPr>
            <p:cNvPr id="435" name="CustomShape 2"/>
            <p:cNvSpPr/>
            <p:nvPr/>
          </p:nvSpPr>
          <p:spPr>
            <a:xfrm>
              <a:off x="5493600" y="6691680"/>
              <a:ext cx="1574640" cy="18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nl-NL" sz="8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Pictures source: pixabay</a:t>
              </a:r>
              <a:endParaRPr lang="en-US" sz="800" b="0" strike="noStrike" spc="-1">
                <a:latin typeface="Arial"/>
              </a:endParaRPr>
            </a:p>
          </p:txBody>
        </p:sp>
        <p:grpSp>
          <p:nvGrpSpPr>
            <p:cNvPr id="436" name="Group 3"/>
            <p:cNvGrpSpPr/>
            <p:nvPr/>
          </p:nvGrpSpPr>
          <p:grpSpPr>
            <a:xfrm>
              <a:off x="1622520" y="-789120"/>
              <a:ext cx="9007200" cy="4166280"/>
              <a:chOff x="1622520" y="-789120"/>
              <a:chExt cx="9007200" cy="4166280"/>
            </a:xfrm>
          </p:grpSpPr>
          <p:pic>
            <p:nvPicPr>
              <p:cNvPr id="437" name="Picture 436"/>
              <p:cNvPicPr/>
              <p:nvPr/>
            </p:nvPicPr>
            <p:blipFill>
              <a:blip r:embed="rId3"/>
              <a:srcRect r="5718"/>
              <a:stretch/>
            </p:blipFill>
            <p:spPr>
              <a:xfrm>
                <a:off x="1622520" y="-789120"/>
                <a:ext cx="9007200" cy="416628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438" name="CustomShape 4"/>
              <p:cNvSpPr/>
              <p:nvPr/>
            </p:nvSpPr>
            <p:spPr>
              <a:xfrm rot="20194200">
                <a:off x="4473000" y="1255320"/>
                <a:ext cx="101952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  <a:buNone/>
                </a:pPr>
                <a:r>
                  <a:rPr lang="nl-NL" sz="2000" b="1" i="1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Morling</a:t>
                </a:r>
                <a:endParaRPr lang="en-US" sz="2000" b="0" strike="noStrike" spc="-1">
                  <a:latin typeface="Arial"/>
                </a:endParaRPr>
              </a:p>
            </p:txBody>
          </p:sp>
          <p:sp>
            <p:nvSpPr>
              <p:cNvPr id="439" name="CustomShape 5"/>
              <p:cNvSpPr/>
              <p:nvPr/>
            </p:nvSpPr>
            <p:spPr>
              <a:xfrm rot="20194200">
                <a:off x="8717760" y="1266840"/>
                <a:ext cx="92952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  <a:buNone/>
                </a:pPr>
                <a:r>
                  <a:rPr lang="nl-NL" sz="2000" b="1" i="1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Agresti</a:t>
                </a:r>
                <a:endParaRPr lang="en-US" sz="2000" b="0" strike="noStrike" spc="-1">
                  <a:latin typeface="Arial"/>
                </a:endParaRPr>
              </a:p>
            </p:txBody>
          </p:sp>
        </p:grpSp>
      </p:grpSp>
      <p:sp>
        <p:nvSpPr>
          <p:cNvPr id="440" name="CustomShape 6"/>
          <p:cNvSpPr/>
          <p:nvPr/>
        </p:nvSpPr>
        <p:spPr>
          <a:xfrm>
            <a:off x="2448720" y="4754880"/>
            <a:ext cx="7135560" cy="71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Johnny van Doorn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41" name="CustomShape 7"/>
          <p:cNvSpPr/>
          <p:nvPr/>
        </p:nvSpPr>
        <p:spPr>
          <a:xfrm>
            <a:off x="663840" y="3383280"/>
            <a:ext cx="11115720" cy="16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Research Methods and Statistics</a:t>
            </a:r>
            <a:endParaRPr lang="en-US" sz="3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3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Lecture 20: Introduction to Bayesian Statistics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442" name="Picture 441"/>
          <p:cNvPicPr/>
          <p:nvPr/>
        </p:nvPicPr>
        <p:blipFill>
          <a:blip r:embed="rId4"/>
          <a:stretch/>
        </p:blipFill>
        <p:spPr>
          <a:xfrm>
            <a:off x="5662080" y="5852160"/>
            <a:ext cx="915120" cy="909000"/>
          </a:xfrm>
          <a:prstGeom prst="rect">
            <a:avLst/>
          </a:prstGeom>
          <a:ln w="0">
            <a:noFill/>
          </a:ln>
        </p:spPr>
      </p:pic>
      <p:sp>
        <p:nvSpPr>
          <p:cNvPr id="443" name="CustomShape 8"/>
          <p:cNvSpPr/>
          <p:nvPr/>
        </p:nvSpPr>
        <p:spPr>
          <a:xfrm>
            <a:off x="3414960" y="365760"/>
            <a:ext cx="2340000" cy="2556360"/>
          </a:xfrm>
          <a:custGeom>
            <a:avLst/>
            <a:gdLst/>
            <a:ahLst/>
            <a:cxnLst/>
            <a:rect l="l" t="t" r="r" b="b"/>
            <a:pathLst>
              <a:path w="6512" h="7113">
                <a:moveTo>
                  <a:pt x="3255" y="0"/>
                </a:moveTo>
                <a:cubicBezTo>
                  <a:pt x="5101" y="0"/>
                  <a:pt x="6511" y="1540"/>
                  <a:pt x="6511" y="3556"/>
                </a:cubicBezTo>
                <a:cubicBezTo>
                  <a:pt x="6511" y="5572"/>
                  <a:pt x="5101" y="7112"/>
                  <a:pt x="3255" y="7112"/>
                </a:cubicBezTo>
                <a:cubicBezTo>
                  <a:pt x="1409" y="7112"/>
                  <a:pt x="0" y="5572"/>
                  <a:pt x="0" y="3556"/>
                </a:cubicBezTo>
                <a:cubicBezTo>
                  <a:pt x="0" y="1540"/>
                  <a:pt x="1409" y="0"/>
                  <a:pt x="3255" y="0"/>
                </a:cubicBezTo>
                <a:moveTo>
                  <a:pt x="1265" y="2011"/>
                </a:moveTo>
                <a:lnTo>
                  <a:pt x="1197" y="2122"/>
                </a:lnTo>
                <a:lnTo>
                  <a:pt x="1134" y="2237"/>
                </a:lnTo>
                <a:lnTo>
                  <a:pt x="1076" y="2354"/>
                </a:lnTo>
                <a:lnTo>
                  <a:pt x="1024" y="2475"/>
                </a:lnTo>
                <a:lnTo>
                  <a:pt x="977" y="2599"/>
                </a:lnTo>
                <a:lnTo>
                  <a:pt x="936" y="2724"/>
                </a:lnTo>
                <a:lnTo>
                  <a:pt x="901" y="2852"/>
                </a:lnTo>
                <a:lnTo>
                  <a:pt x="871" y="2982"/>
                </a:lnTo>
                <a:lnTo>
                  <a:pt x="848" y="3113"/>
                </a:lnTo>
                <a:lnTo>
                  <a:pt x="831" y="3246"/>
                </a:lnTo>
                <a:lnTo>
                  <a:pt x="819" y="3379"/>
                </a:lnTo>
                <a:lnTo>
                  <a:pt x="814" y="3512"/>
                </a:lnTo>
                <a:lnTo>
                  <a:pt x="815" y="3646"/>
                </a:lnTo>
                <a:lnTo>
                  <a:pt x="823" y="3779"/>
                </a:lnTo>
                <a:lnTo>
                  <a:pt x="836" y="3912"/>
                </a:lnTo>
                <a:lnTo>
                  <a:pt x="855" y="4044"/>
                </a:lnTo>
                <a:lnTo>
                  <a:pt x="881" y="4175"/>
                </a:lnTo>
                <a:lnTo>
                  <a:pt x="912" y="4304"/>
                </a:lnTo>
                <a:lnTo>
                  <a:pt x="949" y="4431"/>
                </a:lnTo>
                <a:lnTo>
                  <a:pt x="992" y="4556"/>
                </a:lnTo>
                <a:lnTo>
                  <a:pt x="1041" y="4679"/>
                </a:lnTo>
                <a:lnTo>
                  <a:pt x="1095" y="4799"/>
                </a:lnTo>
                <a:lnTo>
                  <a:pt x="1155" y="4915"/>
                </a:lnTo>
                <a:lnTo>
                  <a:pt x="1220" y="5028"/>
                </a:lnTo>
                <a:lnTo>
                  <a:pt x="1290" y="5138"/>
                </a:lnTo>
                <a:lnTo>
                  <a:pt x="1365" y="5244"/>
                </a:lnTo>
                <a:lnTo>
                  <a:pt x="1445" y="5345"/>
                </a:lnTo>
                <a:lnTo>
                  <a:pt x="1529" y="5442"/>
                </a:lnTo>
                <a:lnTo>
                  <a:pt x="1618" y="5534"/>
                </a:lnTo>
                <a:lnTo>
                  <a:pt x="1711" y="5621"/>
                </a:lnTo>
                <a:lnTo>
                  <a:pt x="1807" y="5703"/>
                </a:lnTo>
                <a:lnTo>
                  <a:pt x="1907" y="5779"/>
                </a:lnTo>
                <a:lnTo>
                  <a:pt x="2011" y="5850"/>
                </a:lnTo>
                <a:lnTo>
                  <a:pt x="2118" y="5916"/>
                </a:lnTo>
                <a:lnTo>
                  <a:pt x="2228" y="5975"/>
                </a:lnTo>
                <a:lnTo>
                  <a:pt x="2340" y="6028"/>
                </a:lnTo>
                <a:lnTo>
                  <a:pt x="2454" y="6075"/>
                </a:lnTo>
                <a:lnTo>
                  <a:pt x="2571" y="6116"/>
                </a:lnTo>
                <a:lnTo>
                  <a:pt x="2689" y="6150"/>
                </a:lnTo>
                <a:lnTo>
                  <a:pt x="2809" y="6178"/>
                </a:lnTo>
                <a:lnTo>
                  <a:pt x="2930" y="6199"/>
                </a:lnTo>
                <a:lnTo>
                  <a:pt x="3051" y="6214"/>
                </a:lnTo>
                <a:lnTo>
                  <a:pt x="3173" y="6221"/>
                </a:lnTo>
                <a:lnTo>
                  <a:pt x="3296" y="6223"/>
                </a:lnTo>
                <a:lnTo>
                  <a:pt x="3418" y="6217"/>
                </a:lnTo>
                <a:lnTo>
                  <a:pt x="3540" y="6205"/>
                </a:lnTo>
                <a:lnTo>
                  <a:pt x="3661" y="6186"/>
                </a:lnTo>
                <a:lnTo>
                  <a:pt x="3781" y="6161"/>
                </a:lnTo>
                <a:lnTo>
                  <a:pt x="3900" y="6129"/>
                </a:lnTo>
                <a:lnTo>
                  <a:pt x="4017" y="6090"/>
                </a:lnTo>
                <a:lnTo>
                  <a:pt x="4132" y="6045"/>
                </a:lnTo>
                <a:lnTo>
                  <a:pt x="4245" y="5994"/>
                </a:lnTo>
                <a:lnTo>
                  <a:pt x="4356" y="5937"/>
                </a:lnTo>
                <a:lnTo>
                  <a:pt x="4464" y="5874"/>
                </a:lnTo>
                <a:lnTo>
                  <a:pt x="4569" y="5805"/>
                </a:lnTo>
                <a:lnTo>
                  <a:pt x="4670" y="5730"/>
                </a:lnTo>
                <a:lnTo>
                  <a:pt x="1265" y="2011"/>
                </a:lnTo>
                <a:moveTo>
                  <a:pt x="5246" y="5101"/>
                </a:moveTo>
                <a:lnTo>
                  <a:pt x="5315" y="4990"/>
                </a:lnTo>
                <a:lnTo>
                  <a:pt x="5378" y="4876"/>
                </a:lnTo>
                <a:lnTo>
                  <a:pt x="5436" y="4758"/>
                </a:lnTo>
                <a:lnTo>
                  <a:pt x="5488" y="4637"/>
                </a:lnTo>
                <a:lnTo>
                  <a:pt x="5535" y="4514"/>
                </a:lnTo>
                <a:lnTo>
                  <a:pt x="5576" y="4388"/>
                </a:lnTo>
                <a:lnTo>
                  <a:pt x="5611" y="4260"/>
                </a:lnTo>
                <a:lnTo>
                  <a:pt x="5641" y="4130"/>
                </a:lnTo>
                <a:lnTo>
                  <a:pt x="5664" y="3999"/>
                </a:lnTo>
                <a:lnTo>
                  <a:pt x="5681" y="3867"/>
                </a:lnTo>
                <a:lnTo>
                  <a:pt x="5693" y="3734"/>
                </a:lnTo>
                <a:lnTo>
                  <a:pt x="5698" y="3600"/>
                </a:lnTo>
                <a:lnTo>
                  <a:pt x="5697" y="3466"/>
                </a:lnTo>
                <a:lnTo>
                  <a:pt x="5689" y="3333"/>
                </a:lnTo>
                <a:lnTo>
                  <a:pt x="5676" y="3200"/>
                </a:lnTo>
                <a:lnTo>
                  <a:pt x="5657" y="3068"/>
                </a:lnTo>
                <a:lnTo>
                  <a:pt x="5631" y="2937"/>
                </a:lnTo>
                <a:lnTo>
                  <a:pt x="5600" y="2808"/>
                </a:lnTo>
                <a:lnTo>
                  <a:pt x="5563" y="2681"/>
                </a:lnTo>
                <a:lnTo>
                  <a:pt x="5520" y="2556"/>
                </a:lnTo>
                <a:lnTo>
                  <a:pt x="5471" y="2433"/>
                </a:lnTo>
                <a:lnTo>
                  <a:pt x="5417" y="2313"/>
                </a:lnTo>
                <a:lnTo>
                  <a:pt x="5357" y="2197"/>
                </a:lnTo>
                <a:lnTo>
                  <a:pt x="5292" y="2084"/>
                </a:lnTo>
                <a:lnTo>
                  <a:pt x="5222" y="1974"/>
                </a:lnTo>
                <a:lnTo>
                  <a:pt x="5147" y="1868"/>
                </a:lnTo>
                <a:lnTo>
                  <a:pt x="5067" y="1767"/>
                </a:lnTo>
                <a:lnTo>
                  <a:pt x="4983" y="1670"/>
                </a:lnTo>
                <a:lnTo>
                  <a:pt x="4894" y="1578"/>
                </a:lnTo>
                <a:lnTo>
                  <a:pt x="4801" y="1491"/>
                </a:lnTo>
                <a:lnTo>
                  <a:pt x="4705" y="1409"/>
                </a:lnTo>
                <a:lnTo>
                  <a:pt x="4604" y="1332"/>
                </a:lnTo>
                <a:lnTo>
                  <a:pt x="4501" y="1261"/>
                </a:lnTo>
                <a:lnTo>
                  <a:pt x="4394" y="1196"/>
                </a:lnTo>
                <a:lnTo>
                  <a:pt x="4284" y="1137"/>
                </a:lnTo>
                <a:lnTo>
                  <a:pt x="4172" y="1084"/>
                </a:lnTo>
                <a:lnTo>
                  <a:pt x="4057" y="1037"/>
                </a:lnTo>
                <a:lnTo>
                  <a:pt x="3941" y="996"/>
                </a:lnTo>
                <a:lnTo>
                  <a:pt x="3822" y="962"/>
                </a:lnTo>
                <a:lnTo>
                  <a:pt x="3703" y="934"/>
                </a:lnTo>
                <a:lnTo>
                  <a:pt x="3582" y="913"/>
                </a:lnTo>
                <a:lnTo>
                  <a:pt x="3460" y="898"/>
                </a:lnTo>
                <a:lnTo>
                  <a:pt x="3338" y="891"/>
                </a:lnTo>
                <a:lnTo>
                  <a:pt x="3216" y="889"/>
                </a:lnTo>
                <a:lnTo>
                  <a:pt x="3093" y="895"/>
                </a:lnTo>
                <a:lnTo>
                  <a:pt x="2972" y="907"/>
                </a:lnTo>
                <a:lnTo>
                  <a:pt x="2850" y="926"/>
                </a:lnTo>
                <a:lnTo>
                  <a:pt x="2730" y="952"/>
                </a:lnTo>
                <a:lnTo>
                  <a:pt x="2611" y="984"/>
                </a:lnTo>
                <a:lnTo>
                  <a:pt x="2494" y="1022"/>
                </a:lnTo>
                <a:lnTo>
                  <a:pt x="2379" y="1067"/>
                </a:lnTo>
                <a:lnTo>
                  <a:pt x="2266" y="1118"/>
                </a:lnTo>
                <a:lnTo>
                  <a:pt x="2155" y="1175"/>
                </a:lnTo>
                <a:lnTo>
                  <a:pt x="2047" y="1239"/>
                </a:lnTo>
                <a:lnTo>
                  <a:pt x="1943" y="1308"/>
                </a:lnTo>
                <a:lnTo>
                  <a:pt x="1841" y="1382"/>
                </a:lnTo>
                <a:lnTo>
                  <a:pt x="5246" y="5101"/>
                </a:lnTo>
              </a:path>
            </a:pathLst>
          </a:custGeom>
          <a:solidFill>
            <a:srgbClr val="ED1C24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444" name="CustomShape 9"/>
          <p:cNvSpPr/>
          <p:nvPr/>
        </p:nvSpPr>
        <p:spPr>
          <a:xfrm>
            <a:off x="7662960" y="366120"/>
            <a:ext cx="2340000" cy="2556360"/>
          </a:xfrm>
          <a:custGeom>
            <a:avLst/>
            <a:gdLst/>
            <a:ahLst/>
            <a:cxnLst/>
            <a:rect l="l" t="t" r="r" b="b"/>
            <a:pathLst>
              <a:path w="6512" h="7113">
                <a:moveTo>
                  <a:pt x="3255" y="0"/>
                </a:moveTo>
                <a:cubicBezTo>
                  <a:pt x="5101" y="0"/>
                  <a:pt x="6511" y="1540"/>
                  <a:pt x="6511" y="3556"/>
                </a:cubicBezTo>
                <a:cubicBezTo>
                  <a:pt x="6511" y="5572"/>
                  <a:pt x="5101" y="7112"/>
                  <a:pt x="3255" y="7112"/>
                </a:cubicBezTo>
                <a:cubicBezTo>
                  <a:pt x="1409" y="7112"/>
                  <a:pt x="0" y="5572"/>
                  <a:pt x="0" y="3556"/>
                </a:cubicBezTo>
                <a:cubicBezTo>
                  <a:pt x="0" y="1540"/>
                  <a:pt x="1409" y="0"/>
                  <a:pt x="3255" y="0"/>
                </a:cubicBezTo>
                <a:moveTo>
                  <a:pt x="1265" y="2011"/>
                </a:moveTo>
                <a:lnTo>
                  <a:pt x="1197" y="2122"/>
                </a:lnTo>
                <a:lnTo>
                  <a:pt x="1134" y="2237"/>
                </a:lnTo>
                <a:lnTo>
                  <a:pt x="1076" y="2354"/>
                </a:lnTo>
                <a:lnTo>
                  <a:pt x="1024" y="2475"/>
                </a:lnTo>
                <a:lnTo>
                  <a:pt x="977" y="2599"/>
                </a:lnTo>
                <a:lnTo>
                  <a:pt x="936" y="2724"/>
                </a:lnTo>
                <a:lnTo>
                  <a:pt x="901" y="2852"/>
                </a:lnTo>
                <a:lnTo>
                  <a:pt x="871" y="2982"/>
                </a:lnTo>
                <a:lnTo>
                  <a:pt x="848" y="3113"/>
                </a:lnTo>
                <a:lnTo>
                  <a:pt x="831" y="3246"/>
                </a:lnTo>
                <a:lnTo>
                  <a:pt x="819" y="3379"/>
                </a:lnTo>
                <a:lnTo>
                  <a:pt x="814" y="3512"/>
                </a:lnTo>
                <a:lnTo>
                  <a:pt x="815" y="3646"/>
                </a:lnTo>
                <a:lnTo>
                  <a:pt x="823" y="3779"/>
                </a:lnTo>
                <a:lnTo>
                  <a:pt x="836" y="3912"/>
                </a:lnTo>
                <a:lnTo>
                  <a:pt x="855" y="4044"/>
                </a:lnTo>
                <a:lnTo>
                  <a:pt x="881" y="4175"/>
                </a:lnTo>
                <a:lnTo>
                  <a:pt x="912" y="4304"/>
                </a:lnTo>
                <a:lnTo>
                  <a:pt x="949" y="4431"/>
                </a:lnTo>
                <a:lnTo>
                  <a:pt x="992" y="4556"/>
                </a:lnTo>
                <a:lnTo>
                  <a:pt x="1041" y="4679"/>
                </a:lnTo>
                <a:lnTo>
                  <a:pt x="1095" y="4799"/>
                </a:lnTo>
                <a:lnTo>
                  <a:pt x="1155" y="4915"/>
                </a:lnTo>
                <a:lnTo>
                  <a:pt x="1220" y="5028"/>
                </a:lnTo>
                <a:lnTo>
                  <a:pt x="1290" y="5138"/>
                </a:lnTo>
                <a:lnTo>
                  <a:pt x="1365" y="5244"/>
                </a:lnTo>
                <a:lnTo>
                  <a:pt x="1445" y="5345"/>
                </a:lnTo>
                <a:lnTo>
                  <a:pt x="1529" y="5442"/>
                </a:lnTo>
                <a:lnTo>
                  <a:pt x="1618" y="5534"/>
                </a:lnTo>
                <a:lnTo>
                  <a:pt x="1711" y="5621"/>
                </a:lnTo>
                <a:lnTo>
                  <a:pt x="1807" y="5703"/>
                </a:lnTo>
                <a:lnTo>
                  <a:pt x="1907" y="5779"/>
                </a:lnTo>
                <a:lnTo>
                  <a:pt x="2011" y="5850"/>
                </a:lnTo>
                <a:lnTo>
                  <a:pt x="2118" y="5916"/>
                </a:lnTo>
                <a:lnTo>
                  <a:pt x="2228" y="5975"/>
                </a:lnTo>
                <a:lnTo>
                  <a:pt x="2340" y="6028"/>
                </a:lnTo>
                <a:lnTo>
                  <a:pt x="2454" y="6075"/>
                </a:lnTo>
                <a:lnTo>
                  <a:pt x="2571" y="6116"/>
                </a:lnTo>
                <a:lnTo>
                  <a:pt x="2689" y="6150"/>
                </a:lnTo>
                <a:lnTo>
                  <a:pt x="2809" y="6178"/>
                </a:lnTo>
                <a:lnTo>
                  <a:pt x="2930" y="6199"/>
                </a:lnTo>
                <a:lnTo>
                  <a:pt x="3051" y="6214"/>
                </a:lnTo>
                <a:lnTo>
                  <a:pt x="3173" y="6221"/>
                </a:lnTo>
                <a:lnTo>
                  <a:pt x="3296" y="6223"/>
                </a:lnTo>
                <a:lnTo>
                  <a:pt x="3418" y="6217"/>
                </a:lnTo>
                <a:lnTo>
                  <a:pt x="3540" y="6205"/>
                </a:lnTo>
                <a:lnTo>
                  <a:pt x="3661" y="6186"/>
                </a:lnTo>
                <a:lnTo>
                  <a:pt x="3781" y="6161"/>
                </a:lnTo>
                <a:lnTo>
                  <a:pt x="3900" y="6129"/>
                </a:lnTo>
                <a:lnTo>
                  <a:pt x="4017" y="6090"/>
                </a:lnTo>
                <a:lnTo>
                  <a:pt x="4132" y="6045"/>
                </a:lnTo>
                <a:lnTo>
                  <a:pt x="4245" y="5994"/>
                </a:lnTo>
                <a:lnTo>
                  <a:pt x="4356" y="5937"/>
                </a:lnTo>
                <a:lnTo>
                  <a:pt x="4464" y="5874"/>
                </a:lnTo>
                <a:lnTo>
                  <a:pt x="4569" y="5805"/>
                </a:lnTo>
                <a:lnTo>
                  <a:pt x="4670" y="5730"/>
                </a:lnTo>
                <a:lnTo>
                  <a:pt x="1265" y="2011"/>
                </a:lnTo>
                <a:moveTo>
                  <a:pt x="5246" y="5101"/>
                </a:moveTo>
                <a:lnTo>
                  <a:pt x="5315" y="4990"/>
                </a:lnTo>
                <a:lnTo>
                  <a:pt x="5378" y="4876"/>
                </a:lnTo>
                <a:lnTo>
                  <a:pt x="5436" y="4758"/>
                </a:lnTo>
                <a:lnTo>
                  <a:pt x="5488" y="4637"/>
                </a:lnTo>
                <a:lnTo>
                  <a:pt x="5535" y="4514"/>
                </a:lnTo>
                <a:lnTo>
                  <a:pt x="5576" y="4388"/>
                </a:lnTo>
                <a:lnTo>
                  <a:pt x="5611" y="4260"/>
                </a:lnTo>
                <a:lnTo>
                  <a:pt x="5641" y="4130"/>
                </a:lnTo>
                <a:lnTo>
                  <a:pt x="5664" y="3999"/>
                </a:lnTo>
                <a:lnTo>
                  <a:pt x="5681" y="3867"/>
                </a:lnTo>
                <a:lnTo>
                  <a:pt x="5693" y="3734"/>
                </a:lnTo>
                <a:lnTo>
                  <a:pt x="5698" y="3600"/>
                </a:lnTo>
                <a:lnTo>
                  <a:pt x="5697" y="3466"/>
                </a:lnTo>
                <a:lnTo>
                  <a:pt x="5689" y="3333"/>
                </a:lnTo>
                <a:lnTo>
                  <a:pt x="5676" y="3200"/>
                </a:lnTo>
                <a:lnTo>
                  <a:pt x="5657" y="3068"/>
                </a:lnTo>
                <a:lnTo>
                  <a:pt x="5631" y="2937"/>
                </a:lnTo>
                <a:lnTo>
                  <a:pt x="5600" y="2808"/>
                </a:lnTo>
                <a:lnTo>
                  <a:pt x="5563" y="2681"/>
                </a:lnTo>
                <a:lnTo>
                  <a:pt x="5520" y="2556"/>
                </a:lnTo>
                <a:lnTo>
                  <a:pt x="5471" y="2433"/>
                </a:lnTo>
                <a:lnTo>
                  <a:pt x="5417" y="2313"/>
                </a:lnTo>
                <a:lnTo>
                  <a:pt x="5357" y="2197"/>
                </a:lnTo>
                <a:lnTo>
                  <a:pt x="5292" y="2084"/>
                </a:lnTo>
                <a:lnTo>
                  <a:pt x="5222" y="1974"/>
                </a:lnTo>
                <a:lnTo>
                  <a:pt x="5147" y="1868"/>
                </a:lnTo>
                <a:lnTo>
                  <a:pt x="5067" y="1767"/>
                </a:lnTo>
                <a:lnTo>
                  <a:pt x="4983" y="1670"/>
                </a:lnTo>
                <a:lnTo>
                  <a:pt x="4894" y="1578"/>
                </a:lnTo>
                <a:lnTo>
                  <a:pt x="4801" y="1491"/>
                </a:lnTo>
                <a:lnTo>
                  <a:pt x="4705" y="1409"/>
                </a:lnTo>
                <a:lnTo>
                  <a:pt x="4604" y="1332"/>
                </a:lnTo>
                <a:lnTo>
                  <a:pt x="4501" y="1261"/>
                </a:lnTo>
                <a:lnTo>
                  <a:pt x="4394" y="1196"/>
                </a:lnTo>
                <a:lnTo>
                  <a:pt x="4284" y="1137"/>
                </a:lnTo>
                <a:lnTo>
                  <a:pt x="4172" y="1084"/>
                </a:lnTo>
                <a:lnTo>
                  <a:pt x="4057" y="1037"/>
                </a:lnTo>
                <a:lnTo>
                  <a:pt x="3941" y="996"/>
                </a:lnTo>
                <a:lnTo>
                  <a:pt x="3822" y="962"/>
                </a:lnTo>
                <a:lnTo>
                  <a:pt x="3703" y="934"/>
                </a:lnTo>
                <a:lnTo>
                  <a:pt x="3582" y="913"/>
                </a:lnTo>
                <a:lnTo>
                  <a:pt x="3460" y="898"/>
                </a:lnTo>
                <a:lnTo>
                  <a:pt x="3338" y="891"/>
                </a:lnTo>
                <a:lnTo>
                  <a:pt x="3216" y="889"/>
                </a:lnTo>
                <a:lnTo>
                  <a:pt x="3093" y="895"/>
                </a:lnTo>
                <a:lnTo>
                  <a:pt x="2972" y="907"/>
                </a:lnTo>
                <a:lnTo>
                  <a:pt x="2850" y="926"/>
                </a:lnTo>
                <a:lnTo>
                  <a:pt x="2730" y="952"/>
                </a:lnTo>
                <a:lnTo>
                  <a:pt x="2611" y="984"/>
                </a:lnTo>
                <a:lnTo>
                  <a:pt x="2494" y="1022"/>
                </a:lnTo>
                <a:lnTo>
                  <a:pt x="2379" y="1067"/>
                </a:lnTo>
                <a:lnTo>
                  <a:pt x="2266" y="1118"/>
                </a:lnTo>
                <a:lnTo>
                  <a:pt x="2155" y="1175"/>
                </a:lnTo>
                <a:lnTo>
                  <a:pt x="2047" y="1239"/>
                </a:lnTo>
                <a:lnTo>
                  <a:pt x="1943" y="1308"/>
                </a:lnTo>
                <a:lnTo>
                  <a:pt x="1841" y="1382"/>
                </a:lnTo>
                <a:lnTo>
                  <a:pt x="5246" y="5101"/>
                </a:lnTo>
              </a:path>
            </a:pathLst>
          </a:custGeom>
          <a:solidFill>
            <a:srgbClr val="ED1C24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latin typeface="Cantarell"/>
              </a:rPr>
              <a:t>What Are We Doing?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01" name="CustomShape 34"/>
          <p:cNvSpPr/>
          <p:nvPr/>
        </p:nvSpPr>
        <p:spPr>
          <a:xfrm>
            <a:off x="315686" y="1121229"/>
            <a:ext cx="2770954" cy="1392291"/>
          </a:xfrm>
          <a:prstGeom prst="rect">
            <a:avLst/>
          </a:prstGeom>
          <a:solidFill>
            <a:srgbClr val="72BF44">
              <a:alpha val="19000"/>
            </a:srgbClr>
          </a:solidFill>
          <a:ln w="25560">
            <a:solidFill>
              <a:srgbClr val="00A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We set an alpha </a:t>
            </a:r>
            <a:b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(i.e., desired type 1 risk) </a:t>
            </a:r>
            <a:b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and determine the hypotheses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802" name="CustomShape 37"/>
          <p:cNvSpPr/>
          <p:nvPr/>
        </p:nvSpPr>
        <p:spPr>
          <a:xfrm>
            <a:off x="7238880" y="3291840"/>
            <a:ext cx="1370520" cy="364680"/>
          </a:xfrm>
          <a:prstGeom prst="rect">
            <a:avLst/>
          </a:prstGeom>
          <a:solidFill>
            <a:srgbClr val="72BF44">
              <a:alpha val="19000"/>
            </a:srgbClr>
          </a:solidFill>
          <a:ln w="25560">
            <a:solidFill>
              <a:srgbClr val="00A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p &lt; α 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03" name="CustomShape 38"/>
          <p:cNvSpPr/>
          <p:nvPr/>
        </p:nvSpPr>
        <p:spPr>
          <a:xfrm>
            <a:off x="3581280" y="3291840"/>
            <a:ext cx="1370520" cy="364680"/>
          </a:xfrm>
          <a:prstGeom prst="rect">
            <a:avLst/>
          </a:prstGeom>
          <a:solidFill>
            <a:srgbClr val="FFA6A6">
              <a:alpha val="19000"/>
            </a:srgbClr>
          </a:solidFill>
          <a:ln w="2556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p &gt; α </a:t>
            </a:r>
            <a:endParaRPr lang="en-US" sz="2000" b="0" strike="noStrike" spc="-1">
              <a:latin typeface="Arial"/>
            </a:endParaRPr>
          </a:p>
        </p:txBody>
      </p:sp>
      <p:grpSp>
        <p:nvGrpSpPr>
          <p:cNvPr id="804" name="Group 803"/>
          <p:cNvGrpSpPr/>
          <p:nvPr/>
        </p:nvGrpSpPr>
        <p:grpSpPr>
          <a:xfrm>
            <a:off x="3087720" y="1463040"/>
            <a:ext cx="4493160" cy="1050480"/>
            <a:chOff x="3087720" y="1463040"/>
            <a:chExt cx="4493160" cy="1050480"/>
          </a:xfrm>
        </p:grpSpPr>
        <p:sp>
          <p:nvSpPr>
            <p:cNvPr id="805" name="CustomShape 36"/>
            <p:cNvSpPr/>
            <p:nvPr/>
          </p:nvSpPr>
          <p:spPr>
            <a:xfrm>
              <a:off x="4610160" y="1463040"/>
              <a:ext cx="2970720" cy="1050480"/>
            </a:xfrm>
            <a:prstGeom prst="rect">
              <a:avLst/>
            </a:prstGeom>
            <a:solidFill>
              <a:srgbClr val="72BF44">
                <a:alpha val="19000"/>
              </a:srgbClr>
            </a:solidFill>
            <a:ln w="25560">
              <a:solidFill>
                <a:srgbClr val="00A65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We observe data, compute  test statistic and corresponding p-value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806" name="Freeform 805"/>
            <p:cNvSpPr/>
            <p:nvPr/>
          </p:nvSpPr>
          <p:spPr>
            <a:xfrm>
              <a:off x="3087720" y="1828800"/>
              <a:ext cx="1483200" cy="2275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5400"/>
                  </a:moveTo>
                  <a:lnTo>
                    <a:pt x="16200" y="540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16200" y="16200"/>
                  </a:lnTo>
                  <a:lnTo>
                    <a:pt x="0" y="16200"/>
                  </a:lnTo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807" name="CustomShape 49"/>
          <p:cNvSpPr/>
          <p:nvPr/>
        </p:nvSpPr>
        <p:spPr>
          <a:xfrm>
            <a:off x="1628640" y="5914440"/>
            <a:ext cx="8933400" cy="737280"/>
          </a:xfrm>
          <a:prstGeom prst="rect">
            <a:avLst/>
          </a:prstGeom>
          <a:solidFill>
            <a:srgbClr val="B4C7DC">
              <a:alpha val="19000"/>
            </a:srgbClr>
          </a:solidFill>
          <a:ln w="2556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Black/white reasoning is dangerous and arbitrary (see bonus slide of lecture 16)</a:t>
            </a:r>
            <a:endParaRPr lang="en-US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We cannot gain evidence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H</a:t>
            </a:r>
            <a:r>
              <a:rPr lang="en-US" sz="2000" b="0" strike="noStrike" spc="-1" baseline="-8000">
                <a:solidFill>
                  <a:srgbClr val="000000"/>
                </a:solidFill>
                <a:latin typeface="Calibri"/>
                <a:ea typeface="DejaVu Sans"/>
              </a:rPr>
              <a:t>0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(i.e., evidence of absence)</a:t>
            </a:r>
            <a:endParaRPr lang="en-US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2000" b="0" strike="noStrike" spc="-1">
              <a:latin typeface="Arial"/>
            </a:endParaRPr>
          </a:p>
        </p:txBody>
      </p:sp>
      <p:grpSp>
        <p:nvGrpSpPr>
          <p:cNvPr id="808" name="Group 807"/>
          <p:cNvGrpSpPr/>
          <p:nvPr/>
        </p:nvGrpSpPr>
        <p:grpSpPr>
          <a:xfrm>
            <a:off x="2647800" y="3657600"/>
            <a:ext cx="2367720" cy="913320"/>
            <a:chOff x="2647800" y="3657600"/>
            <a:chExt cx="2367720" cy="913320"/>
          </a:xfrm>
        </p:grpSpPr>
        <p:sp>
          <p:nvSpPr>
            <p:cNvPr id="809" name="CustomShape 39"/>
            <p:cNvSpPr/>
            <p:nvPr/>
          </p:nvSpPr>
          <p:spPr>
            <a:xfrm>
              <a:off x="2647800" y="4206240"/>
              <a:ext cx="2284920" cy="364680"/>
            </a:xfrm>
            <a:prstGeom prst="rect">
              <a:avLst/>
            </a:prstGeom>
            <a:solidFill>
              <a:srgbClr val="FFA6A6">
                <a:alpha val="19000"/>
              </a:srgbClr>
            </a:solidFill>
            <a:ln w="25560">
              <a:solidFill>
                <a:srgbClr val="FF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Fail to reject H</a:t>
              </a:r>
              <a:r>
                <a:rPr lang="en-US" sz="2000" b="0" strike="noStrike" spc="-1" baseline="-8000">
                  <a:solidFill>
                    <a:srgbClr val="000000"/>
                  </a:solidFill>
                  <a:latin typeface="Calibri"/>
                  <a:ea typeface="DejaVu Sans"/>
                </a:rPr>
                <a:t>0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810" name="Freeform 809"/>
            <p:cNvSpPr/>
            <p:nvPr/>
          </p:nvSpPr>
          <p:spPr>
            <a:xfrm>
              <a:off x="4788000" y="3657600"/>
              <a:ext cx="227520" cy="54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5400" y="0"/>
                  </a:moveTo>
                  <a:lnTo>
                    <a:pt x="5400" y="16200"/>
                  </a:lnTo>
                  <a:lnTo>
                    <a:pt x="0" y="16200"/>
                  </a:lnTo>
                  <a:lnTo>
                    <a:pt x="10800" y="21600"/>
                  </a:lnTo>
                  <a:lnTo>
                    <a:pt x="21600" y="16200"/>
                  </a:lnTo>
                  <a:lnTo>
                    <a:pt x="16200" y="16200"/>
                  </a:lnTo>
                  <a:lnTo>
                    <a:pt x="16200" y="0"/>
                  </a:lnTo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FF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grpSp>
        <p:nvGrpSpPr>
          <p:cNvPr id="811" name="Group 810"/>
          <p:cNvGrpSpPr/>
          <p:nvPr/>
        </p:nvGrpSpPr>
        <p:grpSpPr>
          <a:xfrm>
            <a:off x="2057400" y="4593600"/>
            <a:ext cx="2958120" cy="913320"/>
            <a:chOff x="2057400" y="4593600"/>
            <a:chExt cx="2958120" cy="913320"/>
          </a:xfrm>
        </p:grpSpPr>
        <p:sp>
          <p:nvSpPr>
            <p:cNvPr id="812" name="CustomShape 41"/>
            <p:cNvSpPr/>
            <p:nvPr/>
          </p:nvSpPr>
          <p:spPr>
            <a:xfrm>
              <a:off x="2057400" y="5142240"/>
              <a:ext cx="2875320" cy="364680"/>
            </a:xfrm>
            <a:prstGeom prst="rect">
              <a:avLst/>
            </a:prstGeom>
            <a:solidFill>
              <a:srgbClr val="FFA6A6">
                <a:alpha val="19000"/>
              </a:srgbClr>
            </a:solidFill>
            <a:ln w="25560">
              <a:solidFill>
                <a:srgbClr val="FF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= absence of evidence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813" name="Freeform 812"/>
            <p:cNvSpPr/>
            <p:nvPr/>
          </p:nvSpPr>
          <p:spPr>
            <a:xfrm>
              <a:off x="4788000" y="4593600"/>
              <a:ext cx="227520" cy="54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5400" y="0"/>
                  </a:moveTo>
                  <a:lnTo>
                    <a:pt x="5400" y="16200"/>
                  </a:lnTo>
                  <a:lnTo>
                    <a:pt x="0" y="16200"/>
                  </a:lnTo>
                  <a:lnTo>
                    <a:pt x="10800" y="21600"/>
                  </a:lnTo>
                  <a:lnTo>
                    <a:pt x="21600" y="16200"/>
                  </a:lnTo>
                  <a:lnTo>
                    <a:pt x="16200" y="16200"/>
                  </a:lnTo>
                  <a:lnTo>
                    <a:pt x="16200" y="0"/>
                  </a:lnTo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FF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grpSp>
        <p:nvGrpSpPr>
          <p:cNvPr id="814" name="Group 813"/>
          <p:cNvGrpSpPr/>
          <p:nvPr/>
        </p:nvGrpSpPr>
        <p:grpSpPr>
          <a:xfrm>
            <a:off x="7178040" y="3657600"/>
            <a:ext cx="2650680" cy="934920"/>
            <a:chOff x="7178040" y="3657600"/>
            <a:chExt cx="2650680" cy="934920"/>
          </a:xfrm>
        </p:grpSpPr>
        <p:sp>
          <p:nvSpPr>
            <p:cNvPr id="815" name="CustomShape 40"/>
            <p:cNvSpPr/>
            <p:nvPr/>
          </p:nvSpPr>
          <p:spPr>
            <a:xfrm>
              <a:off x="7238880" y="4227840"/>
              <a:ext cx="2589840" cy="364680"/>
            </a:xfrm>
            <a:prstGeom prst="rect">
              <a:avLst/>
            </a:prstGeom>
            <a:solidFill>
              <a:srgbClr val="72BF44">
                <a:alpha val="19000"/>
              </a:srgbClr>
            </a:solidFill>
            <a:ln w="25560">
              <a:solidFill>
                <a:srgbClr val="00A65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Reject H</a:t>
              </a:r>
              <a:r>
                <a:rPr lang="en-US" sz="2000" b="0" strike="noStrike" spc="-1" baseline="-8000">
                  <a:solidFill>
                    <a:srgbClr val="000000"/>
                  </a:solidFill>
                  <a:latin typeface="Calibri"/>
                  <a:ea typeface="DejaVu Sans"/>
                </a:rPr>
                <a:t>0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816" name="Freeform 815"/>
            <p:cNvSpPr/>
            <p:nvPr/>
          </p:nvSpPr>
          <p:spPr>
            <a:xfrm>
              <a:off x="7178040" y="3657600"/>
              <a:ext cx="227520" cy="54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5400" y="0"/>
                  </a:moveTo>
                  <a:lnTo>
                    <a:pt x="5400" y="16200"/>
                  </a:lnTo>
                  <a:lnTo>
                    <a:pt x="0" y="16200"/>
                  </a:lnTo>
                  <a:lnTo>
                    <a:pt x="10800" y="21600"/>
                  </a:lnTo>
                  <a:lnTo>
                    <a:pt x="21600" y="16200"/>
                  </a:lnTo>
                  <a:lnTo>
                    <a:pt x="16200" y="16200"/>
                  </a:lnTo>
                  <a:lnTo>
                    <a:pt x="16200" y="0"/>
                  </a:lnTo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00A93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grpSp>
        <p:nvGrpSpPr>
          <p:cNvPr id="817" name="Group 816"/>
          <p:cNvGrpSpPr/>
          <p:nvPr/>
        </p:nvGrpSpPr>
        <p:grpSpPr>
          <a:xfrm>
            <a:off x="7178040" y="4593600"/>
            <a:ext cx="2882520" cy="919080"/>
            <a:chOff x="7178040" y="4593600"/>
            <a:chExt cx="2882520" cy="919080"/>
          </a:xfrm>
        </p:grpSpPr>
        <p:sp>
          <p:nvSpPr>
            <p:cNvPr id="818" name="CustomShape 42"/>
            <p:cNvSpPr/>
            <p:nvPr/>
          </p:nvSpPr>
          <p:spPr>
            <a:xfrm>
              <a:off x="7242120" y="5148000"/>
              <a:ext cx="2818440" cy="364680"/>
            </a:xfrm>
            <a:prstGeom prst="rect">
              <a:avLst/>
            </a:prstGeom>
            <a:solidFill>
              <a:srgbClr val="72BF44">
                <a:alpha val="19000"/>
              </a:srgbClr>
            </a:solidFill>
            <a:ln w="25560">
              <a:solidFill>
                <a:srgbClr val="00A65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= evidence against H</a:t>
              </a:r>
              <a:r>
                <a:rPr lang="en-US" sz="2000" b="0" strike="noStrike" spc="-1" baseline="-8000">
                  <a:solidFill>
                    <a:srgbClr val="000000"/>
                  </a:solidFill>
                  <a:latin typeface="Calibri"/>
                  <a:ea typeface="DejaVu Sans"/>
                </a:rPr>
                <a:t>0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819" name="Freeform 818"/>
            <p:cNvSpPr/>
            <p:nvPr/>
          </p:nvSpPr>
          <p:spPr>
            <a:xfrm>
              <a:off x="7178040" y="4593600"/>
              <a:ext cx="227520" cy="547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5400" y="0"/>
                  </a:moveTo>
                  <a:lnTo>
                    <a:pt x="5400" y="16200"/>
                  </a:lnTo>
                  <a:lnTo>
                    <a:pt x="0" y="16200"/>
                  </a:lnTo>
                  <a:lnTo>
                    <a:pt x="10800" y="21600"/>
                  </a:lnTo>
                  <a:lnTo>
                    <a:pt x="21600" y="16200"/>
                  </a:lnTo>
                  <a:lnTo>
                    <a:pt x="16200" y="16200"/>
                  </a:lnTo>
                  <a:lnTo>
                    <a:pt x="16200" y="0"/>
                  </a:lnTo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00A93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9EAB6B-BDAA-5EE8-5AB4-096B0F68335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780" y="2537828"/>
            <a:ext cx="10972440" cy="1144800"/>
          </a:xfrm>
        </p:spPr>
        <p:txBody>
          <a:bodyPr/>
          <a:lstStyle/>
          <a:p>
            <a:r>
              <a:rPr lang="en-NL" sz="3200" dirty="0">
                <a:latin typeface="Cantarell" panose="02000603000000000000" pitchFamily="2" charset="0"/>
              </a:rPr>
              <a:t>“… </a:t>
            </a:r>
            <a:r>
              <a:rPr lang="en-GB" sz="3200" dirty="0">
                <a:latin typeface="Cantarell" panose="02000603000000000000" pitchFamily="2" charset="0"/>
              </a:rPr>
              <a:t>is associated with a myriad of negative consequences including reduced optimism and task performance (Porath &amp; </a:t>
            </a:r>
            <a:r>
              <a:rPr lang="en-GB" sz="3200" dirty="0" err="1">
                <a:latin typeface="Cantarell" panose="02000603000000000000" pitchFamily="2" charset="0"/>
              </a:rPr>
              <a:t>Erez</a:t>
            </a:r>
            <a:r>
              <a:rPr lang="en-GB" sz="3200" dirty="0">
                <a:latin typeface="Cantarell" panose="02000603000000000000" pitchFamily="2" charset="0"/>
              </a:rPr>
              <a:t>, 2007), reduced working memory and attention (</a:t>
            </a:r>
            <a:r>
              <a:rPr lang="en-GB" sz="3200" dirty="0" err="1">
                <a:latin typeface="Cantarell" panose="02000603000000000000" pitchFamily="2" charset="0"/>
              </a:rPr>
              <a:t>Erez</a:t>
            </a:r>
            <a:r>
              <a:rPr lang="en-GB" sz="3200" dirty="0">
                <a:latin typeface="Cantarell" panose="02000603000000000000" pitchFamily="2" charset="0"/>
              </a:rPr>
              <a:t> et al., 2015), and higher levels of stress (Adams &amp; Webster, 2013).”</a:t>
            </a:r>
          </a:p>
          <a:p>
            <a:endParaRPr lang="en-GB" dirty="0">
              <a:latin typeface="Cantarell" panose="02000603000000000000" pitchFamily="2" charset="0"/>
            </a:endParaRPr>
          </a:p>
          <a:p>
            <a:r>
              <a:rPr lang="en-GB" sz="1600" dirty="0">
                <a:latin typeface="Cantarell" panose="02000603000000000000" pitchFamily="2" charset="0"/>
                <a:hlinkClick r:id="rId2"/>
              </a:rPr>
              <a:t>Anna </a:t>
            </a:r>
            <a:r>
              <a:rPr lang="en-GB" sz="1600" dirty="0" err="1">
                <a:latin typeface="Cantarell" panose="02000603000000000000" pitchFamily="2" charset="0"/>
                <a:hlinkClick r:id="rId2"/>
              </a:rPr>
              <a:t>Kaminska</a:t>
            </a:r>
            <a:r>
              <a:rPr lang="en-GB" sz="1600" dirty="0">
                <a:latin typeface="Cantarell" panose="02000603000000000000" pitchFamily="2" charset="0"/>
                <a:hlinkClick r:id="rId2"/>
              </a:rPr>
              <a:t> &amp; Devin G. Ray (2023) Interpersonal memory failure in the workplace: The effect of memory and hierarchy on employee’s affective commitment, The Journal of Social Psychology</a:t>
            </a:r>
            <a:endParaRPr lang="en-NL" sz="1600" dirty="0">
              <a:latin typeface="Cantarell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912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looking at the camera&#10;&#10;Description automatically generated">
            <a:extLst>
              <a:ext uri="{FF2B5EF4-FFF2-40B4-BE49-F238E27FC236}">
                <a16:creationId xmlns:a16="http://schemas.microsoft.com/office/drawing/2014/main" id="{23D6354D-F660-1DEA-B0AB-B31710D99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51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CustomShape 1"/>
          <p:cNvSpPr/>
          <p:nvPr/>
        </p:nvSpPr>
        <p:spPr>
          <a:xfrm>
            <a:off x="838080" y="365040"/>
            <a:ext cx="10509120" cy="131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The Next 3 Lectures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46" name="CustomShape 2"/>
          <p:cNvSpPr/>
          <p:nvPr/>
        </p:nvSpPr>
        <p:spPr>
          <a:xfrm>
            <a:off x="838080" y="1825560"/>
            <a:ext cx="10509120" cy="43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447" name="CustomShape 3"/>
          <p:cNvSpPr/>
          <p:nvPr/>
        </p:nvSpPr>
        <p:spPr>
          <a:xfrm>
            <a:off x="609480" y="195624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Today (Chapters 1-4)</a:t>
            </a:r>
            <a:endParaRPr lang="en-US" sz="3200" b="0" strike="noStrike" spc="-1" dirty="0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Introduction to Bayesian Estimation of a Proportion</a:t>
            </a:r>
            <a:endParaRPr lang="en-US" sz="2200" b="0" strike="noStrike" spc="-1" dirty="0"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Thursday Dec 4 (Chapters 1-4)</a:t>
            </a:r>
            <a:endParaRPr lang="en-US" sz="3200" b="0" strike="noStrike" spc="-1" dirty="0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Bayesian Hypothesis Testing of a Proportion</a:t>
            </a:r>
            <a:endParaRPr lang="en-US" sz="2200" b="0" strike="noStrike" spc="-1" dirty="0"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Thursday Dec 11(Chapter 5)</a:t>
            </a:r>
            <a:endParaRPr lang="en-US" sz="3200" b="0" strike="noStrike" spc="-1" dirty="0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Bayesian Inference for Correlation and T-Test</a:t>
            </a:r>
            <a:endParaRPr lang="en-US" sz="2200" b="0" strike="noStrike" spc="-1" dirty="0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Statistics in the Wild</a:t>
            </a:r>
            <a:endParaRPr lang="en-US" sz="2200" b="0" strike="noStrike" spc="-1" dirty="0">
              <a:latin typeface="Arial"/>
            </a:endParaRPr>
          </a:p>
        </p:txBody>
      </p:sp>
      <p:sp>
        <p:nvSpPr>
          <p:cNvPr id="2" name="CustomShape 21">
            <a:extLst>
              <a:ext uri="{FF2B5EF4-FFF2-40B4-BE49-F238E27FC236}">
                <a16:creationId xmlns:a16="http://schemas.microsoft.com/office/drawing/2014/main" id="{CBD3B93C-A139-7335-3714-2A564AF6CAB3}"/>
              </a:ext>
            </a:extLst>
          </p:cNvPr>
          <p:cNvSpPr/>
          <p:nvPr/>
        </p:nvSpPr>
        <p:spPr>
          <a:xfrm>
            <a:off x="1047600" y="6170400"/>
            <a:ext cx="9696600" cy="502542"/>
          </a:xfrm>
          <a:prstGeom prst="rect">
            <a:avLst/>
          </a:prstGeom>
          <a:solidFill>
            <a:srgbClr val="D4EA6B"/>
          </a:solidFill>
          <a:ln w="3816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pc="-1" dirty="0">
                <a:latin typeface="Cantarell" panose="02000603000000000000" pitchFamily="2" charset="0"/>
                <a:hlinkClick r:id="rId3"/>
              </a:rPr>
              <a:t>van </a:t>
            </a:r>
            <a:r>
              <a:rPr lang="en-US" spc="-1" dirty="0" err="1">
                <a:latin typeface="Cantarell" panose="02000603000000000000" pitchFamily="2" charset="0"/>
                <a:hlinkClick r:id="rId3"/>
              </a:rPr>
              <a:t>Doorn</a:t>
            </a:r>
            <a:r>
              <a:rPr lang="en-US" spc="-1" dirty="0">
                <a:latin typeface="Cantarell" panose="02000603000000000000" pitchFamily="2" charset="0"/>
                <a:hlinkClick r:id="rId3"/>
              </a:rPr>
              <a:t>, J. (2024). A Brief Introduction to Bayesian Inference: From Tea to Beer.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FEC56-751E-4DF0-8C52-4DA4161E2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CustomShape 1">
            <a:extLst>
              <a:ext uri="{FF2B5EF4-FFF2-40B4-BE49-F238E27FC236}">
                <a16:creationId xmlns:a16="http://schemas.microsoft.com/office/drawing/2014/main" id="{B47BA80E-3D79-BA02-0B3B-316E50DBAE51}"/>
              </a:ext>
            </a:extLst>
          </p:cNvPr>
          <p:cNvSpPr/>
          <p:nvPr/>
        </p:nvSpPr>
        <p:spPr>
          <a:xfrm>
            <a:off x="838080" y="365040"/>
            <a:ext cx="10509120" cy="131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Two important notes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446" name="CustomShape 2">
            <a:extLst>
              <a:ext uri="{FF2B5EF4-FFF2-40B4-BE49-F238E27FC236}">
                <a16:creationId xmlns:a16="http://schemas.microsoft.com/office/drawing/2014/main" id="{92033592-F054-3199-F3C8-D1A6F1271341}"/>
              </a:ext>
            </a:extLst>
          </p:cNvPr>
          <p:cNvSpPr/>
          <p:nvPr/>
        </p:nvSpPr>
        <p:spPr>
          <a:xfrm>
            <a:off x="838080" y="1825560"/>
            <a:ext cx="10509120" cy="43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447" name="CustomShape 3">
            <a:extLst>
              <a:ext uri="{FF2B5EF4-FFF2-40B4-BE49-F238E27FC236}">
                <a16:creationId xmlns:a16="http://schemas.microsoft.com/office/drawing/2014/main" id="{D8D2D0AE-1F35-6865-983F-A1014F57F06B}"/>
              </a:ext>
            </a:extLst>
          </p:cNvPr>
          <p:cNvSpPr/>
          <p:nvPr/>
        </p:nvSpPr>
        <p:spPr>
          <a:xfrm>
            <a:off x="609480" y="195624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Tuesday Dec 9: No lecture due to the demonstration</a:t>
            </a:r>
          </a:p>
          <a:p>
            <a:pPr marL="673200" lvl="1" indent="-213840"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 dirty="0">
                <a:solidFill>
                  <a:srgbClr val="000000"/>
                </a:solidFill>
                <a:latin typeface="Cantarell"/>
              </a:rPr>
              <a:t>Lecture recording on Canvas, adjusted exam material</a:t>
            </a:r>
            <a:endParaRPr lang="en-US" sz="2200" b="0" strike="noStrike" spc="-1" dirty="0"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Thursday Dec 11: Different lecture location</a:t>
            </a:r>
            <a:endParaRPr lang="en-US" sz="3200" b="0" strike="noStrike" spc="-1" dirty="0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 dirty="0">
                <a:solidFill>
                  <a:srgbClr val="000000"/>
                </a:solidFill>
                <a:latin typeface="Cantarell"/>
                <a:ea typeface="DejaVu Sans"/>
                <a:hlinkClick r:id="rId3"/>
              </a:rPr>
              <a:t>Pathe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antarell"/>
                <a:ea typeface="DejaVu Sans"/>
                <a:hlinkClick r:id="rId3"/>
              </a:rPr>
              <a:t>Tuschinschki</a:t>
            </a:r>
            <a:endParaRPr lang="en-US" sz="2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015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CustomShape 131"/>
          <p:cNvSpPr/>
          <p:nvPr/>
        </p:nvSpPr>
        <p:spPr>
          <a:xfrm>
            <a:off x="838080" y="365040"/>
            <a:ext cx="10509120" cy="131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  <a:ea typeface="DejaVu Sans"/>
              </a:rPr>
              <a:t>Today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49" name="CustomShape 132"/>
          <p:cNvSpPr/>
          <p:nvPr/>
        </p:nvSpPr>
        <p:spPr>
          <a:xfrm>
            <a:off x="838080" y="1825560"/>
            <a:ext cx="10509120" cy="43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450" name="CustomShape 133"/>
          <p:cNvSpPr/>
          <p:nvPr/>
        </p:nvSpPr>
        <p:spPr>
          <a:xfrm>
            <a:off x="609480" y="195624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Bayesian statistics</a:t>
            </a:r>
            <a:endParaRPr lang="en-US" sz="3200" b="0" strike="noStrike" spc="-1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What are models?</a:t>
            </a:r>
            <a:endParaRPr lang="en-US" sz="2200" b="0" strike="noStrike" spc="-1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How do models learn from data?</a:t>
            </a:r>
            <a:endParaRPr lang="en-US" sz="2200" b="0" strike="noStrike" spc="-1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Live demonstration</a:t>
            </a:r>
            <a:endParaRPr lang="en-US" sz="2200" b="0" strike="noStrike" spc="-1"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Recap</a:t>
            </a:r>
            <a:endParaRPr lang="en-US" sz="3200" b="0" strike="noStrike" spc="-1">
              <a:latin typeface="Arial"/>
            </a:endParaRPr>
          </a:p>
          <a:p>
            <a:pPr marL="864000" lvl="3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Practical stuff &amp; next week</a:t>
            </a:r>
            <a:endParaRPr lang="en-US" sz="2000" b="0" strike="noStrike" spc="-1">
              <a:latin typeface="Arial"/>
            </a:endParaRPr>
          </a:p>
          <a:p>
            <a:pPr marL="864000" lvl="3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Example exam question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Picture 450"/>
          <p:cNvPicPr/>
          <p:nvPr/>
        </p:nvPicPr>
        <p:blipFill>
          <a:blip r:embed="rId3"/>
          <a:stretch/>
        </p:blipFill>
        <p:spPr>
          <a:xfrm>
            <a:off x="372600" y="-9360"/>
            <a:ext cx="4389840" cy="6856920"/>
          </a:xfrm>
          <a:prstGeom prst="rect">
            <a:avLst/>
          </a:prstGeom>
          <a:ln w="0">
            <a:noFill/>
          </a:ln>
        </p:spPr>
      </p:pic>
      <p:pic>
        <p:nvPicPr>
          <p:cNvPr id="452" name="Picture 451"/>
          <p:cNvPicPr/>
          <p:nvPr/>
        </p:nvPicPr>
        <p:blipFill>
          <a:blip r:embed="rId4"/>
          <a:stretch/>
        </p:blipFill>
        <p:spPr>
          <a:xfrm>
            <a:off x="5187600" y="516600"/>
            <a:ext cx="5951880" cy="2418120"/>
          </a:xfrm>
          <a:prstGeom prst="rect">
            <a:avLst/>
          </a:prstGeom>
          <a:ln w="0">
            <a:noFill/>
          </a:ln>
        </p:spPr>
      </p:pic>
      <p:sp>
        <p:nvSpPr>
          <p:cNvPr id="453" name="Rectangle 452"/>
          <p:cNvSpPr/>
          <p:nvPr/>
        </p:nvSpPr>
        <p:spPr>
          <a:xfrm>
            <a:off x="5257800" y="5378400"/>
            <a:ext cx="6400080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Source: </a:t>
            </a:r>
            <a:r>
              <a:rPr lang="en-US" sz="1800" b="0" u="sng" strike="noStrike" spc="-1">
                <a:solidFill>
                  <a:srgbClr val="0563C1"/>
                </a:solidFill>
                <a:uFillTx/>
                <a:latin typeface="Arial"/>
                <a:ea typeface="DejaVu Sans"/>
                <a:hlinkClick r:id="rId5"/>
              </a:rPr>
              <a:t>https://news.stanford.edu/pr/2004/diaconis-69.html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454" name="Picture 453"/>
          <p:cNvPicPr/>
          <p:nvPr/>
        </p:nvPicPr>
        <p:blipFill>
          <a:blip r:embed="rId6"/>
          <a:stretch/>
        </p:blipFill>
        <p:spPr>
          <a:xfrm>
            <a:off x="5257800" y="3034800"/>
            <a:ext cx="6857280" cy="1437480"/>
          </a:xfrm>
          <a:prstGeom prst="rect">
            <a:avLst/>
          </a:prstGeom>
          <a:ln w="0">
            <a:noFill/>
          </a:ln>
        </p:spPr>
      </p:pic>
      <p:sp>
        <p:nvSpPr>
          <p:cNvPr id="455" name="Rectangle 454"/>
          <p:cNvSpPr/>
          <p:nvPr/>
        </p:nvSpPr>
        <p:spPr>
          <a:xfrm>
            <a:off x="5267827" y="5916960"/>
            <a:ext cx="6096858" cy="60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latin typeface="Arial"/>
                <a:hlinkClick r:id="rId7"/>
              </a:rPr>
              <a:t>Fair Coins Tend To Land On The Same Side They Started: Evidence From 350,757 Flips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CustomShape 106"/>
          <p:cNvSpPr/>
          <p:nvPr/>
        </p:nvSpPr>
        <p:spPr>
          <a:xfrm>
            <a:off x="548640" y="292608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What is Bayesian Inference?</a:t>
            </a:r>
            <a:endParaRPr lang="en-US" sz="44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44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44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44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What are the tools we need?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57" name="CustomShape 107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08483-B30A-945E-6CBA-B485BF3A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CustomShape 107">
            <a:extLst>
              <a:ext uri="{FF2B5EF4-FFF2-40B4-BE49-F238E27FC236}">
                <a16:creationId xmlns:a16="http://schemas.microsoft.com/office/drawing/2014/main" id="{755B9340-107C-E5CB-5C13-9DC23EBD592B}"/>
              </a:ext>
            </a:extLst>
          </p:cNvPr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76E885-BE38-A26A-D9ED-D7EE902A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" dirty="0">
                <a:solidFill>
                  <a:srgbClr val="000000"/>
                </a:solidFill>
                <a:latin typeface="Cantarell"/>
              </a:rPr>
              <a:t>What is Bayesian Inference?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4B0CA-366A-2913-F1D4-931E48C4004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5520" y="1972617"/>
            <a:ext cx="10972440" cy="39772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NL" dirty="0">
                <a:latin typeface="Cantarell" panose="02000603000000000000" pitchFamily="2" charset="0"/>
              </a:rPr>
              <a:t>An alternative framework to “frequentist statistics”</a:t>
            </a:r>
          </a:p>
          <a:p>
            <a:pPr lvl="1">
              <a:lnSpc>
                <a:spcPct val="150000"/>
              </a:lnSpc>
            </a:pPr>
            <a:r>
              <a:rPr lang="en-NL" dirty="0">
                <a:latin typeface="Cantarell" panose="02000603000000000000" pitchFamily="2" charset="0"/>
              </a:rPr>
              <a:t>Not based on studying what happens on repeated sampling</a:t>
            </a:r>
          </a:p>
          <a:p>
            <a:pPr>
              <a:lnSpc>
                <a:spcPct val="150000"/>
              </a:lnSpc>
            </a:pPr>
            <a:r>
              <a:rPr lang="en-NL" dirty="0">
                <a:latin typeface="Cantarell" panose="02000603000000000000" pitchFamily="2" charset="0"/>
              </a:rPr>
              <a:t>Different way of parameter estimation and 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3817397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CustomShape 81"/>
          <p:cNvSpPr/>
          <p:nvPr/>
        </p:nvSpPr>
        <p:spPr>
          <a:xfrm>
            <a:off x="548640" y="1008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What are Statistical Models?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59" name="CustomShape 8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460" name="CustomShape 83"/>
          <p:cNvSpPr/>
          <p:nvPr/>
        </p:nvSpPr>
        <p:spPr>
          <a:xfrm>
            <a:off x="217800" y="1440000"/>
            <a:ext cx="8119080" cy="119700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A statistical model is a combination of a general statistical model (e.g., the binomial model) and a </a:t>
            </a:r>
            <a:r>
              <a:rPr lang="en-US" sz="2000" b="1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statement</a:t>
            </a:r>
            <a:r>
              <a:rPr lang="en-US" sz="20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 about a parameter value that describe a certain phenomenon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461" name="CustomShape 84"/>
          <p:cNvSpPr/>
          <p:nvPr/>
        </p:nvSpPr>
        <p:spPr>
          <a:xfrm>
            <a:off x="228600" y="5394600"/>
            <a:ext cx="6171120" cy="91332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For instance, for flipping a coin:</a:t>
            </a:r>
            <a:endParaRPr lang="en-US" sz="2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A binomial model with θ = 0.5</a:t>
            </a:r>
            <a:endParaRPr lang="en-US" sz="2200" b="0" strike="noStrike" spc="-1">
              <a:latin typeface="Arial"/>
            </a:endParaRPr>
          </a:p>
        </p:txBody>
      </p:sp>
      <p:sp>
        <p:nvSpPr>
          <p:cNvPr id="462" name="Freeform 461"/>
          <p:cNvSpPr/>
          <p:nvPr/>
        </p:nvSpPr>
        <p:spPr>
          <a:xfrm>
            <a:off x="6400800" y="5779800"/>
            <a:ext cx="1141920" cy="227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463" name="CustomShape 85"/>
          <p:cNvSpPr/>
          <p:nvPr/>
        </p:nvSpPr>
        <p:spPr>
          <a:xfrm>
            <a:off x="7556400" y="5394600"/>
            <a:ext cx="3186720" cy="913320"/>
          </a:xfrm>
          <a:prstGeom prst="rect">
            <a:avLst/>
          </a:prstGeom>
          <a:solidFill>
            <a:srgbClr val="FFE994"/>
          </a:solidFill>
          <a:ln w="29160">
            <a:solidFill>
              <a:srgbClr val="00A9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1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What is the theoretical implication of this model?</a:t>
            </a:r>
            <a:endParaRPr lang="en-US" sz="2100" b="0" strike="noStrike" spc="-1">
              <a:latin typeface="Arial"/>
            </a:endParaRPr>
          </a:p>
        </p:txBody>
      </p:sp>
      <p:sp>
        <p:nvSpPr>
          <p:cNvPr id="464" name="CustomShape 86"/>
          <p:cNvSpPr/>
          <p:nvPr/>
        </p:nvSpPr>
        <p:spPr>
          <a:xfrm>
            <a:off x="228600" y="3227400"/>
            <a:ext cx="6171120" cy="1275120"/>
          </a:xfrm>
          <a:prstGeom prst="rect">
            <a:avLst/>
          </a:prstGeom>
          <a:solidFill>
            <a:srgbClr val="FFD7D7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antarell"/>
                <a:ea typeface="Noto Sans CJK SC"/>
              </a:rPr>
              <a:t>The general binomial model describes a series of chance-based events with a binary outcome, and is governed by a single parameter </a:t>
            </a:r>
            <a:r>
              <a:rPr lang="en-US" sz="22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θ  </a:t>
            </a:r>
            <a:endParaRPr lang="en-US" sz="2200" b="0" strike="noStrike" spc="-1">
              <a:latin typeface="Arial"/>
            </a:endParaRPr>
          </a:p>
        </p:txBody>
      </p:sp>
      <p:pic>
        <p:nvPicPr>
          <p:cNvPr id="465" name="Picture 464"/>
          <p:cNvPicPr/>
          <p:nvPr/>
        </p:nvPicPr>
        <p:blipFill>
          <a:blip r:embed="rId2"/>
          <a:stretch/>
        </p:blipFill>
        <p:spPr>
          <a:xfrm>
            <a:off x="7650000" y="3359880"/>
            <a:ext cx="3275280" cy="1094040"/>
          </a:xfrm>
          <a:prstGeom prst="rect">
            <a:avLst/>
          </a:prstGeom>
          <a:ln w="0">
            <a:noFill/>
          </a:ln>
        </p:spPr>
      </p:pic>
      <p:sp>
        <p:nvSpPr>
          <p:cNvPr id="466" name="Freeform 465"/>
          <p:cNvSpPr/>
          <p:nvPr/>
        </p:nvSpPr>
        <p:spPr>
          <a:xfrm>
            <a:off x="6400800" y="3799800"/>
            <a:ext cx="1141920" cy="227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5983B0"/>
          </a:solidFill>
          <a:ln w="0">
            <a:solidFill>
              <a:srgbClr val="2A609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CustomShape 87"/>
          <p:cNvSpPr/>
          <p:nvPr/>
        </p:nvSpPr>
        <p:spPr>
          <a:xfrm>
            <a:off x="548640" y="1008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What are Statistical Models?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68" name="CustomShape 88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469" name="CustomShape 89"/>
          <p:cNvSpPr/>
          <p:nvPr/>
        </p:nvSpPr>
        <p:spPr>
          <a:xfrm>
            <a:off x="228600" y="1143000"/>
            <a:ext cx="6171120" cy="68472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A binomial model with θ = 0.5</a:t>
            </a:r>
            <a:endParaRPr lang="en-US" sz="2200" b="0" strike="noStrike" spc="-1">
              <a:latin typeface="Arial"/>
            </a:endParaRPr>
          </a:p>
        </p:txBody>
      </p:sp>
      <p:sp>
        <p:nvSpPr>
          <p:cNvPr id="470" name="CustomShape 90"/>
          <p:cNvSpPr/>
          <p:nvPr/>
        </p:nvSpPr>
        <p:spPr>
          <a:xfrm>
            <a:off x="7543800" y="1102320"/>
            <a:ext cx="4522320" cy="954000"/>
          </a:xfrm>
          <a:prstGeom prst="rect">
            <a:avLst/>
          </a:prstGeom>
          <a:solidFill>
            <a:srgbClr val="BCAED5"/>
          </a:solidFill>
          <a:ln w="57240">
            <a:solidFill>
              <a:srgbClr val="5C2D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We can reflect a model’s statement by means of a probability distribution </a:t>
            </a:r>
            <a:endParaRPr lang="en-US" sz="2000" b="0" strike="noStrike" spc="-1" dirty="0">
              <a:latin typeface="Arial"/>
            </a:endParaRPr>
          </a:p>
        </p:txBody>
      </p:sp>
      <p:pic>
        <p:nvPicPr>
          <p:cNvPr id="471" name="Picture 470"/>
          <p:cNvPicPr/>
          <p:nvPr/>
        </p:nvPicPr>
        <p:blipFill>
          <a:blip r:embed="rId2"/>
          <a:srcRect r="53482"/>
          <a:stretch/>
        </p:blipFill>
        <p:spPr>
          <a:xfrm>
            <a:off x="219960" y="2286360"/>
            <a:ext cx="2979000" cy="4579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CustomShape 91"/>
          <p:cNvSpPr/>
          <p:nvPr/>
        </p:nvSpPr>
        <p:spPr>
          <a:xfrm>
            <a:off x="548640" y="1008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What are Statistical Models?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73" name="CustomShape 9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474" name="CustomShape 93"/>
          <p:cNvSpPr/>
          <p:nvPr/>
        </p:nvSpPr>
        <p:spPr>
          <a:xfrm>
            <a:off x="228600" y="1143000"/>
            <a:ext cx="6171120" cy="68472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A binomial model with θ = 0.8</a:t>
            </a:r>
            <a:endParaRPr lang="en-US" sz="2200" b="0" strike="noStrike" spc="-1">
              <a:latin typeface="Arial"/>
            </a:endParaRPr>
          </a:p>
        </p:txBody>
      </p:sp>
      <p:sp>
        <p:nvSpPr>
          <p:cNvPr id="475" name="CustomShape 94"/>
          <p:cNvSpPr/>
          <p:nvPr/>
        </p:nvSpPr>
        <p:spPr>
          <a:xfrm>
            <a:off x="7543800" y="1102320"/>
            <a:ext cx="4522320" cy="954000"/>
          </a:xfrm>
          <a:prstGeom prst="rect">
            <a:avLst/>
          </a:prstGeom>
          <a:solidFill>
            <a:srgbClr val="BCAED5"/>
          </a:solidFill>
          <a:ln w="57240">
            <a:solidFill>
              <a:srgbClr val="5C2D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We can reflect a model’s statement by means of a probability distribution 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476" name="Picture 475"/>
          <p:cNvPicPr/>
          <p:nvPr/>
        </p:nvPicPr>
        <p:blipFill>
          <a:blip r:embed="rId2"/>
          <a:srcRect l="49905"/>
          <a:stretch/>
        </p:blipFill>
        <p:spPr>
          <a:xfrm>
            <a:off x="5985360" y="2286000"/>
            <a:ext cx="3208320" cy="4579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CustomShape 98"/>
          <p:cNvSpPr/>
          <p:nvPr/>
        </p:nvSpPr>
        <p:spPr>
          <a:xfrm>
            <a:off x="548640" y="1008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Statistical Models Make Predictions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78" name="CustomShape 99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479" name="CustomShape 100"/>
          <p:cNvSpPr/>
          <p:nvPr/>
        </p:nvSpPr>
        <p:spPr>
          <a:xfrm>
            <a:off x="1083600" y="1143000"/>
            <a:ext cx="5028120" cy="913320"/>
          </a:xfrm>
          <a:prstGeom prst="rect">
            <a:avLst/>
          </a:prstGeom>
          <a:solidFill>
            <a:srgbClr val="BCAED5"/>
          </a:solidFill>
          <a:ln w="57240">
            <a:solidFill>
              <a:srgbClr val="5C2D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Based on what these models claim about θ, certain outcomes are more/less likely</a:t>
            </a:r>
            <a:endParaRPr lang="en-US" sz="2000" b="0" strike="noStrike" spc="-1">
              <a:latin typeface="Arial"/>
            </a:endParaRPr>
          </a:p>
        </p:txBody>
      </p:sp>
      <p:grpSp>
        <p:nvGrpSpPr>
          <p:cNvPr id="480" name="Group 479"/>
          <p:cNvGrpSpPr/>
          <p:nvPr/>
        </p:nvGrpSpPr>
        <p:grpSpPr>
          <a:xfrm>
            <a:off x="12600" y="2250000"/>
            <a:ext cx="6628320" cy="4615920"/>
            <a:chOff x="12600" y="2250000"/>
            <a:chExt cx="6628320" cy="4615920"/>
          </a:xfrm>
        </p:grpSpPr>
        <p:pic>
          <p:nvPicPr>
            <p:cNvPr id="481" name="Picture 480"/>
            <p:cNvPicPr/>
            <p:nvPr/>
          </p:nvPicPr>
          <p:blipFill>
            <a:blip r:embed="rId2"/>
            <a:stretch/>
          </p:blipFill>
          <p:spPr>
            <a:xfrm>
              <a:off x="12600" y="2286000"/>
              <a:ext cx="6408720" cy="4579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82" name="Picture 481"/>
            <p:cNvPicPr/>
            <p:nvPr/>
          </p:nvPicPr>
          <p:blipFill>
            <a:blip r:embed="rId3"/>
            <a:srcRect r="47832"/>
            <a:stretch/>
          </p:blipFill>
          <p:spPr>
            <a:xfrm>
              <a:off x="3079800" y="2250000"/>
              <a:ext cx="3341160" cy="4579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83" name="Rectangle 482"/>
            <p:cNvSpPr/>
            <p:nvPr/>
          </p:nvSpPr>
          <p:spPr>
            <a:xfrm>
              <a:off x="6184800" y="3886200"/>
              <a:ext cx="456120" cy="137052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484" name="CustomShape 104"/>
          <p:cNvSpPr/>
          <p:nvPr/>
        </p:nvSpPr>
        <p:spPr>
          <a:xfrm>
            <a:off x="6420960" y="1143000"/>
            <a:ext cx="5693760" cy="913320"/>
          </a:xfrm>
          <a:prstGeom prst="rect">
            <a:avLst/>
          </a:prstGeom>
          <a:solidFill>
            <a:srgbClr val="BCAED5"/>
          </a:solidFill>
          <a:ln w="57240">
            <a:solidFill>
              <a:srgbClr val="E6E9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The yellow bar indicates how likely an outcome of 8/10 heads is, under Sarah’s model</a:t>
            </a:r>
            <a:endParaRPr lang="en-US" b="0" strike="noStrike" spc="-1" dirty="0">
              <a:latin typeface="Arial"/>
            </a:endParaRPr>
          </a:p>
        </p:txBody>
      </p:sp>
      <p:pic>
        <p:nvPicPr>
          <p:cNvPr id="485" name="Picture 484"/>
          <p:cNvPicPr/>
          <p:nvPr/>
        </p:nvPicPr>
        <p:blipFill>
          <a:blip r:embed="rId4"/>
          <a:stretch/>
        </p:blipFill>
        <p:spPr>
          <a:xfrm>
            <a:off x="7650000" y="2856240"/>
            <a:ext cx="3275280" cy="1094040"/>
          </a:xfrm>
          <a:prstGeom prst="rect">
            <a:avLst/>
          </a:prstGeom>
          <a:ln w="0">
            <a:noFill/>
          </a:ln>
        </p:spPr>
      </p:pic>
      <p:sp>
        <p:nvSpPr>
          <p:cNvPr id="486" name="CustomShape 119"/>
          <p:cNvSpPr/>
          <p:nvPr/>
        </p:nvSpPr>
        <p:spPr>
          <a:xfrm>
            <a:off x="7238880" y="4309200"/>
            <a:ext cx="4190400" cy="91368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To create this figure, we take the binomial formula, and fill in θ = 0.5 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487" name="CustomShape 120"/>
          <p:cNvSpPr/>
          <p:nvPr/>
        </p:nvSpPr>
        <p:spPr>
          <a:xfrm>
            <a:off x="7238880" y="5569200"/>
            <a:ext cx="4190400" cy="91368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For instance, for an outcome of k=8 heads, the formula gives 0.0439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CustomShape 101"/>
          <p:cNvSpPr/>
          <p:nvPr/>
        </p:nvSpPr>
        <p:spPr>
          <a:xfrm>
            <a:off x="548640" y="1008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Statistical Models Make Predictions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89" name="CustomShape 10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490" name="CustomShape 103"/>
          <p:cNvSpPr/>
          <p:nvPr/>
        </p:nvSpPr>
        <p:spPr>
          <a:xfrm>
            <a:off x="1083600" y="1143000"/>
            <a:ext cx="5028120" cy="913320"/>
          </a:xfrm>
          <a:prstGeom prst="rect">
            <a:avLst/>
          </a:prstGeom>
          <a:solidFill>
            <a:srgbClr val="BCAED5"/>
          </a:solidFill>
          <a:ln w="57240">
            <a:solidFill>
              <a:srgbClr val="5C2D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Based on what these models claim about θ, certain outcomes are more/less likely</a:t>
            </a:r>
            <a:endParaRPr lang="en-US" sz="2000" b="0" strike="noStrike" spc="-1">
              <a:latin typeface="Arial"/>
            </a:endParaRPr>
          </a:p>
        </p:txBody>
      </p:sp>
      <p:grpSp>
        <p:nvGrpSpPr>
          <p:cNvPr id="491" name="Group 490"/>
          <p:cNvGrpSpPr/>
          <p:nvPr/>
        </p:nvGrpSpPr>
        <p:grpSpPr>
          <a:xfrm>
            <a:off x="5985000" y="1805400"/>
            <a:ext cx="6275520" cy="5060520"/>
            <a:chOff x="5985000" y="1805400"/>
            <a:chExt cx="6275520" cy="5060520"/>
          </a:xfrm>
        </p:grpSpPr>
        <p:pic>
          <p:nvPicPr>
            <p:cNvPr id="492" name="Picture 491"/>
            <p:cNvPicPr/>
            <p:nvPr/>
          </p:nvPicPr>
          <p:blipFill>
            <a:blip r:embed="rId2"/>
            <a:srcRect l="49905"/>
            <a:stretch/>
          </p:blipFill>
          <p:spPr>
            <a:xfrm>
              <a:off x="5985000" y="2286000"/>
              <a:ext cx="3208320" cy="4579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3" name="Picture 492"/>
            <p:cNvPicPr/>
            <p:nvPr/>
          </p:nvPicPr>
          <p:blipFill>
            <a:blip r:embed="rId3"/>
            <a:srcRect l="48416"/>
            <a:stretch/>
          </p:blipFill>
          <p:spPr>
            <a:xfrm>
              <a:off x="8956800" y="2250000"/>
              <a:ext cx="3303720" cy="4579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94" name="Rectangle 493"/>
            <p:cNvSpPr/>
            <p:nvPr/>
          </p:nvSpPr>
          <p:spPr>
            <a:xfrm>
              <a:off x="8848800" y="1805400"/>
              <a:ext cx="456120" cy="137052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495" name="CustomShape 105"/>
          <p:cNvSpPr/>
          <p:nvPr/>
        </p:nvSpPr>
        <p:spPr>
          <a:xfrm>
            <a:off x="6549840" y="1143000"/>
            <a:ext cx="5564880" cy="913320"/>
          </a:xfrm>
          <a:prstGeom prst="rect">
            <a:avLst/>
          </a:prstGeom>
          <a:solidFill>
            <a:srgbClr val="BCAED5"/>
          </a:solidFill>
          <a:ln w="57240">
            <a:solidFill>
              <a:srgbClr val="E6E9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The yellow bar indicates how likely an outcome of 8/10 heads is, under Paul’s model</a:t>
            </a:r>
            <a:endParaRPr lang="en-US" b="0" strike="noStrike" spc="-1" dirty="0">
              <a:latin typeface="Arial"/>
            </a:endParaRPr>
          </a:p>
        </p:txBody>
      </p:sp>
      <p:pic>
        <p:nvPicPr>
          <p:cNvPr id="496" name="Picture 495"/>
          <p:cNvPicPr/>
          <p:nvPr/>
        </p:nvPicPr>
        <p:blipFill>
          <a:blip r:embed="rId4"/>
          <a:stretch/>
        </p:blipFill>
        <p:spPr>
          <a:xfrm>
            <a:off x="810000" y="2863800"/>
            <a:ext cx="3275280" cy="1094040"/>
          </a:xfrm>
          <a:prstGeom prst="rect">
            <a:avLst/>
          </a:prstGeom>
          <a:ln w="0">
            <a:noFill/>
          </a:ln>
        </p:spPr>
      </p:pic>
      <p:sp>
        <p:nvSpPr>
          <p:cNvPr id="497" name="CustomShape 121"/>
          <p:cNvSpPr/>
          <p:nvPr/>
        </p:nvSpPr>
        <p:spPr>
          <a:xfrm>
            <a:off x="398880" y="4316760"/>
            <a:ext cx="4190400" cy="91368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To create this figure, we take the binomial formula, and fill in θ = 0.8 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498" name="CustomShape 122"/>
          <p:cNvSpPr/>
          <p:nvPr/>
        </p:nvSpPr>
        <p:spPr>
          <a:xfrm>
            <a:off x="398880" y="5576760"/>
            <a:ext cx="4190400" cy="91368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For instance, for an outcome of k=8 heads, the formula gives 0.302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CustomShape 95"/>
          <p:cNvSpPr/>
          <p:nvPr/>
        </p:nvSpPr>
        <p:spPr>
          <a:xfrm>
            <a:off x="548640" y="1008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Statistical Models Make Predictions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00" name="CustomShape 96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grpSp>
        <p:nvGrpSpPr>
          <p:cNvPr id="501" name="Group 500"/>
          <p:cNvGrpSpPr/>
          <p:nvPr/>
        </p:nvGrpSpPr>
        <p:grpSpPr>
          <a:xfrm>
            <a:off x="5985000" y="1805400"/>
            <a:ext cx="6275520" cy="5060520"/>
            <a:chOff x="5985000" y="1805400"/>
            <a:chExt cx="6275520" cy="5060520"/>
          </a:xfrm>
        </p:grpSpPr>
        <p:pic>
          <p:nvPicPr>
            <p:cNvPr id="502" name="Picture 501"/>
            <p:cNvPicPr/>
            <p:nvPr/>
          </p:nvPicPr>
          <p:blipFill>
            <a:blip r:embed="rId2"/>
            <a:srcRect l="49905"/>
            <a:stretch/>
          </p:blipFill>
          <p:spPr>
            <a:xfrm>
              <a:off x="5985000" y="2286000"/>
              <a:ext cx="3208320" cy="4579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03" name="Picture 502"/>
            <p:cNvPicPr/>
            <p:nvPr/>
          </p:nvPicPr>
          <p:blipFill>
            <a:blip r:embed="rId3"/>
            <a:srcRect l="48416"/>
            <a:stretch/>
          </p:blipFill>
          <p:spPr>
            <a:xfrm>
              <a:off x="8956800" y="2250000"/>
              <a:ext cx="3303720" cy="4579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04" name="Rectangle 503"/>
            <p:cNvSpPr/>
            <p:nvPr/>
          </p:nvSpPr>
          <p:spPr>
            <a:xfrm>
              <a:off x="8848800" y="1805400"/>
              <a:ext cx="456120" cy="137052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grpSp>
        <p:nvGrpSpPr>
          <p:cNvPr id="505" name="Group 504"/>
          <p:cNvGrpSpPr/>
          <p:nvPr/>
        </p:nvGrpSpPr>
        <p:grpSpPr>
          <a:xfrm>
            <a:off x="12960" y="2250360"/>
            <a:ext cx="6628320" cy="4615920"/>
            <a:chOff x="12960" y="2250360"/>
            <a:chExt cx="6628320" cy="4615920"/>
          </a:xfrm>
        </p:grpSpPr>
        <p:pic>
          <p:nvPicPr>
            <p:cNvPr id="506" name="Picture 505"/>
            <p:cNvPicPr/>
            <p:nvPr/>
          </p:nvPicPr>
          <p:blipFill>
            <a:blip r:embed="rId2"/>
            <a:stretch/>
          </p:blipFill>
          <p:spPr>
            <a:xfrm>
              <a:off x="12960" y="2286360"/>
              <a:ext cx="6408720" cy="4579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07" name="Picture 506"/>
            <p:cNvPicPr/>
            <p:nvPr/>
          </p:nvPicPr>
          <p:blipFill>
            <a:blip r:embed="rId3"/>
            <a:srcRect r="47832"/>
            <a:stretch/>
          </p:blipFill>
          <p:spPr>
            <a:xfrm>
              <a:off x="3080160" y="2250360"/>
              <a:ext cx="3341160" cy="4579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08" name="Rectangle 507"/>
            <p:cNvSpPr/>
            <p:nvPr/>
          </p:nvSpPr>
          <p:spPr>
            <a:xfrm>
              <a:off x="6185160" y="3886560"/>
              <a:ext cx="456120" cy="137052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509" name="CustomShape 97"/>
          <p:cNvSpPr/>
          <p:nvPr/>
        </p:nvSpPr>
        <p:spPr>
          <a:xfrm>
            <a:off x="3581640" y="1143360"/>
            <a:ext cx="5028120" cy="913320"/>
          </a:xfrm>
          <a:prstGeom prst="rect">
            <a:avLst/>
          </a:prstGeom>
          <a:solidFill>
            <a:srgbClr val="BCAED5"/>
          </a:solidFill>
          <a:ln w="57240">
            <a:solidFill>
              <a:srgbClr val="5C2D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Based on what these models claim about θ, certain outcomes are more/less likely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CustomShape 115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Models Can Also State a Range of Values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11" name="CustomShape 116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12" name="CustomShape 117"/>
          <p:cNvSpPr/>
          <p:nvPr/>
        </p:nvSpPr>
        <p:spPr>
          <a:xfrm>
            <a:off x="5303520" y="1920240"/>
            <a:ext cx="6655680" cy="186660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Introducing the beta distribution:</a:t>
            </a:r>
            <a:endParaRPr lang="en-US" sz="2600" b="0" strike="noStrike" spc="-1">
              <a:latin typeface="Arial"/>
            </a:endParaRPr>
          </a:p>
          <a:p>
            <a:pPr marL="216000" indent="-214200" algn="ctr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It ranges from 0 to 1</a:t>
            </a:r>
            <a:endParaRPr lang="en-US" sz="2000" b="0" strike="noStrike" spc="-1">
              <a:latin typeface="Arial"/>
            </a:endParaRPr>
          </a:p>
          <a:p>
            <a:pPr marL="216000" indent="-214200" algn="ctr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Its shape is determined by two values: a and b</a:t>
            </a:r>
            <a:endParaRPr lang="en-US" sz="2000" b="0" strike="noStrike" spc="-1">
              <a:latin typeface="Arial"/>
            </a:endParaRPr>
          </a:p>
          <a:p>
            <a:pPr marL="216000" indent="-214200" algn="ctr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If a and b equal 1, it is uniform</a:t>
            </a:r>
            <a:endParaRPr lang="en-US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513" name="CustomShape 118"/>
          <p:cNvSpPr/>
          <p:nvPr/>
        </p:nvSpPr>
        <p:spPr>
          <a:xfrm>
            <a:off x="5310720" y="4350240"/>
            <a:ext cx="6655680" cy="186660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We use the beta distribution here because:</a:t>
            </a:r>
            <a:endParaRPr lang="en-US" sz="2600" b="0" strike="noStrike" spc="-1">
              <a:latin typeface="Arial"/>
            </a:endParaRPr>
          </a:p>
          <a:p>
            <a:pPr marL="216000" indent="-214200" algn="ctr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A proportion is also between 0 and 1</a:t>
            </a:r>
            <a:endParaRPr lang="en-US" sz="2000" b="0" strike="noStrike" spc="-1">
              <a:latin typeface="Arial"/>
            </a:endParaRPr>
          </a:p>
          <a:p>
            <a:pPr marL="216000" indent="-214200" algn="ctr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We can create many different shapes, which allows us</a:t>
            </a:r>
            <a:br>
              <a:rPr sz="1800"/>
            </a:b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 to reflect many different prior ideas 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514" name="Picture 513"/>
          <p:cNvPicPr/>
          <p:nvPr/>
        </p:nvPicPr>
        <p:blipFill>
          <a:blip r:embed="rId2"/>
          <a:stretch/>
        </p:blipFill>
        <p:spPr>
          <a:xfrm>
            <a:off x="255960" y="2376360"/>
            <a:ext cx="4936320" cy="3289680"/>
          </a:xfrm>
          <a:prstGeom prst="rect">
            <a:avLst/>
          </a:prstGeom>
          <a:ln w="0">
            <a:noFill/>
          </a:ln>
        </p:spPr>
      </p:pic>
      <p:sp>
        <p:nvSpPr>
          <p:cNvPr id="515" name="CustomShape 110"/>
          <p:cNvSpPr/>
          <p:nvPr/>
        </p:nvSpPr>
        <p:spPr>
          <a:xfrm>
            <a:off x="0" y="5903280"/>
            <a:ext cx="4522320" cy="954000"/>
          </a:xfrm>
          <a:prstGeom prst="rect">
            <a:avLst/>
          </a:prstGeom>
          <a:solidFill>
            <a:srgbClr val="BCAED5"/>
          </a:solidFill>
          <a:ln w="57240">
            <a:solidFill>
              <a:srgbClr val="5C2D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We can reflect a model’s statement by means of a probability distribution 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ustomShape 127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Models Can Also State a Range of Values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17" name="CustomShape 128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18" name="CustomShape 129"/>
          <p:cNvSpPr/>
          <p:nvPr/>
        </p:nvSpPr>
        <p:spPr>
          <a:xfrm>
            <a:off x="5303520" y="1920240"/>
            <a:ext cx="6655680" cy="186660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Introducing the beta distribution:</a:t>
            </a:r>
            <a:endParaRPr lang="en-US" sz="2600" b="0" strike="noStrike" spc="-1">
              <a:latin typeface="Arial"/>
            </a:endParaRPr>
          </a:p>
          <a:p>
            <a:pPr marL="216000" indent="-214200" algn="ctr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It ranges from 0 to 1</a:t>
            </a:r>
            <a:endParaRPr lang="en-US" sz="2000" b="0" strike="noStrike" spc="-1">
              <a:latin typeface="Arial"/>
            </a:endParaRPr>
          </a:p>
          <a:p>
            <a:pPr marL="216000" indent="-214200" algn="ctr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Its shape is determined by two values: a and b</a:t>
            </a:r>
            <a:endParaRPr lang="en-US" sz="2000" b="0" strike="noStrike" spc="-1">
              <a:latin typeface="Arial"/>
            </a:endParaRPr>
          </a:p>
          <a:p>
            <a:pPr marL="216000" indent="-214200" algn="ctr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If a and b equal 1, it is uniform</a:t>
            </a:r>
            <a:endParaRPr lang="en-US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519" name="Rectangle 518"/>
          <p:cNvSpPr/>
          <p:nvPr/>
        </p:nvSpPr>
        <p:spPr>
          <a:xfrm>
            <a:off x="1828800" y="4114800"/>
            <a:ext cx="8228880" cy="222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Some apps that let you shape a beta distribution</a:t>
            </a:r>
            <a:endParaRPr lang="en-US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800" b="0" u="sng" strike="noStrike" spc="-1" dirty="0">
                <a:solidFill>
                  <a:srgbClr val="0563C1"/>
                </a:solidFill>
                <a:uFillTx/>
                <a:latin typeface="Cantarell"/>
                <a:ea typeface="DejaVu Sans"/>
                <a:hlinkClick r:id="rId2"/>
              </a:rPr>
              <a:t>https://researchmethodsuva.shinyapps.io/test/</a:t>
            </a:r>
            <a:r>
              <a:rPr lang="en-US" sz="28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 </a:t>
            </a:r>
            <a:endParaRPr lang="en-US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800" b="0" u="sng" strike="noStrike" spc="-1" dirty="0">
                <a:solidFill>
                  <a:srgbClr val="0563C1"/>
                </a:solidFill>
                <a:uFillTx/>
                <a:latin typeface="Cantarell"/>
                <a:ea typeface="DejaVu Sans"/>
                <a:hlinkClick r:id="rId3"/>
              </a:rPr>
              <a:t>https://maglit.me/antivichmfy</a:t>
            </a:r>
            <a:r>
              <a:rPr lang="en-US" sz="28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 </a:t>
            </a: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CustomShape 1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Models Can Also State a Range of Values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21" name="CustomShape 1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522" name="Picture 521"/>
          <p:cNvPicPr/>
          <p:nvPr/>
        </p:nvPicPr>
        <p:blipFill>
          <a:blip r:embed="rId2"/>
          <a:stretch/>
        </p:blipFill>
        <p:spPr>
          <a:xfrm>
            <a:off x="219240" y="1518480"/>
            <a:ext cx="11792880" cy="3928320"/>
          </a:xfrm>
          <a:prstGeom prst="rect">
            <a:avLst/>
          </a:prstGeom>
          <a:ln w="0">
            <a:noFill/>
          </a:ln>
        </p:spPr>
      </p:pic>
      <p:sp>
        <p:nvSpPr>
          <p:cNvPr id="523" name="CustomShape 14"/>
          <p:cNvSpPr/>
          <p:nvPr/>
        </p:nvSpPr>
        <p:spPr>
          <a:xfrm>
            <a:off x="457200" y="5616000"/>
            <a:ext cx="3471120" cy="1147320"/>
          </a:xfrm>
          <a:prstGeom prst="rect">
            <a:avLst/>
          </a:prstGeom>
          <a:solidFill>
            <a:srgbClr val="87D1D1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A model that reflects the idea that all values of the proportion are equally plausible - we call this an </a:t>
            </a:r>
            <a:r>
              <a:rPr lang="en-US" sz="1600" b="0" i="1" strike="noStrike" spc="-1">
                <a:solidFill>
                  <a:srgbClr val="000000"/>
                </a:solidFill>
                <a:latin typeface="Cantarell"/>
                <a:ea typeface="DejaVu Sans"/>
              </a:rPr>
              <a:t>uninformative model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24" name="CustomShape 16"/>
          <p:cNvSpPr/>
          <p:nvPr/>
        </p:nvSpPr>
        <p:spPr>
          <a:xfrm>
            <a:off x="4754880" y="5715000"/>
            <a:ext cx="3288240" cy="1048320"/>
          </a:xfrm>
          <a:prstGeom prst="rect">
            <a:avLst/>
          </a:prstGeom>
          <a:solidFill>
            <a:srgbClr val="ADD58A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A model that reflects the idea that values close to 0.5 are more plausible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25" name="CustomShape 17"/>
          <p:cNvSpPr/>
          <p:nvPr/>
        </p:nvSpPr>
        <p:spPr>
          <a:xfrm>
            <a:off x="8595360" y="5578560"/>
            <a:ext cx="3288240" cy="1184760"/>
          </a:xfrm>
          <a:prstGeom prst="rect">
            <a:avLst/>
          </a:prstGeom>
          <a:solidFill>
            <a:srgbClr val="FDC578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A prior distribution that reflects the idea that values below 0.5 are more plausible (i.e., the coin is biased towards tails)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CustomShape 77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Beta Distribution Interpretation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27" name="CustomShape 78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28" name="CustomShape 108"/>
          <p:cNvSpPr/>
          <p:nvPr/>
        </p:nvSpPr>
        <p:spPr>
          <a:xfrm>
            <a:off x="259560" y="1823760"/>
            <a:ext cx="3471120" cy="1147320"/>
          </a:xfrm>
          <a:prstGeom prst="rect">
            <a:avLst/>
          </a:prstGeom>
          <a:solidFill>
            <a:srgbClr val="B3CAC7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In the context of a prior distribution for a proportion, the a and b can be interpreted as previously observed heads and tails.</a:t>
            </a:r>
            <a:endParaRPr lang="en-US" sz="1400" b="0" strike="noStrike" spc="-1" dirty="0">
              <a:latin typeface="Arial"/>
            </a:endParaRPr>
          </a:p>
        </p:txBody>
      </p:sp>
      <p:pic>
        <p:nvPicPr>
          <p:cNvPr id="529" name="Picture 528"/>
          <p:cNvPicPr/>
          <p:nvPr/>
        </p:nvPicPr>
        <p:blipFill>
          <a:blip r:embed="rId2"/>
          <a:stretch/>
        </p:blipFill>
        <p:spPr>
          <a:xfrm>
            <a:off x="84600" y="3645000"/>
            <a:ext cx="3885480" cy="2589840"/>
          </a:xfrm>
          <a:prstGeom prst="rect">
            <a:avLst/>
          </a:prstGeom>
          <a:ln w="0">
            <a:noFill/>
          </a:ln>
        </p:spPr>
      </p:pic>
      <p:sp>
        <p:nvSpPr>
          <p:cNvPr id="530" name="CustomShape 111"/>
          <p:cNvSpPr/>
          <p:nvPr/>
        </p:nvSpPr>
        <p:spPr>
          <a:xfrm>
            <a:off x="4008600" y="1828800"/>
            <a:ext cx="4342680" cy="1142280"/>
          </a:xfrm>
          <a:prstGeom prst="rect">
            <a:avLst/>
          </a:prstGeom>
          <a:solidFill>
            <a:srgbClr val="B3CAC7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We cannot start with an empty distribution (a and b cannot be 0), no matter how clueless you are about something, there will always be starting point (e.g., a = b = 1)</a:t>
            </a:r>
            <a:endParaRPr lang="en-US" sz="1400" b="0" strike="noStrike" spc="-1" dirty="0">
              <a:latin typeface="Arial"/>
            </a:endParaRPr>
          </a:p>
        </p:txBody>
      </p:sp>
      <p:pic>
        <p:nvPicPr>
          <p:cNvPr id="531" name="Picture 530"/>
          <p:cNvPicPr/>
          <p:nvPr/>
        </p:nvPicPr>
        <p:blipFill>
          <a:blip r:embed="rId3"/>
          <a:stretch/>
        </p:blipFill>
        <p:spPr>
          <a:xfrm>
            <a:off x="3648960" y="3645000"/>
            <a:ext cx="3885480" cy="2589840"/>
          </a:xfrm>
          <a:prstGeom prst="rect">
            <a:avLst/>
          </a:prstGeom>
          <a:ln w="0">
            <a:noFill/>
          </a:ln>
        </p:spPr>
      </p:pic>
      <p:pic>
        <p:nvPicPr>
          <p:cNvPr id="532" name="Picture 531"/>
          <p:cNvPicPr/>
          <p:nvPr/>
        </p:nvPicPr>
        <p:blipFill>
          <a:blip r:embed="rId4"/>
          <a:srcRect r="53622"/>
          <a:stretch/>
        </p:blipFill>
        <p:spPr>
          <a:xfrm>
            <a:off x="8992440" y="3200400"/>
            <a:ext cx="2377440" cy="3665520"/>
          </a:xfrm>
          <a:prstGeom prst="rect">
            <a:avLst/>
          </a:prstGeom>
          <a:ln w="0">
            <a:noFill/>
          </a:ln>
        </p:spPr>
      </p:pic>
      <p:sp>
        <p:nvSpPr>
          <p:cNvPr id="533" name="CustomShape 112"/>
          <p:cNvSpPr/>
          <p:nvPr/>
        </p:nvSpPr>
        <p:spPr>
          <a:xfrm>
            <a:off x="8964000" y="1415160"/>
            <a:ext cx="2971080" cy="1784520"/>
          </a:xfrm>
          <a:prstGeom prst="rect">
            <a:avLst/>
          </a:prstGeom>
          <a:solidFill>
            <a:srgbClr val="B3CAC7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Models that go all in on a single value have a very strong conviction:</a:t>
            </a:r>
            <a:br>
              <a:rPr sz="1600"/>
            </a:b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Sarah believes as if she has seen infinitely many heads and tails already!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CustomShape 18"/>
          <p:cNvSpPr/>
          <p:nvPr/>
        </p:nvSpPr>
        <p:spPr>
          <a:xfrm>
            <a:off x="548640" y="1008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Models Can Also State a Range of Values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35" name="CustomShape 19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36" name="CustomShape 20"/>
          <p:cNvSpPr/>
          <p:nvPr/>
        </p:nvSpPr>
        <p:spPr>
          <a:xfrm>
            <a:off x="1434240" y="1138320"/>
            <a:ext cx="9322920" cy="461160"/>
          </a:xfrm>
          <a:prstGeom prst="rect">
            <a:avLst/>
          </a:prstGeom>
          <a:solidFill>
            <a:srgbClr val="BCAED5"/>
          </a:solidFill>
          <a:ln w="57240">
            <a:solidFill>
              <a:srgbClr val="5C2D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We can reflect a model’s statement by means of a probability distribution 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537" name="Picture 536"/>
          <p:cNvPicPr/>
          <p:nvPr/>
        </p:nvPicPr>
        <p:blipFill>
          <a:blip r:embed="rId2"/>
          <a:srcRect r="50060"/>
          <a:stretch/>
        </p:blipFill>
        <p:spPr>
          <a:xfrm>
            <a:off x="0" y="2505600"/>
            <a:ext cx="2970720" cy="4123080"/>
          </a:xfrm>
          <a:prstGeom prst="rect">
            <a:avLst/>
          </a:prstGeom>
          <a:ln w="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8" name="CustomShape 21"/>
              <p:cNvSpPr/>
              <p:nvPr/>
            </p:nvSpPr>
            <p:spPr>
              <a:xfrm>
                <a:off x="228600" y="1827000"/>
                <a:ext cx="4799880" cy="684720"/>
              </a:xfrm>
              <a:prstGeom prst="rect">
                <a:avLst/>
              </a:prstGeom>
              <a:solidFill>
                <a:srgbClr val="C2E0AE"/>
              </a:solidFill>
              <a:ln w="29160">
                <a:solidFill>
                  <a:srgbClr val="21409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4400" tIns="14400" rIns="14400" bIns="144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2200" b="0" strike="noStrike" spc="-1" dirty="0">
                    <a:solidFill>
                      <a:srgbClr val="000000"/>
                    </a:solidFill>
                    <a:latin typeface="Cantarell"/>
                    <a:ea typeface="DejaVu Sans"/>
                  </a:rPr>
                  <a:t>A binomial model with </a:t>
                </a:r>
                <a:r>
                  <a:rPr lang="en-US" sz="2200" b="0" strike="noStrike" spc="-1" dirty="0" err="1">
                    <a:solidFill>
                      <a:srgbClr val="000000"/>
                    </a:solidFill>
                    <a:latin typeface="Cantarell"/>
                    <a:ea typeface="DejaVu Sans"/>
                  </a:rPr>
                  <a:t>θ</a:t>
                </a:r>
                <a14:m>
                  <m:oMath xmlns:m="http://schemas.openxmlformats.org/officeDocument/2006/math">
                    <m:r>
                      <a:rPr lang="en-US" sz="2200" b="0" i="1" strike="noStrike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∽</m:t>
                    </m:r>
                  </m:oMath>
                </a14:m>
                <a:r>
                  <a:rPr lang="en-US" sz="2200" b="0" strike="noStrike" spc="-1" dirty="0">
                    <a:solidFill>
                      <a:srgbClr val="000000"/>
                    </a:solidFill>
                    <a:latin typeface="Cantarell"/>
                    <a:ea typeface="DejaVu Sans"/>
                  </a:rPr>
                  <a:t> Beta(1, 1)</a:t>
                </a:r>
                <a:endParaRPr lang="en-US" sz="2200" b="0" strike="noStrike" spc="-1" dirty="0">
                  <a:latin typeface="Arial"/>
                </a:endParaRPr>
              </a:p>
            </p:txBody>
          </p:sp>
        </mc:Choice>
        <mc:Fallback xmlns="">
          <p:sp>
            <p:nvSpPr>
              <p:cNvPr id="538" name="CustomShap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827000"/>
                <a:ext cx="4799880" cy="684720"/>
              </a:xfrm>
              <a:prstGeom prst="rect">
                <a:avLst/>
              </a:prstGeom>
              <a:blipFill>
                <a:blip r:embed="rId3"/>
                <a:stretch>
                  <a:fillRect l="-2100" r="-1837"/>
                </a:stretch>
              </a:blipFill>
              <a:ln w="29160">
                <a:solidFill>
                  <a:srgbClr val="21409A"/>
                </a:solidFill>
                <a:round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9" name="CustomShape 125"/>
              <p:cNvSpPr/>
              <p:nvPr/>
            </p:nvSpPr>
            <p:spPr>
              <a:xfrm>
                <a:off x="6172200" y="1829160"/>
                <a:ext cx="4799880" cy="684720"/>
              </a:xfrm>
              <a:prstGeom prst="rect">
                <a:avLst/>
              </a:prstGeom>
              <a:solidFill>
                <a:srgbClr val="C2E0AE"/>
              </a:solidFill>
              <a:ln w="29160">
                <a:solidFill>
                  <a:srgbClr val="21409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4400" tIns="14400" rIns="14400" bIns="144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2200" b="0" strike="noStrike" spc="-1" dirty="0">
                    <a:solidFill>
                      <a:srgbClr val="000000"/>
                    </a:solidFill>
                    <a:latin typeface="Cantarell"/>
                    <a:ea typeface="DejaVu Sans"/>
                  </a:rPr>
                  <a:t>A binomial model with </a:t>
                </a:r>
                <a:r>
                  <a:rPr lang="en-US" sz="2200" b="0" strike="noStrike" spc="-1" dirty="0" err="1">
                    <a:solidFill>
                      <a:srgbClr val="000000"/>
                    </a:solidFill>
                    <a:latin typeface="Cantarell"/>
                    <a:ea typeface="DejaVu Sans"/>
                  </a:rPr>
                  <a:t>θ</a:t>
                </a:r>
                <a:r>
                  <a:rPr lang="en-US" sz="2200" b="0" strike="noStrike" spc="-1" dirty="0">
                    <a:solidFill>
                      <a:srgbClr val="000000"/>
                    </a:solidFill>
                    <a:latin typeface="Cantarell"/>
                    <a:ea typeface="DejaVu San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∽</m:t>
                    </m:r>
                  </m:oMath>
                </a14:m>
                <a:r>
                  <a:rPr lang="en-US" sz="2200" b="0" strike="noStrike" spc="-1" dirty="0">
                    <a:solidFill>
                      <a:srgbClr val="000000"/>
                    </a:solidFill>
                    <a:latin typeface="Cantarell"/>
                    <a:ea typeface="DejaVu Sans"/>
                  </a:rPr>
                  <a:t> Beta(3, 1)</a:t>
                </a:r>
                <a:endParaRPr lang="en-US" sz="2200" b="0" strike="noStrike" spc="-1" dirty="0">
                  <a:latin typeface="Arial"/>
                </a:endParaRPr>
              </a:p>
            </p:txBody>
          </p:sp>
        </mc:Choice>
        <mc:Fallback xmlns="">
          <p:sp>
            <p:nvSpPr>
              <p:cNvPr id="539" name="CustomShape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829160"/>
                <a:ext cx="4799880" cy="684720"/>
              </a:xfrm>
              <a:prstGeom prst="rect">
                <a:avLst/>
              </a:prstGeom>
              <a:blipFill>
                <a:blip r:embed="rId4"/>
                <a:stretch>
                  <a:fillRect l="-2887" r="-2625"/>
                </a:stretch>
              </a:blipFill>
              <a:ln w="29160">
                <a:solidFill>
                  <a:srgbClr val="21409A"/>
                </a:solidFill>
                <a:round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0" name="CustomShape 126"/>
          <p:cNvSpPr/>
          <p:nvPr/>
        </p:nvSpPr>
        <p:spPr>
          <a:xfrm>
            <a:off x="9212760" y="3499200"/>
            <a:ext cx="2746080" cy="130068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It is truncated below 0.5, so Davids model only postulates values &gt; 0.5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541" name="Picture 540"/>
          <p:cNvPicPr/>
          <p:nvPr/>
        </p:nvPicPr>
        <p:blipFill>
          <a:blip r:embed="rId5"/>
          <a:stretch/>
        </p:blipFill>
        <p:spPr>
          <a:xfrm>
            <a:off x="5653800" y="2849760"/>
            <a:ext cx="2971080" cy="3778920"/>
          </a:xfrm>
          <a:prstGeom prst="rect">
            <a:avLst/>
          </a:prstGeom>
          <a:ln w="0">
            <a:noFill/>
          </a:ln>
        </p:spPr>
      </p:pic>
      <p:sp>
        <p:nvSpPr>
          <p:cNvPr id="542" name="CustomShape 136"/>
          <p:cNvSpPr/>
          <p:nvPr/>
        </p:nvSpPr>
        <p:spPr>
          <a:xfrm>
            <a:off x="3200400" y="5715360"/>
            <a:ext cx="2514240" cy="913320"/>
          </a:xfrm>
          <a:prstGeom prst="rect">
            <a:avLst/>
          </a:prstGeom>
          <a:solidFill>
            <a:srgbClr val="FFE994"/>
          </a:solidFill>
          <a:ln w="29160">
            <a:solidFill>
              <a:srgbClr val="00A9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What are the theoretical implications of these models?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latin typeface="Cantarell"/>
              </a:rPr>
              <a:t>So, We Have All Sorts of Models...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44" name="Rectangle 543"/>
          <p:cNvSpPr/>
          <p:nvPr/>
        </p:nvSpPr>
        <p:spPr>
          <a:xfrm>
            <a:off x="6184800" y="3877560"/>
            <a:ext cx="456120" cy="13705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grpSp>
        <p:nvGrpSpPr>
          <p:cNvPr id="545" name="Group 544"/>
          <p:cNvGrpSpPr/>
          <p:nvPr/>
        </p:nvGrpSpPr>
        <p:grpSpPr>
          <a:xfrm>
            <a:off x="2305800" y="1362600"/>
            <a:ext cx="7579440" cy="2980080"/>
            <a:chOff x="2305800" y="1362600"/>
            <a:chExt cx="7579440" cy="2980080"/>
          </a:xfrm>
        </p:grpSpPr>
        <p:pic>
          <p:nvPicPr>
            <p:cNvPr id="546" name="Picture 545"/>
            <p:cNvPicPr/>
            <p:nvPr/>
          </p:nvPicPr>
          <p:blipFill>
            <a:blip r:embed="rId2"/>
            <a:stretch/>
          </p:blipFill>
          <p:spPr>
            <a:xfrm>
              <a:off x="2305800" y="1418400"/>
              <a:ext cx="3872880" cy="2767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47" name="Picture 546"/>
            <p:cNvPicPr/>
            <p:nvPr/>
          </p:nvPicPr>
          <p:blipFill>
            <a:blip r:embed="rId3"/>
            <a:srcRect r="50060"/>
            <a:stretch/>
          </p:blipFill>
          <p:spPr>
            <a:xfrm>
              <a:off x="6012000" y="1362600"/>
              <a:ext cx="2147040" cy="2980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48" name="Picture 547"/>
            <p:cNvPicPr/>
            <p:nvPr/>
          </p:nvPicPr>
          <p:blipFill>
            <a:blip r:embed="rId4"/>
            <a:stretch/>
          </p:blipFill>
          <p:spPr>
            <a:xfrm>
              <a:off x="7945200" y="1647000"/>
              <a:ext cx="1940040" cy="2467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49" name="CustomShape 22"/>
          <p:cNvSpPr/>
          <p:nvPr/>
        </p:nvSpPr>
        <p:spPr>
          <a:xfrm>
            <a:off x="2438280" y="4703760"/>
            <a:ext cx="3199680" cy="1141920"/>
          </a:xfrm>
          <a:prstGeom prst="rect">
            <a:avLst/>
          </a:prstGeom>
          <a:solidFill>
            <a:srgbClr val="FFE994"/>
          </a:solidFill>
          <a:ln w="29160">
            <a:solidFill>
              <a:srgbClr val="00A9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1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On Thursday we discuss comparing these models to each other</a:t>
            </a:r>
            <a:endParaRPr lang="en-US" sz="2100" b="0" strike="noStrike" spc="-1" dirty="0">
              <a:latin typeface="Arial"/>
            </a:endParaRPr>
          </a:p>
        </p:txBody>
      </p:sp>
      <p:sp>
        <p:nvSpPr>
          <p:cNvPr id="550" name="CustomShape 23"/>
          <p:cNvSpPr/>
          <p:nvPr/>
        </p:nvSpPr>
        <p:spPr>
          <a:xfrm>
            <a:off x="6553080" y="4703760"/>
            <a:ext cx="3199680" cy="1141920"/>
          </a:xfrm>
          <a:prstGeom prst="rect">
            <a:avLst/>
          </a:prstGeom>
          <a:solidFill>
            <a:srgbClr val="FFE994"/>
          </a:solidFill>
          <a:ln w="29160">
            <a:solidFill>
              <a:srgbClr val="00A9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1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Now we focus on a single model, and how they learn from data</a:t>
            </a:r>
            <a:endParaRPr lang="en-US" sz="21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latin typeface="Cantarell"/>
              </a:rPr>
              <a:t>So, We Have All Sorts of Models...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52" name="Rectangle 551"/>
          <p:cNvSpPr/>
          <p:nvPr/>
        </p:nvSpPr>
        <p:spPr>
          <a:xfrm>
            <a:off x="6184800" y="3877560"/>
            <a:ext cx="456120" cy="13705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553" name="Picture 552"/>
          <p:cNvPicPr/>
          <p:nvPr/>
        </p:nvPicPr>
        <p:blipFill>
          <a:blip r:embed="rId2"/>
          <a:stretch/>
        </p:blipFill>
        <p:spPr>
          <a:xfrm>
            <a:off x="2305800" y="1418400"/>
            <a:ext cx="3872880" cy="2767680"/>
          </a:xfrm>
          <a:prstGeom prst="rect">
            <a:avLst/>
          </a:prstGeom>
          <a:ln w="0">
            <a:noFill/>
          </a:ln>
        </p:spPr>
      </p:pic>
      <p:pic>
        <p:nvPicPr>
          <p:cNvPr id="554" name="Picture 553"/>
          <p:cNvPicPr/>
          <p:nvPr/>
        </p:nvPicPr>
        <p:blipFill>
          <a:blip r:embed="rId3"/>
          <a:srcRect r="50060"/>
          <a:stretch/>
        </p:blipFill>
        <p:spPr>
          <a:xfrm>
            <a:off x="6012000" y="1362600"/>
            <a:ext cx="2147040" cy="2980080"/>
          </a:xfrm>
          <a:prstGeom prst="rect">
            <a:avLst/>
          </a:prstGeom>
          <a:ln w="0">
            <a:noFill/>
          </a:ln>
        </p:spPr>
      </p:pic>
      <p:pic>
        <p:nvPicPr>
          <p:cNvPr id="555" name="Picture 554"/>
          <p:cNvPicPr/>
          <p:nvPr/>
        </p:nvPicPr>
        <p:blipFill>
          <a:blip r:embed="rId4"/>
          <a:stretch/>
        </p:blipFill>
        <p:spPr>
          <a:xfrm>
            <a:off x="7945200" y="1647000"/>
            <a:ext cx="1940040" cy="2467080"/>
          </a:xfrm>
          <a:prstGeom prst="rect">
            <a:avLst/>
          </a:prstGeom>
          <a:ln w="0">
            <a:noFill/>
          </a:ln>
        </p:spPr>
      </p:pic>
      <p:sp>
        <p:nvSpPr>
          <p:cNvPr id="556" name="CustomShape 25"/>
          <p:cNvSpPr/>
          <p:nvPr/>
        </p:nvSpPr>
        <p:spPr>
          <a:xfrm>
            <a:off x="3009960" y="4572000"/>
            <a:ext cx="6171480" cy="456480"/>
          </a:xfrm>
          <a:prstGeom prst="rect">
            <a:avLst/>
          </a:prstGeom>
          <a:solidFill>
            <a:srgbClr val="FFE994"/>
          </a:solidFill>
          <a:ln w="29160">
            <a:solidFill>
              <a:srgbClr val="00A9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1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These models reflect prior knowledge/beliefs</a:t>
            </a:r>
            <a:endParaRPr lang="en-US" sz="2100" b="0" strike="noStrike" spc="-1">
              <a:latin typeface="Arial"/>
            </a:endParaRPr>
          </a:p>
        </p:txBody>
      </p:sp>
      <p:sp>
        <p:nvSpPr>
          <p:cNvPr id="557" name="CustomShape 24"/>
          <p:cNvSpPr/>
          <p:nvPr/>
        </p:nvSpPr>
        <p:spPr>
          <a:xfrm>
            <a:off x="2971800" y="5257800"/>
            <a:ext cx="6171480" cy="456480"/>
          </a:xfrm>
          <a:prstGeom prst="rect">
            <a:avLst/>
          </a:prstGeom>
          <a:solidFill>
            <a:srgbClr val="FFE994"/>
          </a:solidFill>
          <a:ln w="29160">
            <a:solidFill>
              <a:srgbClr val="00A9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1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We will update this prior knowledge with data</a:t>
            </a:r>
            <a:endParaRPr lang="en-US" sz="2100" b="0" strike="noStrike" spc="-1">
              <a:latin typeface="Arial"/>
            </a:endParaRPr>
          </a:p>
        </p:txBody>
      </p:sp>
      <p:sp>
        <p:nvSpPr>
          <p:cNvPr id="558" name="CustomShape 26"/>
          <p:cNvSpPr/>
          <p:nvPr/>
        </p:nvSpPr>
        <p:spPr>
          <a:xfrm>
            <a:off x="2971800" y="5943600"/>
            <a:ext cx="6171480" cy="456480"/>
          </a:xfrm>
          <a:prstGeom prst="rect">
            <a:avLst/>
          </a:prstGeom>
          <a:solidFill>
            <a:srgbClr val="FFE994"/>
          </a:solidFill>
          <a:ln w="29160">
            <a:solidFill>
              <a:srgbClr val="00A9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1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To end up with posterior knowledge</a:t>
            </a:r>
            <a:endParaRPr lang="en-US" sz="21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CustomShape 30"/>
          <p:cNvSpPr/>
          <p:nvPr/>
        </p:nvSpPr>
        <p:spPr>
          <a:xfrm>
            <a:off x="838080" y="365040"/>
            <a:ext cx="10509120" cy="131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  <a:ea typeface="DejaVu Sans"/>
              </a:rPr>
              <a:t>Today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60" name="CustomShape 31"/>
          <p:cNvSpPr/>
          <p:nvPr/>
        </p:nvSpPr>
        <p:spPr>
          <a:xfrm>
            <a:off x="838080" y="1825560"/>
            <a:ext cx="10509120" cy="43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61" name="CustomShape 32"/>
          <p:cNvSpPr/>
          <p:nvPr/>
        </p:nvSpPr>
        <p:spPr>
          <a:xfrm>
            <a:off x="609480" y="195624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Bayesian statistics</a:t>
            </a:r>
            <a:endParaRPr lang="en-US" sz="3200" b="0" strike="noStrike" spc="-1" dirty="0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What are models?</a:t>
            </a:r>
            <a:endParaRPr lang="en-US" sz="2200" b="0" strike="noStrike" spc="-1" dirty="0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1" strike="noStrike" spc="-1" dirty="0">
                <a:solidFill>
                  <a:srgbClr val="FF8000"/>
                </a:solidFill>
                <a:latin typeface="Arial"/>
                <a:ea typeface="DejaVu Sans"/>
              </a:rPr>
              <a:t>How do models learn from data?</a:t>
            </a:r>
            <a:endParaRPr lang="en-US" sz="2200" b="0" strike="noStrike" spc="-1" dirty="0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Live demonstration</a:t>
            </a:r>
            <a:endParaRPr lang="en-US" sz="2200" b="0" strike="noStrike" spc="-1" dirty="0"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Recap</a:t>
            </a:r>
            <a:endParaRPr lang="en-US" sz="3200" b="0" strike="noStrike" spc="-1" dirty="0">
              <a:latin typeface="Arial"/>
            </a:endParaRPr>
          </a:p>
          <a:p>
            <a:pPr marL="864000" lvl="3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Practical stuff &amp; next week</a:t>
            </a:r>
            <a:endParaRPr lang="en-US" sz="2000" b="0" strike="noStrike" spc="-1" dirty="0">
              <a:latin typeface="Arial"/>
            </a:endParaRPr>
          </a:p>
          <a:p>
            <a:pPr marL="864000" lvl="3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Example exam question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Bayes’ Theorem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563" name="Picture 562"/>
          <p:cNvPicPr/>
          <p:nvPr/>
        </p:nvPicPr>
        <p:blipFill>
          <a:blip r:embed="rId2"/>
          <a:stretch/>
        </p:blipFill>
        <p:spPr>
          <a:xfrm>
            <a:off x="1689840" y="2787840"/>
            <a:ext cx="8852040" cy="1824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CustomShape 1"/>
          <p:cNvSpPr/>
          <p:nvPr/>
        </p:nvSpPr>
        <p:spPr>
          <a:xfrm>
            <a:off x="838080" y="365040"/>
            <a:ext cx="10509120" cy="131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65" name="CustomShape 2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Applying Bayes’ Theorem to Statistical Inference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566" name="CustomShape 3"/>
          <p:cNvSpPr/>
          <p:nvPr/>
        </p:nvSpPr>
        <p:spPr>
          <a:xfrm>
            <a:off x="2034360" y="1542240"/>
            <a:ext cx="8119080" cy="119700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We can replace “A” and “B”, with parameter value “</a:t>
            </a:r>
            <a:r>
              <a:rPr lang="en-US" sz="3200" b="0" i="1" strike="noStrike" spc="-1">
                <a:solidFill>
                  <a:srgbClr val="000000"/>
                </a:solidFill>
                <a:latin typeface="Cantarell"/>
                <a:ea typeface="Arial"/>
              </a:rPr>
              <a:t>θ” </a:t>
            </a:r>
            <a:r>
              <a:rPr lang="en-US" sz="3200" b="0" strike="noStrike" spc="-1">
                <a:solidFill>
                  <a:srgbClr val="000000"/>
                </a:solidFill>
                <a:latin typeface="Cantarell"/>
                <a:ea typeface="Arial"/>
              </a:rPr>
              <a:t>and observed “data”</a:t>
            </a:r>
            <a:endParaRPr lang="en-US" sz="3200" b="0" strike="noStrike" spc="-1">
              <a:latin typeface="Arial"/>
            </a:endParaRPr>
          </a:p>
        </p:txBody>
      </p:sp>
      <p:pic>
        <p:nvPicPr>
          <p:cNvPr id="567" name="Picture 566"/>
          <p:cNvPicPr/>
          <p:nvPr/>
        </p:nvPicPr>
        <p:blipFill>
          <a:blip r:embed="rId2"/>
          <a:stretch/>
        </p:blipFill>
        <p:spPr>
          <a:xfrm>
            <a:off x="1764000" y="3542040"/>
            <a:ext cx="8660160" cy="1580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CustomShape 1"/>
          <p:cNvSpPr/>
          <p:nvPr/>
        </p:nvSpPr>
        <p:spPr>
          <a:xfrm>
            <a:off x="838080" y="365040"/>
            <a:ext cx="10509120" cy="131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69" name="CustomShape 2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70" name="CustomShape 3"/>
          <p:cNvSpPr/>
          <p:nvPr/>
        </p:nvSpPr>
        <p:spPr>
          <a:xfrm>
            <a:off x="2034360" y="1542240"/>
            <a:ext cx="8119080" cy="119700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We can rewrite the theorem slightly:</a:t>
            </a:r>
            <a:endParaRPr lang="en-US" sz="3200" b="0" strike="noStrike" spc="-1">
              <a:latin typeface="Arial"/>
            </a:endParaRPr>
          </a:p>
        </p:txBody>
      </p:sp>
      <p:pic>
        <p:nvPicPr>
          <p:cNvPr id="571" name="Picture 570"/>
          <p:cNvPicPr/>
          <p:nvPr/>
        </p:nvPicPr>
        <p:blipFill>
          <a:blip r:embed="rId2"/>
          <a:stretch/>
        </p:blipFill>
        <p:spPr>
          <a:xfrm>
            <a:off x="1453680" y="3396960"/>
            <a:ext cx="9057960" cy="1580400"/>
          </a:xfrm>
          <a:prstGeom prst="rect">
            <a:avLst/>
          </a:prstGeom>
          <a:ln w="0">
            <a:noFill/>
          </a:ln>
        </p:spPr>
      </p:pic>
      <p:sp>
        <p:nvSpPr>
          <p:cNvPr id="572" name="CustomShape 4"/>
          <p:cNvSpPr/>
          <p:nvPr/>
        </p:nvSpPr>
        <p:spPr>
          <a:xfrm>
            <a:off x="60984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Applying Bayes’ Theorem to Statistical Inference</a:t>
            </a:r>
            <a:endParaRPr lang="en-US" sz="4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CustomShape 1"/>
          <p:cNvSpPr/>
          <p:nvPr/>
        </p:nvSpPr>
        <p:spPr>
          <a:xfrm>
            <a:off x="838080" y="365040"/>
            <a:ext cx="10509120" cy="131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74" name="CustomShape 2"/>
          <p:cNvSpPr/>
          <p:nvPr/>
        </p:nvSpPr>
        <p:spPr>
          <a:xfrm>
            <a:off x="365760" y="4683240"/>
            <a:ext cx="10587960" cy="890640"/>
          </a:xfrm>
          <a:prstGeom prst="rect">
            <a:avLst/>
          </a:prstGeom>
          <a:solidFill>
            <a:srgbClr val="ED7D31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Our knowledge about </a:t>
            </a:r>
            <a:r>
              <a:rPr lang="en-US" sz="2400" b="0" i="1" strike="noStrike" spc="-1">
                <a:solidFill>
                  <a:srgbClr val="000000"/>
                </a:solidFill>
                <a:latin typeface="Cantarell"/>
                <a:ea typeface="Arial"/>
              </a:rPr>
              <a:t>θ, </a:t>
            </a:r>
            <a:r>
              <a:rPr lang="en-US" sz="2400" b="1" strike="noStrike" spc="-1">
                <a:solidFill>
                  <a:srgbClr val="000000"/>
                </a:solidFill>
                <a:latin typeface="Cantarell"/>
                <a:ea typeface="Arial"/>
              </a:rPr>
              <a:t>before</a:t>
            </a:r>
            <a:r>
              <a:rPr lang="en-US" sz="2400" b="0" strike="noStrike" spc="-1">
                <a:solidFill>
                  <a:srgbClr val="000000"/>
                </a:solidFill>
                <a:latin typeface="Cantarell"/>
                <a:ea typeface="Arial"/>
              </a:rPr>
              <a:t> seeing the data</a:t>
            </a:r>
            <a:endParaRPr lang="en-US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400" b="0" i="1" strike="noStrike" spc="-1">
                <a:solidFill>
                  <a:srgbClr val="000000"/>
                </a:solidFill>
                <a:latin typeface="Cantarell"/>
                <a:ea typeface="Arial"/>
              </a:rPr>
              <a:t>Also known as the “prior beliefs”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575" name="CustomShape 3"/>
          <p:cNvSpPr/>
          <p:nvPr/>
        </p:nvSpPr>
        <p:spPr>
          <a:xfrm>
            <a:off x="6400800" y="3069360"/>
            <a:ext cx="270360" cy="1609920"/>
          </a:xfrm>
          <a:custGeom>
            <a:avLst/>
            <a:gdLst/>
            <a:ahLst/>
            <a:cxnLst/>
            <a:rect l="l" t="t" r="r" b="b"/>
            <a:pathLst>
              <a:path w="764" h="4485">
                <a:moveTo>
                  <a:pt x="190" y="0"/>
                </a:moveTo>
                <a:lnTo>
                  <a:pt x="190" y="3363"/>
                </a:lnTo>
                <a:lnTo>
                  <a:pt x="0" y="3363"/>
                </a:lnTo>
                <a:lnTo>
                  <a:pt x="381" y="4484"/>
                </a:lnTo>
                <a:lnTo>
                  <a:pt x="763" y="3363"/>
                </a:lnTo>
                <a:lnTo>
                  <a:pt x="572" y="3363"/>
                </a:lnTo>
                <a:lnTo>
                  <a:pt x="572" y="0"/>
                </a:lnTo>
                <a:lnTo>
                  <a:pt x="190" y="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76" name="CustomShape 4"/>
          <p:cNvSpPr/>
          <p:nvPr/>
        </p:nvSpPr>
        <p:spPr>
          <a:xfrm rot="5371200">
            <a:off x="6360480" y="2414880"/>
            <a:ext cx="361800" cy="1001880"/>
          </a:xfrm>
          <a:custGeom>
            <a:avLst/>
            <a:gdLst/>
            <a:ahLst/>
            <a:cxnLst/>
            <a:rect l="l" t="t" r="r" b="b"/>
            <a:pathLst>
              <a:path w="1021" h="2797">
                <a:moveTo>
                  <a:pt x="0" y="1"/>
                </a:moveTo>
                <a:cubicBezTo>
                  <a:pt x="254" y="0"/>
                  <a:pt x="509" y="116"/>
                  <a:pt x="509" y="232"/>
                </a:cubicBezTo>
                <a:lnTo>
                  <a:pt x="510" y="1164"/>
                </a:lnTo>
                <a:cubicBezTo>
                  <a:pt x="510" y="1281"/>
                  <a:pt x="765" y="1397"/>
                  <a:pt x="1020" y="1397"/>
                </a:cubicBezTo>
                <a:cubicBezTo>
                  <a:pt x="765" y="1397"/>
                  <a:pt x="511" y="1513"/>
                  <a:pt x="511" y="1630"/>
                </a:cubicBezTo>
                <a:lnTo>
                  <a:pt x="512" y="2562"/>
                </a:lnTo>
                <a:cubicBezTo>
                  <a:pt x="513" y="2678"/>
                  <a:pt x="259" y="2795"/>
                  <a:pt x="5" y="2796"/>
                </a:cubicBezTo>
              </a:path>
            </a:pathLst>
          </a:custGeom>
          <a:noFill/>
          <a:ln w="76320">
            <a:solidFill>
              <a:srgbClr val="00A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577" name="Picture 576"/>
          <p:cNvPicPr/>
          <p:nvPr/>
        </p:nvPicPr>
        <p:blipFill>
          <a:blip r:embed="rId2"/>
          <a:stretch/>
        </p:blipFill>
        <p:spPr>
          <a:xfrm>
            <a:off x="1777680" y="1633680"/>
            <a:ext cx="9057960" cy="1580400"/>
          </a:xfrm>
          <a:prstGeom prst="rect">
            <a:avLst/>
          </a:prstGeom>
          <a:ln w="0">
            <a:noFill/>
          </a:ln>
        </p:spPr>
      </p:pic>
      <p:sp>
        <p:nvSpPr>
          <p:cNvPr id="578" name="CustomShape 27"/>
          <p:cNvSpPr/>
          <p:nvPr/>
        </p:nvSpPr>
        <p:spPr>
          <a:xfrm>
            <a:off x="60984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Applying Bayes’ Theorem to Statistical Inference</a:t>
            </a:r>
            <a:endParaRPr lang="en-US" sz="4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CustomShape 1"/>
          <p:cNvSpPr/>
          <p:nvPr/>
        </p:nvSpPr>
        <p:spPr>
          <a:xfrm>
            <a:off x="365760" y="4683240"/>
            <a:ext cx="10587960" cy="890640"/>
          </a:xfrm>
          <a:prstGeom prst="rect">
            <a:avLst/>
          </a:prstGeom>
          <a:solidFill>
            <a:srgbClr val="ED7D31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Our knowledge about </a:t>
            </a:r>
            <a:r>
              <a:rPr lang="en-US" sz="2400" b="0" i="1" strike="noStrike" spc="-1">
                <a:solidFill>
                  <a:srgbClr val="000000"/>
                </a:solidFill>
                <a:latin typeface="Cantarell"/>
                <a:ea typeface="Arial"/>
              </a:rPr>
              <a:t>θ</a:t>
            </a:r>
            <a:r>
              <a:rPr lang="en-US" sz="2400" b="0" strike="noStrike" spc="-1">
                <a:solidFill>
                  <a:srgbClr val="000000"/>
                </a:solidFill>
                <a:latin typeface="Cantarell"/>
                <a:ea typeface="Arial"/>
              </a:rPr>
              <a:t>, </a:t>
            </a:r>
            <a:r>
              <a:rPr lang="en-US" sz="2400" b="1" strike="noStrike" spc="-1">
                <a:solidFill>
                  <a:srgbClr val="000000"/>
                </a:solidFill>
                <a:latin typeface="Cantarell"/>
                <a:ea typeface="Arial"/>
              </a:rPr>
              <a:t>after</a:t>
            </a:r>
            <a:r>
              <a:rPr lang="en-US" sz="2400" b="0" strike="noStrike" spc="-1">
                <a:solidFill>
                  <a:srgbClr val="000000"/>
                </a:solidFill>
                <a:latin typeface="Cantarell"/>
                <a:ea typeface="Arial"/>
              </a:rPr>
              <a:t> seeing the data</a:t>
            </a:r>
            <a:endParaRPr lang="en-US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400" b="0" i="1" strike="noStrike" spc="-1">
                <a:solidFill>
                  <a:srgbClr val="000000"/>
                </a:solidFill>
                <a:latin typeface="Cantarell"/>
                <a:ea typeface="Arial"/>
              </a:rPr>
              <a:t>Also known as the “posterior beliefs”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580" name="CustomShape 2"/>
          <p:cNvSpPr/>
          <p:nvPr/>
        </p:nvSpPr>
        <p:spPr>
          <a:xfrm>
            <a:off x="3147840" y="3133440"/>
            <a:ext cx="270360" cy="1542600"/>
          </a:xfrm>
          <a:custGeom>
            <a:avLst/>
            <a:gdLst/>
            <a:ahLst/>
            <a:cxnLst/>
            <a:rect l="l" t="t" r="r" b="b"/>
            <a:pathLst>
              <a:path w="764" h="4298">
                <a:moveTo>
                  <a:pt x="190" y="0"/>
                </a:moveTo>
                <a:lnTo>
                  <a:pt x="190" y="3222"/>
                </a:lnTo>
                <a:lnTo>
                  <a:pt x="0" y="3222"/>
                </a:lnTo>
                <a:lnTo>
                  <a:pt x="381" y="4297"/>
                </a:lnTo>
                <a:lnTo>
                  <a:pt x="763" y="3222"/>
                </a:lnTo>
                <a:lnTo>
                  <a:pt x="572" y="3222"/>
                </a:lnTo>
                <a:lnTo>
                  <a:pt x="572" y="0"/>
                </a:lnTo>
                <a:lnTo>
                  <a:pt x="190" y="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81" name="CustomShape 3"/>
          <p:cNvSpPr/>
          <p:nvPr/>
        </p:nvSpPr>
        <p:spPr>
          <a:xfrm rot="5371200">
            <a:off x="3114720" y="1473840"/>
            <a:ext cx="361800" cy="2922840"/>
          </a:xfrm>
          <a:custGeom>
            <a:avLst/>
            <a:gdLst/>
            <a:ahLst/>
            <a:cxnLst/>
            <a:rect l="l" t="t" r="r" b="b"/>
            <a:pathLst>
              <a:path w="1024" h="8133">
                <a:moveTo>
                  <a:pt x="0" y="1"/>
                </a:moveTo>
                <a:cubicBezTo>
                  <a:pt x="254" y="0"/>
                  <a:pt x="509" y="338"/>
                  <a:pt x="509" y="677"/>
                </a:cubicBezTo>
                <a:lnTo>
                  <a:pt x="512" y="3387"/>
                </a:lnTo>
                <a:cubicBezTo>
                  <a:pt x="513" y="3726"/>
                  <a:pt x="768" y="4065"/>
                  <a:pt x="1023" y="4065"/>
                </a:cubicBezTo>
                <a:cubicBezTo>
                  <a:pt x="768" y="4065"/>
                  <a:pt x="514" y="4404"/>
                  <a:pt x="515" y="4743"/>
                </a:cubicBezTo>
                <a:lnTo>
                  <a:pt x="518" y="7453"/>
                </a:lnTo>
                <a:cubicBezTo>
                  <a:pt x="519" y="7792"/>
                  <a:pt x="265" y="8132"/>
                  <a:pt x="11" y="8132"/>
                </a:cubicBezTo>
              </a:path>
            </a:pathLst>
          </a:custGeom>
          <a:noFill/>
          <a:ln w="76320">
            <a:solidFill>
              <a:srgbClr val="00A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582" name="Picture 581"/>
          <p:cNvPicPr/>
          <p:nvPr/>
        </p:nvPicPr>
        <p:blipFill>
          <a:blip r:embed="rId2"/>
          <a:stretch/>
        </p:blipFill>
        <p:spPr>
          <a:xfrm>
            <a:off x="1777680" y="1633320"/>
            <a:ext cx="9057960" cy="1580400"/>
          </a:xfrm>
          <a:prstGeom prst="rect">
            <a:avLst/>
          </a:prstGeom>
          <a:ln w="0">
            <a:noFill/>
          </a:ln>
        </p:spPr>
      </p:pic>
      <p:sp>
        <p:nvSpPr>
          <p:cNvPr id="583" name="CustomShape 28"/>
          <p:cNvSpPr/>
          <p:nvPr/>
        </p:nvSpPr>
        <p:spPr>
          <a:xfrm>
            <a:off x="60984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Applying Bayes’ Theorem to Statistical Inference</a:t>
            </a:r>
            <a:endParaRPr lang="en-US" sz="4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85" name="CustomShape 2"/>
          <p:cNvSpPr/>
          <p:nvPr/>
        </p:nvSpPr>
        <p:spPr>
          <a:xfrm>
            <a:off x="274320" y="4683240"/>
            <a:ext cx="11610000" cy="799200"/>
          </a:xfrm>
          <a:prstGeom prst="rect">
            <a:avLst/>
          </a:prstGeom>
          <a:solidFill>
            <a:srgbClr val="ED7D31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How well did each value of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ntarell"/>
                <a:ea typeface="DejaVu Sans"/>
              </a:rPr>
              <a:t>θ</a:t>
            </a:r>
            <a:r>
              <a:rPr lang="en-US" sz="20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 predict the data, compared to all other values of theta?</a:t>
            </a:r>
            <a:endParaRPr lang="en-US" sz="2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i="1" strike="noStrike" spc="-1" dirty="0">
                <a:solidFill>
                  <a:srgbClr val="000000"/>
                </a:solidFill>
                <a:latin typeface="Cantarell"/>
                <a:ea typeface="Arial"/>
              </a:rPr>
              <a:t>Also known as the “predictive updating factor”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586" name="CustomShape 3"/>
          <p:cNvSpPr/>
          <p:nvPr/>
        </p:nvSpPr>
        <p:spPr>
          <a:xfrm>
            <a:off x="9144000" y="3588840"/>
            <a:ext cx="270360" cy="1090440"/>
          </a:xfrm>
          <a:custGeom>
            <a:avLst/>
            <a:gdLst/>
            <a:ahLst/>
            <a:cxnLst/>
            <a:rect l="l" t="t" r="r" b="b"/>
            <a:pathLst>
              <a:path w="764" h="3042">
                <a:moveTo>
                  <a:pt x="190" y="0"/>
                </a:moveTo>
                <a:lnTo>
                  <a:pt x="190" y="2280"/>
                </a:lnTo>
                <a:lnTo>
                  <a:pt x="0" y="2280"/>
                </a:lnTo>
                <a:lnTo>
                  <a:pt x="381" y="3041"/>
                </a:lnTo>
                <a:lnTo>
                  <a:pt x="763" y="2280"/>
                </a:lnTo>
                <a:lnTo>
                  <a:pt x="572" y="2280"/>
                </a:lnTo>
                <a:lnTo>
                  <a:pt x="572" y="0"/>
                </a:lnTo>
                <a:lnTo>
                  <a:pt x="190" y="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87" name="CustomShape 4"/>
          <p:cNvSpPr/>
          <p:nvPr/>
        </p:nvSpPr>
        <p:spPr>
          <a:xfrm rot="5371200">
            <a:off x="9062640" y="1748520"/>
            <a:ext cx="441000" cy="3377160"/>
          </a:xfrm>
          <a:custGeom>
            <a:avLst/>
            <a:gdLst/>
            <a:ahLst/>
            <a:cxnLst/>
            <a:rect l="l" t="t" r="r" b="b"/>
            <a:pathLst>
              <a:path w="1244" h="9394">
                <a:moveTo>
                  <a:pt x="0" y="0"/>
                </a:moveTo>
                <a:cubicBezTo>
                  <a:pt x="309" y="0"/>
                  <a:pt x="618" y="390"/>
                  <a:pt x="618" y="781"/>
                </a:cubicBezTo>
                <a:lnTo>
                  <a:pt x="622" y="3912"/>
                </a:lnTo>
                <a:cubicBezTo>
                  <a:pt x="623" y="4304"/>
                  <a:pt x="933" y="4694"/>
                  <a:pt x="1243" y="4695"/>
                </a:cubicBezTo>
                <a:cubicBezTo>
                  <a:pt x="933" y="4694"/>
                  <a:pt x="624" y="5086"/>
                  <a:pt x="625" y="5478"/>
                </a:cubicBezTo>
                <a:lnTo>
                  <a:pt x="629" y="8609"/>
                </a:lnTo>
                <a:cubicBezTo>
                  <a:pt x="630" y="9000"/>
                  <a:pt x="321" y="9392"/>
                  <a:pt x="12" y="9393"/>
                </a:cubicBezTo>
              </a:path>
            </a:pathLst>
          </a:custGeom>
          <a:noFill/>
          <a:ln w="76320">
            <a:solidFill>
              <a:srgbClr val="00A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588" name="Picture 587"/>
          <p:cNvPicPr/>
          <p:nvPr/>
        </p:nvPicPr>
        <p:blipFill>
          <a:blip r:embed="rId2"/>
          <a:stretch/>
        </p:blipFill>
        <p:spPr>
          <a:xfrm>
            <a:off x="1777680" y="1633680"/>
            <a:ext cx="9057960" cy="1580400"/>
          </a:xfrm>
          <a:prstGeom prst="rect">
            <a:avLst/>
          </a:prstGeom>
          <a:ln w="0">
            <a:noFill/>
          </a:ln>
        </p:spPr>
      </p:pic>
      <p:sp>
        <p:nvSpPr>
          <p:cNvPr id="589" name="CustomShape 29"/>
          <p:cNvSpPr/>
          <p:nvPr/>
        </p:nvSpPr>
        <p:spPr>
          <a:xfrm>
            <a:off x="60984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Applying Bayes’ Theorem to Statistical Inference</a:t>
            </a:r>
            <a:endParaRPr lang="en-US" sz="4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591" name="Picture 590"/>
          <p:cNvPicPr/>
          <p:nvPr/>
        </p:nvPicPr>
        <p:blipFill>
          <a:blip r:embed="rId2"/>
          <a:stretch/>
        </p:blipFill>
        <p:spPr>
          <a:xfrm>
            <a:off x="2288880" y="-13320"/>
            <a:ext cx="7715520" cy="6867360"/>
          </a:xfrm>
          <a:prstGeom prst="rect">
            <a:avLst/>
          </a:prstGeom>
          <a:ln w="0">
            <a:noFill/>
          </a:ln>
        </p:spPr>
      </p:pic>
      <p:sp>
        <p:nvSpPr>
          <p:cNvPr id="592" name="CustomShape 2"/>
          <p:cNvSpPr/>
          <p:nvPr/>
        </p:nvSpPr>
        <p:spPr>
          <a:xfrm>
            <a:off x="0" y="6439680"/>
            <a:ext cx="438516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050" b="0" strike="noStrike" spc="-1">
                <a:solidFill>
                  <a:srgbClr val="000000"/>
                </a:solidFill>
                <a:latin typeface="Arial"/>
                <a:ea typeface="DejaVu Sans"/>
              </a:rPr>
              <a:t>Source: </a:t>
            </a: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50" b="0" strike="noStrike" spc="-1">
                <a:solidFill>
                  <a:srgbClr val="000000"/>
                </a:solidFill>
                <a:latin typeface="Arial"/>
                <a:ea typeface="DejaVu Sans"/>
              </a:rPr>
              <a:t>https://www.bayesianspectacles.org</a:t>
            </a:r>
            <a:endParaRPr lang="en-US" sz="10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Picture 592"/>
          <p:cNvPicPr/>
          <p:nvPr/>
        </p:nvPicPr>
        <p:blipFill>
          <a:blip r:embed="rId2"/>
          <a:srcRect l="5872" r="50060"/>
          <a:stretch/>
        </p:blipFill>
        <p:spPr>
          <a:xfrm>
            <a:off x="8758800" y="1173600"/>
            <a:ext cx="3427920" cy="5392080"/>
          </a:xfrm>
          <a:prstGeom prst="rect">
            <a:avLst/>
          </a:prstGeom>
          <a:ln w="0">
            <a:noFill/>
          </a:ln>
        </p:spPr>
      </p:pic>
      <p:sp>
        <p:nvSpPr>
          <p:cNvPr id="594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Prior Distribution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95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96" name="CustomShape 3"/>
          <p:cNvSpPr/>
          <p:nvPr/>
        </p:nvSpPr>
        <p:spPr>
          <a:xfrm>
            <a:off x="393480" y="2072520"/>
            <a:ext cx="853380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The prior distribution reflects our beliefs about the parameter, </a:t>
            </a:r>
            <a:r>
              <a:rPr lang="en-US" sz="3200" b="1" strike="noStrike" spc="-1">
                <a:solidFill>
                  <a:srgbClr val="000000"/>
                </a:solidFill>
                <a:latin typeface="Cantarell"/>
                <a:ea typeface="DejaVu Sans"/>
              </a:rPr>
              <a:t>before</a:t>
            </a:r>
            <a:r>
              <a:rPr lang="en-US" sz="32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 observing the data</a:t>
            </a:r>
            <a:br>
              <a:rPr sz="1800"/>
            </a:br>
            <a:r>
              <a:rPr lang="en-US" sz="32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 </a:t>
            </a:r>
            <a:endParaRPr lang="en-US" sz="3200" b="0" strike="noStrike" spc="-1"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In other words, one of the models we have seen so far!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3200" b="0" strike="noStrike" spc="-1"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For now, we focus on Alex’ model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Data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98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599" name="CustomShape 3"/>
          <p:cNvSpPr/>
          <p:nvPr/>
        </p:nvSpPr>
        <p:spPr>
          <a:xfrm>
            <a:off x="609480" y="1892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We observe the following data (n = 10):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2 tails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8 heads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Our </a:t>
            </a:r>
            <a:r>
              <a:rPr lang="en-US" sz="2800" b="0" i="1" strike="noStrike" spc="-1">
                <a:solidFill>
                  <a:srgbClr val="000000"/>
                </a:solidFill>
                <a:latin typeface="Cantarell"/>
                <a:ea typeface="DejaVu Sans"/>
              </a:rPr>
              <a:t>statistic</a:t>
            </a:r>
            <a:r>
              <a:rPr lang="en-US" sz="2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 is the observed proportion: 8/10 = 0.8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1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602" name="Picture 601"/>
          <p:cNvPicPr/>
          <p:nvPr/>
        </p:nvPicPr>
        <p:blipFill>
          <a:blip r:embed="rId2"/>
          <a:srcRect l="62102"/>
          <a:stretch/>
        </p:blipFill>
        <p:spPr>
          <a:xfrm>
            <a:off x="4379760" y="2714040"/>
            <a:ext cx="3429000" cy="1580400"/>
          </a:xfrm>
          <a:prstGeom prst="rect">
            <a:avLst/>
          </a:prstGeom>
          <a:ln w="0">
            <a:noFill/>
          </a:ln>
        </p:spPr>
      </p:pic>
      <p:grpSp>
        <p:nvGrpSpPr>
          <p:cNvPr id="603" name="Group 3"/>
          <p:cNvGrpSpPr/>
          <p:nvPr/>
        </p:nvGrpSpPr>
        <p:grpSpPr>
          <a:xfrm>
            <a:off x="274680" y="2651760"/>
            <a:ext cx="4133520" cy="636840"/>
            <a:chOff x="274680" y="2651760"/>
            <a:chExt cx="4133520" cy="636840"/>
          </a:xfrm>
        </p:grpSpPr>
        <p:sp>
          <p:nvSpPr>
            <p:cNvPr id="604" name="CustomShape 4"/>
            <p:cNvSpPr/>
            <p:nvPr/>
          </p:nvSpPr>
          <p:spPr>
            <a:xfrm>
              <a:off x="274680" y="2651760"/>
              <a:ext cx="3288240" cy="6368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F5822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The </a:t>
              </a:r>
              <a:r>
                <a:rPr lang="en-US" sz="1600" b="1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likelihood</a:t>
              </a: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 of the data, given a certain value of θ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605" name="Line 5"/>
            <p:cNvSpPr/>
            <p:nvPr/>
          </p:nvSpPr>
          <p:spPr>
            <a:xfrm>
              <a:off x="3585240" y="2997720"/>
              <a:ext cx="822960" cy="360"/>
            </a:xfrm>
            <a:prstGeom prst="line">
              <a:avLst/>
            </a:prstGeom>
            <a:ln w="57240">
              <a:solidFill>
                <a:srgbClr val="F5822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grpSp>
        <p:nvGrpSpPr>
          <p:cNvPr id="606" name="Group 6"/>
          <p:cNvGrpSpPr/>
          <p:nvPr/>
        </p:nvGrpSpPr>
        <p:grpSpPr>
          <a:xfrm>
            <a:off x="7589520" y="3640320"/>
            <a:ext cx="4404960" cy="636840"/>
            <a:chOff x="7589520" y="3640320"/>
            <a:chExt cx="4404960" cy="636840"/>
          </a:xfrm>
        </p:grpSpPr>
        <p:sp>
          <p:nvSpPr>
            <p:cNvPr id="607" name="Line 7"/>
            <p:cNvSpPr/>
            <p:nvPr/>
          </p:nvSpPr>
          <p:spPr>
            <a:xfrm flipH="1">
              <a:off x="7589520" y="3914640"/>
              <a:ext cx="1097280" cy="360"/>
            </a:xfrm>
            <a:prstGeom prst="line">
              <a:avLst/>
            </a:prstGeom>
            <a:ln w="57240">
              <a:solidFill>
                <a:srgbClr val="A3238E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  <p:sp>
          <p:nvSpPr>
            <p:cNvPr id="608" name="CustomShape 8"/>
            <p:cNvSpPr/>
            <p:nvPr/>
          </p:nvSpPr>
          <p:spPr>
            <a:xfrm>
              <a:off x="8706240" y="3640320"/>
              <a:ext cx="3288240" cy="6368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The </a:t>
              </a:r>
              <a:r>
                <a:rPr lang="en-US" sz="1600" b="1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marginal likelihood</a:t>
              </a: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, across all values of θ</a:t>
              </a:r>
              <a:endParaRPr lang="en-US" sz="1600" b="0" strike="noStrike" spc="-1">
                <a:latin typeface="Arial"/>
              </a:endParaRPr>
            </a:p>
          </p:txBody>
        </p:sp>
      </p:grpSp>
      <p:grpSp>
        <p:nvGrpSpPr>
          <p:cNvPr id="609" name="Group 9"/>
          <p:cNvGrpSpPr/>
          <p:nvPr/>
        </p:nvGrpSpPr>
        <p:grpSpPr>
          <a:xfrm>
            <a:off x="274680" y="3291480"/>
            <a:ext cx="3288240" cy="1917360"/>
            <a:chOff x="274680" y="3291480"/>
            <a:chExt cx="3288240" cy="1917360"/>
          </a:xfrm>
        </p:grpSpPr>
        <p:sp>
          <p:nvSpPr>
            <p:cNvPr id="610" name="CustomShape 10"/>
            <p:cNvSpPr/>
            <p:nvPr/>
          </p:nvSpPr>
          <p:spPr>
            <a:xfrm>
              <a:off x="274680" y="3856680"/>
              <a:ext cx="3288240" cy="135216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F5822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This tells us something about how well a specific value of θ predicted the data (i.e., it is the quality of the prediction for this specific  value)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611" name="Line 11"/>
            <p:cNvSpPr/>
            <p:nvPr/>
          </p:nvSpPr>
          <p:spPr>
            <a:xfrm>
              <a:off x="1920240" y="3291480"/>
              <a:ext cx="360" cy="564840"/>
            </a:xfrm>
            <a:prstGeom prst="line">
              <a:avLst/>
            </a:prstGeom>
            <a:ln w="57240">
              <a:solidFill>
                <a:srgbClr val="F5822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grpSp>
        <p:nvGrpSpPr>
          <p:cNvPr id="612" name="Group 12"/>
          <p:cNvGrpSpPr/>
          <p:nvPr/>
        </p:nvGrpSpPr>
        <p:grpSpPr>
          <a:xfrm>
            <a:off x="8778240" y="4297320"/>
            <a:ext cx="3288240" cy="1874160"/>
            <a:chOff x="8778240" y="4297320"/>
            <a:chExt cx="3288240" cy="1874160"/>
          </a:xfrm>
        </p:grpSpPr>
        <p:sp>
          <p:nvSpPr>
            <p:cNvPr id="613" name="CustomShape 13"/>
            <p:cNvSpPr/>
            <p:nvPr/>
          </p:nvSpPr>
          <p:spPr>
            <a:xfrm>
              <a:off x="8778240" y="4767480"/>
              <a:ext cx="3288240" cy="140400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4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This tells us something how well </a:t>
              </a:r>
              <a:r>
                <a:rPr lang="en-US" sz="1400" b="0" strike="noStrike" spc="-1" dirty="0" err="1">
                  <a:solidFill>
                    <a:srgbClr val="000000"/>
                  </a:solidFill>
                  <a:latin typeface="Cantarell"/>
                  <a:ea typeface="AR PL SungtiL GB"/>
                </a:rPr>
                <a:t>θ</a:t>
              </a:r>
              <a:r>
                <a:rPr lang="en-US" sz="14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 predicted the data, </a:t>
              </a:r>
              <a:r>
                <a:rPr lang="en-US" sz="1400" b="1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averaged </a:t>
              </a:r>
              <a:r>
                <a:rPr lang="en-US" sz="14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over all possible values of </a:t>
              </a:r>
              <a:r>
                <a:rPr lang="en-US" sz="1400" b="0" strike="noStrike" spc="-1" dirty="0" err="1">
                  <a:solidFill>
                    <a:srgbClr val="000000"/>
                  </a:solidFill>
                  <a:latin typeface="Cantarell"/>
                  <a:ea typeface="AR PL SungtiL GB"/>
                </a:rPr>
                <a:t>θ</a:t>
              </a:r>
              <a:r>
                <a:rPr lang="en-US" sz="14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 (i.e., it is the average quality of the prediction of the model)</a:t>
              </a:r>
              <a:endParaRPr lang="en-US" sz="1400" b="0" strike="noStrike" spc="-1" dirty="0">
                <a:latin typeface="Arial"/>
              </a:endParaRPr>
            </a:p>
          </p:txBody>
        </p:sp>
        <p:sp>
          <p:nvSpPr>
            <p:cNvPr id="614" name="Line 14"/>
            <p:cNvSpPr/>
            <p:nvPr/>
          </p:nvSpPr>
          <p:spPr>
            <a:xfrm>
              <a:off x="10424160" y="4297320"/>
              <a:ext cx="360" cy="469440"/>
            </a:xfrm>
            <a:prstGeom prst="line">
              <a:avLst/>
            </a:prstGeom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615" name="CustomShape 15"/>
          <p:cNvSpPr/>
          <p:nvPr/>
        </p:nvSpPr>
        <p:spPr>
          <a:xfrm>
            <a:off x="2011680" y="5698800"/>
            <a:ext cx="5300280" cy="911880"/>
          </a:xfrm>
          <a:prstGeom prst="rect">
            <a:avLst/>
          </a:prstGeom>
          <a:solidFill>
            <a:srgbClr val="CCCCCC"/>
          </a:solidFill>
          <a:ln w="57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Taken together, this ratio tells us how well each value of θ predicted the data, </a:t>
            </a:r>
            <a:r>
              <a:rPr lang="en-US" sz="1800" b="1" strike="noStrike" spc="-1">
                <a:solidFill>
                  <a:srgbClr val="000000"/>
                </a:solidFill>
                <a:latin typeface="Cantarell"/>
                <a:ea typeface="AR PL SungtiL GB"/>
              </a:rPr>
              <a:t>relative</a:t>
            </a:r>
            <a:r>
              <a:rPr lang="en-US" sz="18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 to all other values!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17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18" name="CustomShape 3"/>
          <p:cNvSpPr/>
          <p:nvPr/>
        </p:nvSpPr>
        <p:spPr>
          <a:xfrm>
            <a:off x="365760" y="1554480"/>
            <a:ext cx="3288240" cy="636840"/>
          </a:xfrm>
          <a:prstGeom prst="rect">
            <a:avLst/>
          </a:prstGeom>
          <a:solidFill>
            <a:srgbClr val="ADD58A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The </a:t>
            </a:r>
            <a:r>
              <a:rPr lang="en-US" sz="1600" b="1" strike="noStrike" spc="-1">
                <a:solidFill>
                  <a:srgbClr val="000000"/>
                </a:solidFill>
                <a:latin typeface="Cantarell"/>
                <a:ea typeface="AR PL SungtiL GB"/>
              </a:rPr>
              <a:t>likelihood</a:t>
            </a: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 of the data, given a certain value of θ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619" name="Picture 618"/>
          <p:cNvPicPr/>
          <p:nvPr/>
        </p:nvPicPr>
        <p:blipFill>
          <a:blip r:embed="rId2"/>
          <a:srcRect l="62102" b="55030"/>
          <a:stretch/>
        </p:blipFill>
        <p:spPr>
          <a:xfrm>
            <a:off x="4797360" y="1666800"/>
            <a:ext cx="3429000" cy="707040"/>
          </a:xfrm>
          <a:prstGeom prst="rect">
            <a:avLst/>
          </a:prstGeom>
          <a:ln w="0">
            <a:noFill/>
          </a:ln>
        </p:spPr>
      </p:pic>
      <p:sp>
        <p:nvSpPr>
          <p:cNvPr id="620" name="CustomShape 4"/>
          <p:cNvSpPr/>
          <p:nvPr/>
        </p:nvSpPr>
        <p:spPr>
          <a:xfrm>
            <a:off x="365760" y="2377440"/>
            <a:ext cx="3288240" cy="728640"/>
          </a:xfrm>
          <a:prstGeom prst="rect">
            <a:avLst/>
          </a:prstGeom>
          <a:solidFill>
            <a:srgbClr val="ADD58A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Cantarell"/>
                <a:ea typeface="AR PL SungtiL GB"/>
              </a:rPr>
              <a:t>For instance, how likely is our observed data, if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ntarell"/>
                <a:ea typeface="AR PL SungtiL GB"/>
              </a:rPr>
              <a:t>θ</a:t>
            </a:r>
            <a:r>
              <a:rPr lang="en-US" sz="1600" b="0" strike="noStrike" spc="-1" dirty="0">
                <a:solidFill>
                  <a:srgbClr val="000000"/>
                </a:solidFill>
                <a:latin typeface="Cantarell"/>
                <a:ea typeface="AR PL SungtiL GB"/>
              </a:rPr>
              <a:t> equals 0.7?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621" name="CustomShape 35"/>
          <p:cNvSpPr/>
          <p:nvPr/>
        </p:nvSpPr>
        <p:spPr>
          <a:xfrm>
            <a:off x="365760" y="3349440"/>
            <a:ext cx="3291120" cy="728640"/>
          </a:xfrm>
          <a:prstGeom prst="rect">
            <a:avLst/>
          </a:prstGeom>
          <a:solidFill>
            <a:srgbClr val="ADD58A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This is again determined by the general binomial model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623" name="Picture 622"/>
          <p:cNvPicPr/>
          <p:nvPr/>
        </p:nvPicPr>
        <p:blipFill>
          <a:blip r:embed="rId2"/>
          <a:srcRect l="62102" b="55030"/>
          <a:stretch/>
        </p:blipFill>
        <p:spPr>
          <a:xfrm>
            <a:off x="4797360" y="1666800"/>
            <a:ext cx="3429000" cy="707040"/>
          </a:xfrm>
          <a:prstGeom prst="rect">
            <a:avLst/>
          </a:prstGeom>
          <a:ln w="0">
            <a:noFill/>
          </a:ln>
        </p:spPr>
      </p:pic>
      <p:sp>
        <p:nvSpPr>
          <p:cNvPr id="624" name="Line 7"/>
          <p:cNvSpPr/>
          <p:nvPr/>
        </p:nvSpPr>
        <p:spPr>
          <a:xfrm flipH="1">
            <a:off x="2560320" y="3657600"/>
            <a:ext cx="2103120" cy="137160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625" name="Picture 624"/>
          <p:cNvPicPr/>
          <p:nvPr/>
        </p:nvPicPr>
        <p:blipFill>
          <a:blip r:embed="rId3"/>
          <a:stretch/>
        </p:blipFill>
        <p:spPr>
          <a:xfrm>
            <a:off x="4663440" y="2863800"/>
            <a:ext cx="3275280" cy="1094040"/>
          </a:xfrm>
          <a:prstGeom prst="rect">
            <a:avLst/>
          </a:prstGeom>
          <a:ln w="0">
            <a:noFill/>
          </a:ln>
        </p:spPr>
      </p:pic>
      <p:sp>
        <p:nvSpPr>
          <p:cNvPr id="626" name="CustomShape 33"/>
          <p:cNvSpPr/>
          <p:nvPr/>
        </p:nvSpPr>
        <p:spPr>
          <a:xfrm>
            <a:off x="7772400" y="3657600"/>
            <a:ext cx="4190400" cy="913680"/>
          </a:xfrm>
          <a:prstGeom prst="rect">
            <a:avLst/>
          </a:prstGeom>
          <a:solidFill>
            <a:srgbClr val="C2E0AE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" tIns="14400" rIns="14400" bIns="14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We take the binomial formula, and fill in θ = 0.7 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627" name="CustomShape 36"/>
          <p:cNvSpPr/>
          <p:nvPr/>
        </p:nvSpPr>
        <p:spPr>
          <a:xfrm>
            <a:off x="595440" y="2880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28" name="CustomShape 37"/>
          <p:cNvSpPr/>
          <p:nvPr/>
        </p:nvSpPr>
        <p:spPr>
          <a:xfrm>
            <a:off x="351720" y="1568880"/>
            <a:ext cx="3288240" cy="636840"/>
          </a:xfrm>
          <a:prstGeom prst="rect">
            <a:avLst/>
          </a:prstGeom>
          <a:solidFill>
            <a:srgbClr val="ADD58A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The </a:t>
            </a:r>
            <a:r>
              <a:rPr lang="en-US" sz="1600" b="1" strike="noStrike" spc="-1">
                <a:solidFill>
                  <a:srgbClr val="000000"/>
                </a:solidFill>
                <a:latin typeface="Cantarell"/>
                <a:ea typeface="AR PL SungtiL GB"/>
              </a:rPr>
              <a:t>likelihood</a:t>
            </a: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 of the data, given a certain value of θ</a:t>
            </a:r>
            <a:endParaRPr lang="en-US" sz="1600" b="0" strike="noStrike" spc="-1">
              <a:latin typeface="Arial"/>
            </a:endParaRPr>
          </a:p>
        </p:txBody>
      </p:sp>
      <p:grpSp>
        <p:nvGrpSpPr>
          <p:cNvPr id="629" name="Group 628"/>
          <p:cNvGrpSpPr/>
          <p:nvPr/>
        </p:nvGrpSpPr>
        <p:grpSpPr>
          <a:xfrm>
            <a:off x="351720" y="2391840"/>
            <a:ext cx="3769560" cy="1190520"/>
            <a:chOff x="351720" y="2391840"/>
            <a:chExt cx="3769560" cy="1190520"/>
          </a:xfrm>
        </p:grpSpPr>
        <p:sp>
          <p:nvSpPr>
            <p:cNvPr id="630" name="CustomShape 6"/>
            <p:cNvSpPr/>
            <p:nvPr/>
          </p:nvSpPr>
          <p:spPr>
            <a:xfrm>
              <a:off x="3347280" y="3128400"/>
              <a:ext cx="774000" cy="453960"/>
            </a:xfrm>
            <a:custGeom>
              <a:avLst/>
              <a:gdLst/>
              <a:ahLst/>
              <a:cxnLst/>
              <a:rect l="l" t="t" r="r" b="b"/>
              <a:pathLst>
                <a:path w="841" h="854">
                  <a:moveTo>
                    <a:pt x="517" y="247"/>
                  </a:moveTo>
                  <a:lnTo>
                    <a:pt x="517" y="415"/>
                  </a:lnTo>
                  <a:lnTo>
                    <a:pt x="264" y="415"/>
                  </a:lnTo>
                  <a:lnTo>
                    <a:pt x="264" y="0"/>
                  </a:lnTo>
                  <a:lnTo>
                    <a:pt x="0" y="0"/>
                  </a:lnTo>
                  <a:lnTo>
                    <a:pt x="0" y="680"/>
                  </a:lnTo>
                  <a:lnTo>
                    <a:pt x="517" y="680"/>
                  </a:lnTo>
                  <a:lnTo>
                    <a:pt x="517" y="854"/>
                  </a:lnTo>
                  <a:lnTo>
                    <a:pt x="841" y="547"/>
                  </a:lnTo>
                  <a:lnTo>
                    <a:pt x="517" y="247"/>
                  </a:lnTo>
                  <a:close/>
                </a:path>
              </a:pathLst>
            </a:custGeom>
            <a:solidFill>
              <a:srgbClr val="F58220"/>
            </a:solidFill>
            <a:ln w="0">
              <a:solidFill>
                <a:srgbClr val="F5822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  <p:sp>
          <p:nvSpPr>
            <p:cNvPr id="631" name="CustomShape 38"/>
            <p:cNvSpPr/>
            <p:nvPr/>
          </p:nvSpPr>
          <p:spPr>
            <a:xfrm>
              <a:off x="351720" y="2391840"/>
              <a:ext cx="3211200" cy="7286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F5822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For instance, how likely is our observed data, if </a:t>
              </a:r>
              <a:r>
                <a:rPr lang="en-US" sz="1600" b="0" strike="noStrike" spc="-1" dirty="0" err="1">
                  <a:solidFill>
                    <a:srgbClr val="000000"/>
                  </a:solidFill>
                  <a:latin typeface="Cantarell"/>
                  <a:ea typeface="AR PL SungtiL GB"/>
                </a:rPr>
                <a:t>θ</a:t>
              </a:r>
              <a:r>
                <a:rPr lang="en-US" sz="16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 equals 0.7?</a:t>
              </a:r>
              <a:endParaRPr lang="en-US" sz="1600" b="0" strike="noStrike" spc="-1" dirty="0">
                <a:latin typeface="Arial"/>
              </a:endParaRPr>
            </a:p>
          </p:txBody>
        </p:sp>
      </p:grpSp>
      <p:pic>
        <p:nvPicPr>
          <p:cNvPr id="632" name="Picture 631"/>
          <p:cNvPicPr/>
          <p:nvPr/>
        </p:nvPicPr>
        <p:blipFill>
          <a:blip r:embed="rId4"/>
          <a:srcRect r="65294"/>
          <a:stretch/>
        </p:blipFill>
        <p:spPr>
          <a:xfrm>
            <a:off x="1056600" y="4908960"/>
            <a:ext cx="3514320" cy="952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634" name="Picture 633"/>
          <p:cNvPicPr/>
          <p:nvPr/>
        </p:nvPicPr>
        <p:blipFill>
          <a:blip r:embed="rId2"/>
          <a:srcRect l="62102" b="55030"/>
          <a:stretch/>
        </p:blipFill>
        <p:spPr>
          <a:xfrm>
            <a:off x="4797360" y="1666800"/>
            <a:ext cx="3429000" cy="707040"/>
          </a:xfrm>
          <a:prstGeom prst="rect">
            <a:avLst/>
          </a:prstGeom>
          <a:ln w="0">
            <a:noFill/>
          </a:ln>
        </p:spPr>
      </p:pic>
      <p:sp>
        <p:nvSpPr>
          <p:cNvPr id="635" name="Line 7"/>
          <p:cNvSpPr/>
          <p:nvPr/>
        </p:nvSpPr>
        <p:spPr>
          <a:xfrm>
            <a:off x="5789880" y="3840480"/>
            <a:ext cx="360" cy="91440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636" name="Picture 635"/>
          <p:cNvPicPr/>
          <p:nvPr/>
        </p:nvPicPr>
        <p:blipFill>
          <a:blip r:embed="rId3"/>
          <a:stretch/>
        </p:blipFill>
        <p:spPr>
          <a:xfrm>
            <a:off x="4663440" y="2864160"/>
            <a:ext cx="3275280" cy="1094040"/>
          </a:xfrm>
          <a:prstGeom prst="rect">
            <a:avLst/>
          </a:prstGeom>
          <a:ln w="0">
            <a:noFill/>
          </a:ln>
        </p:spPr>
      </p:pic>
      <p:sp>
        <p:nvSpPr>
          <p:cNvPr id="637" name="CustomShape 39"/>
          <p:cNvSpPr/>
          <p:nvPr/>
        </p:nvSpPr>
        <p:spPr>
          <a:xfrm>
            <a:off x="581400" y="28836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8" name="CustomShape 40"/>
          <p:cNvSpPr/>
          <p:nvPr/>
        </p:nvSpPr>
        <p:spPr>
          <a:xfrm>
            <a:off x="337680" y="1569240"/>
            <a:ext cx="3288240" cy="636840"/>
          </a:xfrm>
          <a:prstGeom prst="rect">
            <a:avLst/>
          </a:prstGeom>
          <a:solidFill>
            <a:srgbClr val="ADD58A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The </a:t>
            </a:r>
            <a:r>
              <a:rPr lang="en-US" sz="1600" b="1" strike="noStrike" spc="-1">
                <a:solidFill>
                  <a:srgbClr val="000000"/>
                </a:solidFill>
                <a:latin typeface="Cantarell"/>
                <a:ea typeface="AR PL SungtiL GB"/>
              </a:rPr>
              <a:t>likelihood</a:t>
            </a: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 of the data, given a certain value of θ</a:t>
            </a:r>
            <a:endParaRPr lang="en-US" sz="1600" b="0" strike="noStrike" spc="-1">
              <a:latin typeface="Arial"/>
            </a:endParaRPr>
          </a:p>
        </p:txBody>
      </p:sp>
      <p:grpSp>
        <p:nvGrpSpPr>
          <p:cNvPr id="639" name="Group 638"/>
          <p:cNvGrpSpPr/>
          <p:nvPr/>
        </p:nvGrpSpPr>
        <p:grpSpPr>
          <a:xfrm>
            <a:off x="337680" y="2392200"/>
            <a:ext cx="3769560" cy="1190520"/>
            <a:chOff x="337680" y="2392200"/>
            <a:chExt cx="3769560" cy="1190520"/>
          </a:xfrm>
        </p:grpSpPr>
        <p:sp>
          <p:nvSpPr>
            <p:cNvPr id="640" name="CustomShape 6"/>
            <p:cNvSpPr/>
            <p:nvPr/>
          </p:nvSpPr>
          <p:spPr>
            <a:xfrm>
              <a:off x="3333240" y="3128760"/>
              <a:ext cx="774000" cy="453960"/>
            </a:xfrm>
            <a:custGeom>
              <a:avLst/>
              <a:gdLst/>
              <a:ahLst/>
              <a:cxnLst/>
              <a:rect l="l" t="t" r="r" b="b"/>
              <a:pathLst>
                <a:path w="841" h="854">
                  <a:moveTo>
                    <a:pt x="517" y="247"/>
                  </a:moveTo>
                  <a:lnTo>
                    <a:pt x="517" y="415"/>
                  </a:lnTo>
                  <a:lnTo>
                    <a:pt x="264" y="415"/>
                  </a:lnTo>
                  <a:lnTo>
                    <a:pt x="264" y="0"/>
                  </a:lnTo>
                  <a:lnTo>
                    <a:pt x="0" y="0"/>
                  </a:lnTo>
                  <a:lnTo>
                    <a:pt x="0" y="680"/>
                  </a:lnTo>
                  <a:lnTo>
                    <a:pt x="517" y="680"/>
                  </a:lnTo>
                  <a:lnTo>
                    <a:pt x="517" y="854"/>
                  </a:lnTo>
                  <a:lnTo>
                    <a:pt x="841" y="547"/>
                  </a:lnTo>
                  <a:lnTo>
                    <a:pt x="517" y="247"/>
                  </a:lnTo>
                  <a:close/>
                </a:path>
              </a:pathLst>
            </a:custGeom>
            <a:solidFill>
              <a:srgbClr val="F58220"/>
            </a:solidFill>
            <a:ln w="0">
              <a:solidFill>
                <a:srgbClr val="F5822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  <p:sp>
          <p:nvSpPr>
            <p:cNvPr id="641" name="CustomShape 38"/>
            <p:cNvSpPr/>
            <p:nvPr/>
          </p:nvSpPr>
          <p:spPr>
            <a:xfrm>
              <a:off x="337680" y="2392200"/>
              <a:ext cx="3211200" cy="7286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F5822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For instance, how likely is our observed data, if </a:t>
              </a:r>
              <a:r>
                <a:rPr lang="en-US" sz="1600" b="0" strike="noStrike" spc="-1" dirty="0" err="1">
                  <a:solidFill>
                    <a:srgbClr val="000000"/>
                  </a:solidFill>
                  <a:latin typeface="Cantarell"/>
                  <a:ea typeface="AR PL SungtiL GB"/>
                </a:rPr>
                <a:t>θ</a:t>
              </a:r>
              <a:r>
                <a:rPr lang="en-US" sz="16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 equals 0.7?</a:t>
              </a:r>
              <a:endParaRPr lang="en-US" sz="1600" b="0" strike="noStrike" spc="-1" dirty="0">
                <a:latin typeface="Arial"/>
              </a:endParaRPr>
            </a:p>
          </p:txBody>
        </p:sp>
      </p:grpSp>
      <p:pic>
        <p:nvPicPr>
          <p:cNvPr id="642" name="Picture 641"/>
          <p:cNvPicPr/>
          <p:nvPr/>
        </p:nvPicPr>
        <p:blipFill>
          <a:blip r:embed="rId4"/>
          <a:srcRect r="44984"/>
          <a:stretch/>
        </p:blipFill>
        <p:spPr>
          <a:xfrm>
            <a:off x="1056600" y="4908960"/>
            <a:ext cx="5571720" cy="952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644" name="Picture 643"/>
          <p:cNvPicPr/>
          <p:nvPr/>
        </p:nvPicPr>
        <p:blipFill>
          <a:blip r:embed="rId2"/>
          <a:srcRect l="62102" b="55030"/>
          <a:stretch/>
        </p:blipFill>
        <p:spPr>
          <a:xfrm>
            <a:off x="4797360" y="1666800"/>
            <a:ext cx="3429000" cy="707040"/>
          </a:xfrm>
          <a:prstGeom prst="rect">
            <a:avLst/>
          </a:prstGeom>
          <a:ln w="0">
            <a:noFill/>
          </a:ln>
        </p:spPr>
      </p:pic>
      <p:sp>
        <p:nvSpPr>
          <p:cNvPr id="645" name="Line 7"/>
          <p:cNvSpPr/>
          <p:nvPr/>
        </p:nvSpPr>
        <p:spPr>
          <a:xfrm>
            <a:off x="6766560" y="3657600"/>
            <a:ext cx="1188720" cy="137160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646" name="Picture 645"/>
          <p:cNvPicPr/>
          <p:nvPr/>
        </p:nvPicPr>
        <p:blipFill>
          <a:blip r:embed="rId3"/>
          <a:stretch/>
        </p:blipFill>
        <p:spPr>
          <a:xfrm>
            <a:off x="4663440" y="2864160"/>
            <a:ext cx="3275280" cy="1094040"/>
          </a:xfrm>
          <a:prstGeom prst="rect">
            <a:avLst/>
          </a:prstGeom>
          <a:ln w="0">
            <a:noFill/>
          </a:ln>
        </p:spPr>
      </p:pic>
      <p:sp>
        <p:nvSpPr>
          <p:cNvPr id="647" name="CustomShape 41"/>
          <p:cNvSpPr/>
          <p:nvPr/>
        </p:nvSpPr>
        <p:spPr>
          <a:xfrm>
            <a:off x="581400" y="28836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48" name="CustomShape 42"/>
          <p:cNvSpPr/>
          <p:nvPr/>
        </p:nvSpPr>
        <p:spPr>
          <a:xfrm>
            <a:off x="337680" y="1569240"/>
            <a:ext cx="3288240" cy="636840"/>
          </a:xfrm>
          <a:prstGeom prst="rect">
            <a:avLst/>
          </a:prstGeom>
          <a:solidFill>
            <a:srgbClr val="ADD58A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The </a:t>
            </a:r>
            <a:r>
              <a:rPr lang="en-US" sz="1600" b="1" strike="noStrike" spc="-1">
                <a:solidFill>
                  <a:srgbClr val="000000"/>
                </a:solidFill>
                <a:latin typeface="Cantarell"/>
                <a:ea typeface="AR PL SungtiL GB"/>
              </a:rPr>
              <a:t>likelihood</a:t>
            </a: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 of the data, given a certain value of θ</a:t>
            </a:r>
            <a:endParaRPr lang="en-US" sz="1600" b="0" strike="noStrike" spc="-1">
              <a:latin typeface="Arial"/>
            </a:endParaRPr>
          </a:p>
        </p:txBody>
      </p:sp>
      <p:grpSp>
        <p:nvGrpSpPr>
          <p:cNvPr id="649" name="Group 648"/>
          <p:cNvGrpSpPr/>
          <p:nvPr/>
        </p:nvGrpSpPr>
        <p:grpSpPr>
          <a:xfrm>
            <a:off x="337680" y="2392200"/>
            <a:ext cx="3769560" cy="1190520"/>
            <a:chOff x="534600" y="2392200"/>
            <a:chExt cx="3572640" cy="1190520"/>
          </a:xfrm>
        </p:grpSpPr>
        <p:sp>
          <p:nvSpPr>
            <p:cNvPr id="650" name="CustomShape 6"/>
            <p:cNvSpPr/>
            <p:nvPr/>
          </p:nvSpPr>
          <p:spPr>
            <a:xfrm>
              <a:off x="3333240" y="3128760"/>
              <a:ext cx="774000" cy="453960"/>
            </a:xfrm>
            <a:custGeom>
              <a:avLst/>
              <a:gdLst/>
              <a:ahLst/>
              <a:cxnLst/>
              <a:rect l="l" t="t" r="r" b="b"/>
              <a:pathLst>
                <a:path w="841" h="854">
                  <a:moveTo>
                    <a:pt x="517" y="247"/>
                  </a:moveTo>
                  <a:lnTo>
                    <a:pt x="517" y="415"/>
                  </a:lnTo>
                  <a:lnTo>
                    <a:pt x="264" y="415"/>
                  </a:lnTo>
                  <a:lnTo>
                    <a:pt x="264" y="0"/>
                  </a:lnTo>
                  <a:lnTo>
                    <a:pt x="0" y="0"/>
                  </a:lnTo>
                  <a:lnTo>
                    <a:pt x="0" y="680"/>
                  </a:lnTo>
                  <a:lnTo>
                    <a:pt x="517" y="680"/>
                  </a:lnTo>
                  <a:lnTo>
                    <a:pt x="517" y="854"/>
                  </a:lnTo>
                  <a:lnTo>
                    <a:pt x="841" y="547"/>
                  </a:lnTo>
                  <a:lnTo>
                    <a:pt x="517" y="247"/>
                  </a:lnTo>
                  <a:close/>
                </a:path>
              </a:pathLst>
            </a:custGeom>
            <a:solidFill>
              <a:srgbClr val="F58220"/>
            </a:solidFill>
            <a:ln w="0">
              <a:solidFill>
                <a:srgbClr val="F5822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  <p:sp>
          <p:nvSpPr>
            <p:cNvPr id="651" name="CustomShape 38"/>
            <p:cNvSpPr/>
            <p:nvPr/>
          </p:nvSpPr>
          <p:spPr>
            <a:xfrm>
              <a:off x="534600" y="2392200"/>
              <a:ext cx="3014280" cy="7286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F5822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For instance, how likely is our observed data, if </a:t>
              </a:r>
              <a:r>
                <a:rPr lang="en-US" sz="1600" b="0" strike="noStrike" spc="-1" dirty="0" err="1">
                  <a:solidFill>
                    <a:srgbClr val="000000"/>
                  </a:solidFill>
                  <a:latin typeface="Cantarell"/>
                  <a:ea typeface="AR PL SungtiL GB"/>
                </a:rPr>
                <a:t>θ</a:t>
              </a:r>
              <a:r>
                <a:rPr lang="en-US" sz="16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 equals 0.7?</a:t>
              </a:r>
              <a:endParaRPr lang="en-US" sz="1600" b="0" strike="noStrike" spc="-1" dirty="0">
                <a:latin typeface="Arial"/>
              </a:endParaRPr>
            </a:p>
          </p:txBody>
        </p:sp>
      </p:grpSp>
      <p:pic>
        <p:nvPicPr>
          <p:cNvPr id="652" name="Picture 651"/>
          <p:cNvPicPr/>
          <p:nvPr/>
        </p:nvPicPr>
        <p:blipFill>
          <a:blip r:embed="rId4"/>
          <a:srcRect r="15646"/>
          <a:stretch/>
        </p:blipFill>
        <p:spPr>
          <a:xfrm>
            <a:off x="1056600" y="4908960"/>
            <a:ext cx="8543520" cy="952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654" name="Picture 653"/>
          <p:cNvPicPr/>
          <p:nvPr/>
        </p:nvPicPr>
        <p:blipFill>
          <a:blip r:embed="rId2"/>
          <a:srcRect l="62102" b="55030"/>
          <a:stretch/>
        </p:blipFill>
        <p:spPr>
          <a:xfrm>
            <a:off x="4797360" y="1666800"/>
            <a:ext cx="3429000" cy="707040"/>
          </a:xfrm>
          <a:prstGeom prst="rect">
            <a:avLst/>
          </a:prstGeom>
          <a:ln w="0">
            <a:noFill/>
          </a:ln>
        </p:spPr>
      </p:pic>
      <p:pic>
        <p:nvPicPr>
          <p:cNvPr id="655" name="Picture 654"/>
          <p:cNvPicPr/>
          <p:nvPr/>
        </p:nvPicPr>
        <p:blipFill>
          <a:blip r:embed="rId3"/>
          <a:stretch/>
        </p:blipFill>
        <p:spPr>
          <a:xfrm>
            <a:off x="4663440" y="2864160"/>
            <a:ext cx="3275280" cy="1094040"/>
          </a:xfrm>
          <a:prstGeom prst="rect">
            <a:avLst/>
          </a:prstGeom>
          <a:ln w="0">
            <a:noFill/>
          </a:ln>
        </p:spPr>
      </p:pic>
      <p:sp>
        <p:nvSpPr>
          <p:cNvPr id="656" name="CustomShape 43"/>
          <p:cNvSpPr/>
          <p:nvPr/>
        </p:nvSpPr>
        <p:spPr>
          <a:xfrm>
            <a:off x="581400" y="28836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7" name="CustomShape 44"/>
          <p:cNvSpPr/>
          <p:nvPr/>
        </p:nvSpPr>
        <p:spPr>
          <a:xfrm>
            <a:off x="337680" y="1569240"/>
            <a:ext cx="3288240" cy="636840"/>
          </a:xfrm>
          <a:prstGeom prst="rect">
            <a:avLst/>
          </a:prstGeom>
          <a:solidFill>
            <a:srgbClr val="ADD58A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The </a:t>
            </a:r>
            <a:r>
              <a:rPr lang="en-US" sz="1600" b="1" strike="noStrike" spc="-1">
                <a:solidFill>
                  <a:srgbClr val="000000"/>
                </a:solidFill>
                <a:latin typeface="Cantarell"/>
                <a:ea typeface="AR PL SungtiL GB"/>
              </a:rPr>
              <a:t>likelihood</a:t>
            </a: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 of the data, given a certain value of θ</a:t>
            </a:r>
            <a:endParaRPr lang="en-US" sz="1600" b="0" strike="noStrike" spc="-1">
              <a:latin typeface="Arial"/>
            </a:endParaRPr>
          </a:p>
        </p:txBody>
      </p:sp>
      <p:grpSp>
        <p:nvGrpSpPr>
          <p:cNvPr id="658" name="Group 657"/>
          <p:cNvGrpSpPr/>
          <p:nvPr/>
        </p:nvGrpSpPr>
        <p:grpSpPr>
          <a:xfrm>
            <a:off x="337680" y="2392200"/>
            <a:ext cx="3769560" cy="1190520"/>
            <a:chOff x="534600" y="2392200"/>
            <a:chExt cx="3572640" cy="1190520"/>
          </a:xfrm>
        </p:grpSpPr>
        <p:sp>
          <p:nvSpPr>
            <p:cNvPr id="659" name="CustomShape 6"/>
            <p:cNvSpPr/>
            <p:nvPr/>
          </p:nvSpPr>
          <p:spPr>
            <a:xfrm>
              <a:off x="3333240" y="3128760"/>
              <a:ext cx="774000" cy="453960"/>
            </a:xfrm>
            <a:custGeom>
              <a:avLst/>
              <a:gdLst/>
              <a:ahLst/>
              <a:cxnLst/>
              <a:rect l="l" t="t" r="r" b="b"/>
              <a:pathLst>
                <a:path w="841" h="854">
                  <a:moveTo>
                    <a:pt x="517" y="247"/>
                  </a:moveTo>
                  <a:lnTo>
                    <a:pt x="517" y="415"/>
                  </a:lnTo>
                  <a:lnTo>
                    <a:pt x="264" y="415"/>
                  </a:lnTo>
                  <a:lnTo>
                    <a:pt x="264" y="0"/>
                  </a:lnTo>
                  <a:lnTo>
                    <a:pt x="0" y="0"/>
                  </a:lnTo>
                  <a:lnTo>
                    <a:pt x="0" y="680"/>
                  </a:lnTo>
                  <a:lnTo>
                    <a:pt x="517" y="680"/>
                  </a:lnTo>
                  <a:lnTo>
                    <a:pt x="517" y="854"/>
                  </a:lnTo>
                  <a:lnTo>
                    <a:pt x="841" y="547"/>
                  </a:lnTo>
                  <a:lnTo>
                    <a:pt x="517" y="247"/>
                  </a:lnTo>
                  <a:close/>
                </a:path>
              </a:pathLst>
            </a:custGeom>
            <a:solidFill>
              <a:srgbClr val="F58220"/>
            </a:solidFill>
            <a:ln w="0">
              <a:solidFill>
                <a:srgbClr val="F5822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  <p:sp>
          <p:nvSpPr>
            <p:cNvPr id="660" name="CustomShape 38"/>
            <p:cNvSpPr/>
            <p:nvPr/>
          </p:nvSpPr>
          <p:spPr>
            <a:xfrm>
              <a:off x="534600" y="2392200"/>
              <a:ext cx="3014280" cy="7286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F5822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For instance, how likely is our observed data, if θ equals 0.7?</a:t>
              </a:r>
              <a:endParaRPr lang="en-US" sz="1600" b="0" strike="noStrike" spc="-1">
                <a:latin typeface="Arial"/>
              </a:endParaRPr>
            </a:p>
          </p:txBody>
        </p:sp>
      </p:grpSp>
      <p:pic>
        <p:nvPicPr>
          <p:cNvPr id="661" name="Picture 660"/>
          <p:cNvPicPr/>
          <p:nvPr/>
        </p:nvPicPr>
        <p:blipFill>
          <a:blip r:embed="rId4"/>
          <a:stretch/>
        </p:blipFill>
        <p:spPr>
          <a:xfrm>
            <a:off x="1056600" y="4908600"/>
            <a:ext cx="10129680" cy="952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CustomShape 45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663" name="Picture 662"/>
          <p:cNvPicPr/>
          <p:nvPr/>
        </p:nvPicPr>
        <p:blipFill>
          <a:blip r:embed="rId2"/>
          <a:srcRect l="62102" b="55030"/>
          <a:stretch/>
        </p:blipFill>
        <p:spPr>
          <a:xfrm>
            <a:off x="4797360" y="1666800"/>
            <a:ext cx="3429000" cy="707040"/>
          </a:xfrm>
          <a:prstGeom prst="rect">
            <a:avLst/>
          </a:prstGeom>
          <a:ln w="0">
            <a:noFill/>
          </a:ln>
        </p:spPr>
      </p:pic>
      <p:pic>
        <p:nvPicPr>
          <p:cNvPr id="664" name="Picture 663"/>
          <p:cNvPicPr/>
          <p:nvPr/>
        </p:nvPicPr>
        <p:blipFill>
          <a:blip r:embed="rId3"/>
          <a:stretch/>
        </p:blipFill>
        <p:spPr>
          <a:xfrm>
            <a:off x="4663440" y="2864160"/>
            <a:ext cx="3275280" cy="1094040"/>
          </a:xfrm>
          <a:prstGeom prst="rect">
            <a:avLst/>
          </a:prstGeom>
          <a:ln w="0">
            <a:noFill/>
          </a:ln>
        </p:spPr>
      </p:pic>
      <p:sp>
        <p:nvSpPr>
          <p:cNvPr id="665" name="CustomShape 46"/>
          <p:cNvSpPr/>
          <p:nvPr/>
        </p:nvSpPr>
        <p:spPr>
          <a:xfrm>
            <a:off x="581400" y="28836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66" name="CustomShape 47"/>
          <p:cNvSpPr/>
          <p:nvPr/>
        </p:nvSpPr>
        <p:spPr>
          <a:xfrm>
            <a:off x="337680" y="1569240"/>
            <a:ext cx="3288240" cy="636840"/>
          </a:xfrm>
          <a:prstGeom prst="rect">
            <a:avLst/>
          </a:prstGeom>
          <a:solidFill>
            <a:srgbClr val="ADD58A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The </a:t>
            </a:r>
            <a:r>
              <a:rPr lang="en-US" sz="1600" b="1" strike="noStrike" spc="-1">
                <a:solidFill>
                  <a:srgbClr val="000000"/>
                </a:solidFill>
                <a:latin typeface="Cantarell"/>
                <a:ea typeface="AR PL SungtiL GB"/>
              </a:rPr>
              <a:t>likelihood</a:t>
            </a: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 of the data, given a certain value of θ</a:t>
            </a:r>
            <a:endParaRPr lang="en-US" sz="1600" b="0" strike="noStrike" spc="-1">
              <a:latin typeface="Arial"/>
            </a:endParaRPr>
          </a:p>
        </p:txBody>
      </p:sp>
      <p:grpSp>
        <p:nvGrpSpPr>
          <p:cNvPr id="667" name="Group 666"/>
          <p:cNvGrpSpPr/>
          <p:nvPr/>
        </p:nvGrpSpPr>
        <p:grpSpPr>
          <a:xfrm>
            <a:off x="337680" y="2392200"/>
            <a:ext cx="3769560" cy="1190520"/>
            <a:chOff x="337680" y="2392200"/>
            <a:chExt cx="3769560" cy="1190520"/>
          </a:xfrm>
        </p:grpSpPr>
        <p:sp>
          <p:nvSpPr>
            <p:cNvPr id="668" name="CustomShape 6"/>
            <p:cNvSpPr/>
            <p:nvPr/>
          </p:nvSpPr>
          <p:spPr>
            <a:xfrm>
              <a:off x="3333240" y="3128760"/>
              <a:ext cx="774000" cy="453960"/>
            </a:xfrm>
            <a:custGeom>
              <a:avLst/>
              <a:gdLst/>
              <a:ahLst/>
              <a:cxnLst/>
              <a:rect l="l" t="t" r="r" b="b"/>
              <a:pathLst>
                <a:path w="841" h="854">
                  <a:moveTo>
                    <a:pt x="517" y="247"/>
                  </a:moveTo>
                  <a:lnTo>
                    <a:pt x="517" y="415"/>
                  </a:lnTo>
                  <a:lnTo>
                    <a:pt x="264" y="415"/>
                  </a:lnTo>
                  <a:lnTo>
                    <a:pt x="264" y="0"/>
                  </a:lnTo>
                  <a:lnTo>
                    <a:pt x="0" y="0"/>
                  </a:lnTo>
                  <a:lnTo>
                    <a:pt x="0" y="680"/>
                  </a:lnTo>
                  <a:lnTo>
                    <a:pt x="517" y="680"/>
                  </a:lnTo>
                  <a:lnTo>
                    <a:pt x="517" y="854"/>
                  </a:lnTo>
                  <a:lnTo>
                    <a:pt x="841" y="547"/>
                  </a:lnTo>
                  <a:lnTo>
                    <a:pt x="517" y="247"/>
                  </a:lnTo>
                  <a:close/>
                </a:path>
              </a:pathLst>
            </a:custGeom>
            <a:solidFill>
              <a:srgbClr val="F58220"/>
            </a:solidFill>
            <a:ln w="0">
              <a:solidFill>
                <a:srgbClr val="F5822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  <p:sp>
          <p:nvSpPr>
            <p:cNvPr id="669" name="CustomShape 38"/>
            <p:cNvSpPr/>
            <p:nvPr/>
          </p:nvSpPr>
          <p:spPr>
            <a:xfrm>
              <a:off x="337680" y="2392200"/>
              <a:ext cx="3211200" cy="7286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F5822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For instance, how likely is our observed data, if </a:t>
              </a:r>
              <a:r>
                <a:rPr lang="en-US" sz="1600" b="0" strike="noStrike" spc="-1" dirty="0" err="1">
                  <a:solidFill>
                    <a:srgbClr val="000000"/>
                  </a:solidFill>
                  <a:latin typeface="Cantarell"/>
                  <a:ea typeface="AR PL SungtiL GB"/>
                </a:rPr>
                <a:t>θ</a:t>
              </a:r>
              <a:r>
                <a:rPr lang="en-US" sz="16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 equals 0.7?</a:t>
              </a:r>
              <a:endParaRPr lang="en-US" sz="1600" b="0" strike="noStrike" spc="-1" dirty="0">
                <a:latin typeface="Arial"/>
              </a:endParaRPr>
            </a:p>
          </p:txBody>
        </p:sp>
      </p:grpSp>
      <p:sp>
        <p:nvSpPr>
          <p:cNvPr id="670" name="CustomShape 48"/>
          <p:cNvSpPr/>
          <p:nvPr/>
        </p:nvSpPr>
        <p:spPr>
          <a:xfrm>
            <a:off x="1645920" y="4754880"/>
            <a:ext cx="8868960" cy="1645200"/>
          </a:xfrm>
          <a:prstGeom prst="rect">
            <a:avLst/>
          </a:prstGeom>
          <a:solidFill>
            <a:srgbClr val="ED7D31"/>
          </a:solidFill>
          <a:ln w="38160">
            <a:solidFill>
              <a:srgbClr val="00A93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ntarell"/>
                <a:ea typeface="Arial"/>
              </a:rPr>
              <a:t>We do this for each possible value of θ (i.e., between 0 and 1)</a:t>
            </a:r>
            <a:endParaRPr lang="en-US" sz="4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72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73" name="CustomShape 3"/>
          <p:cNvSpPr/>
          <p:nvPr/>
        </p:nvSpPr>
        <p:spPr>
          <a:xfrm>
            <a:off x="609480" y="-1944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74" name="Picture 673"/>
          <p:cNvPicPr/>
          <p:nvPr/>
        </p:nvPicPr>
        <p:blipFill>
          <a:blip r:embed="rId2"/>
          <a:stretch/>
        </p:blipFill>
        <p:spPr>
          <a:xfrm>
            <a:off x="94320" y="936720"/>
            <a:ext cx="8775000" cy="5848560"/>
          </a:xfrm>
          <a:prstGeom prst="rect">
            <a:avLst/>
          </a:prstGeom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E7CE73E-3BA6-5632-6D7B-860B1F63805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869320" y="3591180"/>
            <a:ext cx="3275280" cy="109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CustomShape 58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76" name="CustomShape 59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77" name="CustomShape 60"/>
          <p:cNvSpPr/>
          <p:nvPr/>
        </p:nvSpPr>
        <p:spPr>
          <a:xfrm>
            <a:off x="609480" y="-1944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78" name="Picture 677"/>
          <p:cNvPicPr/>
          <p:nvPr/>
        </p:nvPicPr>
        <p:blipFill>
          <a:blip r:embed="rId2"/>
          <a:stretch/>
        </p:blipFill>
        <p:spPr>
          <a:xfrm>
            <a:off x="94320" y="936720"/>
            <a:ext cx="8775000" cy="5848560"/>
          </a:xfrm>
          <a:prstGeom prst="rect">
            <a:avLst/>
          </a:prstGeom>
          <a:ln w="0">
            <a:noFill/>
          </a:ln>
        </p:spPr>
      </p:pic>
      <p:pic>
        <p:nvPicPr>
          <p:cNvPr id="679" name="Picture 678"/>
          <p:cNvPicPr/>
          <p:nvPr/>
        </p:nvPicPr>
        <p:blipFill>
          <a:blip r:embed="rId3"/>
          <a:stretch/>
        </p:blipFill>
        <p:spPr>
          <a:xfrm>
            <a:off x="6184800" y="5943600"/>
            <a:ext cx="5526720" cy="456480"/>
          </a:xfrm>
          <a:prstGeom prst="rect">
            <a:avLst/>
          </a:prstGeom>
          <a:ln w="29160">
            <a:solidFill>
              <a:srgbClr val="2A6099"/>
            </a:solidFill>
            <a:round/>
          </a:ln>
        </p:spPr>
      </p:pic>
      <p:sp>
        <p:nvSpPr>
          <p:cNvPr id="680" name="Straight Connector 679"/>
          <p:cNvSpPr/>
          <p:nvPr/>
        </p:nvSpPr>
        <p:spPr>
          <a:xfrm flipV="1">
            <a:off x="6125040" y="2928600"/>
            <a:ext cx="360" cy="2172600"/>
          </a:xfrm>
          <a:prstGeom prst="line">
            <a:avLst/>
          </a:prstGeom>
          <a:ln w="3816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81" name="Straight Connector 680"/>
          <p:cNvSpPr/>
          <p:nvPr/>
        </p:nvSpPr>
        <p:spPr>
          <a:xfrm flipH="1">
            <a:off x="1600200" y="2950200"/>
            <a:ext cx="4525200" cy="360"/>
          </a:xfrm>
          <a:prstGeom prst="line">
            <a:avLst/>
          </a:prstGeom>
          <a:ln w="3816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1FE480-E65B-4E7B-9D9D-94B3D5DA05F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869320" y="3591180"/>
            <a:ext cx="3275280" cy="109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CustomShape 34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83" name="CustomShape 49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84" name="CustomShape 50"/>
          <p:cNvSpPr/>
          <p:nvPr/>
        </p:nvSpPr>
        <p:spPr>
          <a:xfrm>
            <a:off x="609480" y="-1944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85" name="Picture 684"/>
          <p:cNvPicPr/>
          <p:nvPr/>
        </p:nvPicPr>
        <p:blipFill>
          <a:blip r:embed="rId2"/>
          <a:stretch/>
        </p:blipFill>
        <p:spPr>
          <a:xfrm>
            <a:off x="94320" y="936720"/>
            <a:ext cx="8775000" cy="5848560"/>
          </a:xfrm>
          <a:prstGeom prst="rect">
            <a:avLst/>
          </a:prstGeom>
          <a:ln w="0">
            <a:noFill/>
          </a:ln>
        </p:spPr>
      </p:pic>
      <p:pic>
        <p:nvPicPr>
          <p:cNvPr id="686" name="Picture 685"/>
          <p:cNvPicPr/>
          <p:nvPr/>
        </p:nvPicPr>
        <p:blipFill>
          <a:blip r:embed="rId3"/>
          <a:stretch/>
        </p:blipFill>
        <p:spPr>
          <a:xfrm>
            <a:off x="5963040" y="6134040"/>
            <a:ext cx="4551840" cy="376200"/>
          </a:xfrm>
          <a:prstGeom prst="rect">
            <a:avLst/>
          </a:prstGeom>
          <a:ln w="38160">
            <a:solidFill>
              <a:srgbClr val="2A6099"/>
            </a:solidFill>
            <a:round/>
          </a:ln>
        </p:spPr>
      </p:pic>
      <p:sp>
        <p:nvSpPr>
          <p:cNvPr id="687" name="Straight Connector 686"/>
          <p:cNvSpPr/>
          <p:nvPr/>
        </p:nvSpPr>
        <p:spPr>
          <a:xfrm flipV="1">
            <a:off x="4307400" y="4872600"/>
            <a:ext cx="360" cy="228600"/>
          </a:xfrm>
          <a:prstGeom prst="line">
            <a:avLst/>
          </a:prstGeom>
          <a:ln w="3816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88" name="Straight Connector 687"/>
          <p:cNvSpPr/>
          <p:nvPr/>
        </p:nvSpPr>
        <p:spPr>
          <a:xfrm flipH="1">
            <a:off x="1599840" y="4872600"/>
            <a:ext cx="2707920" cy="360"/>
          </a:xfrm>
          <a:prstGeom prst="line">
            <a:avLst/>
          </a:prstGeom>
          <a:ln w="3816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95E0A0-6899-2DF3-9DD5-24E8A27651F9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869320" y="3591180"/>
            <a:ext cx="3275280" cy="109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CustomShape 5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90" name="CustomShape 5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91" name="CustomShape 53"/>
          <p:cNvSpPr/>
          <p:nvPr/>
        </p:nvSpPr>
        <p:spPr>
          <a:xfrm>
            <a:off x="609480" y="-1944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92" name="Picture 691"/>
          <p:cNvPicPr/>
          <p:nvPr/>
        </p:nvPicPr>
        <p:blipFill>
          <a:blip r:embed="rId2"/>
          <a:stretch/>
        </p:blipFill>
        <p:spPr>
          <a:xfrm>
            <a:off x="94320" y="936720"/>
            <a:ext cx="8775000" cy="5848560"/>
          </a:xfrm>
          <a:prstGeom prst="rect">
            <a:avLst/>
          </a:prstGeom>
          <a:ln w="0">
            <a:noFill/>
          </a:ln>
        </p:spPr>
      </p:pic>
      <p:pic>
        <p:nvPicPr>
          <p:cNvPr id="693" name="Picture 692"/>
          <p:cNvPicPr/>
          <p:nvPr/>
        </p:nvPicPr>
        <p:blipFill>
          <a:blip r:embed="rId3"/>
          <a:stretch/>
        </p:blipFill>
        <p:spPr>
          <a:xfrm>
            <a:off x="5715000" y="5890320"/>
            <a:ext cx="6172560" cy="509760"/>
          </a:xfrm>
          <a:prstGeom prst="rect">
            <a:avLst/>
          </a:prstGeom>
          <a:ln w="38160">
            <a:solidFill>
              <a:srgbClr val="2A6099"/>
            </a:solidFill>
            <a:round/>
          </a:ln>
        </p:spPr>
      </p:pic>
      <p:sp>
        <p:nvSpPr>
          <p:cNvPr id="694" name="Straight Connector 693"/>
          <p:cNvSpPr/>
          <p:nvPr/>
        </p:nvSpPr>
        <p:spPr>
          <a:xfrm flipV="1">
            <a:off x="4883400" y="4620600"/>
            <a:ext cx="360" cy="480600"/>
          </a:xfrm>
          <a:prstGeom prst="line">
            <a:avLst/>
          </a:prstGeom>
          <a:ln w="3816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95" name="Straight Connector 694"/>
          <p:cNvSpPr/>
          <p:nvPr/>
        </p:nvSpPr>
        <p:spPr>
          <a:xfrm flipH="1" flipV="1">
            <a:off x="1600200" y="4644000"/>
            <a:ext cx="3319560" cy="12600"/>
          </a:xfrm>
          <a:prstGeom prst="line">
            <a:avLst/>
          </a:prstGeom>
          <a:ln w="3816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D2E80-15AC-9A50-1F08-B3311DED14D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869320" y="3591180"/>
            <a:ext cx="3275280" cy="109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CustomShape 54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97" name="CustomShape 55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698" name="CustomShape 56"/>
          <p:cNvSpPr/>
          <p:nvPr/>
        </p:nvSpPr>
        <p:spPr>
          <a:xfrm>
            <a:off x="609480" y="-1944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99" name="Picture 698"/>
          <p:cNvPicPr/>
          <p:nvPr/>
        </p:nvPicPr>
        <p:blipFill>
          <a:blip r:embed="rId2"/>
          <a:stretch/>
        </p:blipFill>
        <p:spPr>
          <a:xfrm>
            <a:off x="94320" y="936720"/>
            <a:ext cx="8775000" cy="5848560"/>
          </a:xfrm>
          <a:prstGeom prst="rect">
            <a:avLst/>
          </a:prstGeom>
          <a:ln w="0">
            <a:noFill/>
          </a:ln>
        </p:spPr>
      </p:pic>
      <p:sp>
        <p:nvSpPr>
          <p:cNvPr id="700" name="CustomShape 57"/>
          <p:cNvSpPr/>
          <p:nvPr/>
        </p:nvSpPr>
        <p:spPr>
          <a:xfrm>
            <a:off x="365760" y="4114800"/>
            <a:ext cx="10834920" cy="1089000"/>
          </a:xfrm>
          <a:prstGeom prst="rect">
            <a:avLst/>
          </a:prstGeom>
          <a:solidFill>
            <a:srgbClr val="ED7D31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0000"/>
                </a:solidFill>
                <a:latin typeface="Cantarell"/>
                <a:ea typeface="Arial"/>
              </a:rPr>
              <a:t>The likelihood is not a probability distribution!</a:t>
            </a:r>
            <a:endParaRPr lang="en-US" sz="3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0000"/>
                </a:solidFill>
                <a:latin typeface="Cantarell"/>
                <a:ea typeface="Arial"/>
              </a:rPr>
              <a:t>E.g., its surface area does not sum to 1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CustomShape 137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702" name="CustomShape 138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703" name="CustomShape 139"/>
          <p:cNvSpPr/>
          <p:nvPr/>
        </p:nvSpPr>
        <p:spPr>
          <a:xfrm>
            <a:off x="609480" y="-1944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704" name="Picture 703"/>
          <p:cNvPicPr/>
          <p:nvPr/>
        </p:nvPicPr>
        <p:blipFill>
          <a:blip r:embed="rId2"/>
          <a:stretch/>
        </p:blipFill>
        <p:spPr>
          <a:xfrm>
            <a:off x="457200" y="3886200"/>
            <a:ext cx="4476960" cy="2983680"/>
          </a:xfrm>
          <a:prstGeom prst="rect">
            <a:avLst/>
          </a:prstGeom>
          <a:ln w="0">
            <a:noFill/>
          </a:ln>
        </p:spPr>
      </p:pic>
      <p:grpSp>
        <p:nvGrpSpPr>
          <p:cNvPr id="705" name="Group 704"/>
          <p:cNvGrpSpPr/>
          <p:nvPr/>
        </p:nvGrpSpPr>
        <p:grpSpPr>
          <a:xfrm>
            <a:off x="8001000" y="2277360"/>
            <a:ext cx="3428280" cy="4579920"/>
            <a:chOff x="8001000" y="2277360"/>
            <a:chExt cx="3428280" cy="4579920"/>
          </a:xfrm>
        </p:grpSpPr>
        <p:pic>
          <p:nvPicPr>
            <p:cNvPr id="706" name="Picture 705"/>
            <p:cNvPicPr/>
            <p:nvPr/>
          </p:nvPicPr>
          <p:blipFill>
            <a:blip r:embed="rId3"/>
            <a:srcRect r="47832"/>
            <a:stretch/>
          </p:blipFill>
          <p:spPr>
            <a:xfrm>
              <a:off x="8001000" y="2277360"/>
              <a:ext cx="3341160" cy="4579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07" name="Rectangle 706"/>
            <p:cNvSpPr/>
            <p:nvPr/>
          </p:nvSpPr>
          <p:spPr>
            <a:xfrm>
              <a:off x="10973160" y="3657960"/>
              <a:ext cx="456120" cy="137052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grpSp>
        <p:nvGrpSpPr>
          <p:cNvPr id="708" name="Group 7"/>
          <p:cNvGrpSpPr/>
          <p:nvPr/>
        </p:nvGrpSpPr>
        <p:grpSpPr>
          <a:xfrm>
            <a:off x="336600" y="1143000"/>
            <a:ext cx="3428280" cy="1098720"/>
            <a:chOff x="336600" y="1143000"/>
            <a:chExt cx="3428280" cy="1098720"/>
          </a:xfrm>
        </p:grpSpPr>
        <p:sp>
          <p:nvSpPr>
            <p:cNvPr id="709" name="CustomShape 140"/>
            <p:cNvSpPr/>
            <p:nvPr/>
          </p:nvSpPr>
          <p:spPr>
            <a:xfrm>
              <a:off x="336600" y="1143000"/>
              <a:ext cx="3428280" cy="109872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Both figures give the likelihood, but differ in their x-axis</a:t>
              </a:r>
              <a:endParaRPr lang="en-US" sz="2000" b="0" strike="noStrike" spc="-1" dirty="0">
                <a:latin typeface="Arial"/>
              </a:endParaRPr>
            </a:p>
          </p:txBody>
        </p:sp>
      </p:grpSp>
      <p:grpSp>
        <p:nvGrpSpPr>
          <p:cNvPr id="710" name="Group 8"/>
          <p:cNvGrpSpPr/>
          <p:nvPr/>
        </p:nvGrpSpPr>
        <p:grpSpPr>
          <a:xfrm>
            <a:off x="368640" y="3200400"/>
            <a:ext cx="3288240" cy="636840"/>
            <a:chOff x="368640" y="3200400"/>
            <a:chExt cx="3288240" cy="636840"/>
          </a:xfrm>
        </p:grpSpPr>
        <p:sp>
          <p:nvSpPr>
            <p:cNvPr id="711" name="CustomShape 141"/>
            <p:cNvSpPr/>
            <p:nvPr/>
          </p:nvSpPr>
          <p:spPr>
            <a:xfrm>
              <a:off x="368640" y="3200400"/>
              <a:ext cx="3288240" cy="6368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This figure fixes k (heads = 8) and varies </a:t>
              </a:r>
              <a:r>
                <a:rPr lang="en-US" sz="1600" b="0" strike="noStrike" spc="-1" dirty="0" err="1">
                  <a:solidFill>
                    <a:srgbClr val="000000"/>
                  </a:solidFill>
                  <a:latin typeface="Cantarell"/>
                  <a:ea typeface="AR PL SungtiL GB"/>
                </a:rPr>
                <a:t>θ</a:t>
              </a:r>
              <a:endParaRPr lang="en-US" sz="1600" b="0" strike="noStrike" spc="-1" dirty="0">
                <a:latin typeface="Arial"/>
              </a:endParaRPr>
            </a:p>
          </p:txBody>
        </p:sp>
      </p:grpSp>
      <p:grpSp>
        <p:nvGrpSpPr>
          <p:cNvPr id="712" name="Group 10"/>
          <p:cNvGrpSpPr/>
          <p:nvPr/>
        </p:nvGrpSpPr>
        <p:grpSpPr>
          <a:xfrm>
            <a:off x="8458200" y="1600200"/>
            <a:ext cx="3288240" cy="636840"/>
            <a:chOff x="8458200" y="1600200"/>
            <a:chExt cx="3288240" cy="636840"/>
          </a:xfrm>
        </p:grpSpPr>
        <p:sp>
          <p:nvSpPr>
            <p:cNvPr id="713" name="CustomShape 142"/>
            <p:cNvSpPr/>
            <p:nvPr/>
          </p:nvSpPr>
          <p:spPr>
            <a:xfrm>
              <a:off x="8458200" y="1600200"/>
              <a:ext cx="3288240" cy="6368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This figure fixes θ (θ =0.5) and varies k</a:t>
              </a:r>
              <a:endParaRPr lang="en-US" sz="1600" b="0" strike="noStrike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715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716" name="Picture 715"/>
          <p:cNvPicPr/>
          <p:nvPr/>
        </p:nvPicPr>
        <p:blipFill>
          <a:blip r:embed="rId2"/>
          <a:srcRect l="62102" t="57515"/>
          <a:stretch/>
        </p:blipFill>
        <p:spPr>
          <a:xfrm>
            <a:off x="4297680" y="1433880"/>
            <a:ext cx="3429000" cy="666000"/>
          </a:xfrm>
          <a:prstGeom prst="rect">
            <a:avLst/>
          </a:prstGeom>
          <a:ln w="0">
            <a:noFill/>
          </a:ln>
        </p:spPr>
      </p:pic>
      <p:grpSp>
        <p:nvGrpSpPr>
          <p:cNvPr id="717" name="Group 3"/>
          <p:cNvGrpSpPr/>
          <p:nvPr/>
        </p:nvGrpSpPr>
        <p:grpSpPr>
          <a:xfrm>
            <a:off x="7589520" y="1463040"/>
            <a:ext cx="4404960" cy="636840"/>
            <a:chOff x="7589520" y="1463040"/>
            <a:chExt cx="4404960" cy="636840"/>
          </a:xfrm>
        </p:grpSpPr>
        <p:sp>
          <p:nvSpPr>
            <p:cNvPr id="718" name="Line 4"/>
            <p:cNvSpPr/>
            <p:nvPr/>
          </p:nvSpPr>
          <p:spPr>
            <a:xfrm flipH="1">
              <a:off x="7589520" y="1737360"/>
              <a:ext cx="1097280" cy="360"/>
            </a:xfrm>
            <a:prstGeom prst="line">
              <a:avLst/>
            </a:prstGeom>
            <a:ln w="57240">
              <a:solidFill>
                <a:srgbClr val="A3238E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  <p:sp>
          <p:nvSpPr>
            <p:cNvPr id="719" name="CustomShape 5"/>
            <p:cNvSpPr/>
            <p:nvPr/>
          </p:nvSpPr>
          <p:spPr>
            <a:xfrm>
              <a:off x="8706240" y="1463040"/>
              <a:ext cx="3288240" cy="6368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The </a:t>
              </a:r>
              <a:r>
                <a:rPr lang="en-US" sz="1600" b="1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marginal likelihood</a:t>
              </a: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, across all values of θ</a:t>
              </a:r>
              <a:endParaRPr lang="en-US" sz="1600" b="0" strike="noStrike" spc="-1">
                <a:latin typeface="Arial"/>
              </a:endParaRPr>
            </a:p>
          </p:txBody>
        </p:sp>
      </p:grpSp>
      <p:grpSp>
        <p:nvGrpSpPr>
          <p:cNvPr id="720" name="Group 6"/>
          <p:cNvGrpSpPr/>
          <p:nvPr/>
        </p:nvGrpSpPr>
        <p:grpSpPr>
          <a:xfrm>
            <a:off x="8706240" y="2102760"/>
            <a:ext cx="3288240" cy="1825920"/>
            <a:chOff x="8706240" y="2102760"/>
            <a:chExt cx="3288240" cy="1825920"/>
          </a:xfrm>
        </p:grpSpPr>
        <p:sp>
          <p:nvSpPr>
            <p:cNvPr id="721" name="CustomShape 7"/>
            <p:cNvSpPr/>
            <p:nvPr/>
          </p:nvSpPr>
          <p:spPr>
            <a:xfrm>
              <a:off x="8706240" y="2560680"/>
              <a:ext cx="3288240" cy="136800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4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This tells us something how well </a:t>
              </a:r>
              <a:r>
                <a:rPr lang="en-US" sz="1400" b="0" strike="noStrike" spc="-1" dirty="0" err="1">
                  <a:solidFill>
                    <a:srgbClr val="000000"/>
                  </a:solidFill>
                  <a:latin typeface="Cantarell"/>
                  <a:ea typeface="AR PL SungtiL GB"/>
                </a:rPr>
                <a:t>θ</a:t>
              </a:r>
              <a:r>
                <a:rPr lang="en-US" sz="14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 predicted the data, </a:t>
              </a:r>
              <a:r>
                <a:rPr lang="en-US" sz="1400" b="1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averaged </a:t>
              </a:r>
              <a:r>
                <a:rPr lang="en-US" sz="14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over all possible values of </a:t>
              </a:r>
              <a:r>
                <a:rPr lang="en-US" sz="1400" b="0" strike="noStrike" spc="-1" dirty="0" err="1">
                  <a:solidFill>
                    <a:srgbClr val="000000"/>
                  </a:solidFill>
                  <a:latin typeface="Cantarell"/>
                  <a:ea typeface="AR PL SungtiL GB"/>
                </a:rPr>
                <a:t>θ</a:t>
              </a:r>
              <a:r>
                <a:rPr lang="en-US" sz="1400" b="0" strike="noStrike" spc="-1" dirty="0">
                  <a:solidFill>
                    <a:srgbClr val="000000"/>
                  </a:solidFill>
                  <a:latin typeface="Cantarell"/>
                  <a:ea typeface="AR PL SungtiL GB"/>
                </a:rPr>
                <a:t> (i.e., it is the average quality of the prediction of the model)</a:t>
              </a:r>
              <a:endParaRPr lang="en-US" sz="1400" b="0" strike="noStrike" spc="-1" dirty="0">
                <a:latin typeface="Arial"/>
              </a:endParaRPr>
            </a:p>
          </p:txBody>
        </p:sp>
        <p:sp>
          <p:nvSpPr>
            <p:cNvPr id="722" name="Line 8"/>
            <p:cNvSpPr/>
            <p:nvPr/>
          </p:nvSpPr>
          <p:spPr>
            <a:xfrm>
              <a:off x="10351800" y="2102760"/>
              <a:ext cx="360" cy="457200"/>
            </a:xfrm>
            <a:prstGeom prst="line">
              <a:avLst/>
            </a:prstGeom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pic>
        <p:nvPicPr>
          <p:cNvPr id="723" name="Picture 722"/>
          <p:cNvPicPr/>
          <p:nvPr/>
        </p:nvPicPr>
        <p:blipFill>
          <a:blip r:embed="rId3"/>
          <a:stretch/>
        </p:blipFill>
        <p:spPr>
          <a:xfrm>
            <a:off x="182880" y="2967840"/>
            <a:ext cx="5848920" cy="3898080"/>
          </a:xfrm>
          <a:prstGeom prst="rect">
            <a:avLst/>
          </a:prstGeom>
          <a:ln w="0">
            <a:noFill/>
          </a:ln>
        </p:spPr>
      </p:pic>
      <p:grpSp>
        <p:nvGrpSpPr>
          <p:cNvPr id="724" name="Group 9"/>
          <p:cNvGrpSpPr/>
          <p:nvPr/>
        </p:nvGrpSpPr>
        <p:grpSpPr>
          <a:xfrm>
            <a:off x="7005240" y="3931920"/>
            <a:ext cx="4512960" cy="1276920"/>
            <a:chOff x="7005240" y="3931920"/>
            <a:chExt cx="4512960" cy="1276920"/>
          </a:xfrm>
        </p:grpSpPr>
        <p:sp>
          <p:nvSpPr>
            <p:cNvPr id="725" name="CustomShape 10"/>
            <p:cNvSpPr/>
            <p:nvPr/>
          </p:nvSpPr>
          <p:spPr>
            <a:xfrm>
              <a:off x="7005240" y="4251960"/>
              <a:ext cx="4512960" cy="95688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Usually this is very difficult and we need computers to compute this. In our case, the marginal likelihood equals 0.091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26" name="Line 11"/>
            <p:cNvSpPr/>
            <p:nvPr/>
          </p:nvSpPr>
          <p:spPr>
            <a:xfrm>
              <a:off x="9263520" y="3931920"/>
              <a:ext cx="360" cy="320040"/>
            </a:xfrm>
            <a:prstGeom prst="line">
              <a:avLst/>
            </a:prstGeom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pic>
        <p:nvPicPr>
          <p:cNvPr id="727" name="Picture 726"/>
          <p:cNvPicPr/>
          <p:nvPr/>
        </p:nvPicPr>
        <p:blipFill>
          <a:blip r:embed="rId4"/>
          <a:stretch/>
        </p:blipFill>
        <p:spPr>
          <a:xfrm>
            <a:off x="182880" y="2968200"/>
            <a:ext cx="5848920" cy="3898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729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730" name="Picture 729"/>
          <p:cNvPicPr/>
          <p:nvPr/>
        </p:nvPicPr>
        <p:blipFill>
          <a:blip r:embed="rId2"/>
          <a:srcRect l="62102"/>
          <a:stretch/>
        </p:blipFill>
        <p:spPr>
          <a:xfrm>
            <a:off x="4408560" y="1414440"/>
            <a:ext cx="3429000" cy="1580400"/>
          </a:xfrm>
          <a:prstGeom prst="rect">
            <a:avLst/>
          </a:prstGeom>
          <a:ln w="0">
            <a:noFill/>
          </a:ln>
        </p:spPr>
      </p:pic>
      <p:grpSp>
        <p:nvGrpSpPr>
          <p:cNvPr id="731" name="Group 3"/>
          <p:cNvGrpSpPr/>
          <p:nvPr/>
        </p:nvGrpSpPr>
        <p:grpSpPr>
          <a:xfrm>
            <a:off x="365760" y="1463040"/>
            <a:ext cx="4133880" cy="636840"/>
            <a:chOff x="365760" y="1463040"/>
            <a:chExt cx="4133880" cy="636840"/>
          </a:xfrm>
        </p:grpSpPr>
        <p:sp>
          <p:nvSpPr>
            <p:cNvPr id="732" name="CustomShape 4"/>
            <p:cNvSpPr/>
            <p:nvPr/>
          </p:nvSpPr>
          <p:spPr>
            <a:xfrm>
              <a:off x="365760" y="1463040"/>
              <a:ext cx="3288240" cy="6368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F5822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The </a:t>
              </a:r>
              <a:r>
                <a:rPr lang="en-US" sz="1600" b="1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likelihood</a:t>
              </a: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 of the data, given a certain value of θ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733" name="Line 5"/>
            <p:cNvSpPr/>
            <p:nvPr/>
          </p:nvSpPr>
          <p:spPr>
            <a:xfrm>
              <a:off x="3676680" y="1809360"/>
              <a:ext cx="822960" cy="360"/>
            </a:xfrm>
            <a:prstGeom prst="line">
              <a:avLst/>
            </a:prstGeom>
            <a:ln w="57240">
              <a:solidFill>
                <a:srgbClr val="F5822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</p:grpSp>
      <p:grpSp>
        <p:nvGrpSpPr>
          <p:cNvPr id="734" name="Group 6"/>
          <p:cNvGrpSpPr/>
          <p:nvPr/>
        </p:nvGrpSpPr>
        <p:grpSpPr>
          <a:xfrm>
            <a:off x="7589520" y="2377440"/>
            <a:ext cx="4404960" cy="636840"/>
            <a:chOff x="7589520" y="2377440"/>
            <a:chExt cx="4404960" cy="636840"/>
          </a:xfrm>
        </p:grpSpPr>
        <p:sp>
          <p:nvSpPr>
            <p:cNvPr id="735" name="Line 7"/>
            <p:cNvSpPr/>
            <p:nvPr/>
          </p:nvSpPr>
          <p:spPr>
            <a:xfrm flipH="1">
              <a:off x="7589520" y="2651760"/>
              <a:ext cx="1097280" cy="360"/>
            </a:xfrm>
            <a:prstGeom prst="line">
              <a:avLst/>
            </a:prstGeom>
            <a:ln w="57240">
              <a:solidFill>
                <a:srgbClr val="A3238E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  <p:sp>
          <p:nvSpPr>
            <p:cNvPr id="736" name="CustomShape 8"/>
            <p:cNvSpPr/>
            <p:nvPr/>
          </p:nvSpPr>
          <p:spPr>
            <a:xfrm>
              <a:off x="8706240" y="2377440"/>
              <a:ext cx="3288240" cy="6368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The </a:t>
              </a:r>
              <a:r>
                <a:rPr lang="en-US" sz="1600" b="1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marginal likelihood</a:t>
              </a: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, across all values of θ</a:t>
              </a:r>
              <a:endParaRPr lang="en-US" sz="1600" b="0" strike="noStrike" spc="-1">
                <a:latin typeface="Arial"/>
              </a:endParaRPr>
            </a:p>
          </p:txBody>
        </p:sp>
      </p:grpSp>
      <p:sp>
        <p:nvSpPr>
          <p:cNvPr id="737" name="CustomShape 9"/>
          <p:cNvSpPr/>
          <p:nvPr/>
        </p:nvSpPr>
        <p:spPr>
          <a:xfrm>
            <a:off x="548640" y="3382560"/>
            <a:ext cx="5300280" cy="911880"/>
          </a:xfrm>
          <a:prstGeom prst="rect">
            <a:avLst/>
          </a:prstGeom>
          <a:solidFill>
            <a:srgbClr val="CCCCCC"/>
          </a:solidFill>
          <a:ln w="57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Taken together, this ratio tells us how well each value of θ predicted the data, </a:t>
            </a:r>
            <a:r>
              <a:rPr lang="en-US" sz="1800" b="1" strike="noStrike" spc="-1">
                <a:solidFill>
                  <a:srgbClr val="000000"/>
                </a:solidFill>
                <a:latin typeface="Cantarell"/>
                <a:ea typeface="AR PL SungtiL GB"/>
              </a:rPr>
              <a:t>relative</a:t>
            </a:r>
            <a:r>
              <a:rPr lang="en-US" sz="18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 to all other values!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38" name="CustomShape 10"/>
          <p:cNvSpPr/>
          <p:nvPr/>
        </p:nvSpPr>
        <p:spPr>
          <a:xfrm>
            <a:off x="548640" y="4937760"/>
            <a:ext cx="8500680" cy="1551240"/>
          </a:xfrm>
          <a:prstGeom prst="rect">
            <a:avLst/>
          </a:prstGeom>
          <a:solidFill>
            <a:srgbClr val="CCCCCC"/>
          </a:solidFill>
          <a:ln w="5724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Now we know that the marginal (i.e., average) likelihood is 0.091. This means that when the likelihood of the data for a specific value of θ is greater than 0.091, that value of θ has predicted the data above average.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If that is the case, the predictive updating factor is &gt; 1. If a specific value of θ predicted the data worse than average, that ratio is &lt; 1.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39" name="Line 11"/>
          <p:cNvSpPr/>
          <p:nvPr/>
        </p:nvSpPr>
        <p:spPr>
          <a:xfrm>
            <a:off x="3108960" y="4297680"/>
            <a:ext cx="360" cy="64008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741" name="Picture 740"/>
          <p:cNvPicPr/>
          <p:nvPr/>
        </p:nvPicPr>
        <p:blipFill>
          <a:blip r:embed="rId2"/>
          <a:stretch/>
        </p:blipFill>
        <p:spPr>
          <a:xfrm>
            <a:off x="371520" y="1417680"/>
            <a:ext cx="7862760" cy="5240520"/>
          </a:xfrm>
          <a:prstGeom prst="rect">
            <a:avLst/>
          </a:prstGeom>
          <a:ln w="0">
            <a:noFill/>
          </a:ln>
        </p:spPr>
      </p:pic>
      <p:grpSp>
        <p:nvGrpSpPr>
          <p:cNvPr id="742" name="Group 2"/>
          <p:cNvGrpSpPr/>
          <p:nvPr/>
        </p:nvGrpSpPr>
        <p:grpSpPr>
          <a:xfrm>
            <a:off x="7680960" y="4059360"/>
            <a:ext cx="4404960" cy="636840"/>
            <a:chOff x="7680960" y="4059360"/>
            <a:chExt cx="4404960" cy="636840"/>
          </a:xfrm>
        </p:grpSpPr>
        <p:sp>
          <p:nvSpPr>
            <p:cNvPr id="743" name="Line 3"/>
            <p:cNvSpPr/>
            <p:nvPr/>
          </p:nvSpPr>
          <p:spPr>
            <a:xfrm flipH="1">
              <a:off x="7680960" y="4333680"/>
              <a:ext cx="1097280" cy="360"/>
            </a:xfrm>
            <a:prstGeom prst="line">
              <a:avLst/>
            </a:prstGeom>
            <a:ln w="57240">
              <a:solidFill>
                <a:srgbClr val="A3238E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  <p:sp>
          <p:nvSpPr>
            <p:cNvPr id="744" name="CustomShape 4"/>
            <p:cNvSpPr/>
            <p:nvPr/>
          </p:nvSpPr>
          <p:spPr>
            <a:xfrm>
              <a:off x="8797680" y="4059360"/>
              <a:ext cx="3288240" cy="6368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The </a:t>
              </a:r>
              <a:r>
                <a:rPr lang="en-US" sz="1600" b="1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marginal likelihood</a:t>
              </a: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, across all values of θ (= 0.091)</a:t>
              </a:r>
              <a:endParaRPr lang="en-US" sz="16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CustomShape 6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746" name="Picture 745"/>
          <p:cNvPicPr/>
          <p:nvPr/>
        </p:nvPicPr>
        <p:blipFill>
          <a:blip r:embed="rId2"/>
          <a:stretch/>
        </p:blipFill>
        <p:spPr>
          <a:xfrm>
            <a:off x="371520" y="1417680"/>
            <a:ext cx="7862760" cy="5240520"/>
          </a:xfrm>
          <a:prstGeom prst="rect">
            <a:avLst/>
          </a:prstGeom>
          <a:ln w="0">
            <a:noFill/>
          </a:ln>
        </p:spPr>
      </p:pic>
      <p:grpSp>
        <p:nvGrpSpPr>
          <p:cNvPr id="747" name="Group 4"/>
          <p:cNvGrpSpPr/>
          <p:nvPr/>
        </p:nvGrpSpPr>
        <p:grpSpPr>
          <a:xfrm>
            <a:off x="7680960" y="4059360"/>
            <a:ext cx="4404960" cy="636840"/>
            <a:chOff x="7680960" y="4059360"/>
            <a:chExt cx="4404960" cy="636840"/>
          </a:xfrm>
        </p:grpSpPr>
        <p:sp>
          <p:nvSpPr>
            <p:cNvPr id="748" name="Line 1"/>
            <p:cNvSpPr/>
            <p:nvPr/>
          </p:nvSpPr>
          <p:spPr>
            <a:xfrm flipH="1">
              <a:off x="7680960" y="4333680"/>
              <a:ext cx="1097280" cy="360"/>
            </a:xfrm>
            <a:prstGeom prst="line">
              <a:avLst/>
            </a:prstGeom>
            <a:ln w="57240">
              <a:solidFill>
                <a:srgbClr val="A3238E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  <p:sp>
          <p:nvSpPr>
            <p:cNvPr id="749" name="CustomShape 62"/>
            <p:cNvSpPr/>
            <p:nvPr/>
          </p:nvSpPr>
          <p:spPr>
            <a:xfrm>
              <a:off x="8797680" y="4059360"/>
              <a:ext cx="3288240" cy="6368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The </a:t>
              </a:r>
              <a:r>
                <a:rPr lang="en-US" sz="1600" b="1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marginal likelihood</a:t>
              </a: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, across all values of θ (= 0.091)</a:t>
              </a:r>
              <a:endParaRPr lang="en-US" sz="1600" b="0" strike="noStrike" spc="-1">
                <a:latin typeface="Arial"/>
              </a:endParaRPr>
            </a:p>
          </p:txBody>
        </p:sp>
      </p:grpSp>
      <p:sp>
        <p:nvSpPr>
          <p:cNvPr id="750" name="CustomShape 63"/>
          <p:cNvSpPr/>
          <p:nvPr/>
        </p:nvSpPr>
        <p:spPr>
          <a:xfrm>
            <a:off x="3429000" y="5715000"/>
            <a:ext cx="4805280" cy="911160"/>
          </a:xfrm>
          <a:prstGeom prst="rect">
            <a:avLst/>
          </a:prstGeom>
          <a:solidFill>
            <a:srgbClr val="AFD095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Values of θ that predicted the data better than average (i.e., their likelihoods are </a:t>
            </a: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AR PL SungtiL GB"/>
              </a:rPr>
              <a:t>greater</a:t>
            </a: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 than the marginal likelihood) 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CustomShape 64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Predictive Updating Factor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752" name="Picture 751"/>
          <p:cNvPicPr/>
          <p:nvPr/>
        </p:nvPicPr>
        <p:blipFill>
          <a:blip r:embed="rId2"/>
          <a:stretch/>
        </p:blipFill>
        <p:spPr>
          <a:xfrm>
            <a:off x="371520" y="1417680"/>
            <a:ext cx="7862760" cy="5240520"/>
          </a:xfrm>
          <a:prstGeom prst="rect">
            <a:avLst/>
          </a:prstGeom>
          <a:ln w="0">
            <a:noFill/>
          </a:ln>
        </p:spPr>
      </p:pic>
      <p:grpSp>
        <p:nvGrpSpPr>
          <p:cNvPr id="753" name="Group 5"/>
          <p:cNvGrpSpPr/>
          <p:nvPr/>
        </p:nvGrpSpPr>
        <p:grpSpPr>
          <a:xfrm>
            <a:off x="7680960" y="4059360"/>
            <a:ext cx="4404960" cy="636840"/>
            <a:chOff x="7680960" y="4059360"/>
            <a:chExt cx="4404960" cy="636840"/>
          </a:xfrm>
        </p:grpSpPr>
        <p:sp>
          <p:nvSpPr>
            <p:cNvPr id="754" name="Line 2"/>
            <p:cNvSpPr/>
            <p:nvPr/>
          </p:nvSpPr>
          <p:spPr>
            <a:xfrm flipH="1">
              <a:off x="7680960" y="4333680"/>
              <a:ext cx="1097280" cy="360"/>
            </a:xfrm>
            <a:prstGeom prst="line">
              <a:avLst/>
            </a:prstGeom>
            <a:ln w="57240">
              <a:solidFill>
                <a:srgbClr val="A3238E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NL"/>
            </a:p>
          </p:txBody>
        </p:sp>
        <p:sp>
          <p:nvSpPr>
            <p:cNvPr id="755" name="CustomShape 65"/>
            <p:cNvSpPr/>
            <p:nvPr/>
          </p:nvSpPr>
          <p:spPr>
            <a:xfrm>
              <a:off x="8797680" y="4059360"/>
              <a:ext cx="3288240" cy="636840"/>
            </a:xfrm>
            <a:prstGeom prst="rect">
              <a:avLst/>
            </a:prstGeom>
            <a:solidFill>
              <a:srgbClr val="ADD58A"/>
            </a:solidFill>
            <a:ln w="57240">
              <a:solidFill>
                <a:srgbClr val="A3238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440" tIns="73440" rIns="118440" bIns="7344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The </a:t>
              </a:r>
              <a:r>
                <a:rPr lang="en-US" sz="1600" b="1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marginal likelihood</a:t>
              </a:r>
              <a:r>
                <a:rPr lang="en-US" sz="1600" b="0" strike="noStrike" spc="-1">
                  <a:solidFill>
                    <a:srgbClr val="000000"/>
                  </a:solidFill>
                  <a:latin typeface="Cantarell"/>
                  <a:ea typeface="AR PL SungtiL GB"/>
                </a:rPr>
                <a:t>, across all values of θ (= 0.091)</a:t>
              </a:r>
              <a:endParaRPr lang="en-US" sz="1600" b="0" strike="noStrike" spc="-1">
                <a:latin typeface="Arial"/>
              </a:endParaRPr>
            </a:p>
          </p:txBody>
        </p:sp>
      </p:grpSp>
      <p:sp>
        <p:nvSpPr>
          <p:cNvPr id="756" name="CustomShape 66"/>
          <p:cNvSpPr/>
          <p:nvPr/>
        </p:nvSpPr>
        <p:spPr>
          <a:xfrm>
            <a:off x="1280160" y="5760720"/>
            <a:ext cx="4568400" cy="911160"/>
          </a:xfrm>
          <a:prstGeom prst="rect">
            <a:avLst/>
          </a:prstGeom>
          <a:solidFill>
            <a:srgbClr val="E16173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Values of θ that predicted the data worse than average (i.e., their likelihoods are </a:t>
            </a:r>
            <a:r>
              <a:rPr lang="en-US" sz="1600" b="1" strike="noStrike" spc="-1">
                <a:solidFill>
                  <a:srgbClr val="000000"/>
                </a:solidFill>
                <a:latin typeface="Arial"/>
                <a:ea typeface="AR PL SungtiL GB"/>
              </a:rPr>
              <a:t>less</a:t>
            </a: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 than the marginal likelihood) 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CustomShape 1"/>
          <p:cNvSpPr/>
          <p:nvPr/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Posterior Distribution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758" name="Picture 757"/>
          <p:cNvPicPr/>
          <p:nvPr/>
        </p:nvPicPr>
        <p:blipFill>
          <a:blip r:embed="rId2"/>
          <a:stretch/>
        </p:blipFill>
        <p:spPr>
          <a:xfrm>
            <a:off x="1072800" y="1408320"/>
            <a:ext cx="10045440" cy="2520360"/>
          </a:xfrm>
          <a:prstGeom prst="rect">
            <a:avLst/>
          </a:prstGeom>
          <a:ln w="0">
            <a:noFill/>
          </a:ln>
        </p:spPr>
      </p:pic>
      <p:pic>
        <p:nvPicPr>
          <p:cNvPr id="759" name="Picture 758"/>
          <p:cNvPicPr/>
          <p:nvPr/>
        </p:nvPicPr>
        <p:blipFill>
          <a:blip r:embed="rId3"/>
          <a:stretch/>
        </p:blipFill>
        <p:spPr>
          <a:xfrm>
            <a:off x="7855920" y="4262040"/>
            <a:ext cx="3479400" cy="2318400"/>
          </a:xfrm>
          <a:prstGeom prst="rect">
            <a:avLst/>
          </a:prstGeom>
          <a:ln w="0">
            <a:noFill/>
          </a:ln>
        </p:spPr>
      </p:pic>
      <p:pic>
        <p:nvPicPr>
          <p:cNvPr id="760" name="Picture 759"/>
          <p:cNvPicPr/>
          <p:nvPr/>
        </p:nvPicPr>
        <p:blipFill>
          <a:blip r:embed="rId4"/>
          <a:stretch/>
        </p:blipFill>
        <p:spPr>
          <a:xfrm>
            <a:off x="4057560" y="4009320"/>
            <a:ext cx="3428280" cy="2450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Picture 760"/>
          <p:cNvPicPr/>
          <p:nvPr/>
        </p:nvPicPr>
        <p:blipFill>
          <a:blip r:embed="rId2"/>
          <a:stretch/>
        </p:blipFill>
        <p:spPr>
          <a:xfrm>
            <a:off x="7680960" y="670680"/>
            <a:ext cx="2282760" cy="1520640"/>
          </a:xfrm>
          <a:prstGeom prst="rect">
            <a:avLst/>
          </a:prstGeom>
          <a:ln w="0">
            <a:noFill/>
          </a:ln>
        </p:spPr>
      </p:pic>
      <p:sp>
        <p:nvSpPr>
          <p:cNvPr id="762" name="CustomShape 1"/>
          <p:cNvSpPr/>
          <p:nvPr/>
        </p:nvSpPr>
        <p:spPr>
          <a:xfrm>
            <a:off x="4023720" y="192240"/>
            <a:ext cx="3288240" cy="444600"/>
          </a:xfrm>
          <a:prstGeom prst="rect">
            <a:avLst/>
          </a:prstGeom>
          <a:solidFill>
            <a:srgbClr val="87D1D1"/>
          </a:solidFill>
          <a:ln w="57240">
            <a:solidFill>
              <a:srgbClr val="A323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We start with our prior beliefs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63" name="CustomShape 2"/>
          <p:cNvSpPr/>
          <p:nvPr/>
        </p:nvSpPr>
        <p:spPr>
          <a:xfrm>
            <a:off x="4023360" y="1289520"/>
            <a:ext cx="3288240" cy="444600"/>
          </a:xfrm>
          <a:prstGeom prst="rect">
            <a:avLst/>
          </a:prstGeom>
          <a:solidFill>
            <a:srgbClr val="87D1D1"/>
          </a:solidFill>
          <a:ln w="57240">
            <a:solidFill>
              <a:srgbClr val="A323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We update those with data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64" name="CustomShape 3"/>
          <p:cNvSpPr/>
          <p:nvPr/>
        </p:nvSpPr>
        <p:spPr>
          <a:xfrm>
            <a:off x="4023360" y="3566160"/>
            <a:ext cx="3288240" cy="444600"/>
          </a:xfrm>
          <a:prstGeom prst="rect">
            <a:avLst/>
          </a:prstGeom>
          <a:solidFill>
            <a:srgbClr val="9D85BE"/>
          </a:solidFill>
          <a:ln w="57240">
            <a:solidFill>
              <a:srgbClr val="A323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We end with our posterior beliefs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65" name="CustomShape 4"/>
          <p:cNvSpPr/>
          <p:nvPr/>
        </p:nvSpPr>
        <p:spPr>
          <a:xfrm>
            <a:off x="5691960" y="2158560"/>
            <a:ext cx="4568400" cy="911160"/>
          </a:xfrm>
          <a:prstGeom prst="rect">
            <a:avLst/>
          </a:prstGeom>
          <a:solidFill>
            <a:srgbClr val="F04E4D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Values of θ that predicted the data worse than average receive a penalty in plausibility (i.e., their updating ratio &lt; 1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66" name="CustomShape 5"/>
          <p:cNvSpPr/>
          <p:nvPr/>
        </p:nvSpPr>
        <p:spPr>
          <a:xfrm>
            <a:off x="728640" y="2158560"/>
            <a:ext cx="4568400" cy="911160"/>
          </a:xfrm>
          <a:prstGeom prst="rect">
            <a:avLst/>
          </a:prstGeom>
          <a:solidFill>
            <a:srgbClr val="AFD095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Values of θ that predicted the data better than average receive a boost in plausibility (i.e., their updating ratio &gt;1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767" name="Picture 766"/>
          <p:cNvPicPr/>
          <p:nvPr/>
        </p:nvPicPr>
        <p:blipFill>
          <a:blip r:embed="rId3"/>
          <a:stretch/>
        </p:blipFill>
        <p:spPr>
          <a:xfrm>
            <a:off x="9892080" y="3136680"/>
            <a:ext cx="2282760" cy="1520640"/>
          </a:xfrm>
          <a:prstGeom prst="rect">
            <a:avLst/>
          </a:prstGeom>
          <a:ln w="0">
            <a:noFill/>
          </a:ln>
        </p:spPr>
      </p:pic>
      <p:pic>
        <p:nvPicPr>
          <p:cNvPr id="768" name="Picture 767"/>
          <p:cNvPicPr/>
          <p:nvPr/>
        </p:nvPicPr>
        <p:blipFill>
          <a:blip r:embed="rId4"/>
          <a:stretch/>
        </p:blipFill>
        <p:spPr>
          <a:xfrm>
            <a:off x="16560" y="3139560"/>
            <a:ext cx="2282760" cy="1520640"/>
          </a:xfrm>
          <a:prstGeom prst="rect">
            <a:avLst/>
          </a:prstGeom>
          <a:ln w="0">
            <a:noFill/>
          </a:ln>
        </p:spPr>
      </p:pic>
      <p:sp>
        <p:nvSpPr>
          <p:cNvPr id="769" name="Line 6"/>
          <p:cNvSpPr/>
          <p:nvPr/>
        </p:nvSpPr>
        <p:spPr>
          <a:xfrm>
            <a:off x="5577840" y="640080"/>
            <a:ext cx="360" cy="640080"/>
          </a:xfrm>
          <a:prstGeom prst="line">
            <a:avLst/>
          </a:prstGeom>
          <a:ln w="38160">
            <a:solidFill>
              <a:srgbClr val="A323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770" name="Line 7"/>
          <p:cNvSpPr/>
          <p:nvPr/>
        </p:nvSpPr>
        <p:spPr>
          <a:xfrm>
            <a:off x="6309360" y="1737360"/>
            <a:ext cx="360" cy="421200"/>
          </a:xfrm>
          <a:prstGeom prst="line">
            <a:avLst/>
          </a:prstGeom>
          <a:ln w="38160">
            <a:solidFill>
              <a:srgbClr val="A323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771" name="Line 8"/>
          <p:cNvSpPr/>
          <p:nvPr/>
        </p:nvSpPr>
        <p:spPr>
          <a:xfrm>
            <a:off x="4754880" y="1737360"/>
            <a:ext cx="360" cy="421200"/>
          </a:xfrm>
          <a:prstGeom prst="line">
            <a:avLst/>
          </a:prstGeom>
          <a:ln w="38160">
            <a:solidFill>
              <a:srgbClr val="A323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772" name="Line 9"/>
          <p:cNvSpPr/>
          <p:nvPr/>
        </p:nvSpPr>
        <p:spPr>
          <a:xfrm>
            <a:off x="6309360" y="3072960"/>
            <a:ext cx="360" cy="493200"/>
          </a:xfrm>
          <a:prstGeom prst="line">
            <a:avLst/>
          </a:prstGeom>
          <a:ln w="38160">
            <a:solidFill>
              <a:srgbClr val="A323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773" name="Line 10"/>
          <p:cNvSpPr/>
          <p:nvPr/>
        </p:nvSpPr>
        <p:spPr>
          <a:xfrm>
            <a:off x="4702320" y="3072960"/>
            <a:ext cx="360" cy="493200"/>
          </a:xfrm>
          <a:prstGeom prst="line">
            <a:avLst/>
          </a:prstGeom>
          <a:ln w="38160">
            <a:solidFill>
              <a:srgbClr val="A3238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774" name="Picture 773"/>
          <p:cNvPicPr/>
          <p:nvPr/>
        </p:nvPicPr>
        <p:blipFill>
          <a:blip r:embed="rId5"/>
          <a:stretch/>
        </p:blipFill>
        <p:spPr>
          <a:xfrm>
            <a:off x="3566160" y="4053960"/>
            <a:ext cx="4203000" cy="2800800"/>
          </a:xfrm>
          <a:prstGeom prst="rect">
            <a:avLst/>
          </a:prstGeom>
          <a:ln w="0">
            <a:noFill/>
          </a:ln>
        </p:spPr>
      </p:pic>
      <p:pic>
        <p:nvPicPr>
          <p:cNvPr id="775" name="Picture 774"/>
          <p:cNvPicPr/>
          <p:nvPr/>
        </p:nvPicPr>
        <p:blipFill>
          <a:blip r:embed="rId6"/>
          <a:stretch/>
        </p:blipFill>
        <p:spPr>
          <a:xfrm>
            <a:off x="685800" y="202320"/>
            <a:ext cx="2594880" cy="1854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CustomShape 1"/>
          <p:cNvSpPr/>
          <p:nvPr/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Posterior Distribution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777" name="Picture 776"/>
          <p:cNvPicPr/>
          <p:nvPr/>
        </p:nvPicPr>
        <p:blipFill>
          <a:blip r:embed="rId2"/>
          <a:stretch/>
        </p:blipFill>
        <p:spPr>
          <a:xfrm>
            <a:off x="411120" y="1554480"/>
            <a:ext cx="7746120" cy="5162760"/>
          </a:xfrm>
          <a:prstGeom prst="rect">
            <a:avLst/>
          </a:prstGeom>
          <a:ln w="0">
            <a:noFill/>
          </a:ln>
        </p:spPr>
      </p:pic>
      <p:sp>
        <p:nvSpPr>
          <p:cNvPr id="778" name="CustomShape 2"/>
          <p:cNvSpPr/>
          <p:nvPr/>
        </p:nvSpPr>
        <p:spPr>
          <a:xfrm>
            <a:off x="8503920" y="2927520"/>
            <a:ext cx="3562920" cy="1275840"/>
          </a:xfrm>
          <a:prstGeom prst="rect">
            <a:avLst/>
          </a:prstGeom>
          <a:solidFill>
            <a:srgbClr val="B4C7DC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Same lines as on slide 48/49! It shows which values of theta received a decrease/increase in plausibility, because of the data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CustomShape 1"/>
          <p:cNvSpPr/>
          <p:nvPr/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Posterior Distribution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780" name="Picture 779"/>
          <p:cNvPicPr/>
          <p:nvPr/>
        </p:nvPicPr>
        <p:blipFill>
          <a:blip r:embed="rId2"/>
          <a:stretch/>
        </p:blipFill>
        <p:spPr>
          <a:xfrm>
            <a:off x="411120" y="1554480"/>
            <a:ext cx="7746120" cy="5162760"/>
          </a:xfrm>
          <a:prstGeom prst="rect">
            <a:avLst/>
          </a:prstGeom>
          <a:ln w="0">
            <a:noFill/>
          </a:ln>
        </p:spPr>
      </p:pic>
      <p:sp>
        <p:nvSpPr>
          <p:cNvPr id="781" name="CustomShape 2"/>
          <p:cNvSpPr/>
          <p:nvPr/>
        </p:nvSpPr>
        <p:spPr>
          <a:xfrm>
            <a:off x="8504640" y="3017520"/>
            <a:ext cx="3288240" cy="637200"/>
          </a:xfrm>
          <a:prstGeom prst="rect">
            <a:avLst/>
          </a:prstGeom>
          <a:solidFill>
            <a:srgbClr val="87D1D1"/>
          </a:solidFill>
          <a:ln w="57240">
            <a:solidFill>
              <a:srgbClr val="A323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The posterior distribution is a probability distribution!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CustomShape 1"/>
          <p:cNvSpPr/>
          <p:nvPr/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Posterior Distribution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783" name="Picture 782"/>
          <p:cNvPicPr/>
          <p:nvPr/>
        </p:nvPicPr>
        <p:blipFill>
          <a:blip r:embed="rId2"/>
          <a:stretch/>
        </p:blipFill>
        <p:spPr>
          <a:xfrm>
            <a:off x="640080" y="2743200"/>
            <a:ext cx="5940360" cy="3959280"/>
          </a:xfrm>
          <a:prstGeom prst="rect">
            <a:avLst/>
          </a:prstGeom>
          <a:ln w="0">
            <a:noFill/>
          </a:ln>
        </p:spPr>
      </p:pic>
      <p:sp>
        <p:nvSpPr>
          <p:cNvPr id="784" name="CustomShape 2"/>
          <p:cNvSpPr/>
          <p:nvPr/>
        </p:nvSpPr>
        <p:spPr>
          <a:xfrm>
            <a:off x="6675480" y="3200400"/>
            <a:ext cx="4842720" cy="913680"/>
          </a:xfrm>
          <a:prstGeom prst="rect">
            <a:avLst/>
          </a:prstGeom>
          <a:solidFill>
            <a:srgbClr val="ADD58A"/>
          </a:solidFill>
          <a:ln w="57240">
            <a:solidFill>
              <a:srgbClr val="A323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David’s Model (a = 3, b = 1, truncated)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Because all prior mass below 0.5 is set to 0, also all posterior mass below 0.5 will be equal to 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85" name="CustomShape 68"/>
          <p:cNvSpPr/>
          <p:nvPr/>
        </p:nvSpPr>
        <p:spPr>
          <a:xfrm>
            <a:off x="3238560" y="1415520"/>
            <a:ext cx="5714280" cy="412560"/>
          </a:xfrm>
          <a:prstGeom prst="rect">
            <a:avLst/>
          </a:prstGeom>
          <a:solidFill>
            <a:srgbClr val="FFDBB6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What about other models/prior distributions?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CustomShape 1"/>
          <p:cNvSpPr/>
          <p:nvPr/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Posterior Distribution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787" name="Picture 786"/>
          <p:cNvPicPr/>
          <p:nvPr/>
        </p:nvPicPr>
        <p:blipFill>
          <a:blip r:embed="rId2"/>
          <a:stretch/>
        </p:blipFill>
        <p:spPr>
          <a:xfrm>
            <a:off x="640080" y="2743200"/>
            <a:ext cx="5940360" cy="3959280"/>
          </a:xfrm>
          <a:prstGeom prst="rect">
            <a:avLst/>
          </a:prstGeom>
          <a:ln w="0">
            <a:noFill/>
          </a:ln>
        </p:spPr>
      </p:pic>
      <p:sp>
        <p:nvSpPr>
          <p:cNvPr id="788" name="CustomShape 2"/>
          <p:cNvSpPr/>
          <p:nvPr/>
        </p:nvSpPr>
        <p:spPr>
          <a:xfrm>
            <a:off x="6675480" y="2696400"/>
            <a:ext cx="4842720" cy="1734120"/>
          </a:xfrm>
          <a:prstGeom prst="rect">
            <a:avLst/>
          </a:prstGeom>
          <a:solidFill>
            <a:srgbClr val="ADD58A"/>
          </a:solidFill>
          <a:ln w="57240">
            <a:solidFill>
              <a:srgbClr val="A323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A = 30, b = 100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antarell"/>
                <a:ea typeface="AR PL SungtiL GB"/>
              </a:rPr>
              <a:t>A very strong prior that assigned more mass to values &lt; 0.5 (coin biased to tails). The prior conviction is so strong that the data cannot overthrow this conviction: the posterior is still situated at values &gt; 0.5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89" name="CustomShape 69"/>
          <p:cNvSpPr/>
          <p:nvPr/>
        </p:nvSpPr>
        <p:spPr>
          <a:xfrm>
            <a:off x="3238560" y="1415520"/>
            <a:ext cx="5714280" cy="412560"/>
          </a:xfrm>
          <a:prstGeom prst="rect">
            <a:avLst/>
          </a:prstGeom>
          <a:solidFill>
            <a:srgbClr val="FFDBB6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What about other models/prior distributions?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790" name="CustomShape 76"/>
          <p:cNvSpPr/>
          <p:nvPr/>
        </p:nvSpPr>
        <p:spPr>
          <a:xfrm>
            <a:off x="6581160" y="4824000"/>
            <a:ext cx="5104334" cy="1576800"/>
          </a:xfrm>
          <a:prstGeom prst="rect">
            <a:avLst/>
          </a:prstGeom>
          <a:solidFill>
            <a:srgbClr val="ADD58A"/>
          </a:solidFill>
          <a:ln w="57240">
            <a:solidFill>
              <a:srgbClr val="A323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500" b="0" strike="noStrike" spc="-1" dirty="0">
                <a:solidFill>
                  <a:srgbClr val="000000"/>
                </a:solidFill>
                <a:latin typeface="Cantarell"/>
                <a:ea typeface="AR PL SungtiL GB"/>
              </a:rPr>
              <a:t>This highlights an important feature of learning: strong beliefs need a lot of data to be convinced otherwise!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500" b="0" strike="noStrike" spc="-1" dirty="0">
                <a:solidFill>
                  <a:srgbClr val="000000"/>
                </a:solidFill>
                <a:latin typeface="Cantarell"/>
                <a:ea typeface="AR PL SungtiL GB"/>
              </a:rPr>
              <a:t>This also makes Sarah and Paul very poor learners: they are so convinced of their value that there is no updating</a:t>
            </a:r>
            <a:endParaRPr lang="en-US" sz="15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CustomShape 1"/>
          <p:cNvSpPr/>
          <p:nvPr/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Posterior Distribution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792" name="CustomShape 2"/>
          <p:cNvSpPr/>
          <p:nvPr/>
        </p:nvSpPr>
        <p:spPr>
          <a:xfrm>
            <a:off x="3238560" y="1415520"/>
            <a:ext cx="5714280" cy="412560"/>
          </a:xfrm>
          <a:prstGeom prst="rect">
            <a:avLst/>
          </a:prstGeom>
          <a:solidFill>
            <a:srgbClr val="FFDBB6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What about the other models/prior distributions?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793" name="Picture 792"/>
          <p:cNvPicPr/>
          <p:nvPr/>
        </p:nvPicPr>
        <p:blipFill>
          <a:blip r:embed="rId2"/>
          <a:stretch/>
        </p:blipFill>
        <p:spPr>
          <a:xfrm>
            <a:off x="640080" y="2743200"/>
            <a:ext cx="5940360" cy="3959280"/>
          </a:xfrm>
          <a:prstGeom prst="rect">
            <a:avLst/>
          </a:prstGeom>
          <a:ln w="0">
            <a:noFill/>
          </a:ln>
        </p:spPr>
      </p:pic>
      <p:sp>
        <p:nvSpPr>
          <p:cNvPr id="794" name="CustomShape 3"/>
          <p:cNvSpPr/>
          <p:nvPr/>
        </p:nvSpPr>
        <p:spPr>
          <a:xfrm>
            <a:off x="6675480" y="3200400"/>
            <a:ext cx="4019760" cy="911160"/>
          </a:xfrm>
          <a:prstGeom prst="rect">
            <a:avLst/>
          </a:prstGeom>
          <a:solidFill>
            <a:srgbClr val="ADD58A"/>
          </a:solidFill>
          <a:ln w="57240">
            <a:solidFill>
              <a:srgbClr val="A323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a = b = 5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A model that was more certain that the coin is fair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CustomShape 1"/>
          <p:cNvSpPr/>
          <p:nvPr/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Posterior Distribution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796" name="CustomShape 3"/>
          <p:cNvSpPr/>
          <p:nvPr/>
        </p:nvSpPr>
        <p:spPr>
          <a:xfrm>
            <a:off x="609480" y="1784160"/>
            <a:ext cx="10969200" cy="47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50000"/>
              </a:lnSpc>
              <a:spcBef>
                <a:spcPts val="1134"/>
              </a:spcBef>
              <a:spcAft>
                <a:spcPts val="1134"/>
              </a:spcAft>
              <a:buNone/>
            </a:pPr>
            <a:r>
              <a:rPr lang="en-US" sz="3200" b="0" strike="noStrike" spc="-1" dirty="0">
                <a:solidFill>
                  <a:srgbClr val="000000"/>
                </a:solidFill>
                <a:latin typeface="Cantarell"/>
                <a:ea typeface="AR PL SungtiL GB"/>
              </a:rPr>
              <a:t>If we start with a prior Beta distribution, then the posterior distribution will also be a Beta distribution, with: </a:t>
            </a:r>
            <a:br>
              <a:rPr sz="1800" dirty="0"/>
            </a:br>
            <a:r>
              <a:rPr lang="en-US" sz="3200" b="0" strike="noStrike" spc="-1" dirty="0">
                <a:solidFill>
                  <a:srgbClr val="000000"/>
                </a:solidFill>
                <a:latin typeface="Cantarell"/>
                <a:ea typeface="AR PL SungtiL GB"/>
              </a:rPr>
              <a:t>a = a + #successes (in our case, #heads)</a:t>
            </a:r>
            <a:br>
              <a:rPr sz="1800" dirty="0"/>
            </a:br>
            <a:r>
              <a:rPr lang="en-US" sz="3200" b="0" strike="noStrike" spc="-1" dirty="0">
                <a:solidFill>
                  <a:srgbClr val="000000"/>
                </a:solidFill>
                <a:latin typeface="Cantarell"/>
                <a:ea typeface="AR PL SungtiL GB"/>
              </a:rPr>
              <a:t>b = b + #failures (in our case, #tails)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797" name="CustomShape 123"/>
          <p:cNvSpPr/>
          <p:nvPr/>
        </p:nvSpPr>
        <p:spPr>
          <a:xfrm>
            <a:off x="3360240" y="1274040"/>
            <a:ext cx="5555160" cy="810254"/>
          </a:xfrm>
          <a:prstGeom prst="rect">
            <a:avLst/>
          </a:prstGeom>
          <a:solidFill>
            <a:srgbClr val="FFAA95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Easy way of computing the posterior, if we are working with proportions and the beta distribution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CustomShape 1"/>
          <p:cNvSpPr/>
          <p:nvPr/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Proportion: Posterior Distribution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799" name="Picture 798"/>
          <p:cNvPicPr/>
          <p:nvPr/>
        </p:nvPicPr>
        <p:blipFill>
          <a:blip r:embed="rId2"/>
          <a:stretch/>
        </p:blipFill>
        <p:spPr>
          <a:xfrm>
            <a:off x="548640" y="3108960"/>
            <a:ext cx="4797360" cy="3197160"/>
          </a:xfrm>
          <a:prstGeom prst="rect">
            <a:avLst/>
          </a:prstGeom>
          <a:ln w="0">
            <a:noFill/>
          </a:ln>
        </p:spPr>
      </p:pic>
      <p:pic>
        <p:nvPicPr>
          <p:cNvPr id="800" name="Picture 799"/>
          <p:cNvPicPr/>
          <p:nvPr/>
        </p:nvPicPr>
        <p:blipFill>
          <a:blip r:embed="rId3"/>
          <a:stretch/>
        </p:blipFill>
        <p:spPr>
          <a:xfrm>
            <a:off x="6492240" y="3128400"/>
            <a:ext cx="4843080" cy="3227760"/>
          </a:xfrm>
          <a:prstGeom prst="rect">
            <a:avLst/>
          </a:prstGeom>
          <a:ln w="0">
            <a:noFill/>
          </a:ln>
        </p:spPr>
      </p:pic>
      <p:sp>
        <p:nvSpPr>
          <p:cNvPr id="801" name="CustomShape 2"/>
          <p:cNvSpPr/>
          <p:nvPr/>
        </p:nvSpPr>
        <p:spPr>
          <a:xfrm>
            <a:off x="7388772" y="2328480"/>
            <a:ext cx="3532548" cy="980280"/>
          </a:xfrm>
          <a:prstGeom prst="rect">
            <a:avLst/>
          </a:prstGeom>
          <a:solidFill>
            <a:srgbClr val="E8F2A1"/>
          </a:solidFill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This is a beta distribution with a  = 1 + 8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b  = 1 + 2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" name="CustomShape 123">
            <a:extLst>
              <a:ext uri="{FF2B5EF4-FFF2-40B4-BE49-F238E27FC236}">
                <a16:creationId xmlns:a16="http://schemas.microsoft.com/office/drawing/2014/main" id="{809B75C5-40B1-6889-A91D-116471557D46}"/>
              </a:ext>
            </a:extLst>
          </p:cNvPr>
          <p:cNvSpPr/>
          <p:nvPr/>
        </p:nvSpPr>
        <p:spPr>
          <a:xfrm>
            <a:off x="3360240" y="1274040"/>
            <a:ext cx="5555160" cy="810254"/>
          </a:xfrm>
          <a:prstGeom prst="rect">
            <a:avLst/>
          </a:prstGeom>
          <a:solidFill>
            <a:srgbClr val="FFAA95"/>
          </a:solidFill>
          <a:ln w="57240">
            <a:solidFill>
              <a:srgbClr val="F58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Easy way of computing the posterior, if we are working with proportions and the beta distribution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804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805" name="CustomShape 3"/>
          <p:cNvSpPr/>
          <p:nvPr/>
        </p:nvSpPr>
        <p:spPr>
          <a:xfrm>
            <a:off x="2575440" y="1604520"/>
            <a:ext cx="703764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Now that we have a posterior distribution, we can do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estimation!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806" name="Picture 805"/>
          <p:cNvPicPr/>
          <p:nvPr/>
        </p:nvPicPr>
        <p:blipFill>
          <a:blip r:embed="rId2"/>
          <a:stretch/>
        </p:blipFill>
        <p:spPr>
          <a:xfrm>
            <a:off x="2667240" y="2410560"/>
            <a:ext cx="6854400" cy="4568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808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809" name="CustomShape 3"/>
          <p:cNvSpPr/>
          <p:nvPr/>
        </p:nvSpPr>
        <p:spPr>
          <a:xfrm>
            <a:off x="2125800" y="1604520"/>
            <a:ext cx="793692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We can make a point estimate, and take the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posterior median or mean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810" name="Picture 809"/>
          <p:cNvPicPr/>
          <p:nvPr/>
        </p:nvPicPr>
        <p:blipFill>
          <a:blip r:embed="rId2"/>
          <a:stretch/>
        </p:blipFill>
        <p:spPr>
          <a:xfrm>
            <a:off x="2667240" y="2410560"/>
            <a:ext cx="6854400" cy="4568400"/>
          </a:xfrm>
          <a:prstGeom prst="rect">
            <a:avLst/>
          </a:prstGeom>
          <a:ln w="0">
            <a:noFill/>
          </a:ln>
        </p:spPr>
      </p:pic>
      <p:sp>
        <p:nvSpPr>
          <p:cNvPr id="811" name="CustomShape 4"/>
          <p:cNvSpPr/>
          <p:nvPr/>
        </p:nvSpPr>
        <p:spPr>
          <a:xfrm>
            <a:off x="4803120" y="3657600"/>
            <a:ext cx="1825560" cy="371880"/>
          </a:xfrm>
          <a:prstGeom prst="rect">
            <a:avLst/>
          </a:prstGeom>
          <a:noFill/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Median = 0.764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813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814" name="CustomShape 3"/>
          <p:cNvSpPr/>
          <p:nvPr/>
        </p:nvSpPr>
        <p:spPr>
          <a:xfrm>
            <a:off x="2217240" y="1460520"/>
            <a:ext cx="775404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We can make an interval estimate, and take the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central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Credible Interval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815" name="Picture 814"/>
          <p:cNvPicPr/>
          <p:nvPr/>
        </p:nvPicPr>
        <p:blipFill>
          <a:blip r:embed="rId2"/>
          <a:stretch/>
        </p:blipFill>
        <p:spPr>
          <a:xfrm>
            <a:off x="182880" y="2062800"/>
            <a:ext cx="6854400" cy="4568400"/>
          </a:xfrm>
          <a:prstGeom prst="rect">
            <a:avLst/>
          </a:prstGeom>
          <a:ln w="0">
            <a:noFill/>
          </a:ln>
        </p:spPr>
      </p:pic>
      <p:pic>
        <p:nvPicPr>
          <p:cNvPr id="816" name="Picture 815"/>
          <p:cNvPicPr/>
          <p:nvPr/>
        </p:nvPicPr>
        <p:blipFill>
          <a:blip r:embed="rId3"/>
          <a:stretch/>
        </p:blipFill>
        <p:spPr>
          <a:xfrm>
            <a:off x="182880" y="2062800"/>
            <a:ext cx="6854400" cy="4568400"/>
          </a:xfrm>
          <a:prstGeom prst="rect">
            <a:avLst/>
          </a:prstGeom>
          <a:ln w="0">
            <a:noFill/>
          </a:ln>
        </p:spPr>
      </p:pic>
      <p:sp>
        <p:nvSpPr>
          <p:cNvPr id="817" name="CustomShape 4"/>
          <p:cNvSpPr/>
          <p:nvPr/>
        </p:nvSpPr>
        <p:spPr>
          <a:xfrm>
            <a:off x="7315200" y="4114800"/>
            <a:ext cx="3837240" cy="453960"/>
          </a:xfrm>
          <a:prstGeom prst="rect">
            <a:avLst/>
          </a:prstGeom>
          <a:solidFill>
            <a:srgbClr val="B4C7DC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95% Credible interval = (0.49, 0.94)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18" name="CustomShape 5"/>
          <p:cNvSpPr/>
          <p:nvPr/>
        </p:nvSpPr>
        <p:spPr>
          <a:xfrm>
            <a:off x="6766560" y="2926080"/>
            <a:ext cx="4842720" cy="911160"/>
          </a:xfrm>
          <a:prstGeom prst="rect">
            <a:avLst/>
          </a:prstGeom>
          <a:solidFill>
            <a:srgbClr val="ADD58A"/>
          </a:solidFill>
          <a:ln w="57240">
            <a:solidFill>
              <a:srgbClr val="A323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AR PL SungtiL GB"/>
              </a:rPr>
              <a:t>To obtain the x% central credible interval, we take x% of the most central posterior mass, and see which 2 points are the thresholds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Estimating a Proportion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820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821" name="CustomShape 3"/>
          <p:cNvSpPr/>
          <p:nvPr/>
        </p:nvSpPr>
        <p:spPr>
          <a:xfrm>
            <a:off x="2217240" y="1460520"/>
            <a:ext cx="775404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We can make an interval estimate, and take the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central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Credible Interval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822" name="Picture 821"/>
          <p:cNvPicPr/>
          <p:nvPr/>
        </p:nvPicPr>
        <p:blipFill>
          <a:blip r:embed="rId2"/>
          <a:stretch/>
        </p:blipFill>
        <p:spPr>
          <a:xfrm>
            <a:off x="180360" y="2070000"/>
            <a:ext cx="6854400" cy="4568400"/>
          </a:xfrm>
          <a:prstGeom prst="rect">
            <a:avLst/>
          </a:prstGeom>
          <a:ln w="0">
            <a:noFill/>
          </a:ln>
        </p:spPr>
      </p:pic>
      <p:sp>
        <p:nvSpPr>
          <p:cNvPr id="823" name="CustomShape 4"/>
          <p:cNvSpPr/>
          <p:nvPr/>
        </p:nvSpPr>
        <p:spPr>
          <a:xfrm>
            <a:off x="6902280" y="2942640"/>
            <a:ext cx="4934880" cy="1186200"/>
          </a:xfrm>
          <a:prstGeom prst="rect">
            <a:avLst/>
          </a:prstGeom>
          <a:solidFill>
            <a:srgbClr val="ADD58A"/>
          </a:solidFill>
          <a:ln w="57240">
            <a:solidFill>
              <a:srgbClr val="A323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AR PL SungtiL GB"/>
              </a:rPr>
              <a:t>How to interpret a 95% central credible interval?</a:t>
            </a:r>
            <a:br>
              <a:rPr sz="1600" dirty="0"/>
            </a:br>
            <a:endParaRPr lang="en-US" sz="1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600" b="0" i="1" strike="noStrike" spc="-1" dirty="0">
                <a:solidFill>
                  <a:srgbClr val="000000"/>
                </a:solidFill>
                <a:latin typeface="Arial"/>
                <a:ea typeface="AR PL SungtiL GB"/>
              </a:rPr>
              <a:t>Under Alex’ model, there is a 95% probability that the true proportion is between 0.49 and 0.94</a:t>
            </a:r>
            <a:endParaRPr lang="en-US" sz="1600" b="0" strike="noStrike" spc="-1" dirty="0">
              <a:latin typeface="Arial"/>
            </a:endParaRPr>
          </a:p>
        </p:txBody>
      </p:sp>
      <p:sp>
        <p:nvSpPr>
          <p:cNvPr id="824" name="CustomShape 67"/>
          <p:cNvSpPr/>
          <p:nvPr/>
        </p:nvSpPr>
        <p:spPr>
          <a:xfrm>
            <a:off x="0" y="6400800"/>
            <a:ext cx="3837240" cy="453960"/>
          </a:xfrm>
          <a:prstGeom prst="rect">
            <a:avLst/>
          </a:prstGeom>
          <a:solidFill>
            <a:srgbClr val="B4C7DC"/>
          </a:solidFill>
          <a:ln w="29160">
            <a:solidFill>
              <a:srgbClr val="2140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95% Credible interval = (0.49, 0.94)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CustomShape 70"/>
          <p:cNvSpPr/>
          <p:nvPr/>
        </p:nvSpPr>
        <p:spPr>
          <a:xfrm>
            <a:off x="838080" y="365040"/>
            <a:ext cx="10509120" cy="131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  <a:ea typeface="DejaVu Sans"/>
              </a:rPr>
              <a:t>Today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26" name="CustomShape 71"/>
          <p:cNvSpPr/>
          <p:nvPr/>
        </p:nvSpPr>
        <p:spPr>
          <a:xfrm>
            <a:off x="838080" y="1825560"/>
            <a:ext cx="10509120" cy="43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827" name="CustomShape 72"/>
          <p:cNvSpPr/>
          <p:nvPr/>
        </p:nvSpPr>
        <p:spPr>
          <a:xfrm>
            <a:off x="609480" y="195624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Bayesian statistics</a:t>
            </a:r>
            <a:endParaRPr lang="en-US" sz="3200" b="0" strike="noStrike" spc="-1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What are models?</a:t>
            </a:r>
            <a:endParaRPr lang="en-US" sz="2200" b="0" strike="noStrike" spc="-1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How do models learn from data?</a:t>
            </a:r>
            <a:endParaRPr lang="en-US" sz="2200" b="0" strike="noStrike" spc="-1">
              <a:latin typeface="Arial"/>
            </a:endParaRPr>
          </a:p>
          <a:p>
            <a:pPr marL="864000" lvl="3" indent="-21384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1" strike="noStrike" spc="-1">
                <a:solidFill>
                  <a:srgbClr val="FF8000"/>
                </a:solidFill>
                <a:latin typeface="Arial"/>
                <a:ea typeface="DejaVu Sans"/>
              </a:rPr>
              <a:t>Live demonstration</a:t>
            </a:r>
            <a:endParaRPr lang="en-US" sz="2200" b="0" strike="noStrike" spc="-1"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Recap</a:t>
            </a:r>
            <a:endParaRPr lang="en-US" sz="3200" b="0" strike="noStrike" spc="-1">
              <a:latin typeface="Arial"/>
            </a:endParaRPr>
          </a:p>
          <a:p>
            <a:pPr marL="864000" lvl="3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Practical stuff</a:t>
            </a:r>
            <a:endParaRPr lang="en-US" sz="2000" b="0" strike="noStrike" spc="-1">
              <a:latin typeface="Arial"/>
            </a:endParaRPr>
          </a:p>
          <a:p>
            <a:pPr marL="864000" lvl="3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Example exam question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Sinterklaastimation!!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29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830" name="CustomShape 3"/>
          <p:cNvSpPr/>
          <p:nvPr/>
        </p:nvSpPr>
        <p:spPr>
          <a:xfrm>
            <a:off x="549720" y="434448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831" name="Picture 830"/>
          <p:cNvPicPr/>
          <p:nvPr/>
        </p:nvPicPr>
        <p:blipFill>
          <a:blip r:embed="rId2"/>
          <a:stretch/>
        </p:blipFill>
        <p:spPr>
          <a:xfrm>
            <a:off x="3657600" y="1502280"/>
            <a:ext cx="4385520" cy="4385520"/>
          </a:xfrm>
          <a:prstGeom prst="rect">
            <a:avLst/>
          </a:prstGeom>
          <a:ln w="0">
            <a:noFill/>
          </a:ln>
        </p:spPr>
      </p:pic>
      <p:sp>
        <p:nvSpPr>
          <p:cNvPr id="832" name="CustomShape 4"/>
          <p:cNvSpPr/>
          <p:nvPr/>
        </p:nvSpPr>
        <p:spPr>
          <a:xfrm>
            <a:off x="0" y="6439680"/>
            <a:ext cx="438516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050" b="0" strike="noStrike" spc="-1">
                <a:solidFill>
                  <a:srgbClr val="000000"/>
                </a:solidFill>
                <a:latin typeface="Arial"/>
                <a:ea typeface="DejaVu Sans"/>
              </a:rPr>
              <a:t>Source: </a:t>
            </a: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50" b="0" strike="noStrike" spc="-1">
                <a:solidFill>
                  <a:srgbClr val="000000"/>
                </a:solidFill>
                <a:latin typeface="Arial"/>
                <a:ea typeface="DejaVu Sans"/>
              </a:rPr>
              <a:t>Pixabay.com</a:t>
            </a:r>
            <a:endParaRPr lang="en-US" sz="1050" b="0" strike="noStrike" spc="-1">
              <a:latin typeface="Arial"/>
            </a:endParaRPr>
          </a:p>
        </p:txBody>
      </p:sp>
      <p:pic>
        <p:nvPicPr>
          <p:cNvPr id="833" name="Picture 832"/>
          <p:cNvPicPr/>
          <p:nvPr/>
        </p:nvPicPr>
        <p:blipFill>
          <a:blip r:embed="rId3"/>
          <a:stretch/>
        </p:blipFill>
        <p:spPr>
          <a:xfrm>
            <a:off x="9720000" y="1895040"/>
            <a:ext cx="2742480" cy="2742480"/>
          </a:xfrm>
          <a:prstGeom prst="rect">
            <a:avLst/>
          </a:prstGeom>
          <a:ln w="0">
            <a:noFill/>
          </a:ln>
        </p:spPr>
      </p:pic>
      <p:pic>
        <p:nvPicPr>
          <p:cNvPr id="5" name="Picture 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10CF28A-DCBD-BAFC-7D30-876F1140E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3" y="1604520"/>
            <a:ext cx="3334327" cy="36260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latin typeface="Cantarell"/>
              </a:rPr>
              <a:t>Binomial Analysis in JASP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836" name="Picture 835"/>
          <p:cNvPicPr/>
          <p:nvPr/>
        </p:nvPicPr>
        <p:blipFill>
          <a:blip r:embed="rId2"/>
          <a:stretch/>
        </p:blipFill>
        <p:spPr>
          <a:xfrm>
            <a:off x="752760" y="1495800"/>
            <a:ext cx="2675520" cy="3989880"/>
          </a:xfrm>
          <a:prstGeom prst="rect">
            <a:avLst/>
          </a:prstGeom>
          <a:ln w="0">
            <a:noFill/>
          </a:ln>
        </p:spPr>
      </p:pic>
      <p:sp>
        <p:nvSpPr>
          <p:cNvPr id="837" name="CustomShape 124"/>
          <p:cNvSpPr/>
          <p:nvPr/>
        </p:nvSpPr>
        <p:spPr>
          <a:xfrm>
            <a:off x="3886200" y="5715000"/>
            <a:ext cx="4342680" cy="1142280"/>
          </a:xfrm>
          <a:prstGeom prst="rect">
            <a:avLst/>
          </a:prstGeom>
          <a:solidFill>
            <a:srgbClr val="BCAED5"/>
          </a:solidFill>
          <a:ln w="57240">
            <a:solidFill>
              <a:srgbClr val="5C2D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Enable this extra module first by clicking on the big       in the top right corner</a:t>
            </a:r>
            <a:endParaRPr lang="en-US" sz="2000" b="0" strike="noStrike" spc="-1" dirty="0">
              <a:latin typeface="Arial"/>
            </a:endParaRPr>
          </a:p>
        </p:txBody>
      </p:sp>
      <p:pic>
        <p:nvPicPr>
          <p:cNvPr id="838" name="Picture 837"/>
          <p:cNvPicPr/>
          <p:nvPr/>
        </p:nvPicPr>
        <p:blipFill>
          <a:blip r:embed="rId3"/>
          <a:srcRect r="43532"/>
          <a:stretch/>
        </p:blipFill>
        <p:spPr>
          <a:xfrm>
            <a:off x="3886200" y="1528200"/>
            <a:ext cx="5850360" cy="3885480"/>
          </a:xfrm>
          <a:prstGeom prst="rect">
            <a:avLst/>
          </a:prstGeom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357B1E-ECB3-5279-3D67-0CF2DED77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078" y="6045054"/>
            <a:ext cx="367875" cy="37707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latin typeface="Cantarell"/>
              </a:rPr>
              <a:t>Binomial Analysis in JASP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40" name="CustomShape 130"/>
          <p:cNvSpPr/>
          <p:nvPr/>
        </p:nvSpPr>
        <p:spPr>
          <a:xfrm>
            <a:off x="3886200" y="5715000"/>
            <a:ext cx="4342680" cy="1142280"/>
          </a:xfrm>
          <a:prstGeom prst="rect">
            <a:avLst/>
          </a:prstGeom>
          <a:solidFill>
            <a:srgbClr val="BCAED5"/>
          </a:solidFill>
          <a:ln w="57240">
            <a:solidFill>
              <a:srgbClr val="5C2D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Enable these extra modules first by clicking on the big “+” in the top right corner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841" name="Picture 840"/>
          <p:cNvPicPr/>
          <p:nvPr/>
        </p:nvPicPr>
        <p:blipFill>
          <a:blip r:embed="rId2"/>
          <a:stretch/>
        </p:blipFill>
        <p:spPr>
          <a:xfrm>
            <a:off x="425520" y="1418400"/>
            <a:ext cx="2316960" cy="4134600"/>
          </a:xfrm>
          <a:prstGeom prst="rect">
            <a:avLst/>
          </a:prstGeom>
          <a:ln w="0">
            <a:noFill/>
          </a:ln>
        </p:spPr>
      </p:pic>
      <p:pic>
        <p:nvPicPr>
          <p:cNvPr id="842" name="Picture 841"/>
          <p:cNvPicPr/>
          <p:nvPr/>
        </p:nvPicPr>
        <p:blipFill>
          <a:blip r:embed="rId3"/>
          <a:srcRect l="57243" b="80173"/>
          <a:stretch/>
        </p:blipFill>
        <p:spPr>
          <a:xfrm>
            <a:off x="1407600" y="1418400"/>
            <a:ext cx="1317960" cy="712440"/>
          </a:xfrm>
          <a:prstGeom prst="rect">
            <a:avLst/>
          </a:prstGeom>
          <a:ln w="0">
            <a:noFill/>
          </a:ln>
        </p:spPr>
      </p:pic>
      <p:pic>
        <p:nvPicPr>
          <p:cNvPr id="843" name="Picture 842"/>
          <p:cNvPicPr/>
          <p:nvPr/>
        </p:nvPicPr>
        <p:blipFill>
          <a:blip r:embed="rId4"/>
          <a:stretch/>
        </p:blipFill>
        <p:spPr>
          <a:xfrm>
            <a:off x="3057840" y="1257480"/>
            <a:ext cx="6542640" cy="4456800"/>
          </a:xfrm>
          <a:prstGeom prst="rect">
            <a:avLst/>
          </a:prstGeom>
          <a:ln w="0">
            <a:noFill/>
          </a:ln>
        </p:spPr>
      </p:pic>
      <p:sp>
        <p:nvSpPr>
          <p:cNvPr id="844" name="CustomShape 134"/>
          <p:cNvSpPr/>
          <p:nvPr/>
        </p:nvSpPr>
        <p:spPr>
          <a:xfrm>
            <a:off x="7848720" y="3429000"/>
            <a:ext cx="4342680" cy="913680"/>
          </a:xfrm>
          <a:prstGeom prst="rect">
            <a:avLst/>
          </a:prstGeom>
          <a:solidFill>
            <a:srgbClr val="BCAED5"/>
          </a:solidFill>
          <a:ln w="57240">
            <a:solidFill>
              <a:srgbClr val="5C2D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Click “+” to add models (like Alex’, Sarah’s, Paul’s)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45" name="CustomShape 135"/>
          <p:cNvSpPr/>
          <p:nvPr/>
        </p:nvSpPr>
        <p:spPr>
          <a:xfrm>
            <a:off x="7848720" y="2057400"/>
            <a:ext cx="4342680" cy="913680"/>
          </a:xfrm>
          <a:prstGeom prst="rect">
            <a:avLst/>
          </a:prstGeom>
          <a:solidFill>
            <a:srgbClr val="BCAED5"/>
          </a:solidFill>
          <a:ln w="57240">
            <a:solidFill>
              <a:srgbClr val="5C2D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440" tIns="73440" rIns="118440" bIns="7344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“Specify counts” to input the data yourself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46" name="Straight Connector 845"/>
          <p:cNvSpPr/>
          <p:nvPr/>
        </p:nvSpPr>
        <p:spPr>
          <a:xfrm flipH="1">
            <a:off x="6629400" y="4343400"/>
            <a:ext cx="1219320" cy="457200"/>
          </a:xfrm>
          <a:prstGeom prst="line">
            <a:avLst/>
          </a:prstGeom>
          <a:ln w="57240">
            <a:solidFill>
              <a:srgbClr val="55308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847" name="Straight Connector 846"/>
          <p:cNvSpPr/>
          <p:nvPr/>
        </p:nvSpPr>
        <p:spPr>
          <a:xfrm flipH="1">
            <a:off x="5715000" y="2540520"/>
            <a:ext cx="2148480" cy="431280"/>
          </a:xfrm>
          <a:prstGeom prst="line">
            <a:avLst/>
          </a:prstGeom>
          <a:ln w="57240">
            <a:solidFill>
              <a:srgbClr val="55308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Recap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49" name="CustomShape 2"/>
          <p:cNvSpPr/>
          <p:nvPr/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850" name="CustomShape 3"/>
          <p:cNvSpPr/>
          <p:nvPr/>
        </p:nvSpPr>
        <p:spPr>
          <a:xfrm>
            <a:off x="609480" y="1856520"/>
            <a:ext cx="10968480" cy="39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456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We have some prior knowledge about a phenomenon</a:t>
            </a:r>
            <a:endParaRPr lang="en-US" sz="2800" b="0" strike="noStrike" spc="-1">
              <a:latin typeface="Arial"/>
            </a:endParaRPr>
          </a:p>
          <a:p>
            <a:pPr marL="216000" indent="-21456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We formalize this knowledge in the form of a probability distribution</a:t>
            </a:r>
            <a:endParaRPr lang="en-US" sz="2800" b="0" strike="noStrike" spc="-1">
              <a:latin typeface="Arial"/>
            </a:endParaRPr>
          </a:p>
          <a:p>
            <a:pPr marL="216000" indent="-21456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Then we update this with the information in the data to form posterior knowledge</a:t>
            </a:r>
            <a:endParaRPr lang="en-US" sz="2800" b="0" strike="noStrike" spc="-1">
              <a:latin typeface="Arial"/>
            </a:endParaRPr>
          </a:p>
          <a:p>
            <a:pPr marL="216000" indent="-21456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800" b="0" strike="noStrike" spc="-1">
                <a:solidFill>
                  <a:srgbClr val="000000"/>
                </a:solidFill>
                <a:latin typeface="Cantarell"/>
                <a:ea typeface="DejaVu Sans"/>
              </a:rPr>
              <a:t>A central term here is “predictive quality”: how well does each possible value of the parameter predict the observed data, </a:t>
            </a:r>
            <a:r>
              <a:rPr lang="en-US" sz="2800" b="0" i="1" strike="noStrike" spc="-1">
                <a:solidFill>
                  <a:srgbClr val="000000"/>
                </a:solidFill>
                <a:latin typeface="Cantarell"/>
                <a:ea typeface="DejaVu Sans"/>
              </a:rPr>
              <a:t>compared to the other values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CustomShape 1"/>
          <p:cNvSpPr/>
          <p:nvPr/>
        </p:nvSpPr>
        <p:spPr>
          <a:xfrm>
            <a:off x="609480" y="273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852" name="Picture 851"/>
          <p:cNvPicPr/>
          <p:nvPr/>
        </p:nvPicPr>
        <p:blipFill>
          <a:blip r:embed="rId2"/>
          <a:stretch/>
        </p:blipFill>
        <p:spPr>
          <a:xfrm>
            <a:off x="2288880" y="-13320"/>
            <a:ext cx="7715520" cy="6867360"/>
          </a:xfrm>
          <a:prstGeom prst="rect">
            <a:avLst/>
          </a:prstGeom>
          <a:ln w="0">
            <a:noFill/>
          </a:ln>
        </p:spPr>
      </p:pic>
      <p:sp>
        <p:nvSpPr>
          <p:cNvPr id="853" name="CustomShape 2"/>
          <p:cNvSpPr/>
          <p:nvPr/>
        </p:nvSpPr>
        <p:spPr>
          <a:xfrm>
            <a:off x="0" y="6439680"/>
            <a:ext cx="4385160" cy="38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050" b="0" strike="noStrike" spc="-1">
                <a:solidFill>
                  <a:srgbClr val="000000"/>
                </a:solidFill>
                <a:latin typeface="Arial"/>
                <a:ea typeface="DejaVu Sans"/>
              </a:rPr>
              <a:t>Source: </a:t>
            </a: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50" b="0" strike="noStrike" spc="-1">
                <a:solidFill>
                  <a:srgbClr val="000000"/>
                </a:solidFill>
                <a:latin typeface="Arial"/>
                <a:ea typeface="DejaVu Sans"/>
              </a:rPr>
              <a:t>https://www.bayesianspectacles.org</a:t>
            </a:r>
            <a:endParaRPr lang="en-US" sz="10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CustomShape 74"/>
          <p:cNvSpPr/>
          <p:nvPr/>
        </p:nvSpPr>
        <p:spPr>
          <a:xfrm>
            <a:off x="609480" y="21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Practical Stuff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57" name="CustomShape 75"/>
          <p:cNvSpPr/>
          <p:nvPr/>
        </p:nvSpPr>
        <p:spPr>
          <a:xfrm>
            <a:off x="687117" y="1162440"/>
            <a:ext cx="10968480" cy="54626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None/>
            </a:pPr>
            <a:r>
              <a:rPr lang="en-US" sz="2800" b="0" strike="noStrike" spc="-1" dirty="0">
                <a:solidFill>
                  <a:srgbClr val="000000"/>
                </a:solidFill>
                <a:latin typeface="Cantarell" panose="02000603000000000000" pitchFamily="2" charset="0"/>
                <a:ea typeface="DejaVu Sans"/>
              </a:rPr>
              <a:t>Course literature:</a:t>
            </a:r>
          </a:p>
          <a:p>
            <a:pPr marL="457200" indent="-457200">
              <a:spcBef>
                <a:spcPts val="1134"/>
              </a:spcBef>
              <a:spcAft>
                <a:spcPts val="1134"/>
              </a:spcAft>
              <a:buFont typeface="Arial" panose="020B0604020202020204" pitchFamily="34" charset="0"/>
              <a:buChar char="•"/>
            </a:pPr>
            <a:r>
              <a:rPr lang="en-US" sz="2400" spc="-1" dirty="0">
                <a:latin typeface="Cantarell" panose="02000603000000000000" pitchFamily="2" charset="0"/>
              </a:rPr>
              <a:t>van </a:t>
            </a:r>
            <a:r>
              <a:rPr lang="en-US" sz="2400" spc="-1" dirty="0" err="1">
                <a:latin typeface="Cantarell" panose="02000603000000000000" pitchFamily="2" charset="0"/>
              </a:rPr>
              <a:t>Doorn</a:t>
            </a:r>
            <a:r>
              <a:rPr lang="en-US" sz="2400" spc="-1" dirty="0">
                <a:latin typeface="Cantarell" panose="02000603000000000000" pitchFamily="2" charset="0"/>
              </a:rPr>
              <a:t>, J. (2024). A Brief Introduction to Bayesian Inference: From Tea to Beer. Free at </a:t>
            </a:r>
            <a:r>
              <a:rPr lang="en-US" sz="2400" spc="-1" dirty="0">
                <a:latin typeface="Cantarell" panose="02000603000000000000" pitchFamily="2" charset="0"/>
                <a:hlinkClick r:id="rId2"/>
              </a:rPr>
              <a:t>https://johnnydoorn.github.io/IntroductionBayesianInference/</a:t>
            </a:r>
            <a:endParaRPr lang="en-US" sz="2800" spc="-1" dirty="0">
              <a:latin typeface="Cantarell" panose="02000603000000000000" pitchFamily="2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690FF-705C-EF7C-92A1-EC546DB3F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CustomShape 74">
            <a:extLst>
              <a:ext uri="{FF2B5EF4-FFF2-40B4-BE49-F238E27FC236}">
                <a16:creationId xmlns:a16="http://schemas.microsoft.com/office/drawing/2014/main" id="{46BB66B7-5A42-144C-2326-40A7BB972C63}"/>
              </a:ext>
            </a:extLst>
          </p:cNvPr>
          <p:cNvSpPr/>
          <p:nvPr/>
        </p:nvSpPr>
        <p:spPr>
          <a:xfrm>
            <a:off x="609480" y="21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Practical Stuff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57" name="CustomShape 75">
            <a:extLst>
              <a:ext uri="{FF2B5EF4-FFF2-40B4-BE49-F238E27FC236}">
                <a16:creationId xmlns:a16="http://schemas.microsoft.com/office/drawing/2014/main" id="{C563D5C0-2D77-D72F-ECB9-B21A0407497C}"/>
              </a:ext>
            </a:extLst>
          </p:cNvPr>
          <p:cNvSpPr/>
          <p:nvPr/>
        </p:nvSpPr>
        <p:spPr>
          <a:xfrm>
            <a:off x="609480" y="1162439"/>
            <a:ext cx="10968480" cy="56955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spcBef>
                <a:spcPts val="1134"/>
              </a:spcBef>
              <a:spcAft>
                <a:spcPts val="1134"/>
              </a:spcAft>
            </a:pPr>
            <a:r>
              <a:rPr lang="en-US" sz="2800" spc="-1" dirty="0">
                <a:latin typeface="Cantarell" panose="02000603000000000000" pitchFamily="2" charset="0"/>
              </a:rPr>
              <a:t>New software: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spc="-1" dirty="0">
                <a:latin typeface="Cantarell" panose="02000603000000000000" pitchFamily="2" charset="0"/>
              </a:rPr>
              <a:t>JASP 0.95.4 – Free at </a:t>
            </a:r>
            <a:r>
              <a:rPr lang="en-US" sz="2400" spc="-1" dirty="0">
                <a:latin typeface="Cantarell" panose="02000603000000000000" pitchFamily="2" charset="0"/>
                <a:hlinkClick r:id="rId3"/>
              </a:rPr>
              <a:t>https://jasp-stats.org/download/</a:t>
            </a:r>
            <a:r>
              <a:rPr lang="en-US" sz="2400" spc="-1" dirty="0">
                <a:latin typeface="Cantarell" panose="02000603000000000000" pitchFamily="2" charset="0"/>
              </a:rPr>
              <a:t> 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" dirty="0">
                <a:latin typeface="Cantarell" panose="02000603000000000000" pitchFamily="2" charset="0"/>
              </a:rPr>
              <a:t>Also available on library computers and </a:t>
            </a:r>
            <a:r>
              <a:rPr lang="en-US" sz="2000" spc="-1" dirty="0">
                <a:latin typeface="Cantarell" panose="02000603000000000000" pitchFamily="2" charset="0"/>
                <a:hlinkClick r:id="rId4"/>
              </a:rPr>
              <a:t>https://apps.uva.nl/</a:t>
            </a:r>
            <a:r>
              <a:rPr lang="en-US" sz="2000" spc="-1" dirty="0">
                <a:latin typeface="Cantarell" panose="02000603000000000000" pitchFamily="2" charset="0"/>
              </a:rPr>
              <a:t> </a:t>
            </a:r>
            <a:r>
              <a:rPr lang="en-US" sz="2400" spc="-1" dirty="0">
                <a:latin typeface="Cantarell" panose="02000603000000000000" pitchFamily="2" charset="0"/>
              </a:rPr>
              <a:t> 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" dirty="0">
                <a:latin typeface="Cantarell" panose="02000603000000000000" pitchFamily="2" charset="0"/>
              </a:rPr>
              <a:t>Instructions included in Exercise chapter and in WA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spc="-1" dirty="0">
                <a:latin typeface="Cantarell" panose="02000603000000000000" pitchFamily="2" charset="0"/>
              </a:rPr>
              <a:t>Exercises</a:t>
            </a:r>
            <a:endParaRPr lang="en-US" sz="2000" spc="-1" dirty="0">
              <a:latin typeface="Cantarell" panose="02000603000000000000" pitchFamily="2" charset="0"/>
            </a:endParaRP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" dirty="0">
                <a:latin typeface="Cantarell" panose="02000603000000000000" pitchFamily="2" charset="0"/>
              </a:rPr>
              <a:t>The book and WA include practice in JASP (but also include output, if you just want to practice with interpreting output) 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spc="-1" dirty="0">
                <a:latin typeface="Cantarell" panose="02000603000000000000" pitchFamily="2" charset="0"/>
              </a:rPr>
              <a:t>Exam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" dirty="0">
                <a:latin typeface="Cantarell" panose="02000603000000000000" pitchFamily="2" charset="0"/>
              </a:rPr>
              <a:t>On the exam you only need to be able to work with the “Summary Statistics” Module (</a:t>
            </a:r>
            <a:r>
              <a:rPr lang="en-US" sz="2000" spc="-1" dirty="0">
                <a:latin typeface="Cantarell" panose="02000603000000000000" pitchFamily="2" charset="0"/>
                <a:hlinkClick r:id="rId5"/>
              </a:rPr>
              <a:t>binomial test</a:t>
            </a:r>
            <a:r>
              <a:rPr lang="en-US" sz="2000" spc="-1" dirty="0">
                <a:latin typeface="Cantarell" panose="02000603000000000000" pitchFamily="2" charset="0"/>
              </a:rPr>
              <a:t>, </a:t>
            </a:r>
            <a:r>
              <a:rPr lang="en-US" sz="2000" spc="-1" dirty="0">
                <a:latin typeface="Cantarell" panose="02000603000000000000" pitchFamily="2" charset="0"/>
                <a:hlinkClick r:id="rId6"/>
              </a:rPr>
              <a:t>t-test</a:t>
            </a:r>
            <a:r>
              <a:rPr lang="en-US" sz="2000" spc="-1" dirty="0">
                <a:latin typeface="Cantarell" panose="02000603000000000000" pitchFamily="2" charset="0"/>
              </a:rPr>
              <a:t>, </a:t>
            </a:r>
            <a:r>
              <a:rPr lang="en-US" sz="2000" spc="-1" dirty="0">
                <a:latin typeface="Cantarell" panose="02000603000000000000" pitchFamily="2" charset="0"/>
                <a:hlinkClick r:id="rId7"/>
              </a:rPr>
              <a:t>correlation</a:t>
            </a:r>
            <a:r>
              <a:rPr lang="en-US" sz="2000" spc="-1" dirty="0">
                <a:latin typeface="Cantarell" panose="02000603000000000000" pitchFamily="2" charset="0"/>
              </a:rPr>
              <a:t>)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" dirty="0">
                <a:latin typeface="Cantarell" panose="02000603000000000000" pitchFamily="2" charset="0"/>
              </a:rPr>
              <a:t>For example, Question 6 in WA15, </a:t>
            </a:r>
            <a:r>
              <a:rPr lang="en-US" sz="2000" spc="-1" dirty="0">
                <a:latin typeface="Cantarell" panose="02000603000000000000" pitchFamily="2" charset="0"/>
                <a:hlinkClick r:id="rId8"/>
              </a:rPr>
              <a:t>Question 6.4 in book</a:t>
            </a:r>
            <a:endParaRPr lang="en-US" sz="2000" spc="-1" dirty="0">
              <a:latin typeface="Cantarell" panose="02000603000000000000" pitchFamily="2" charset="0"/>
            </a:endParaRP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" dirty="0">
                <a:latin typeface="Cantarell" panose="02000603000000000000" pitchFamily="2" charset="0"/>
              </a:rPr>
              <a:t>Other questions will provide JASP output and ask you to interpret</a:t>
            </a:r>
          </a:p>
        </p:txBody>
      </p:sp>
    </p:spTree>
    <p:extLst>
      <p:ext uri="{BB962C8B-B14F-4D97-AF65-F5344CB8AC3E}">
        <p14:creationId xmlns:p14="http://schemas.microsoft.com/office/powerpoint/2010/main" val="34167118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CustomShape 1"/>
          <p:cNvSpPr/>
          <p:nvPr/>
        </p:nvSpPr>
        <p:spPr>
          <a:xfrm>
            <a:off x="609480" y="21600"/>
            <a:ext cx="1096848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Practical Stuff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55" name="CustomShape 2"/>
          <p:cNvSpPr/>
          <p:nvPr/>
        </p:nvSpPr>
        <p:spPr>
          <a:xfrm>
            <a:off x="609480" y="2000520"/>
            <a:ext cx="10968480" cy="44873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384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Exam questions Bayes: more conceptual than calculating</a:t>
            </a:r>
            <a:endParaRPr lang="en-US" sz="3200" b="0" strike="noStrike" spc="-1" dirty="0">
              <a:latin typeface="Arial"/>
            </a:endParaRPr>
          </a:p>
          <a:p>
            <a:pPr marL="864000" lvl="3" indent="-21492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Interpret Bayesian results/JASP output</a:t>
            </a:r>
          </a:p>
          <a:p>
            <a:pPr marL="864000" lvl="3" indent="-21492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000000"/>
                </a:solidFill>
                <a:latin typeface="Cantarell"/>
                <a:ea typeface="DejaVu Sans"/>
              </a:rPr>
              <a:t>Obtain prior/posterior/Bayes factor in JASP’s Summary Statistics module</a:t>
            </a:r>
            <a:endParaRPr lang="en-US" sz="2000" b="0" strike="noStrike" spc="-1" dirty="0">
              <a:solidFill>
                <a:srgbClr val="000000"/>
              </a:solidFill>
              <a:latin typeface="Cantarell"/>
              <a:ea typeface="DejaVu Sans"/>
            </a:endParaRPr>
          </a:p>
          <a:p>
            <a:pPr marL="864000" lvl="3" indent="-21492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rgbClr val="000000"/>
                </a:solidFill>
                <a:latin typeface="Cantarell"/>
              </a:rPr>
              <a:t>Proportional to lectures: about 60% of exam will be Bayes</a:t>
            </a:r>
            <a:br>
              <a:rPr sz="2000" dirty="0"/>
            </a:br>
            <a:r>
              <a:rPr lang="en-US" sz="20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 </a:t>
            </a:r>
            <a:endParaRPr lang="en-US" sz="2000" b="0" strike="noStrike" spc="-1" dirty="0"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Weekly assignment: next week will include Bayes</a:t>
            </a:r>
            <a:endParaRPr lang="en-US" sz="3200" b="0" strike="noStrike" spc="-1" dirty="0">
              <a:latin typeface="Arial"/>
            </a:endParaRPr>
          </a:p>
          <a:p>
            <a:pPr marL="648000" lvl="2" indent="-21492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solidFill>
                  <a:srgbClr val="000000"/>
                </a:solidFill>
                <a:latin typeface="Cantarell"/>
                <a:ea typeface="DejaVu Sans"/>
                <a:hlinkClick r:id="rId2"/>
              </a:rPr>
              <a:t>The literature contains exercises in the back</a:t>
            </a:r>
            <a:endParaRPr lang="en-US" sz="2000" b="0" strike="noStrike" spc="-1" dirty="0">
              <a:latin typeface="Arial"/>
            </a:endParaRPr>
          </a:p>
          <a:p>
            <a:pPr marL="648000" lvl="2" indent="-21492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Week 16 (trial exam) will contain old Bayesian exam questions</a:t>
            </a:r>
            <a:endParaRPr lang="en-US" sz="2000" b="0" strike="noStrike" spc="-1" dirty="0"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Cantarell"/>
                <a:ea typeface="DejaVu Sans"/>
              </a:rPr>
              <a:t>Exam material: Slides + course literature</a:t>
            </a: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CustomShape 1"/>
          <p:cNvSpPr/>
          <p:nvPr/>
        </p:nvSpPr>
        <p:spPr>
          <a:xfrm>
            <a:off x="838080" y="365040"/>
            <a:ext cx="10509120" cy="131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  <a:ea typeface="DejaVu Sans"/>
              </a:rPr>
              <a:t>Example Exam Question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59" name="CustomShape 2"/>
          <p:cNvSpPr/>
          <p:nvPr/>
        </p:nvSpPr>
        <p:spPr>
          <a:xfrm>
            <a:off x="838080" y="1825560"/>
            <a:ext cx="10509120" cy="43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860" name="CustomShape 3"/>
          <p:cNvSpPr/>
          <p:nvPr/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None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of the following is a probability distribution:</a:t>
            </a:r>
            <a:endParaRPr lang="en-US" sz="32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Posterior distribution</a:t>
            </a:r>
            <a:endParaRPr lang="en-US" sz="32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Likelihood</a:t>
            </a:r>
            <a:endParaRPr lang="en-US" sz="32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Both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CustomShape 73"/>
          <p:cNvSpPr/>
          <p:nvPr/>
        </p:nvSpPr>
        <p:spPr>
          <a:xfrm>
            <a:off x="838080" y="365040"/>
            <a:ext cx="10509120" cy="131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  <a:ea typeface="DejaVu Sans"/>
              </a:rPr>
              <a:t>Example Exam Question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62" name="CustomShape 79"/>
          <p:cNvSpPr/>
          <p:nvPr/>
        </p:nvSpPr>
        <p:spPr>
          <a:xfrm>
            <a:off x="838080" y="1825560"/>
            <a:ext cx="10509120" cy="434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863" name="CustomShape 80"/>
          <p:cNvSpPr/>
          <p:nvPr/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None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of the following is a probability distribution:</a:t>
            </a:r>
            <a:endParaRPr lang="en-US" sz="32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Posterior distribution</a:t>
            </a:r>
            <a:endParaRPr lang="en-US" sz="32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  <a:ea typeface="DejaVu Sans"/>
              </a:rPr>
              <a:t>Likelihood</a:t>
            </a:r>
            <a:endParaRPr lang="en-US" sz="32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b="0" strike="sngStrike" spc="-1">
                <a:solidFill>
                  <a:srgbClr val="000000"/>
                </a:solidFill>
                <a:latin typeface="Arial"/>
                <a:ea typeface="DejaVu Sans"/>
              </a:rPr>
              <a:t>Both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9442E2-6D17-59CE-DDDE-086AC320DF0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404229"/>
            <a:ext cx="10972440" cy="11448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NL" dirty="0"/>
              <a:t>Bayesian Hypothesis Testing</a:t>
            </a:r>
          </a:p>
          <a:p>
            <a:pPr lvl="1">
              <a:lnSpc>
                <a:spcPct val="200000"/>
              </a:lnSpc>
            </a:pPr>
            <a:r>
              <a:rPr lang="en-NL" dirty="0"/>
              <a:t>Sneak peek: </a:t>
            </a:r>
            <a:r>
              <a:rPr lang="en-GB" dirty="0">
                <a:hlinkClick r:id="rId3"/>
              </a:rPr>
              <a:t>https://www.youtube.com/watch?v=9TDjifpGj-k</a:t>
            </a:r>
            <a:r>
              <a:rPr lang="en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81378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CustomShape 1"/>
          <p:cNvSpPr/>
          <p:nvPr/>
        </p:nvSpPr>
        <p:spPr>
          <a:xfrm>
            <a:off x="1528200" y="12600"/>
            <a:ext cx="9128520" cy="102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6000" b="1" strike="noStrike" spc="-1">
                <a:solidFill>
                  <a:srgbClr val="ED7D31"/>
                </a:solidFill>
                <a:latin typeface="Calibri Light"/>
                <a:ea typeface="DejaVu Sans"/>
              </a:rPr>
              <a:t>Questions?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865" name="CustomShape 2"/>
          <p:cNvSpPr/>
          <p:nvPr/>
        </p:nvSpPr>
        <p:spPr>
          <a:xfrm>
            <a:off x="1528200" y="974880"/>
            <a:ext cx="9128520" cy="164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Thank you for your attention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866" name="CustomShape 3"/>
          <p:cNvSpPr/>
          <p:nvPr/>
        </p:nvSpPr>
        <p:spPr>
          <a:xfrm>
            <a:off x="8610480" y="6356520"/>
            <a:ext cx="2727720" cy="34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sp>
        <p:nvSpPr>
          <p:cNvPr id="867" name="CustomShape 4"/>
          <p:cNvSpPr/>
          <p:nvPr/>
        </p:nvSpPr>
        <p:spPr>
          <a:xfrm>
            <a:off x="4268160" y="6580800"/>
            <a:ext cx="36424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  <a:ea typeface="DejaVu Sans"/>
              </a:rPr>
              <a:t>https://xkcd.com/2059/</a:t>
            </a:r>
            <a:endParaRPr lang="en-US" sz="1000" b="0" strike="noStrike" spc="-1">
              <a:latin typeface="Arial"/>
            </a:endParaRPr>
          </a:p>
        </p:txBody>
      </p:sp>
      <p:pic>
        <p:nvPicPr>
          <p:cNvPr id="868" name="Picture 867"/>
          <p:cNvPicPr/>
          <p:nvPr/>
        </p:nvPicPr>
        <p:blipFill>
          <a:blip r:embed="rId3"/>
          <a:stretch/>
        </p:blipFill>
        <p:spPr>
          <a:xfrm>
            <a:off x="2461680" y="1392840"/>
            <a:ext cx="7502040" cy="5187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CustomShape 1"/>
          <p:cNvSpPr/>
          <p:nvPr/>
        </p:nvSpPr>
        <p:spPr>
          <a:xfrm>
            <a:off x="1376640" y="-548640"/>
            <a:ext cx="9131400" cy="237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6000" b="1" u="sng" strike="noStrike" spc="-1">
                <a:solidFill>
                  <a:srgbClr val="0563C1"/>
                </a:solidFill>
                <a:uFillTx/>
                <a:latin typeface="Calibri Light"/>
                <a:ea typeface="DejaVu Sans"/>
                <a:hlinkClick r:id="rId3"/>
              </a:rPr>
              <a:t>Bonus Book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870" name="CustomShape 2"/>
          <p:cNvSpPr/>
          <p:nvPr/>
        </p:nvSpPr>
        <p:spPr>
          <a:xfrm>
            <a:off x="182880" y="2560320"/>
            <a:ext cx="11691720" cy="164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One of my colleagues has written a 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very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introductory text book to introduce some core Bayesian concepts. And it features dinosaurs!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871" name="CustomShape 3"/>
          <p:cNvSpPr/>
          <p:nvPr/>
        </p:nvSpPr>
        <p:spPr>
          <a:xfrm>
            <a:off x="8610480" y="6356520"/>
            <a:ext cx="2730600" cy="35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  <p:pic>
        <p:nvPicPr>
          <p:cNvPr id="872" name="Picture 871"/>
          <p:cNvPicPr/>
          <p:nvPr/>
        </p:nvPicPr>
        <p:blipFill>
          <a:blip r:embed="rId4"/>
          <a:stretch/>
        </p:blipFill>
        <p:spPr>
          <a:xfrm>
            <a:off x="4581360" y="3429000"/>
            <a:ext cx="3028320" cy="330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18981</TotalTime>
  <Words>3179</Words>
  <Application>Microsoft Macintosh PowerPoint</Application>
  <PresentationFormat>Widescreen</PresentationFormat>
  <Paragraphs>900</Paragraphs>
  <Slides>78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78</vt:i4>
      </vt:variant>
    </vt:vector>
  </HeadingPairs>
  <TitlesOfParts>
    <vt:vector size="97" baseType="lpstr">
      <vt:lpstr>Arial</vt:lpstr>
      <vt:lpstr>Calibri</vt:lpstr>
      <vt:lpstr>Calibri Light</vt:lpstr>
      <vt:lpstr>Cambria Math</vt:lpstr>
      <vt:lpstr>Cantarell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What Are We Doing?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Bayesian Inference?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So, We Have All Sorts of Models...</vt:lpstr>
      <vt:lpstr>So, We Have All Sorts of Models...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Analysis in JASP</vt:lpstr>
      <vt:lpstr>Binomial Analysis in JASP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lvmaanen@gmail.com</dc:creator>
  <dc:description/>
  <cp:lastModifiedBy>Johnny van Doorn</cp:lastModifiedBy>
  <cp:revision>344</cp:revision>
  <cp:lastPrinted>2018-11-29T11:55:59Z</cp:lastPrinted>
  <dcterms:created xsi:type="dcterms:W3CDTF">2018-11-27T09:08:49Z</dcterms:created>
  <dcterms:modified xsi:type="dcterms:W3CDTF">2025-12-01T10:13:14Z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1</vt:i4>
  </property>
  <property fmtid="{D5CDD505-2E9C-101B-9397-08002B2CF9AE}" pid="6" name="Notes">
    <vt:i4>10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42</vt:i4>
  </property>
</Properties>
</file>