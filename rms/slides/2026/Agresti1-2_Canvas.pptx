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325" r:id="rId21"/>
    <p:sldId id="326" r:id="rId22"/>
    <p:sldId id="327" r:id="rId23"/>
    <p:sldId id="329" r:id="rId24"/>
    <p:sldId id="276" r:id="rId25"/>
    <p:sldId id="277" r:id="rId26"/>
    <p:sldId id="278" r:id="rId27"/>
    <p:sldId id="279" r:id="rId28"/>
    <p:sldId id="280" r:id="rId29"/>
    <p:sldId id="328"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16"/>
    <p:restoredTop sz="94886"/>
  </p:normalViewPr>
  <p:slideViewPr>
    <p:cSldViewPr snapToGrid="0">
      <p:cViewPr varScale="1">
        <p:scale>
          <a:sx n="116" d="100"/>
          <a:sy n="116" d="100"/>
        </p:scale>
        <p:origin x="9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3"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pPr algn="ctr">
              <a:buNone/>
            </a:pPr>
            <a:r>
              <a:rPr lang="en-US" sz="4400" b="0" strike="noStrike" spc="-1">
                <a:latin typeface="Arial"/>
              </a:rPr>
              <a:t>Click to move the slide</a:t>
            </a:r>
          </a:p>
        </p:txBody>
      </p:sp>
      <p:sp>
        <p:nvSpPr>
          <p:cNvPr id="34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345"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346"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347"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348"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F5EA2275-7E2D-4ED9-87A7-BB225E199B71}"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 name="CustomShape 1"/>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B5A8BEC8-8BE2-4B16-8FD8-40954F5EB0F9}" type="slidenum">
              <a:rPr lang="en-US" sz="1200" b="0" strike="noStrike" spc="-1">
                <a:solidFill>
                  <a:srgbClr val="000000"/>
                </a:solidFill>
                <a:latin typeface="Arial"/>
              </a:rPr>
              <a:t>1</a:t>
            </a:fld>
            <a:endParaRPr lang="en-US" sz="1200" b="0" strike="noStrike" spc="-1">
              <a:latin typeface="Arial"/>
            </a:endParaRPr>
          </a:p>
        </p:txBody>
      </p:sp>
      <p:sp>
        <p:nvSpPr>
          <p:cNvPr id="792" name="PlaceHolder 1"/>
          <p:cNvSpPr>
            <a:spLocks noGrp="1" noRot="1" noChangeAspect="1"/>
          </p:cNvSpPr>
          <p:nvPr>
            <p:ph type="sldImg"/>
          </p:nvPr>
        </p:nvSpPr>
        <p:spPr>
          <a:xfrm>
            <a:off x="687388" y="1143000"/>
            <a:ext cx="5480050" cy="3082925"/>
          </a:xfrm>
          <a:prstGeom prst="rect">
            <a:avLst/>
          </a:prstGeom>
          <a:ln w="0">
            <a:noFill/>
          </a:ln>
        </p:spPr>
      </p:sp>
      <p:sp>
        <p:nvSpPr>
          <p:cNvPr id="793"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a:p>
            <a:pPr marL="216000" indent="-214560">
              <a:lnSpc>
                <a:spcPct val="100000"/>
              </a:lnSpc>
              <a:buNone/>
              <a:tabLst>
                <a:tab pos="0" algn="l"/>
              </a:tabLst>
            </a:pPr>
            <a:endParaRPr lang="en-US" sz="20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 name="PlaceHolder 1"/>
          <p:cNvSpPr>
            <a:spLocks noGrp="1" noRot="1" noChangeAspect="1"/>
          </p:cNvSpPr>
          <p:nvPr>
            <p:ph type="sldImg"/>
          </p:nvPr>
        </p:nvSpPr>
        <p:spPr>
          <a:xfrm>
            <a:off x="687388" y="1143000"/>
            <a:ext cx="5480050" cy="3082925"/>
          </a:xfrm>
          <a:prstGeom prst="rect">
            <a:avLst/>
          </a:prstGeom>
          <a:ln w="0">
            <a:noFill/>
          </a:ln>
        </p:spPr>
      </p:sp>
      <p:sp>
        <p:nvSpPr>
          <p:cNvPr id="795"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796"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C2450452-BF25-4A8C-9D38-D66896A31F29}" type="slidenum">
              <a:rPr lang="en-US" sz="1200" b="0" strike="noStrike" spc="-1">
                <a:solidFill>
                  <a:srgbClr val="000000"/>
                </a:solidFill>
                <a:latin typeface="+mn-lt"/>
                <a:ea typeface="+mn-ea"/>
              </a:rPr>
              <a:t>4</a:t>
            </a:fld>
            <a:endParaRPr lang="en-US" sz="12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PlaceHolder 1"/>
          <p:cNvSpPr>
            <a:spLocks noGrp="1" noRot="1" noChangeAspect="1"/>
          </p:cNvSpPr>
          <p:nvPr>
            <p:ph type="sldImg"/>
          </p:nvPr>
        </p:nvSpPr>
        <p:spPr>
          <a:xfrm>
            <a:off x="687388" y="1143000"/>
            <a:ext cx="5480050" cy="3082925"/>
          </a:xfrm>
          <a:prstGeom prst="rect">
            <a:avLst/>
          </a:prstGeom>
          <a:ln w="0">
            <a:noFill/>
          </a:ln>
        </p:spPr>
      </p:sp>
      <p:sp>
        <p:nvSpPr>
          <p:cNvPr id="798"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r>
              <a:rPr lang="en-US" sz="2000" b="0" strike="noStrike" spc="-1">
                <a:latin typeface="Arial"/>
              </a:rPr>
              <a:t>4 snakes, but often much more</a:t>
            </a:r>
          </a:p>
        </p:txBody>
      </p:sp>
      <p:sp>
        <p:nvSpPr>
          <p:cNvPr id="799"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F1A38B08-D36A-487E-9CF2-231EC5FD15BC}" type="slidenum">
              <a:rPr lang="en-US" sz="1200" b="0" strike="noStrike" spc="-1">
                <a:solidFill>
                  <a:srgbClr val="000000"/>
                </a:solidFill>
                <a:latin typeface="+mn-lt"/>
                <a:ea typeface="+mn-ea"/>
              </a:rPr>
              <a:t>6</a:t>
            </a:fld>
            <a:endParaRPr lang="en-US" sz="1200" b="0" strike="noStrike" spc="-1">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 name="PlaceHolder 1"/>
          <p:cNvSpPr>
            <a:spLocks noGrp="1" noRot="1" noChangeAspect="1"/>
          </p:cNvSpPr>
          <p:nvPr>
            <p:ph type="sldImg"/>
          </p:nvPr>
        </p:nvSpPr>
        <p:spPr>
          <a:xfrm>
            <a:off x="687388" y="1143000"/>
            <a:ext cx="5480050" cy="3082925"/>
          </a:xfrm>
          <a:prstGeom prst="rect">
            <a:avLst/>
          </a:prstGeom>
          <a:ln w="0">
            <a:noFill/>
          </a:ln>
        </p:spPr>
      </p:sp>
      <p:sp>
        <p:nvSpPr>
          <p:cNvPr id="801"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02"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4781AF3B-ACFC-4F68-B792-6BAC82B557BC}" type="slidenum">
              <a:rPr lang="en-US" sz="1200" b="0" strike="noStrike" spc="-1">
                <a:solidFill>
                  <a:srgbClr val="000000"/>
                </a:solidFill>
                <a:latin typeface="+mn-lt"/>
                <a:ea typeface="+mn-ea"/>
              </a:rPr>
              <a:t>7</a:t>
            </a:fld>
            <a:endParaRPr lang="en-US" sz="1200" b="0" strike="noStrike" spc="-1">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 name="PlaceHolder 1"/>
          <p:cNvSpPr>
            <a:spLocks noGrp="1" noRot="1" noChangeAspect="1"/>
          </p:cNvSpPr>
          <p:nvPr>
            <p:ph type="sldImg"/>
          </p:nvPr>
        </p:nvSpPr>
        <p:spPr>
          <a:xfrm>
            <a:off x="687388" y="1143000"/>
            <a:ext cx="5480050" cy="3082925"/>
          </a:xfrm>
          <a:prstGeom prst="rect">
            <a:avLst/>
          </a:prstGeom>
          <a:ln w="0">
            <a:noFill/>
          </a:ln>
        </p:spPr>
      </p:sp>
      <p:sp>
        <p:nvSpPr>
          <p:cNvPr id="804"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05"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5C746E17-897E-495E-8C44-E9ED067BC960}" type="slidenum">
              <a:rPr lang="en-US" sz="1200" b="0" strike="noStrike" spc="-1">
                <a:solidFill>
                  <a:srgbClr val="000000"/>
                </a:solidFill>
                <a:latin typeface="+mn-lt"/>
                <a:ea typeface="+mn-ea"/>
              </a:rPr>
              <a:t>9</a:t>
            </a:fld>
            <a:endParaRPr lang="en-US" sz="12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 name="PlaceHolder 1"/>
          <p:cNvSpPr>
            <a:spLocks noGrp="1" noRot="1" noChangeAspect="1"/>
          </p:cNvSpPr>
          <p:nvPr>
            <p:ph type="sldImg"/>
          </p:nvPr>
        </p:nvSpPr>
        <p:spPr>
          <a:xfrm>
            <a:off x="687388" y="1143000"/>
            <a:ext cx="5480050" cy="3082925"/>
          </a:xfrm>
          <a:prstGeom prst="rect">
            <a:avLst/>
          </a:prstGeom>
          <a:ln w="0">
            <a:noFill/>
          </a:ln>
        </p:spPr>
      </p:sp>
      <p:sp>
        <p:nvSpPr>
          <p:cNvPr id="807"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r>
              <a:rPr lang="en-US" sz="2000" b="0" strike="noStrike" spc="-1">
                <a:latin typeface="Arial"/>
              </a:rPr>
              <a:t>Mention the octopusses again</a:t>
            </a:r>
          </a:p>
          <a:p>
            <a:pPr marL="216000" indent="-214560">
              <a:lnSpc>
                <a:spcPct val="100000"/>
              </a:lnSpc>
              <a:buNone/>
              <a:tabLst>
                <a:tab pos="0" algn="l"/>
              </a:tabLst>
            </a:pPr>
            <a:r>
              <a:rPr lang="en-US" sz="2000" b="0" strike="noStrike" spc="-1">
                <a:latin typeface="Arial"/>
              </a:rPr>
              <a:t>Refer back to the validity and reliability  issue </a:t>
            </a:r>
          </a:p>
        </p:txBody>
      </p:sp>
      <p:sp>
        <p:nvSpPr>
          <p:cNvPr id="808"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3CCF482C-88C0-4B9F-8A5E-6F701C20DB20}" type="slidenum">
              <a:rPr lang="en-US" sz="1200" b="0" strike="noStrike" spc="-1">
                <a:solidFill>
                  <a:srgbClr val="000000"/>
                </a:solidFill>
                <a:latin typeface="+mn-lt"/>
                <a:ea typeface="+mn-ea"/>
              </a:rPr>
              <a:t>10</a:t>
            </a:fld>
            <a:endParaRPr lang="en-US" sz="1200" b="0" strike="noStrike" spc="-1">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PlaceHolder 1"/>
          <p:cNvSpPr>
            <a:spLocks noGrp="1" noRot="1" noChangeAspect="1"/>
          </p:cNvSpPr>
          <p:nvPr>
            <p:ph type="sldImg"/>
          </p:nvPr>
        </p:nvSpPr>
        <p:spPr>
          <a:xfrm>
            <a:off x="687388" y="1143000"/>
            <a:ext cx="5480050" cy="3082925"/>
          </a:xfrm>
          <a:prstGeom prst="rect">
            <a:avLst/>
          </a:prstGeom>
          <a:ln w="0">
            <a:noFill/>
          </a:ln>
        </p:spPr>
      </p:sp>
      <p:sp>
        <p:nvSpPr>
          <p:cNvPr id="810"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11"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B6685578-2D6F-44CD-AFE9-76AC64C3533D}" type="slidenum">
              <a:rPr lang="en-US" sz="1200" b="0" strike="noStrike" spc="-1">
                <a:solidFill>
                  <a:srgbClr val="000000"/>
                </a:solidFill>
                <a:latin typeface="+mn-lt"/>
                <a:ea typeface="+mn-ea"/>
              </a:rPr>
              <a:t>11</a:t>
            </a:fld>
            <a:endParaRPr lang="en-US" sz="1200" b="0" strike="noStrike" spc="-1">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 name="PlaceHolder 1"/>
          <p:cNvSpPr>
            <a:spLocks noGrp="1" noRot="1" noChangeAspect="1"/>
          </p:cNvSpPr>
          <p:nvPr>
            <p:ph type="sldImg"/>
          </p:nvPr>
        </p:nvSpPr>
        <p:spPr>
          <a:xfrm>
            <a:off x="687388" y="1143000"/>
            <a:ext cx="5480050" cy="3082925"/>
          </a:xfrm>
          <a:prstGeom prst="rect">
            <a:avLst/>
          </a:prstGeom>
          <a:ln w="0">
            <a:noFill/>
          </a:ln>
        </p:spPr>
      </p:sp>
      <p:sp>
        <p:nvSpPr>
          <p:cNvPr id="813"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14"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F82C3655-9735-4BA9-9A2F-994B32A8D93D}" type="slidenum">
              <a:rPr lang="en-US" sz="1200" b="0" strike="noStrike" spc="-1">
                <a:solidFill>
                  <a:srgbClr val="000000"/>
                </a:solidFill>
                <a:latin typeface="+mn-lt"/>
                <a:ea typeface="+mn-ea"/>
              </a:rPr>
              <a:t>12</a:t>
            </a:fld>
            <a:endParaRPr lang="en-US" sz="1200" b="0" strike="noStrike" spc="-1">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 name="CustomShape 1"/>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5CEF93E3-F877-450C-99A0-B359BDED5CBC}" type="slidenum">
              <a:rPr lang="en-US" sz="1200" b="0" strike="noStrike" spc="-1">
                <a:solidFill>
                  <a:srgbClr val="000000"/>
                </a:solidFill>
                <a:latin typeface="Arial"/>
                <a:ea typeface="ＭＳ Ｐゴシック"/>
              </a:rPr>
              <a:t>13</a:t>
            </a:fld>
            <a:endParaRPr lang="en-US" sz="1200" b="0" strike="noStrike" spc="-1">
              <a:latin typeface="Arial"/>
            </a:endParaRPr>
          </a:p>
        </p:txBody>
      </p:sp>
      <p:sp>
        <p:nvSpPr>
          <p:cNvPr id="816" name="PlaceHolder 1"/>
          <p:cNvSpPr>
            <a:spLocks noGrp="1" noRot="1" noChangeAspect="1"/>
          </p:cNvSpPr>
          <p:nvPr>
            <p:ph type="sldImg"/>
          </p:nvPr>
        </p:nvSpPr>
        <p:spPr>
          <a:xfrm>
            <a:off x="687388" y="1143000"/>
            <a:ext cx="5480050" cy="3082925"/>
          </a:xfrm>
          <a:prstGeom prst="rect">
            <a:avLst/>
          </a:prstGeom>
          <a:ln w="0">
            <a:noFill/>
          </a:ln>
        </p:spPr>
      </p:sp>
      <p:sp>
        <p:nvSpPr>
          <p:cNvPr id="817"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 name="PlaceHolder 1"/>
          <p:cNvSpPr>
            <a:spLocks noGrp="1" noRot="1" noChangeAspect="1"/>
          </p:cNvSpPr>
          <p:nvPr>
            <p:ph type="sldImg"/>
          </p:nvPr>
        </p:nvSpPr>
        <p:spPr>
          <a:xfrm>
            <a:off x="687388" y="1143000"/>
            <a:ext cx="5480050" cy="3082925"/>
          </a:xfrm>
          <a:prstGeom prst="rect">
            <a:avLst/>
          </a:prstGeom>
          <a:ln w="0">
            <a:noFill/>
          </a:ln>
        </p:spPr>
      </p:sp>
      <p:sp>
        <p:nvSpPr>
          <p:cNvPr id="819"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20"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25D19F43-1029-492C-85A1-90FF63855789}" type="slidenum">
              <a:rPr lang="en-US" sz="1200" b="0" strike="noStrike" spc="-1">
                <a:solidFill>
                  <a:srgbClr val="000000"/>
                </a:solidFill>
                <a:latin typeface="+mn-lt"/>
                <a:ea typeface="+mn-ea"/>
              </a:rPr>
              <a:t>14</a:t>
            </a:fld>
            <a:endParaRPr lang="en-US" sz="1200" b="0" strike="noStrike" spc="-1">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 name="PlaceHolder 1"/>
          <p:cNvSpPr>
            <a:spLocks noGrp="1" noRot="1" noChangeAspect="1"/>
          </p:cNvSpPr>
          <p:nvPr>
            <p:ph type="sldImg"/>
          </p:nvPr>
        </p:nvSpPr>
        <p:spPr>
          <a:xfrm>
            <a:off x="687388" y="1143000"/>
            <a:ext cx="5480050" cy="3082925"/>
          </a:xfrm>
          <a:prstGeom prst="rect">
            <a:avLst/>
          </a:prstGeom>
          <a:ln w="0">
            <a:noFill/>
          </a:ln>
        </p:spPr>
      </p:sp>
      <p:sp>
        <p:nvSpPr>
          <p:cNvPr id="822"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23"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05507922-3781-4D35-AB4D-1F9942197B3B}" type="slidenum">
              <a:rPr lang="en-US" sz="1200" b="0" strike="noStrike" spc="-1">
                <a:solidFill>
                  <a:srgbClr val="000000"/>
                </a:solidFill>
                <a:latin typeface="+mn-lt"/>
                <a:ea typeface="+mn-ea"/>
              </a:rPr>
              <a:t>15</a:t>
            </a:fld>
            <a:endParaRPr lang="en-US" sz="1200" b="0" strike="noStrike" spc="-1">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 name="PlaceHolder 1"/>
          <p:cNvSpPr>
            <a:spLocks noGrp="1" noRot="1" noChangeAspect="1"/>
          </p:cNvSpPr>
          <p:nvPr>
            <p:ph type="sldImg"/>
          </p:nvPr>
        </p:nvSpPr>
        <p:spPr>
          <a:xfrm>
            <a:off x="687388" y="1143000"/>
            <a:ext cx="5480050" cy="3082925"/>
          </a:xfrm>
          <a:prstGeom prst="rect">
            <a:avLst/>
          </a:prstGeom>
          <a:ln w="0">
            <a:noFill/>
          </a:ln>
        </p:spPr>
      </p:sp>
      <p:sp>
        <p:nvSpPr>
          <p:cNvPr id="825"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26"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696353FD-287F-4810-95D2-BB06DFBA35D9}" type="slidenum">
              <a:rPr lang="en-US" sz="1200" b="0" strike="noStrike" spc="-1">
                <a:solidFill>
                  <a:srgbClr val="000000"/>
                </a:solidFill>
                <a:latin typeface="+mn-lt"/>
                <a:ea typeface="+mn-ea"/>
              </a:rPr>
              <a:t>16</a:t>
            </a:fld>
            <a:endParaRPr lang="en-US" sz="1200" b="0" strike="noStrike" spc="-1">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PlaceHolder 1"/>
          <p:cNvSpPr>
            <a:spLocks noGrp="1" noRot="1" noChangeAspect="1"/>
          </p:cNvSpPr>
          <p:nvPr>
            <p:ph type="sldImg"/>
          </p:nvPr>
        </p:nvSpPr>
        <p:spPr>
          <a:xfrm>
            <a:off x="687388" y="1143000"/>
            <a:ext cx="5480050" cy="3082925"/>
          </a:xfrm>
          <a:prstGeom prst="rect">
            <a:avLst/>
          </a:prstGeom>
          <a:ln w="0">
            <a:noFill/>
          </a:ln>
        </p:spPr>
      </p:sp>
      <p:sp>
        <p:nvSpPr>
          <p:cNvPr id="828"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29"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399BBF4A-BB9A-4FB7-9153-E02F1AFA2BF5}" type="slidenum">
              <a:rPr lang="en-US" sz="1200" b="0" strike="noStrike" spc="-1">
                <a:solidFill>
                  <a:srgbClr val="000000"/>
                </a:solidFill>
                <a:latin typeface="+mn-lt"/>
                <a:ea typeface="+mn-ea"/>
              </a:rPr>
              <a:t>17</a:t>
            </a:fld>
            <a:endParaRPr lang="en-US" sz="1200" b="0" strike="noStrike" spc="-1">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 name="PlaceHolder 1"/>
          <p:cNvSpPr>
            <a:spLocks noGrp="1" noRot="1" noChangeAspect="1"/>
          </p:cNvSpPr>
          <p:nvPr>
            <p:ph type="sldImg"/>
          </p:nvPr>
        </p:nvSpPr>
        <p:spPr>
          <a:xfrm>
            <a:off x="687388" y="1143000"/>
            <a:ext cx="5480050" cy="3082925"/>
          </a:xfrm>
          <a:prstGeom prst="rect">
            <a:avLst/>
          </a:prstGeom>
          <a:ln w="0">
            <a:noFill/>
          </a:ln>
        </p:spPr>
      </p:sp>
      <p:sp>
        <p:nvSpPr>
          <p:cNvPr id="831"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32"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9CBC6BC2-70BC-402C-8268-174BF0AC2E2A}" type="slidenum">
              <a:rPr lang="en-US" sz="1200" b="0" strike="noStrike" spc="-1">
                <a:solidFill>
                  <a:srgbClr val="000000"/>
                </a:solidFill>
                <a:latin typeface="+mn-lt"/>
                <a:ea typeface="+mn-ea"/>
              </a:rPr>
              <a:t>18</a:t>
            </a:fld>
            <a:endParaRPr lang="en-US" sz="1200" b="0" strike="noStrike" spc="-1">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PlaceHolder 1"/>
          <p:cNvSpPr>
            <a:spLocks noGrp="1" noRot="1" noChangeAspect="1"/>
          </p:cNvSpPr>
          <p:nvPr>
            <p:ph type="sldImg"/>
          </p:nvPr>
        </p:nvSpPr>
        <p:spPr>
          <a:xfrm>
            <a:off x="687388" y="1143000"/>
            <a:ext cx="5480050" cy="3082925"/>
          </a:xfrm>
          <a:prstGeom prst="rect">
            <a:avLst/>
          </a:prstGeom>
          <a:ln w="0">
            <a:noFill/>
          </a:ln>
        </p:spPr>
      </p:sp>
      <p:sp>
        <p:nvSpPr>
          <p:cNvPr id="834"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35"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EAE72B24-61E4-4F08-AAB9-80C70953AABF}" type="slidenum">
              <a:rPr lang="en-US" sz="1200" b="0" strike="noStrike" spc="-1">
                <a:solidFill>
                  <a:srgbClr val="000000"/>
                </a:solidFill>
                <a:latin typeface="+mn-lt"/>
                <a:ea typeface="+mn-ea"/>
              </a:rPr>
              <a:t>19</a:t>
            </a:fld>
            <a:endParaRPr lang="en-US" sz="1200" b="0" strike="noStrike" spc="-1">
              <a:latin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PlaceHolder 1"/>
          <p:cNvSpPr>
            <a:spLocks noGrp="1" noRot="1" noChangeAspect="1"/>
          </p:cNvSpPr>
          <p:nvPr>
            <p:ph type="sldImg"/>
          </p:nvPr>
        </p:nvSpPr>
        <p:spPr>
          <a:xfrm>
            <a:off x="687388" y="1143000"/>
            <a:ext cx="5480050" cy="3082925"/>
          </a:xfrm>
          <a:prstGeom prst="rect">
            <a:avLst/>
          </a:prstGeom>
          <a:ln w="0">
            <a:noFill/>
          </a:ln>
        </p:spPr>
      </p:sp>
      <p:sp>
        <p:nvSpPr>
          <p:cNvPr id="834"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35"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EAE72B24-61E4-4F08-AAB9-80C70953AABF}" type="slidenum">
              <a:rPr lang="en-US" sz="1200" b="0" strike="noStrike" spc="-1">
                <a:solidFill>
                  <a:srgbClr val="000000"/>
                </a:solidFill>
                <a:latin typeface="+mn-lt"/>
                <a:ea typeface="+mn-ea"/>
              </a:rPr>
              <a:t>20</a:t>
            </a:fld>
            <a:endParaRPr lang="en-US" sz="1200" b="0" strike="noStrike" spc="-1">
              <a:latin typeface="Arial"/>
            </a:endParaRPr>
          </a:p>
        </p:txBody>
      </p:sp>
    </p:spTree>
    <p:extLst>
      <p:ext uri="{BB962C8B-B14F-4D97-AF65-F5344CB8AC3E}">
        <p14:creationId xmlns:p14="http://schemas.microsoft.com/office/powerpoint/2010/main" val="1364493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PlaceHolder 1"/>
          <p:cNvSpPr>
            <a:spLocks noGrp="1" noRot="1" noChangeAspect="1"/>
          </p:cNvSpPr>
          <p:nvPr>
            <p:ph type="sldImg"/>
          </p:nvPr>
        </p:nvSpPr>
        <p:spPr>
          <a:xfrm>
            <a:off x="687388" y="1143000"/>
            <a:ext cx="5480050" cy="3082925"/>
          </a:xfrm>
          <a:prstGeom prst="rect">
            <a:avLst/>
          </a:prstGeom>
          <a:ln w="0">
            <a:noFill/>
          </a:ln>
        </p:spPr>
      </p:sp>
      <p:sp>
        <p:nvSpPr>
          <p:cNvPr id="834"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35"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EAE72B24-61E4-4F08-AAB9-80C70953AABF}" type="slidenum">
              <a:rPr lang="en-US" sz="1200" b="0" strike="noStrike" spc="-1">
                <a:solidFill>
                  <a:srgbClr val="000000"/>
                </a:solidFill>
                <a:latin typeface="+mn-lt"/>
                <a:ea typeface="+mn-ea"/>
              </a:rPr>
              <a:t>21</a:t>
            </a:fld>
            <a:endParaRPr lang="en-US" sz="1200" b="0" strike="noStrike" spc="-1">
              <a:latin typeface="Arial"/>
            </a:endParaRPr>
          </a:p>
        </p:txBody>
      </p:sp>
    </p:spTree>
    <p:extLst>
      <p:ext uri="{BB962C8B-B14F-4D97-AF65-F5344CB8AC3E}">
        <p14:creationId xmlns:p14="http://schemas.microsoft.com/office/powerpoint/2010/main" val="2468043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faece46cc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faece46cc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 name="PlaceHolder 1"/>
          <p:cNvSpPr>
            <a:spLocks noGrp="1" noRot="1" noChangeAspect="1"/>
          </p:cNvSpPr>
          <p:nvPr>
            <p:ph type="sldImg"/>
          </p:nvPr>
        </p:nvSpPr>
        <p:spPr>
          <a:xfrm>
            <a:off x="687388" y="1143000"/>
            <a:ext cx="5480050" cy="3082925"/>
          </a:xfrm>
          <a:prstGeom prst="rect">
            <a:avLst/>
          </a:prstGeom>
          <a:ln w="0">
            <a:noFill/>
          </a:ln>
        </p:spPr>
      </p:sp>
      <p:sp>
        <p:nvSpPr>
          <p:cNvPr id="837"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38"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6AF995E3-E1EC-429A-883A-538026E4C488}" type="slidenum">
              <a:rPr lang="en-US" sz="1200" b="0" strike="noStrike" spc="-1">
                <a:solidFill>
                  <a:srgbClr val="000000"/>
                </a:solidFill>
                <a:latin typeface="+mn-lt"/>
                <a:ea typeface="+mn-ea"/>
              </a:rPr>
              <a:t>24</a:t>
            </a:fld>
            <a:endParaRPr lang="en-US" sz="1200" b="0" strike="noStrike" spc="-1">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 name="PlaceHolder 1"/>
          <p:cNvSpPr>
            <a:spLocks noGrp="1" noRot="1" noChangeAspect="1"/>
          </p:cNvSpPr>
          <p:nvPr>
            <p:ph type="sldImg"/>
          </p:nvPr>
        </p:nvSpPr>
        <p:spPr>
          <a:xfrm>
            <a:off x="687388" y="1143000"/>
            <a:ext cx="5480050" cy="3082925"/>
          </a:xfrm>
          <a:prstGeom prst="rect">
            <a:avLst/>
          </a:prstGeom>
          <a:ln w="0">
            <a:noFill/>
          </a:ln>
        </p:spPr>
      </p:sp>
      <p:sp>
        <p:nvSpPr>
          <p:cNvPr id="840"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r>
              <a:rPr lang="en-US" sz="2000" b="0" strike="noStrike" spc="-1">
                <a:latin typeface="Arial"/>
              </a:rPr>
              <a:t>ASK about the military rank</a:t>
            </a:r>
          </a:p>
        </p:txBody>
      </p:sp>
      <p:sp>
        <p:nvSpPr>
          <p:cNvPr id="841"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7839BF2E-3EB0-4150-A815-A7A3C4D3F01E}" type="slidenum">
              <a:rPr lang="en-US" sz="1200" b="0" strike="noStrike" spc="-1">
                <a:solidFill>
                  <a:srgbClr val="000000"/>
                </a:solidFill>
                <a:latin typeface="+mn-lt"/>
                <a:ea typeface="+mn-ea"/>
              </a:rPr>
              <a:t>25</a:t>
            </a:fld>
            <a:endParaRPr lang="en-US" sz="1200" b="0" strike="noStrike" spc="-1">
              <a:latin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 name="PlaceHolder 1"/>
          <p:cNvSpPr>
            <a:spLocks noGrp="1" noRot="1" noChangeAspect="1"/>
          </p:cNvSpPr>
          <p:nvPr>
            <p:ph type="sldImg"/>
          </p:nvPr>
        </p:nvSpPr>
        <p:spPr>
          <a:xfrm>
            <a:off x="687388" y="1143000"/>
            <a:ext cx="5480050" cy="3082925"/>
          </a:xfrm>
          <a:prstGeom prst="rect">
            <a:avLst/>
          </a:prstGeom>
          <a:ln w="0">
            <a:noFill/>
          </a:ln>
        </p:spPr>
      </p:sp>
      <p:sp>
        <p:nvSpPr>
          <p:cNvPr id="843"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r>
              <a:rPr lang="en-US" sz="2000" b="0" strike="noStrike" spc="-1">
                <a:latin typeface="Arial"/>
              </a:rPr>
              <a:t>Note, verschil met Morling (Nominal/ordinal, Interval and ratio scales</a:t>
            </a:r>
          </a:p>
        </p:txBody>
      </p:sp>
      <p:sp>
        <p:nvSpPr>
          <p:cNvPr id="844"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29E4D591-5436-4795-90DD-580264990233}" type="slidenum">
              <a:rPr lang="en-US" sz="1200" b="0" strike="noStrike" spc="-1">
                <a:solidFill>
                  <a:srgbClr val="000000"/>
                </a:solidFill>
                <a:latin typeface="+mn-lt"/>
                <a:ea typeface="+mn-ea"/>
              </a:rPr>
              <a:t>26</a:t>
            </a:fld>
            <a:endParaRPr lang="en-US" sz="1200" b="0" strike="noStrike" spc="-1">
              <a:latin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PlaceHolder 1"/>
          <p:cNvSpPr>
            <a:spLocks noGrp="1" noRot="1" noChangeAspect="1"/>
          </p:cNvSpPr>
          <p:nvPr>
            <p:ph type="sldImg"/>
          </p:nvPr>
        </p:nvSpPr>
        <p:spPr>
          <a:xfrm>
            <a:off x="687388" y="1143000"/>
            <a:ext cx="5480050" cy="3082925"/>
          </a:xfrm>
          <a:prstGeom prst="rect">
            <a:avLst/>
          </a:prstGeom>
          <a:ln w="0">
            <a:noFill/>
          </a:ln>
        </p:spPr>
      </p:sp>
      <p:sp>
        <p:nvSpPr>
          <p:cNvPr id="846"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47"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3971E91D-4737-40BD-A16E-D453440FB72F}" type="slidenum">
              <a:rPr lang="en-US" sz="1200" b="0" strike="noStrike" spc="-1">
                <a:solidFill>
                  <a:srgbClr val="000000"/>
                </a:solidFill>
                <a:latin typeface="+mn-lt"/>
                <a:ea typeface="+mn-ea"/>
              </a:rPr>
              <a:t>27</a:t>
            </a:fld>
            <a:endParaRPr lang="en-US" sz="1200" b="0" strike="noStrike" spc="-1">
              <a:latin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 name="PlaceHolder 1"/>
          <p:cNvSpPr>
            <a:spLocks noGrp="1" noRot="1" noChangeAspect="1"/>
          </p:cNvSpPr>
          <p:nvPr>
            <p:ph type="sldImg"/>
          </p:nvPr>
        </p:nvSpPr>
        <p:spPr>
          <a:xfrm>
            <a:off x="687388" y="1143000"/>
            <a:ext cx="5480050" cy="3082925"/>
          </a:xfrm>
          <a:prstGeom prst="rect">
            <a:avLst/>
          </a:prstGeom>
          <a:ln w="0">
            <a:noFill/>
          </a:ln>
        </p:spPr>
      </p:sp>
      <p:sp>
        <p:nvSpPr>
          <p:cNvPr id="849"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50"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9ECBD00B-7855-4075-B5C2-8257B9D01A9E}" type="slidenum">
              <a:rPr lang="en-US" sz="1200" b="0" strike="noStrike" spc="-1">
                <a:solidFill>
                  <a:srgbClr val="000000"/>
                </a:solidFill>
                <a:latin typeface="+mn-lt"/>
                <a:ea typeface="+mn-ea"/>
              </a:rPr>
              <a:t>30</a:t>
            </a:fld>
            <a:endParaRPr lang="en-US" sz="1200" b="0" strike="noStrike" spc="-1">
              <a:latin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 name="PlaceHolder 1"/>
          <p:cNvSpPr>
            <a:spLocks noGrp="1" noRot="1" noChangeAspect="1"/>
          </p:cNvSpPr>
          <p:nvPr>
            <p:ph type="sldImg"/>
          </p:nvPr>
        </p:nvSpPr>
        <p:spPr>
          <a:xfrm>
            <a:off x="687388" y="1143000"/>
            <a:ext cx="5480050" cy="3082925"/>
          </a:xfrm>
          <a:prstGeom prst="rect">
            <a:avLst/>
          </a:prstGeom>
          <a:ln w="0">
            <a:noFill/>
          </a:ln>
        </p:spPr>
      </p:sp>
      <p:sp>
        <p:nvSpPr>
          <p:cNvPr id="852"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53" name="CustomShape 90"/>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1910B013-2AC4-46EC-8231-17B135424752}" type="slidenum">
              <a:rPr lang="en-US" sz="1200" b="0" strike="noStrike" spc="-1">
                <a:solidFill>
                  <a:srgbClr val="000000"/>
                </a:solidFill>
                <a:latin typeface="+mn-lt"/>
                <a:ea typeface="+mn-ea"/>
              </a:rPr>
              <a:t>31</a:t>
            </a:fld>
            <a:endParaRPr lang="en-US" sz="1200" b="0" strike="noStrike" spc="-1">
              <a:latin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PlaceHolder 1"/>
          <p:cNvSpPr>
            <a:spLocks noGrp="1" noRot="1" noChangeAspect="1"/>
          </p:cNvSpPr>
          <p:nvPr>
            <p:ph type="sldImg"/>
          </p:nvPr>
        </p:nvSpPr>
        <p:spPr>
          <a:xfrm>
            <a:off x="687388" y="1143000"/>
            <a:ext cx="5480050" cy="3082925"/>
          </a:xfrm>
          <a:prstGeom prst="rect">
            <a:avLst/>
          </a:prstGeom>
          <a:ln w="0">
            <a:noFill/>
          </a:ln>
        </p:spPr>
      </p:sp>
      <p:sp>
        <p:nvSpPr>
          <p:cNvPr id="855"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56"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2872DE4E-D10B-45B3-B5DC-480B3026A5FC}" type="slidenum">
              <a:rPr lang="en-US" sz="1200" b="0" strike="noStrike" spc="-1">
                <a:solidFill>
                  <a:srgbClr val="000000"/>
                </a:solidFill>
                <a:latin typeface="+mn-lt"/>
                <a:ea typeface="+mn-ea"/>
              </a:rPr>
              <a:t>32</a:t>
            </a:fld>
            <a:endParaRPr lang="en-US" sz="1200" b="0" strike="noStrike" spc="-1">
              <a:latin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 name="PlaceHolder 1"/>
          <p:cNvSpPr>
            <a:spLocks noGrp="1" noRot="1" noChangeAspect="1"/>
          </p:cNvSpPr>
          <p:nvPr>
            <p:ph type="sldImg"/>
          </p:nvPr>
        </p:nvSpPr>
        <p:spPr>
          <a:xfrm>
            <a:off x="687388" y="1143000"/>
            <a:ext cx="5480050" cy="3082925"/>
          </a:xfrm>
          <a:prstGeom prst="rect">
            <a:avLst/>
          </a:prstGeom>
          <a:ln w="0">
            <a:noFill/>
          </a:ln>
        </p:spPr>
      </p:sp>
      <p:sp>
        <p:nvSpPr>
          <p:cNvPr id="858"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59"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6EAAF3CF-9F16-4426-9281-C6A70D038242}" type="slidenum">
              <a:rPr lang="en-US" sz="1200" b="0" strike="noStrike" spc="-1">
                <a:solidFill>
                  <a:srgbClr val="000000"/>
                </a:solidFill>
                <a:latin typeface="+mn-lt"/>
                <a:ea typeface="+mn-ea"/>
              </a:rPr>
              <a:t>33</a:t>
            </a:fld>
            <a:endParaRPr lang="en-US" sz="1200" b="0" strike="noStrike" spc="-1">
              <a:latin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 name="PlaceHolder 1"/>
          <p:cNvSpPr>
            <a:spLocks noGrp="1" noRot="1" noChangeAspect="1"/>
          </p:cNvSpPr>
          <p:nvPr>
            <p:ph type="sldImg"/>
          </p:nvPr>
        </p:nvSpPr>
        <p:spPr>
          <a:xfrm>
            <a:off x="687388" y="1143000"/>
            <a:ext cx="5480050" cy="3082925"/>
          </a:xfrm>
          <a:prstGeom prst="rect">
            <a:avLst/>
          </a:prstGeom>
          <a:ln w="0">
            <a:noFill/>
          </a:ln>
        </p:spPr>
      </p:sp>
      <p:sp>
        <p:nvSpPr>
          <p:cNvPr id="861"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62"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B8D1797E-1BCF-4B7D-A9B0-6E2D0AAF47D0}" type="slidenum">
              <a:rPr lang="en-US" sz="1200" b="0" strike="noStrike" spc="-1">
                <a:solidFill>
                  <a:srgbClr val="000000"/>
                </a:solidFill>
                <a:latin typeface="+mn-lt"/>
                <a:ea typeface="+mn-ea"/>
              </a:rPr>
              <a:t>34</a:t>
            </a:fld>
            <a:endParaRPr lang="en-US" sz="1200" b="0" strike="noStrike" spc="-1">
              <a:latin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 name="PlaceHolder 1"/>
          <p:cNvSpPr>
            <a:spLocks noGrp="1" noRot="1" noChangeAspect="1"/>
          </p:cNvSpPr>
          <p:nvPr>
            <p:ph type="sldImg"/>
          </p:nvPr>
        </p:nvSpPr>
        <p:spPr>
          <a:xfrm>
            <a:off x="687388" y="1143000"/>
            <a:ext cx="5480050" cy="3082925"/>
          </a:xfrm>
          <a:prstGeom prst="rect">
            <a:avLst/>
          </a:prstGeom>
          <a:ln w="0">
            <a:noFill/>
          </a:ln>
        </p:spPr>
      </p:sp>
      <p:sp>
        <p:nvSpPr>
          <p:cNvPr id="864"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65"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F6243B57-3BD2-4693-9CF7-EFCF816F4B29}" type="slidenum">
              <a:rPr lang="en-US" sz="1200" b="0" strike="noStrike" spc="-1">
                <a:solidFill>
                  <a:srgbClr val="000000"/>
                </a:solidFill>
                <a:latin typeface="+mn-lt"/>
                <a:ea typeface="+mn-ea"/>
              </a:rPr>
              <a:t>35</a:t>
            </a:fld>
            <a:endParaRPr lang="en-US" sz="1200" b="0" strike="noStrike" spc="-1">
              <a:latin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 name="PlaceHolder 1"/>
          <p:cNvSpPr>
            <a:spLocks noGrp="1" noRot="1" noChangeAspect="1"/>
          </p:cNvSpPr>
          <p:nvPr>
            <p:ph type="sldImg"/>
          </p:nvPr>
        </p:nvSpPr>
        <p:spPr>
          <a:xfrm>
            <a:off x="687388" y="1143000"/>
            <a:ext cx="5480050" cy="3082925"/>
          </a:xfrm>
          <a:prstGeom prst="rect">
            <a:avLst/>
          </a:prstGeom>
          <a:ln w="0">
            <a:noFill/>
          </a:ln>
        </p:spPr>
      </p:sp>
      <p:sp>
        <p:nvSpPr>
          <p:cNvPr id="867"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68" name="CustomShape 9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58100794-2444-4E43-A306-856DD936FAB8}" type="slidenum">
              <a:rPr lang="en-US" sz="1200" b="0" strike="noStrike" spc="-1">
                <a:solidFill>
                  <a:srgbClr val="000000"/>
                </a:solidFill>
                <a:latin typeface="+mn-lt"/>
                <a:ea typeface="+mn-ea"/>
              </a:rPr>
              <a:t>36</a:t>
            </a:fld>
            <a:endParaRPr lang="en-US" sz="1200" b="0" strike="noStrike" spc="-1">
              <a:latin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 name="PlaceHolder 1"/>
          <p:cNvSpPr>
            <a:spLocks noGrp="1" noRot="1" noChangeAspect="1"/>
          </p:cNvSpPr>
          <p:nvPr>
            <p:ph type="sldImg"/>
          </p:nvPr>
        </p:nvSpPr>
        <p:spPr>
          <a:xfrm>
            <a:off x="687388" y="1143000"/>
            <a:ext cx="5480050" cy="3082925"/>
          </a:xfrm>
          <a:prstGeom prst="rect">
            <a:avLst/>
          </a:prstGeom>
          <a:ln w="0">
            <a:noFill/>
          </a:ln>
        </p:spPr>
      </p:sp>
      <p:sp>
        <p:nvSpPr>
          <p:cNvPr id="870"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71"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E52A0758-ED39-4B31-B359-31B58574AF32}" type="slidenum">
              <a:rPr lang="en-US" sz="1200" b="0" strike="noStrike" spc="-1">
                <a:solidFill>
                  <a:srgbClr val="000000"/>
                </a:solidFill>
                <a:latin typeface="+mn-lt"/>
                <a:ea typeface="+mn-ea"/>
              </a:rPr>
              <a:t>37</a:t>
            </a:fld>
            <a:endParaRPr lang="en-US" sz="1200" b="0" strike="noStrike" spc="-1">
              <a:latin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 name="CustomShape 1"/>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62980103-38A4-4845-874D-A3FA374F932F}" type="slidenum">
              <a:rPr lang="en-US" sz="1200" b="0" strike="noStrike" spc="-1">
                <a:solidFill>
                  <a:srgbClr val="000000"/>
                </a:solidFill>
                <a:latin typeface="Arial"/>
                <a:ea typeface="ＭＳ Ｐゴシック"/>
              </a:rPr>
              <a:t>38</a:t>
            </a:fld>
            <a:endParaRPr lang="en-US" sz="1200" b="0" strike="noStrike" spc="-1">
              <a:latin typeface="Arial"/>
            </a:endParaRPr>
          </a:p>
        </p:txBody>
      </p:sp>
      <p:sp>
        <p:nvSpPr>
          <p:cNvPr id="873" name="PlaceHolder 1"/>
          <p:cNvSpPr>
            <a:spLocks noGrp="1" noRot="1" noChangeAspect="1"/>
          </p:cNvSpPr>
          <p:nvPr>
            <p:ph type="sldImg"/>
          </p:nvPr>
        </p:nvSpPr>
        <p:spPr>
          <a:xfrm>
            <a:off x="687388" y="1143000"/>
            <a:ext cx="5480050" cy="3082925"/>
          </a:xfrm>
          <a:prstGeom prst="rect">
            <a:avLst/>
          </a:prstGeom>
          <a:ln w="0">
            <a:noFill/>
          </a:ln>
        </p:spPr>
      </p:sp>
      <p:sp>
        <p:nvSpPr>
          <p:cNvPr id="874"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 name="PlaceHolder 1"/>
          <p:cNvSpPr>
            <a:spLocks noGrp="1" noRot="1" noChangeAspect="1"/>
          </p:cNvSpPr>
          <p:nvPr>
            <p:ph type="sldImg"/>
          </p:nvPr>
        </p:nvSpPr>
        <p:spPr>
          <a:xfrm>
            <a:off x="687388" y="1143000"/>
            <a:ext cx="5480050" cy="3082925"/>
          </a:xfrm>
          <a:prstGeom prst="rect">
            <a:avLst/>
          </a:prstGeom>
          <a:ln w="0">
            <a:noFill/>
          </a:ln>
        </p:spPr>
      </p:sp>
      <p:sp>
        <p:nvSpPr>
          <p:cNvPr id="876"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77"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F7DAD600-FDF1-4DFB-BDD0-172BCE86FC23}" type="slidenum">
              <a:rPr lang="en-US" sz="1200" b="0" strike="noStrike" spc="-1">
                <a:solidFill>
                  <a:srgbClr val="000000"/>
                </a:solidFill>
                <a:latin typeface="+mn-lt"/>
                <a:ea typeface="+mn-ea"/>
              </a:rPr>
              <a:t>39</a:t>
            </a:fld>
            <a:endParaRPr lang="en-US" sz="1200" b="0" strike="noStrike" spc="-1">
              <a:latin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 name="PlaceHolder 1"/>
          <p:cNvSpPr>
            <a:spLocks noGrp="1" noRot="1" noChangeAspect="1"/>
          </p:cNvSpPr>
          <p:nvPr>
            <p:ph type="sldImg"/>
          </p:nvPr>
        </p:nvSpPr>
        <p:spPr>
          <a:xfrm>
            <a:off x="687388" y="1143000"/>
            <a:ext cx="5480050" cy="3082925"/>
          </a:xfrm>
          <a:prstGeom prst="rect">
            <a:avLst/>
          </a:prstGeom>
          <a:ln w="0">
            <a:noFill/>
          </a:ln>
        </p:spPr>
      </p:sp>
      <p:sp>
        <p:nvSpPr>
          <p:cNvPr id="879"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80"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7A1904F2-3249-488E-A0C7-92C4214D1B3E}" type="slidenum">
              <a:rPr lang="en-US" sz="1200" b="0" strike="noStrike" spc="-1">
                <a:solidFill>
                  <a:srgbClr val="000000"/>
                </a:solidFill>
                <a:latin typeface="+mn-lt"/>
                <a:ea typeface="+mn-ea"/>
              </a:rPr>
              <a:t>40</a:t>
            </a:fld>
            <a:endParaRPr lang="en-US" sz="1200" b="0" strike="noStrike" spc="-1">
              <a:latin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 name="PlaceHolder 1"/>
          <p:cNvSpPr>
            <a:spLocks noGrp="1" noRot="1" noChangeAspect="1"/>
          </p:cNvSpPr>
          <p:nvPr>
            <p:ph type="sldImg"/>
          </p:nvPr>
        </p:nvSpPr>
        <p:spPr>
          <a:xfrm>
            <a:off x="687388" y="1143000"/>
            <a:ext cx="5480050" cy="3082925"/>
          </a:xfrm>
          <a:prstGeom prst="rect">
            <a:avLst/>
          </a:prstGeom>
          <a:ln w="0">
            <a:noFill/>
          </a:ln>
        </p:spPr>
      </p:sp>
      <p:sp>
        <p:nvSpPr>
          <p:cNvPr id="882"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83"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DD2E9971-3575-496E-A894-A4A56D74619B}" type="slidenum">
              <a:rPr lang="en-US" sz="1200" b="0" strike="noStrike" spc="-1">
                <a:solidFill>
                  <a:srgbClr val="000000"/>
                </a:solidFill>
                <a:latin typeface="+mn-lt"/>
                <a:ea typeface="+mn-ea"/>
              </a:rPr>
              <a:t>41</a:t>
            </a:fld>
            <a:endParaRPr lang="en-US" sz="1200" b="0" strike="noStrike" spc="-1">
              <a:latin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 name="PlaceHolder 1"/>
          <p:cNvSpPr>
            <a:spLocks noGrp="1" noRot="1" noChangeAspect="1"/>
          </p:cNvSpPr>
          <p:nvPr>
            <p:ph type="sldImg"/>
          </p:nvPr>
        </p:nvSpPr>
        <p:spPr>
          <a:xfrm>
            <a:off x="687388" y="1143000"/>
            <a:ext cx="5480050" cy="3082925"/>
          </a:xfrm>
          <a:prstGeom prst="rect">
            <a:avLst/>
          </a:prstGeom>
          <a:ln w="0">
            <a:noFill/>
          </a:ln>
        </p:spPr>
      </p:sp>
      <p:sp>
        <p:nvSpPr>
          <p:cNvPr id="885"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920">
              <a:lnSpc>
                <a:spcPct val="100000"/>
              </a:lnSpc>
              <a:buNone/>
              <a:tabLst>
                <a:tab pos="0" algn="l"/>
              </a:tabLst>
            </a:pPr>
            <a:r>
              <a:rPr lang="en-US" sz="2000" b="0" strike="noStrike" spc="-1">
                <a:latin typeface="Arial"/>
              </a:rPr>
              <a:t>So, this seems to be a pretty good sample, because the sample mean (99.45) is close to the population mean (100)</a:t>
            </a:r>
          </a:p>
          <a:p>
            <a:pPr marL="216000" indent="-214920">
              <a:lnSpc>
                <a:spcPct val="100000"/>
              </a:lnSpc>
              <a:buNone/>
              <a:tabLst>
                <a:tab pos="0" algn="l"/>
              </a:tabLst>
            </a:pPr>
            <a:endParaRPr lang="en-US" sz="2000" b="0" strike="noStrike" spc="-1">
              <a:latin typeface="Arial"/>
            </a:endParaRPr>
          </a:p>
        </p:txBody>
      </p:sp>
      <p:sp>
        <p:nvSpPr>
          <p:cNvPr id="886"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590CE8CF-C4D0-46F3-A35A-F9B979CF6132}" type="slidenum">
              <a:rPr lang="en-US" sz="1200" b="0" strike="noStrike" spc="-1">
                <a:solidFill>
                  <a:srgbClr val="000000"/>
                </a:solidFill>
                <a:latin typeface="+mn-lt"/>
                <a:ea typeface="+mn-ea"/>
              </a:rPr>
              <a:t>42</a:t>
            </a:fld>
            <a:endParaRPr lang="en-US" sz="1200" b="0" strike="noStrike" spc="-1">
              <a:latin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 name="PlaceHolder 1"/>
          <p:cNvSpPr>
            <a:spLocks noGrp="1" noRot="1" noChangeAspect="1"/>
          </p:cNvSpPr>
          <p:nvPr>
            <p:ph type="sldImg"/>
          </p:nvPr>
        </p:nvSpPr>
        <p:spPr>
          <a:xfrm>
            <a:off x="687388" y="1143000"/>
            <a:ext cx="5480050" cy="3082925"/>
          </a:xfrm>
          <a:prstGeom prst="rect">
            <a:avLst/>
          </a:prstGeom>
          <a:ln w="0">
            <a:noFill/>
          </a:ln>
        </p:spPr>
      </p:sp>
      <p:sp>
        <p:nvSpPr>
          <p:cNvPr id="888"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920">
              <a:lnSpc>
                <a:spcPct val="100000"/>
              </a:lnSpc>
              <a:buNone/>
              <a:tabLst>
                <a:tab pos="0" algn="l"/>
              </a:tabLst>
            </a:pPr>
            <a:r>
              <a:rPr lang="en-US" sz="2000" b="0" strike="noStrike" spc="-1">
                <a:latin typeface="Arial"/>
              </a:rPr>
              <a:t>So, this seems to be a pretty good sample, because the sample mean (99.45) is close to the population mean (100)</a:t>
            </a:r>
          </a:p>
          <a:p>
            <a:pPr marL="216000" indent="-214920">
              <a:lnSpc>
                <a:spcPct val="100000"/>
              </a:lnSpc>
              <a:buNone/>
              <a:tabLst>
                <a:tab pos="0" algn="l"/>
              </a:tabLst>
            </a:pPr>
            <a:endParaRPr lang="en-US" sz="2000" b="0" strike="noStrike" spc="-1">
              <a:latin typeface="Arial"/>
            </a:endParaRPr>
          </a:p>
        </p:txBody>
      </p:sp>
      <p:sp>
        <p:nvSpPr>
          <p:cNvPr id="889"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273E6E8A-7EEE-4BED-9496-3B940391BE4E}" type="slidenum">
              <a:rPr lang="en-US" sz="1200" b="0" strike="noStrike" spc="-1">
                <a:solidFill>
                  <a:srgbClr val="000000"/>
                </a:solidFill>
                <a:latin typeface="+mn-lt"/>
                <a:ea typeface="+mn-ea"/>
              </a:rPr>
              <a:t>43</a:t>
            </a:fld>
            <a:endParaRPr lang="en-US" sz="1200" b="0" strike="noStrike" spc="-1">
              <a:latin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 name="PlaceHolder 1"/>
          <p:cNvSpPr>
            <a:spLocks noGrp="1" noRot="1" noChangeAspect="1"/>
          </p:cNvSpPr>
          <p:nvPr>
            <p:ph type="sldImg"/>
          </p:nvPr>
        </p:nvSpPr>
        <p:spPr>
          <a:xfrm>
            <a:off x="687388" y="1143000"/>
            <a:ext cx="5480050" cy="3082925"/>
          </a:xfrm>
          <a:prstGeom prst="rect">
            <a:avLst/>
          </a:prstGeom>
          <a:ln w="0">
            <a:noFill/>
          </a:ln>
        </p:spPr>
      </p:sp>
      <p:sp>
        <p:nvSpPr>
          <p:cNvPr id="891"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92"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7318751C-772E-4D4A-B818-70A4CFA34E42}" type="slidenum">
              <a:rPr lang="en-US" sz="1200" b="0" strike="noStrike" spc="-1">
                <a:solidFill>
                  <a:srgbClr val="000000"/>
                </a:solidFill>
                <a:latin typeface="+mn-lt"/>
                <a:ea typeface="+mn-ea"/>
              </a:rPr>
              <a:t>44</a:t>
            </a:fld>
            <a:endParaRPr lang="en-US" sz="1200" b="0" strike="noStrike" spc="-1">
              <a:latin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 name="PlaceHolder 1"/>
          <p:cNvSpPr>
            <a:spLocks noGrp="1" noRot="1" noChangeAspect="1"/>
          </p:cNvSpPr>
          <p:nvPr>
            <p:ph type="sldImg"/>
          </p:nvPr>
        </p:nvSpPr>
        <p:spPr>
          <a:xfrm>
            <a:off x="687388" y="1143000"/>
            <a:ext cx="5480050" cy="3082925"/>
          </a:xfrm>
          <a:prstGeom prst="rect">
            <a:avLst/>
          </a:prstGeom>
          <a:ln w="0">
            <a:noFill/>
          </a:ln>
        </p:spPr>
      </p:sp>
      <p:sp>
        <p:nvSpPr>
          <p:cNvPr id="894"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95" name="CustomShape 98"/>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28757931-38DF-43DF-965E-6259C2319A55}" type="slidenum">
              <a:rPr lang="en-US" sz="1200" b="0" strike="noStrike" spc="-1">
                <a:solidFill>
                  <a:srgbClr val="000000"/>
                </a:solidFill>
                <a:latin typeface="+mn-lt"/>
                <a:ea typeface="+mn-ea"/>
              </a:rPr>
              <a:t>45</a:t>
            </a:fld>
            <a:endParaRPr lang="en-US" sz="1200" b="0" strike="noStrike" spc="-1">
              <a:latin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 name="PlaceHolder 1"/>
          <p:cNvSpPr>
            <a:spLocks noGrp="1" noRot="1" noChangeAspect="1"/>
          </p:cNvSpPr>
          <p:nvPr>
            <p:ph type="sldImg"/>
          </p:nvPr>
        </p:nvSpPr>
        <p:spPr>
          <a:xfrm>
            <a:off x="687388" y="1143000"/>
            <a:ext cx="5480050" cy="3082925"/>
          </a:xfrm>
          <a:prstGeom prst="rect">
            <a:avLst/>
          </a:prstGeom>
          <a:ln w="0">
            <a:noFill/>
          </a:ln>
        </p:spPr>
      </p:sp>
      <p:sp>
        <p:nvSpPr>
          <p:cNvPr id="897"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898" name="CustomShape 101"/>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53E1C09F-C296-4166-8F89-6CF8EB25AA26}" type="slidenum">
              <a:rPr lang="en-US" sz="1200" b="0" strike="noStrike" spc="-1">
                <a:solidFill>
                  <a:srgbClr val="000000"/>
                </a:solidFill>
                <a:latin typeface="+mn-lt"/>
                <a:ea typeface="+mn-ea"/>
              </a:rPr>
              <a:t>46</a:t>
            </a:fld>
            <a:endParaRPr lang="en-US" sz="1200" b="0" strike="noStrike" spc="-1">
              <a:latin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 name="PlaceHolder 1"/>
          <p:cNvSpPr>
            <a:spLocks noGrp="1" noRot="1" noChangeAspect="1"/>
          </p:cNvSpPr>
          <p:nvPr>
            <p:ph type="sldImg"/>
          </p:nvPr>
        </p:nvSpPr>
        <p:spPr>
          <a:xfrm>
            <a:off x="687388" y="1143000"/>
            <a:ext cx="5480050" cy="3082925"/>
          </a:xfrm>
          <a:prstGeom prst="rect">
            <a:avLst/>
          </a:prstGeom>
          <a:ln w="0">
            <a:noFill/>
          </a:ln>
        </p:spPr>
      </p:sp>
      <p:sp>
        <p:nvSpPr>
          <p:cNvPr id="900"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901" name="CustomShape 120"/>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B3626374-1FCC-40B3-BA7C-B2266ADF3488}" type="slidenum">
              <a:rPr lang="en-US" sz="1200" b="0" strike="noStrike" spc="-1">
                <a:solidFill>
                  <a:srgbClr val="000000"/>
                </a:solidFill>
                <a:latin typeface="+mn-lt"/>
                <a:ea typeface="+mn-ea"/>
              </a:rPr>
              <a:t>47</a:t>
            </a:fld>
            <a:endParaRPr lang="en-US" sz="1200" b="0" strike="noStrike" spc="-1">
              <a:latin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 name="PlaceHolder 1"/>
          <p:cNvSpPr>
            <a:spLocks noGrp="1" noRot="1" noChangeAspect="1"/>
          </p:cNvSpPr>
          <p:nvPr>
            <p:ph type="sldImg"/>
          </p:nvPr>
        </p:nvSpPr>
        <p:spPr>
          <a:xfrm>
            <a:off x="687388" y="1143000"/>
            <a:ext cx="5480050" cy="3082925"/>
          </a:xfrm>
          <a:prstGeom prst="rect">
            <a:avLst/>
          </a:prstGeom>
          <a:ln w="0">
            <a:noFill/>
          </a:ln>
        </p:spPr>
      </p:sp>
      <p:sp>
        <p:nvSpPr>
          <p:cNvPr id="903"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r>
              <a:rPr lang="en-US" sz="2000" b="0" strike="noStrike" spc="-1">
                <a:latin typeface="Arial"/>
              </a:rPr>
              <a:t>AGAIN MENTION THAT this can be both statistic as parameter</a:t>
            </a:r>
          </a:p>
        </p:txBody>
      </p:sp>
      <p:sp>
        <p:nvSpPr>
          <p:cNvPr id="904" name="CustomShape 110"/>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181DA984-95D6-4339-96D8-5EC89CDE278E}" type="slidenum">
              <a:rPr lang="en-US" sz="1200" b="0" strike="noStrike" spc="-1">
                <a:solidFill>
                  <a:srgbClr val="000000"/>
                </a:solidFill>
                <a:latin typeface="+mn-lt"/>
                <a:ea typeface="+mn-ea"/>
              </a:rPr>
              <a:t>48</a:t>
            </a:fld>
            <a:endParaRPr lang="en-US" sz="1200" b="0" strike="noStrike" spc="-1">
              <a:latin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PlaceHolder 1"/>
          <p:cNvSpPr>
            <a:spLocks noGrp="1" noRot="1" noChangeAspect="1"/>
          </p:cNvSpPr>
          <p:nvPr>
            <p:ph type="sldImg"/>
          </p:nvPr>
        </p:nvSpPr>
        <p:spPr>
          <a:xfrm>
            <a:off x="687388" y="1143000"/>
            <a:ext cx="5480050" cy="3082925"/>
          </a:xfrm>
          <a:prstGeom prst="rect">
            <a:avLst/>
          </a:prstGeom>
          <a:ln w="0">
            <a:noFill/>
          </a:ln>
        </p:spPr>
      </p:sp>
      <p:sp>
        <p:nvSpPr>
          <p:cNvPr id="906"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r>
              <a:rPr lang="en-US" sz="2000" b="0" strike="noStrike" spc="-1">
                <a:latin typeface="Arial"/>
              </a:rPr>
              <a:t>AGAIN MENTION THAT this can be both statistic as parameter</a:t>
            </a:r>
          </a:p>
        </p:txBody>
      </p:sp>
      <p:sp>
        <p:nvSpPr>
          <p:cNvPr id="907"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CE141990-070F-479A-A412-ACF71226F59C}" type="slidenum">
              <a:rPr lang="en-US" sz="1200" b="0" strike="noStrike" spc="-1">
                <a:solidFill>
                  <a:srgbClr val="000000"/>
                </a:solidFill>
                <a:latin typeface="+mn-lt"/>
                <a:ea typeface="+mn-ea"/>
              </a:rPr>
              <a:t>49</a:t>
            </a:fld>
            <a:endParaRPr lang="en-US" sz="1200" b="0" strike="noStrike" spc="-1">
              <a:latin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 name="PlaceHolder 1"/>
          <p:cNvSpPr>
            <a:spLocks noGrp="1" noRot="1" noChangeAspect="1"/>
          </p:cNvSpPr>
          <p:nvPr>
            <p:ph type="sldImg"/>
          </p:nvPr>
        </p:nvSpPr>
        <p:spPr>
          <a:xfrm>
            <a:off x="687388" y="1143000"/>
            <a:ext cx="5480050" cy="3082925"/>
          </a:xfrm>
          <a:prstGeom prst="rect">
            <a:avLst/>
          </a:prstGeom>
          <a:ln w="0">
            <a:noFill/>
          </a:ln>
        </p:spPr>
      </p:sp>
      <p:sp>
        <p:nvSpPr>
          <p:cNvPr id="909"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r>
              <a:rPr lang="en-US" sz="2000" b="0" strike="noStrike" spc="-1">
                <a:latin typeface="Arial"/>
              </a:rPr>
              <a:t>AGAIN MENTION THAT this can be both statistic as parameter</a:t>
            </a:r>
          </a:p>
        </p:txBody>
      </p:sp>
      <p:sp>
        <p:nvSpPr>
          <p:cNvPr id="910" name="CustomShape 11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6BB5064F-60BA-4247-BFC1-38264725792B}" type="slidenum">
              <a:rPr lang="en-US" sz="1200" b="0" strike="noStrike" spc="-1">
                <a:solidFill>
                  <a:srgbClr val="000000"/>
                </a:solidFill>
                <a:latin typeface="+mn-lt"/>
                <a:ea typeface="+mn-ea"/>
              </a:rPr>
              <a:t>50</a:t>
            </a:fld>
            <a:endParaRPr lang="en-US" sz="1200" b="0" strike="noStrike" spc="-1">
              <a:latin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 name="PlaceHolder 1"/>
          <p:cNvSpPr>
            <a:spLocks noGrp="1" noRot="1" noChangeAspect="1"/>
          </p:cNvSpPr>
          <p:nvPr>
            <p:ph type="sldImg"/>
          </p:nvPr>
        </p:nvSpPr>
        <p:spPr>
          <a:xfrm>
            <a:off x="687388" y="1143000"/>
            <a:ext cx="5480050" cy="3082925"/>
          </a:xfrm>
          <a:prstGeom prst="rect">
            <a:avLst/>
          </a:prstGeom>
          <a:ln w="0">
            <a:noFill/>
          </a:ln>
        </p:spPr>
      </p:sp>
      <p:sp>
        <p:nvSpPr>
          <p:cNvPr id="912"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r>
              <a:rPr lang="en-US" sz="2000" b="0" strike="noStrike" spc="-1">
                <a:latin typeface="Arial"/>
              </a:rPr>
              <a:t>Mention outliers</a:t>
            </a:r>
          </a:p>
        </p:txBody>
      </p:sp>
      <p:sp>
        <p:nvSpPr>
          <p:cNvPr id="913"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B2D98BC9-9C89-4B01-B289-2301B3C0DD3B}" type="slidenum">
              <a:rPr lang="en-US" sz="1200" b="0" strike="noStrike" spc="-1">
                <a:solidFill>
                  <a:srgbClr val="000000"/>
                </a:solidFill>
                <a:latin typeface="+mn-lt"/>
                <a:ea typeface="+mn-ea"/>
              </a:rPr>
              <a:t>51</a:t>
            </a:fld>
            <a:endParaRPr lang="en-US" sz="1200" b="0" strike="noStrike" spc="-1">
              <a:latin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 name="PlaceHolder 1"/>
          <p:cNvSpPr>
            <a:spLocks noGrp="1" noRot="1" noChangeAspect="1"/>
          </p:cNvSpPr>
          <p:nvPr>
            <p:ph type="sldImg"/>
          </p:nvPr>
        </p:nvSpPr>
        <p:spPr>
          <a:xfrm>
            <a:off x="687388" y="1143000"/>
            <a:ext cx="5480050" cy="3082925"/>
          </a:xfrm>
          <a:prstGeom prst="rect">
            <a:avLst/>
          </a:prstGeom>
          <a:ln w="0">
            <a:noFill/>
          </a:ln>
        </p:spPr>
      </p:sp>
      <p:sp>
        <p:nvSpPr>
          <p:cNvPr id="915"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pPr marL="216000" indent="-214560">
              <a:lnSpc>
                <a:spcPct val="100000"/>
              </a:lnSpc>
              <a:buNone/>
              <a:tabLst>
                <a:tab pos="0" algn="l"/>
              </a:tabLst>
            </a:pPr>
            <a:r>
              <a:rPr lang="en-US" sz="2000" b="0" strike="noStrike" spc="-1">
                <a:latin typeface="Arial"/>
              </a:rPr>
              <a:t>Mention outliers</a:t>
            </a:r>
          </a:p>
        </p:txBody>
      </p:sp>
      <p:sp>
        <p:nvSpPr>
          <p:cNvPr id="916"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F13A4DA9-FAA0-4E28-868A-BAC94126CC02}" type="slidenum">
              <a:rPr lang="en-US" sz="1200" b="0" strike="noStrike" spc="-1">
                <a:solidFill>
                  <a:srgbClr val="000000"/>
                </a:solidFill>
                <a:latin typeface="+mn-lt"/>
                <a:ea typeface="+mn-ea"/>
              </a:rPr>
              <a:t>52</a:t>
            </a:fld>
            <a:endParaRPr lang="en-US" sz="1200" b="0" strike="noStrike" spc="-1">
              <a:latin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PlaceHolder 1"/>
          <p:cNvSpPr>
            <a:spLocks noGrp="1" noRot="1" noChangeAspect="1"/>
          </p:cNvSpPr>
          <p:nvPr>
            <p:ph type="sldImg"/>
          </p:nvPr>
        </p:nvSpPr>
        <p:spPr>
          <a:xfrm>
            <a:off x="687388" y="1143000"/>
            <a:ext cx="5480050" cy="3082925"/>
          </a:xfrm>
          <a:prstGeom prst="rect">
            <a:avLst/>
          </a:prstGeom>
          <a:ln w="0">
            <a:noFill/>
          </a:ln>
        </p:spPr>
      </p:sp>
      <p:sp>
        <p:nvSpPr>
          <p:cNvPr id="918"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919"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ED9E6DA0-F6E1-41DD-96E6-9B8177D82286}" type="slidenum">
              <a:rPr lang="en-US" sz="1200" b="0" strike="noStrike" spc="-1">
                <a:solidFill>
                  <a:srgbClr val="000000"/>
                </a:solidFill>
                <a:latin typeface="+mn-lt"/>
                <a:ea typeface="+mn-ea"/>
              </a:rPr>
              <a:t>53</a:t>
            </a:fld>
            <a:endParaRPr lang="en-US" sz="1200" b="0" strike="noStrike" spc="-1">
              <a:latin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 name="PlaceHolder 1"/>
          <p:cNvSpPr>
            <a:spLocks noGrp="1" noRot="1" noChangeAspect="1"/>
          </p:cNvSpPr>
          <p:nvPr>
            <p:ph type="sldImg"/>
          </p:nvPr>
        </p:nvSpPr>
        <p:spPr>
          <a:xfrm>
            <a:off x="687388" y="1143000"/>
            <a:ext cx="5480050" cy="3082925"/>
          </a:xfrm>
          <a:prstGeom prst="rect">
            <a:avLst/>
          </a:prstGeom>
          <a:ln w="0">
            <a:noFill/>
          </a:ln>
        </p:spPr>
      </p:sp>
      <p:sp>
        <p:nvSpPr>
          <p:cNvPr id="921"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922"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0BB9477B-B676-4E1C-BADD-3D2F7823ADCD}" type="slidenum">
              <a:rPr lang="en-US" sz="1200" b="0" strike="noStrike" spc="-1">
                <a:solidFill>
                  <a:srgbClr val="000000"/>
                </a:solidFill>
                <a:latin typeface="+mn-lt"/>
                <a:ea typeface="+mn-ea"/>
              </a:rPr>
              <a:t>54</a:t>
            </a:fld>
            <a:endParaRPr lang="en-US" sz="1200" b="0" strike="noStrike" spc="-1">
              <a:latin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 name="PlaceHolder 1"/>
          <p:cNvSpPr>
            <a:spLocks noGrp="1" noRot="1" noChangeAspect="1"/>
          </p:cNvSpPr>
          <p:nvPr>
            <p:ph type="sldImg"/>
          </p:nvPr>
        </p:nvSpPr>
        <p:spPr>
          <a:xfrm>
            <a:off x="687388" y="1143000"/>
            <a:ext cx="5480050" cy="3082925"/>
          </a:xfrm>
          <a:prstGeom prst="rect">
            <a:avLst/>
          </a:prstGeom>
          <a:ln w="0">
            <a:noFill/>
          </a:ln>
        </p:spPr>
      </p:sp>
      <p:sp>
        <p:nvSpPr>
          <p:cNvPr id="924"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925"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B6735152-DEB6-43FB-8402-6B83AE98E61E}" type="slidenum">
              <a:rPr lang="en-US" sz="1200" b="0" strike="noStrike" spc="-1">
                <a:solidFill>
                  <a:srgbClr val="000000"/>
                </a:solidFill>
                <a:latin typeface="+mn-lt"/>
                <a:ea typeface="+mn-ea"/>
              </a:rPr>
              <a:t>55</a:t>
            </a:fld>
            <a:endParaRPr lang="en-US" sz="1200" b="0" strike="noStrike" spc="-1">
              <a:latin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 name="PlaceHolder 1"/>
          <p:cNvSpPr>
            <a:spLocks noGrp="1" noRot="1" noChangeAspect="1"/>
          </p:cNvSpPr>
          <p:nvPr>
            <p:ph type="sldImg"/>
          </p:nvPr>
        </p:nvSpPr>
        <p:spPr>
          <a:xfrm>
            <a:off x="685800" y="1143000"/>
            <a:ext cx="5483225" cy="3084513"/>
          </a:xfrm>
          <a:prstGeom prst="rect">
            <a:avLst/>
          </a:prstGeom>
          <a:ln w="0">
            <a:noFill/>
          </a:ln>
        </p:spPr>
      </p:sp>
      <p:sp>
        <p:nvSpPr>
          <p:cNvPr id="927" name="PlaceHolder 2"/>
          <p:cNvSpPr>
            <a:spLocks noGrp="1"/>
          </p:cNvSpPr>
          <p:nvPr>
            <p:ph type="body"/>
          </p:nvPr>
        </p:nvSpPr>
        <p:spPr>
          <a:xfrm>
            <a:off x="685800" y="4400640"/>
            <a:ext cx="5483880" cy="3597840"/>
          </a:xfrm>
          <a:prstGeom prst="rect">
            <a:avLst/>
          </a:prstGeom>
          <a:noFill/>
          <a:ln w="0">
            <a:noFill/>
          </a:ln>
        </p:spPr>
        <p:txBody>
          <a:bodyPr lIns="0" tIns="0" rIns="0" bIns="0" anchor="t">
            <a:noAutofit/>
          </a:bodyPr>
          <a:lstStyle/>
          <a:p>
            <a:endParaRPr lang="en-US" sz="2000" b="0" strike="noStrike" spc="-1">
              <a:latin typeface="Arial"/>
            </a:endParaRPr>
          </a:p>
        </p:txBody>
      </p:sp>
      <p:sp>
        <p:nvSpPr>
          <p:cNvPr id="928" name="CustomShape 3"/>
          <p:cNvSpPr/>
          <p:nvPr/>
        </p:nvSpPr>
        <p:spPr>
          <a:xfrm>
            <a:off x="3884760" y="8685360"/>
            <a:ext cx="2969280" cy="456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8D2D6081-4FB3-46AC-8E8A-A648130FC7C4}" type="slidenum">
              <a:rPr lang="en-US" sz="1200" b="0" strike="noStrike" spc="-1">
                <a:solidFill>
                  <a:srgbClr val="000000"/>
                </a:solidFill>
                <a:latin typeface="+mn-lt"/>
                <a:ea typeface="+mn-ea"/>
              </a:rPr>
              <a:t>56</a:t>
            </a:fld>
            <a:endParaRPr lang="en-US" sz="1200" b="0" strike="noStrike" spc="-1">
              <a:latin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 name="PlaceHolder 1"/>
          <p:cNvSpPr>
            <a:spLocks noGrp="1" noRot="1" noChangeAspect="1"/>
          </p:cNvSpPr>
          <p:nvPr>
            <p:ph type="sldImg"/>
          </p:nvPr>
        </p:nvSpPr>
        <p:spPr>
          <a:xfrm>
            <a:off x="687388" y="1143000"/>
            <a:ext cx="5480050" cy="3082925"/>
          </a:xfrm>
          <a:prstGeom prst="rect">
            <a:avLst/>
          </a:prstGeom>
          <a:ln w="0">
            <a:noFill/>
          </a:ln>
        </p:spPr>
      </p:sp>
      <p:sp>
        <p:nvSpPr>
          <p:cNvPr id="930"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931"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122E443D-B947-4E15-9757-4C89EA82D5D3}" type="slidenum">
              <a:rPr lang="en-US" sz="1200" b="0" strike="noStrike" spc="-1">
                <a:solidFill>
                  <a:srgbClr val="000000"/>
                </a:solidFill>
                <a:latin typeface="+mn-lt"/>
                <a:ea typeface="+mn-ea"/>
              </a:rPr>
              <a:t>57</a:t>
            </a:fld>
            <a:endParaRPr lang="en-US" sz="1200" b="0" strike="noStrike" spc="-1">
              <a:latin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 name="PlaceHolder 1"/>
          <p:cNvSpPr>
            <a:spLocks noGrp="1" noRot="1" noChangeAspect="1"/>
          </p:cNvSpPr>
          <p:nvPr>
            <p:ph type="sldImg"/>
          </p:nvPr>
        </p:nvSpPr>
        <p:spPr>
          <a:xfrm>
            <a:off x="687388" y="1143000"/>
            <a:ext cx="5480050" cy="3082925"/>
          </a:xfrm>
          <a:prstGeom prst="rect">
            <a:avLst/>
          </a:prstGeom>
          <a:ln w="0">
            <a:noFill/>
          </a:ln>
        </p:spPr>
      </p:sp>
      <p:sp>
        <p:nvSpPr>
          <p:cNvPr id="933" name="PlaceHolder 2"/>
          <p:cNvSpPr>
            <a:spLocks noGrp="1"/>
          </p:cNvSpPr>
          <p:nvPr>
            <p:ph type="body"/>
          </p:nvPr>
        </p:nvSpPr>
        <p:spPr>
          <a:xfrm>
            <a:off x="685800" y="4400640"/>
            <a:ext cx="5483520" cy="3597480"/>
          </a:xfrm>
          <a:prstGeom prst="rect">
            <a:avLst/>
          </a:prstGeom>
          <a:noFill/>
          <a:ln w="0">
            <a:noFill/>
          </a:ln>
        </p:spPr>
        <p:txBody>
          <a:bodyPr lIns="0" tIns="0" rIns="0" bIns="0" anchor="t">
            <a:noAutofit/>
          </a:bodyPr>
          <a:lstStyle/>
          <a:p>
            <a:endParaRPr lang="en-US" sz="2000" b="0" strike="noStrike" spc="-1">
              <a:latin typeface="Arial"/>
            </a:endParaRPr>
          </a:p>
        </p:txBody>
      </p:sp>
      <p:sp>
        <p:nvSpPr>
          <p:cNvPr id="934" name="CustomShape 3"/>
          <p:cNvSpPr/>
          <p:nvPr/>
        </p:nvSpPr>
        <p:spPr>
          <a:xfrm>
            <a:off x="3884760" y="8685360"/>
            <a:ext cx="2968920" cy="4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25A20EEB-DDF7-4F8A-96AB-3D45DBEEAC7F}" type="slidenum">
              <a:rPr lang="en-US" sz="1200" b="0" strike="noStrike" spc="-1">
                <a:solidFill>
                  <a:srgbClr val="000000"/>
                </a:solidFill>
                <a:latin typeface="+mn-lt"/>
                <a:ea typeface="+mn-ea"/>
              </a:rPr>
              <a:t>58</a:t>
            </a:fld>
            <a:endParaRPr lang="en-US" sz="12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3975796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science.sciencemag.org/content/349/6251/aac4716.full?ijkey=1xgFoCnpLswpk&amp;keytype=ref&amp;siteid=sc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en.wikipedia.org/wiki/Reproducibility_Projec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edu.nl/t9wbp"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JC82Il2cjqA" TargetMode="External"/><Relationship Id="rId2" Type="http://schemas.openxmlformats.org/officeDocument/2006/relationships/slideLayout" Target="../slideLayouts/slideLayout2.xml"/><Relationship Id="rId1" Type="http://schemas.openxmlformats.org/officeDocument/2006/relationships/video" Target="https://www.youtube.com/embed/JC82Il2cjqA?feature=oembed" TargetMode="External"/><Relationship Id="rId4" Type="http://schemas.openxmlformats.org/officeDocument/2006/relationships/image" Target="../media/image7.jpe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https://www.youtube.com/watch?v=jbkSRLYSojo&amp;feature=youtu.be" TargetMode="External"/><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hyperlink" Target="https://www.youtube.com/watch?v=jbkSRLYSojo"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CustomShape 1"/>
          <p:cNvSpPr/>
          <p:nvPr/>
        </p:nvSpPr>
        <p:spPr>
          <a:xfrm>
            <a:off x="2448720" y="4754880"/>
            <a:ext cx="7149960" cy="72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90000"/>
              </a:lnSpc>
              <a:spcBef>
                <a:spcPts val="1001"/>
              </a:spcBef>
              <a:buNone/>
            </a:pPr>
            <a:endParaRPr lang="en-US" sz="1800" b="0" strike="noStrike" spc="-1">
              <a:latin typeface="Arial"/>
            </a:endParaRPr>
          </a:p>
          <a:p>
            <a:pPr algn="ctr">
              <a:lnSpc>
                <a:spcPct val="90000"/>
              </a:lnSpc>
              <a:spcBef>
                <a:spcPts val="1001"/>
              </a:spcBef>
              <a:buNone/>
            </a:pPr>
            <a:r>
              <a:rPr lang="en-US" sz="2000" b="0" strike="noStrike" spc="-1">
                <a:solidFill>
                  <a:srgbClr val="000000"/>
                </a:solidFill>
                <a:latin typeface="Calibri"/>
                <a:ea typeface="DejaVu Sans"/>
              </a:rPr>
              <a:t>Johnny van Doorn</a:t>
            </a:r>
            <a:endParaRPr lang="en-US" sz="2000" b="0" strike="noStrike" spc="-1">
              <a:latin typeface="Arial"/>
            </a:endParaRPr>
          </a:p>
        </p:txBody>
      </p:sp>
      <p:sp>
        <p:nvSpPr>
          <p:cNvPr id="350" name="CustomShape 2"/>
          <p:cNvSpPr/>
          <p:nvPr/>
        </p:nvSpPr>
        <p:spPr>
          <a:xfrm>
            <a:off x="663840" y="3383280"/>
            <a:ext cx="11130120" cy="1613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3600" b="0" strike="noStrike" spc="-1">
                <a:solidFill>
                  <a:srgbClr val="000000"/>
                </a:solidFill>
                <a:latin typeface="Calibri"/>
                <a:ea typeface="DejaVu Sans"/>
              </a:rPr>
              <a:t>Research Methods and Statistics</a:t>
            </a:r>
            <a:endParaRPr lang="en-US" sz="3600" b="0" strike="noStrike" spc="-1">
              <a:latin typeface="Arial"/>
            </a:endParaRPr>
          </a:p>
          <a:p>
            <a:pPr algn="ctr">
              <a:lnSpc>
                <a:spcPct val="100000"/>
              </a:lnSpc>
              <a:buNone/>
            </a:pPr>
            <a:endParaRPr lang="en-US" sz="3600" b="0" strike="noStrike" spc="-1">
              <a:latin typeface="Arial"/>
            </a:endParaRPr>
          </a:p>
          <a:p>
            <a:pPr algn="ctr">
              <a:lnSpc>
                <a:spcPct val="100000"/>
              </a:lnSpc>
              <a:buNone/>
            </a:pPr>
            <a:r>
              <a:rPr lang="en-US" sz="2800" b="0" strike="noStrike" spc="-1">
                <a:solidFill>
                  <a:srgbClr val="000000"/>
                </a:solidFill>
                <a:latin typeface="Calibri"/>
                <a:ea typeface="DejaVu Sans"/>
              </a:rPr>
              <a:t>Lecture 3: Why are statistics needed? + Exploring data</a:t>
            </a:r>
            <a:endParaRPr lang="en-US" sz="2800" b="0" strike="noStrike" spc="-1">
              <a:latin typeface="Arial"/>
            </a:endParaRPr>
          </a:p>
        </p:txBody>
      </p:sp>
      <p:sp>
        <p:nvSpPr>
          <p:cNvPr id="351" name="CustomShape 3"/>
          <p:cNvSpPr/>
          <p:nvPr/>
        </p:nvSpPr>
        <p:spPr>
          <a:xfrm>
            <a:off x="941832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7F576166-A726-4F4D-9052-3509FCC78ED5}" type="slidenum">
              <a:rPr lang="en-US" sz="1200" b="0" strike="noStrike" spc="-1">
                <a:solidFill>
                  <a:srgbClr val="8B8B8B"/>
                </a:solidFill>
                <a:latin typeface="Calibri"/>
                <a:ea typeface="DejaVu Sans"/>
              </a:rPr>
              <a:t>1</a:t>
            </a:fld>
            <a:endParaRPr lang="en-US" sz="1200" b="0" strike="noStrike" spc="-1">
              <a:latin typeface="Arial"/>
            </a:endParaRPr>
          </a:p>
        </p:txBody>
      </p:sp>
      <p:pic>
        <p:nvPicPr>
          <p:cNvPr id="352" name="Picture 351"/>
          <p:cNvPicPr/>
          <p:nvPr/>
        </p:nvPicPr>
        <p:blipFill>
          <a:blip r:embed="rId3"/>
          <a:stretch/>
        </p:blipFill>
        <p:spPr>
          <a:xfrm>
            <a:off x="5662080" y="5780160"/>
            <a:ext cx="929520" cy="923400"/>
          </a:xfrm>
          <a:prstGeom prst="rect">
            <a:avLst/>
          </a:prstGeom>
          <a:ln w="0">
            <a:noFill/>
          </a:ln>
        </p:spPr>
      </p:pic>
      <p:grpSp>
        <p:nvGrpSpPr>
          <p:cNvPr id="353" name="Group 4"/>
          <p:cNvGrpSpPr/>
          <p:nvPr/>
        </p:nvGrpSpPr>
        <p:grpSpPr>
          <a:xfrm>
            <a:off x="1585800" y="-789480"/>
            <a:ext cx="9018720" cy="4177800"/>
            <a:chOff x="1585800" y="-789480"/>
            <a:chExt cx="9018720" cy="4177800"/>
          </a:xfrm>
        </p:grpSpPr>
        <p:pic>
          <p:nvPicPr>
            <p:cNvPr id="354" name="Picture 353"/>
            <p:cNvPicPr/>
            <p:nvPr/>
          </p:nvPicPr>
          <p:blipFill>
            <a:blip r:embed="rId4"/>
            <a:srcRect r="5718"/>
            <a:stretch/>
          </p:blipFill>
          <p:spPr>
            <a:xfrm>
              <a:off x="1585800" y="-789480"/>
              <a:ext cx="9018720" cy="4177800"/>
            </a:xfrm>
            <a:prstGeom prst="rect">
              <a:avLst/>
            </a:prstGeom>
            <a:ln w="0">
              <a:noFill/>
            </a:ln>
          </p:spPr>
        </p:pic>
        <p:sp>
          <p:nvSpPr>
            <p:cNvPr id="355" name="CustomShape 5"/>
            <p:cNvSpPr/>
            <p:nvPr/>
          </p:nvSpPr>
          <p:spPr>
            <a:xfrm rot="20194200">
              <a:off x="4436280" y="1266480"/>
              <a:ext cx="101952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nl-NL" sz="2000" b="1" i="1" strike="noStrike" spc="-1">
                  <a:solidFill>
                    <a:srgbClr val="000000"/>
                  </a:solidFill>
                  <a:latin typeface="Calibri"/>
                  <a:ea typeface="DejaVu Sans"/>
                </a:rPr>
                <a:t>Morling</a:t>
              </a:r>
              <a:endParaRPr lang="en-US" sz="2000" b="0" strike="noStrike" spc="-1">
                <a:latin typeface="Arial"/>
              </a:endParaRPr>
            </a:p>
          </p:txBody>
        </p:sp>
        <p:sp>
          <p:nvSpPr>
            <p:cNvPr id="356" name="CustomShape 6"/>
            <p:cNvSpPr/>
            <p:nvPr/>
          </p:nvSpPr>
          <p:spPr>
            <a:xfrm rot="20194200">
              <a:off x="8681040" y="1266480"/>
              <a:ext cx="92952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nl-NL" sz="2000" b="1" i="1" strike="noStrike" spc="-1">
                  <a:solidFill>
                    <a:srgbClr val="000000"/>
                  </a:solidFill>
                  <a:latin typeface="Calibri"/>
                  <a:ea typeface="DejaVu Sans"/>
                </a:rPr>
                <a:t>Agresti</a:t>
              </a:r>
              <a:endParaRPr lang="en-US" sz="2000" b="0" strike="noStrike" spc="-1">
                <a:latin typeface="Arial"/>
              </a:endParaRPr>
            </a:p>
          </p:txBody>
        </p:sp>
      </p:grpSp>
      <p:sp>
        <p:nvSpPr>
          <p:cNvPr id="357" name="CustomShape 7"/>
          <p:cNvSpPr/>
          <p:nvPr/>
        </p:nvSpPr>
        <p:spPr>
          <a:xfrm>
            <a:off x="5433120" y="6642720"/>
            <a:ext cx="1324080" cy="211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nl-NL" sz="800" b="0" strike="noStrike" spc="-1">
                <a:solidFill>
                  <a:srgbClr val="000000"/>
                </a:solidFill>
                <a:latin typeface="Calibri"/>
                <a:ea typeface="DejaVu Sans"/>
              </a:rPr>
              <a:t>Pictures source: pixabay.org</a:t>
            </a:r>
            <a:endParaRPr lang="en-US" sz="8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 name="Picture 361"/>
          <p:cNvPicPr/>
          <p:nvPr/>
        </p:nvPicPr>
        <p:blipFill>
          <a:blip r:embed="rId2"/>
          <a:stretch/>
        </p:blipFill>
        <p:spPr>
          <a:xfrm>
            <a:off x="2468880" y="1005840"/>
            <a:ext cx="7302960" cy="5054760"/>
          </a:xfrm>
          <a:prstGeom prst="rect">
            <a:avLst/>
          </a:prstGeom>
          <a:ln w="0">
            <a:noFill/>
          </a:ln>
        </p:spPr>
      </p:pic>
      <p:sp>
        <p:nvSpPr>
          <p:cNvPr id="363" name="CustomShape 1"/>
          <p:cNvSpPr/>
          <p:nvPr/>
        </p:nvSpPr>
        <p:spPr>
          <a:xfrm>
            <a:off x="7406640" y="5248080"/>
            <a:ext cx="4569480" cy="4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200" b="0" strike="noStrike" spc="-1">
                <a:solidFill>
                  <a:srgbClr val="000000"/>
                </a:solidFill>
                <a:latin typeface="Arial"/>
                <a:ea typeface="DejaVu Sans"/>
              </a:rPr>
              <a:t>% correct responses &gt; 50%</a:t>
            </a:r>
            <a:endParaRPr lang="en-US" sz="2200" b="0" strike="noStrike" spc="-1">
              <a:latin typeface="Arial"/>
            </a:endParaRPr>
          </a:p>
        </p:txBody>
      </p:sp>
      <p:sp>
        <p:nvSpPr>
          <p:cNvPr id="364" name="CustomShape 2"/>
          <p:cNvSpPr/>
          <p:nvPr/>
        </p:nvSpPr>
        <p:spPr>
          <a:xfrm>
            <a:off x="822960" y="4060800"/>
            <a:ext cx="22327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42 correct (73.7%)</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15 incorrect (26.3%)</a:t>
            </a:r>
            <a:endParaRPr lang="en-US" sz="1800" b="0" strike="noStrike" spc="-1">
              <a:latin typeface="Arial"/>
            </a:endParaRPr>
          </a:p>
        </p:txBody>
      </p:sp>
      <p:pic>
        <p:nvPicPr>
          <p:cNvPr id="365" name="Picture 364"/>
          <p:cNvPicPr/>
          <p:nvPr/>
        </p:nvPicPr>
        <p:blipFill>
          <a:blip r:embed="rId3"/>
          <a:stretch/>
        </p:blipFill>
        <p:spPr>
          <a:xfrm>
            <a:off x="274680" y="4663440"/>
            <a:ext cx="3014640" cy="200916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364"/>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Questions that come up</a:t>
            </a:r>
            <a:endParaRPr lang="en-US" sz="4400" b="0" strike="noStrike" spc="-1">
              <a:latin typeface="Arial"/>
            </a:endParaRPr>
          </a:p>
        </p:txBody>
      </p:sp>
      <p:sp>
        <p:nvSpPr>
          <p:cNvPr id="367"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How do we know that this conclusion is correct?</a:t>
            </a:r>
            <a:br>
              <a:rPr sz="1800" dirty="0"/>
            </a:br>
            <a:r>
              <a:rPr lang="en-US" sz="2800" b="0" strike="noStrike" spc="-1" dirty="0">
                <a:solidFill>
                  <a:srgbClr val="000000"/>
                </a:solidFill>
                <a:latin typeface="Calibri"/>
                <a:ea typeface="DejaVu Sans"/>
              </a:rPr>
              <a:t> </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How do we know that this study is performed accurately?</a:t>
            </a:r>
            <a:br>
              <a:rPr sz="1800" dirty="0"/>
            </a:br>
            <a:r>
              <a:rPr lang="en-US" sz="2800" b="0" strike="noStrike" spc="-1" dirty="0">
                <a:solidFill>
                  <a:srgbClr val="000000"/>
                </a:solidFill>
                <a:latin typeface="Calibri"/>
                <a:ea typeface="DejaVu Sans"/>
              </a:rPr>
              <a:t> </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How do we know that this is not a coincidence?</a:t>
            </a:r>
            <a:endParaRPr lang="en-US" sz="2800" b="0" strike="noStrike" spc="-1" dirty="0">
              <a:latin typeface="Arial"/>
            </a:endParaRPr>
          </a:p>
        </p:txBody>
      </p:sp>
      <p:sp>
        <p:nvSpPr>
          <p:cNvPr id="368"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533D51FB-15E0-4DF6-936A-DE03650F569C}" type="slidenum">
              <a:rPr lang="en-US" sz="1200" b="0" strike="noStrike" spc="-1">
                <a:solidFill>
                  <a:srgbClr val="8B8B8B"/>
                </a:solidFill>
                <a:latin typeface="Calibri"/>
                <a:ea typeface="DejaVu Sans"/>
              </a:rPr>
              <a:t>3</a:t>
            </a:fld>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3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CustomShape 1"/>
          <p:cNvSpPr/>
          <p:nvPr/>
        </p:nvSpPr>
        <p:spPr>
          <a:xfrm>
            <a:off x="838080" y="500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Today</a:t>
            </a:r>
            <a:endParaRPr lang="en-US" sz="4400" b="0" strike="noStrike" spc="-1">
              <a:latin typeface="Arial"/>
            </a:endParaRPr>
          </a:p>
        </p:txBody>
      </p:sp>
      <p:sp>
        <p:nvSpPr>
          <p:cNvPr id="370" name="CustomShape 2"/>
          <p:cNvSpPr/>
          <p:nvPr/>
        </p:nvSpPr>
        <p:spPr>
          <a:xfrm>
            <a:off x="838080" y="1825560"/>
            <a:ext cx="10512720" cy="475453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1500" lnSpcReduction="10000"/>
          </a:bodyPr>
          <a:lstStyle/>
          <a:p>
            <a:pPr marL="514440" indent="-512640">
              <a:lnSpc>
                <a:spcPct val="90000"/>
              </a:lnSpc>
              <a:spcBef>
                <a:spcPts val="1001"/>
              </a:spcBef>
              <a:buClr>
                <a:srgbClr val="ED7D31"/>
              </a:buClr>
              <a:buFont typeface="StarSymbol"/>
              <a:buAutoNum type="arabicPeriod"/>
            </a:pPr>
            <a:r>
              <a:rPr lang="en-US" sz="2800" b="1" strike="noStrike" spc="-1" dirty="0">
                <a:solidFill>
                  <a:srgbClr val="ED7D31"/>
                </a:solidFill>
                <a:latin typeface="Calibri"/>
                <a:ea typeface="DejaVu Sans"/>
              </a:rPr>
              <a:t>Why are statistics needed?</a:t>
            </a:r>
            <a:endParaRPr lang="en-US" sz="2800" b="0" strike="noStrike" spc="-1" dirty="0">
              <a:latin typeface="Arial"/>
            </a:endParaRPr>
          </a:p>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A little bit about the course</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The book: </a:t>
            </a:r>
            <a:r>
              <a:rPr lang="en-US" sz="2400" b="0" strike="noStrike" spc="-1" dirty="0" err="1">
                <a:solidFill>
                  <a:srgbClr val="000000"/>
                </a:solidFill>
                <a:latin typeface="Calibri"/>
                <a:ea typeface="DejaVu Sans"/>
              </a:rPr>
              <a:t>Agresti</a:t>
            </a:r>
            <a:r>
              <a:rPr lang="en-US" sz="2400" b="0" strike="noStrike" spc="-1" dirty="0">
                <a:solidFill>
                  <a:srgbClr val="000000"/>
                </a:solidFill>
                <a:latin typeface="Calibri"/>
                <a:ea typeface="DejaVu Sans"/>
              </a:rPr>
              <a:t>  &amp; Franklin</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Comparison to high school math</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How to prepare</a:t>
            </a:r>
            <a:endParaRPr lang="en-US" sz="2400" b="0" strike="noStrike" spc="-1" dirty="0">
              <a:latin typeface="Arial"/>
            </a:endParaRPr>
          </a:p>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How can you explore data?</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Types of data</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Displaying data</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Characteristics of a distribution</a:t>
            </a:r>
            <a:endParaRPr lang="en-US" sz="2400" b="0" strike="noStrike" spc="-1" dirty="0">
              <a:latin typeface="Arial"/>
            </a:endParaRPr>
          </a:p>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Recap</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Next time</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Example exam question</a:t>
            </a:r>
            <a:endParaRPr lang="en-US" sz="2400" b="0" strike="noStrike" spc="-1" dirty="0">
              <a:latin typeface="Arial"/>
            </a:endParaRPr>
          </a:p>
        </p:txBody>
      </p:sp>
      <p:sp>
        <p:nvSpPr>
          <p:cNvPr id="371"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DEFA7A2A-0287-4BB9-83B9-5D8513FC2BF1}" type="slidenum">
              <a:rPr lang="en-US" sz="1200" b="0" strike="noStrike" spc="-1">
                <a:solidFill>
                  <a:srgbClr val="8B8B8B"/>
                </a:solidFill>
                <a:latin typeface="Calibri"/>
                <a:ea typeface="DejaVu Sans"/>
              </a:rPr>
              <a:t>4</a:t>
            </a:fld>
            <a:endParaRPr lang="en-US" sz="12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Why are statistics needed?</a:t>
            </a:r>
            <a:endParaRPr lang="en-US" sz="4400" b="0" strike="noStrike" spc="-1">
              <a:latin typeface="Arial"/>
            </a:endParaRPr>
          </a:p>
        </p:txBody>
      </p:sp>
      <p:sp>
        <p:nvSpPr>
          <p:cNvPr id="373"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spcBef>
                <a:spcPts val="1001"/>
              </a:spcBef>
              <a:buNone/>
            </a:pPr>
            <a:r>
              <a:rPr lang="en-US" sz="2800" b="0" i="1" strike="noStrike" spc="-1" dirty="0">
                <a:solidFill>
                  <a:srgbClr val="ED7D31"/>
                </a:solidFill>
                <a:latin typeface="Calibri"/>
                <a:ea typeface="DejaVu Sans"/>
              </a:rPr>
              <a:t>What is science? </a:t>
            </a:r>
            <a:endParaRPr lang="en-US" sz="2800" b="0" strike="noStrike" spc="-1" dirty="0">
              <a:latin typeface="Arial"/>
            </a:endParaRPr>
          </a:p>
          <a:p>
            <a:pPr>
              <a:lnSpc>
                <a:spcPct val="90000"/>
              </a:lnSpc>
              <a:spcBef>
                <a:spcPts val="1001"/>
              </a:spcBef>
              <a:buNone/>
            </a:pPr>
            <a:r>
              <a:rPr lang="en-US" sz="2800" b="0" strike="noStrike" spc="-1" dirty="0">
                <a:solidFill>
                  <a:srgbClr val="000000"/>
                </a:solidFill>
                <a:latin typeface="Calibri"/>
                <a:ea typeface="DejaVu Sans"/>
              </a:rPr>
              <a:t>Last week Riet said: “The search for how the world works”</a:t>
            </a:r>
            <a:endParaRPr lang="en-US" sz="2800" b="0" strike="noStrike" spc="-1" dirty="0">
              <a:latin typeface="Arial"/>
            </a:endParaRPr>
          </a:p>
          <a:p>
            <a:pPr>
              <a:lnSpc>
                <a:spcPct val="90000"/>
              </a:lnSpc>
              <a:spcBef>
                <a:spcPts val="1001"/>
              </a:spcBef>
              <a:buNone/>
            </a:pP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Formal vs empirical sciences </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Empirical sciences are based on experience / observation</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Inductive reasoning: specific →</a:t>
            </a:r>
            <a:r>
              <a:rPr lang="en-US" sz="2800" b="0" strike="noStrike" spc="-1" dirty="0">
                <a:solidFill>
                  <a:srgbClr val="000000"/>
                </a:solidFill>
                <a:latin typeface="Wingdings"/>
                <a:ea typeface="DejaVu Sans"/>
              </a:rPr>
              <a:t> </a:t>
            </a:r>
            <a:r>
              <a:rPr lang="en-US" sz="2800" b="0" strike="noStrike" spc="-1" dirty="0">
                <a:solidFill>
                  <a:srgbClr val="000000"/>
                </a:solidFill>
                <a:latin typeface="Calibri"/>
                <a:ea typeface="DejaVu Sans"/>
              </a:rPr>
              <a:t>general</a:t>
            </a:r>
            <a:endParaRPr lang="en-US" sz="2800" b="0" strike="noStrike" spc="-1" dirty="0">
              <a:latin typeface="Arial"/>
            </a:endParaRPr>
          </a:p>
        </p:txBody>
      </p:sp>
      <p:sp>
        <p:nvSpPr>
          <p:cNvPr id="374"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3095E502-4095-42A2-9028-1D345FE6E06E}" type="slidenum">
              <a:rPr lang="en-US" sz="1200" b="0" strike="noStrike" spc="-1">
                <a:solidFill>
                  <a:srgbClr val="8B8B8B"/>
                </a:solidFill>
                <a:latin typeface="Calibri"/>
                <a:ea typeface="DejaVu Sans"/>
              </a:rPr>
              <a:t>5</a:t>
            </a:fld>
            <a:endParaRPr lang="en-US" sz="1200" b="0" strike="noStrike" spc="-1">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Why are statistics needed?</a:t>
            </a:r>
            <a:endParaRPr lang="en-US" sz="4400" b="0" strike="noStrike" spc="-1">
              <a:latin typeface="Arial"/>
            </a:endParaRPr>
          </a:p>
        </p:txBody>
      </p:sp>
      <p:sp>
        <p:nvSpPr>
          <p:cNvPr id="376"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spcBef>
                <a:spcPts val="1001"/>
              </a:spcBef>
              <a:buNone/>
            </a:pPr>
            <a:r>
              <a:rPr lang="en-US" sz="2800" b="0" i="1" strike="noStrike" spc="-1" dirty="0">
                <a:solidFill>
                  <a:srgbClr val="ED7D31"/>
                </a:solidFill>
                <a:latin typeface="Calibri"/>
                <a:ea typeface="DejaVu Sans"/>
              </a:rPr>
              <a:t>What is statistics?</a:t>
            </a:r>
            <a:endParaRPr lang="en-US" sz="2800" b="0" strike="noStrike" spc="-1" dirty="0">
              <a:latin typeface="Arial"/>
            </a:endParaRPr>
          </a:p>
          <a:p>
            <a:pPr>
              <a:lnSpc>
                <a:spcPct val="90000"/>
              </a:lnSpc>
              <a:spcBef>
                <a:spcPts val="1001"/>
              </a:spcBef>
              <a:buNone/>
            </a:pPr>
            <a:r>
              <a:rPr lang="en-US" sz="2800" b="0" strike="noStrike" spc="-1" dirty="0" err="1">
                <a:solidFill>
                  <a:srgbClr val="000000"/>
                </a:solidFill>
                <a:latin typeface="Calibri"/>
                <a:ea typeface="DejaVu Sans"/>
              </a:rPr>
              <a:t>Agresti</a:t>
            </a:r>
            <a:r>
              <a:rPr lang="en-US" sz="2800" b="0" strike="noStrike" spc="-1" dirty="0">
                <a:solidFill>
                  <a:srgbClr val="000000"/>
                </a:solidFill>
                <a:latin typeface="Calibri"/>
                <a:ea typeface="DejaVu Sans"/>
              </a:rPr>
              <a:t> &amp; Franklin: “</a:t>
            </a:r>
            <a:r>
              <a:rPr lang="en-US" sz="2800" b="0" i="1" strike="noStrike" spc="-1" dirty="0">
                <a:solidFill>
                  <a:srgbClr val="000000"/>
                </a:solidFill>
                <a:latin typeface="Calibri"/>
                <a:ea typeface="DejaVu Sans"/>
              </a:rPr>
              <a:t>Statistics is the art and science of learning from data</a:t>
            </a:r>
            <a:r>
              <a:rPr lang="en-US" sz="2800" b="0" strike="noStrike" spc="-1" dirty="0">
                <a:solidFill>
                  <a:srgbClr val="000000"/>
                </a:solidFill>
                <a:latin typeface="Calibri"/>
                <a:ea typeface="DejaVu Sans"/>
              </a:rPr>
              <a:t>” (p. 4)</a:t>
            </a:r>
            <a:endParaRPr lang="en-US" sz="2800" b="0" strike="noStrike" spc="-1" dirty="0">
              <a:latin typeface="Arial"/>
            </a:endParaRPr>
          </a:p>
          <a:p>
            <a:pPr>
              <a:lnSpc>
                <a:spcPct val="90000"/>
              </a:lnSpc>
              <a:spcBef>
                <a:spcPts val="1001"/>
              </a:spcBef>
              <a:buNone/>
            </a:pP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Systematically note experiences/observations → data</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Data become overwhelming quickly</a:t>
            </a:r>
            <a:endParaRPr lang="en-US" sz="2800" b="0" strike="noStrike" spc="-1" dirty="0">
              <a:latin typeface="Arial"/>
            </a:endParaRPr>
          </a:p>
        </p:txBody>
      </p:sp>
      <p:sp>
        <p:nvSpPr>
          <p:cNvPr id="377"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DAA7DD6F-3CEF-4E76-A5EA-A814F2AF9FA1}" type="slidenum">
              <a:rPr lang="en-US" sz="1200" b="0" strike="noStrike" spc="-1">
                <a:solidFill>
                  <a:srgbClr val="8B8B8B"/>
                </a:solidFill>
                <a:latin typeface="Calibri"/>
                <a:ea typeface="DejaVu Sans"/>
              </a:rPr>
              <a:t>6</a:t>
            </a:fld>
            <a:endParaRPr lang="en-US" sz="1200" b="0" strike="noStrike" spc="-1" dirty="0">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7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 name="Picture 3"/>
          <p:cNvPicPr/>
          <p:nvPr/>
        </p:nvPicPr>
        <p:blipFill>
          <a:blip r:embed="rId3"/>
          <a:stretch/>
        </p:blipFill>
        <p:spPr>
          <a:xfrm>
            <a:off x="0" y="1015920"/>
            <a:ext cx="12189240" cy="4820400"/>
          </a:xfrm>
          <a:prstGeom prst="rect">
            <a:avLst/>
          </a:prstGeom>
          <a:ln w="0">
            <a:noFill/>
          </a:ln>
        </p:spPr>
      </p:pic>
      <p:sp>
        <p:nvSpPr>
          <p:cNvPr id="379" name="CustomShape 1"/>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D54BFDF0-7100-40A1-84CB-53899300BFA3}" type="slidenum">
              <a:rPr lang="en-US" sz="1200" b="0" strike="noStrike" spc="-1">
                <a:solidFill>
                  <a:srgbClr val="8B8B8B"/>
                </a:solidFill>
                <a:latin typeface="Calibri"/>
                <a:ea typeface="DejaVu Sans"/>
              </a:rPr>
              <a:t>7</a:t>
            </a:fld>
            <a:endParaRPr lang="en-US" sz="12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CustomShape 1"/>
          <p:cNvSpPr/>
          <p:nvPr/>
        </p:nvSpPr>
        <p:spPr>
          <a:xfrm>
            <a:off x="0" y="0"/>
            <a:ext cx="12189600" cy="714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spcBef>
                <a:spcPts val="145"/>
              </a:spcBef>
              <a:buNone/>
            </a:pPr>
            <a:r>
              <a:rPr lang="en-US" sz="1600" b="0" strike="noStrike" spc="-1" dirty="0">
                <a:solidFill>
                  <a:srgbClr val="000000"/>
                </a:solidFill>
                <a:latin typeface="Arial"/>
                <a:ea typeface="Droid Sans Fallback"/>
              </a:rPr>
              <a:t>104 110 101 88 101 96 105 95 90 98 98 89 95 109 83 97 75 109 108 97 99 100 100 113 98 113 110 111 105 78 105 101 114 89 96 92 107 87 101 82 107 103 103 78 114 91 110 94 101 107 88 109 111 94 100 121 109 106 105 82 98 90 100 83 106 105 94 96 104 101 117 74 95 77 113 108 81 89 94 118 106 100 114 92 93 94 102 117 97 108 99 115 118 106 98 100 84 91 100 87 104 95 104 83 113 120 108 83 98 113 103 103 98 104 114 105 124 105 100 84 98 104 112 109 105 102 106 86 100 94 91 112 117 97 105 93 103 109 103 113 101 88 95 105 96 97 120 103 98 87 102 113 91 123 102 90 103 106 114 88 92 109 93 103 93 91 102 95 104 90 115 105 88 108 99 89 90 102 74 103 105 108 89 108 113 122 103 106 114 111 101 97 92 88 78 113 110 118 115 111 74 91 87 99 103 96 113 93 97 107 102 78 103 105 126 83 92 97 90 89 95 105 94 116 105 92 105 96 91 97 103 113 75 107 86 103 115 94 114 91 103 85 100 110 102 91 126 93 97 101 95 94 102 88 103 90 92 102 104 94 107 94 92 100 103 93 96 104 101 113 111 109 103 99 95 93 95 98 92 106 103 114 106 115 105 98 92 119 85 104 86 104 129 91 105 100 103 105 111 98 104 116 99 98 77 106 96 101 118 103 101 93 101 89 101 105 121 82 84 98 121 98 104 92 106 94 113 110 102 115 87 107 106 103 103 116 85 95 104 116 107 72 113 108 93 104 102 97 71 98 101 87 111 82 88 91 109 96 110 108 90 100 97 101 102 102 109 92 88 98 102 99 93 94 100 74 90 94 89 111 87 110 96 110 89 99 114 87 101 86 113 94 103 93 101 94 90 95 98 93 99 109 115 124 90 101 95 109 98 95 101 100 91 91 115 94 97 100 81 104 99 102 106 100 103 109 100 98 98 123 97 111 103 104 95 97 90 97 110 89 96 112 107 97 104 103 88 88 95 96 99 114 102 93 98 81 93 108 106 101 92 83 80 94 99 117 95 112 99 113 121 94 95 83 88 88 88 120 107 104 102 121 84 96 74 102 111 69 78 114 87 91 89 88 87 91 91 95 99 107 95 108 99 97 94 99 84 95 106 115 86 95 104 86 102 100 94 100 103 116 101 96 100 107 91 117 94 108 104 93 114 103 95 98 95 111 107 97 94 100 94 78 96 95 115 115 106 101 96 102 102 112 93 89 104 89 103 109 87 105 97 102 106 101 106 97 112 103 89 107 100 88 93 99 99 107 105 96 84 102 109 104 86 104 90 103 108 109 115 97 97 114 105 102 108 92 100 90 112 88 105 84 91 92 96 83 107 107 87 115 116 104 111 96 113 107 84 99 120 97 100 89 98 96 93 103 99 103 89 107 92 92 90 104 107 95 106 91 83 106 102 100 91 113 95 97 78 92 87 102 96 99 93 95 100 97 109 94 105 96 100 85 93 115 103 101 92 98 106 95 82 113 113 72 102 90 97 111 99 103 102 114 108 112 111 109 111 107 90 97 94 90 102 98 92 79 108 90 96 77 104 95 95 99 111 100 94 111 107 86 98 95 102 105 87 91 93 117 99 97 125 106 94 101 85 93 133 111 97 109 104 84 103 101 109 96 98 98 96 109 95 106 111 82 114 109 108 85 106 107 103 90 95 112 98 96 88 106 93 107 89 109 95 86 85 94 104 95 88 87 101 118 86 92 84 116 102 104 102 100 106 104 91 88 127 123 93 82 98 105 108 99 98 103 90 95 98 99 107 114 95 107 113 107 104 93 92 113 83 94 105 106 110 91 104 86 98 100 93 84 104 99 95 113 98 96 96 97 100 107 103 99 102 108 118 96 116 90 112 116 115 103 103 108 106 84 86 100 110 101 90 87 113 97 111 106 85 109 110 124 85 102 106 108 106 99 114 93 100 111 122 88 95 93 107 99 111 108 120 98 104 93 105 90 96 101 104 103 95 105 98 99 89 93 105 110 113 102 100 108 96 99 73 96 104 118 97 110 84 97 106 96 109 94 95 90 111 110 88 96 118 90 122 102 110 108 90 91 103 98 95 88 104 94 99 104 85 114 98 90 98 113 89 103 102 103 89 98 99 131 108 88 94 108 108 114 112 106 107 97 97 81 108 98 82 74 105 94 106 104 96 95 105 115 106 99 90 103 123 100 111</a:t>
            </a:r>
            <a:endParaRPr lang="en-US" sz="1600" b="0" strike="noStrike" spc="-1" dirty="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Why are statistics needed?</a:t>
            </a:r>
            <a:endParaRPr lang="en-US" sz="4400" b="0" strike="noStrike" spc="-1">
              <a:latin typeface="Arial"/>
            </a:endParaRPr>
          </a:p>
        </p:txBody>
      </p:sp>
      <p:sp>
        <p:nvSpPr>
          <p:cNvPr id="382"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spcBef>
                <a:spcPts val="1001"/>
              </a:spcBef>
              <a:buNone/>
            </a:pPr>
            <a:r>
              <a:rPr lang="en-US" sz="2800" b="0" i="1" strike="noStrike" spc="-1" dirty="0">
                <a:solidFill>
                  <a:srgbClr val="ED7D31"/>
                </a:solidFill>
                <a:latin typeface="Calibri"/>
                <a:ea typeface="DejaVu Sans"/>
              </a:rPr>
              <a:t>What is statistics?</a:t>
            </a:r>
            <a:endParaRPr lang="en-US" sz="2800" b="0" strike="noStrike" spc="-1" dirty="0">
              <a:latin typeface="Arial"/>
            </a:endParaRPr>
          </a:p>
          <a:p>
            <a:pPr>
              <a:lnSpc>
                <a:spcPct val="90000"/>
              </a:lnSpc>
              <a:spcBef>
                <a:spcPts val="1001"/>
              </a:spcBef>
              <a:buNone/>
            </a:pPr>
            <a:r>
              <a:rPr lang="en-US" sz="2800" b="0" strike="noStrike" spc="-1" dirty="0" err="1">
                <a:solidFill>
                  <a:srgbClr val="000000"/>
                </a:solidFill>
                <a:latin typeface="Calibri"/>
                <a:ea typeface="DejaVu Sans"/>
              </a:rPr>
              <a:t>Agresti</a:t>
            </a:r>
            <a:r>
              <a:rPr lang="en-US" sz="2800" b="0" strike="noStrike" spc="-1" dirty="0">
                <a:solidFill>
                  <a:srgbClr val="000000"/>
                </a:solidFill>
                <a:latin typeface="Calibri"/>
                <a:ea typeface="DejaVu Sans"/>
              </a:rPr>
              <a:t> &amp; Franklin: “Statistics is the art and science of learning from data” (p. 4)</a:t>
            </a:r>
            <a:endParaRPr lang="en-US" sz="2800" b="0" strike="noStrike" spc="-1" dirty="0">
              <a:latin typeface="Arial"/>
            </a:endParaRPr>
          </a:p>
          <a:p>
            <a:pPr>
              <a:lnSpc>
                <a:spcPct val="90000"/>
              </a:lnSpc>
              <a:spcBef>
                <a:spcPts val="1001"/>
              </a:spcBef>
              <a:buNone/>
            </a:pP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Systematically note experiences/observations → data</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Data become overwhelming quickly</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CITO data: 159,994 children, 200 questions (picture displays 30 children x 22 questions)</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IQ scores: +- 1,000 observations</a:t>
            </a:r>
            <a:endParaRPr lang="en-US" sz="24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And we want to </a:t>
            </a:r>
            <a:r>
              <a:rPr lang="en-US" sz="2800" b="0" i="1" strike="noStrike" spc="-1" dirty="0">
                <a:solidFill>
                  <a:srgbClr val="ED7D31"/>
                </a:solidFill>
                <a:latin typeface="Calibri"/>
                <a:ea typeface="DejaVu Sans"/>
              </a:rPr>
              <a:t>learn</a:t>
            </a:r>
            <a:r>
              <a:rPr lang="en-US" sz="2800" b="0" strike="noStrike" spc="-1" dirty="0">
                <a:solidFill>
                  <a:srgbClr val="ED7D31"/>
                </a:solidFill>
                <a:latin typeface="Calibri"/>
                <a:ea typeface="DejaVu Sans"/>
              </a:rPr>
              <a:t> </a:t>
            </a:r>
            <a:r>
              <a:rPr lang="en-US" sz="2800" b="0" strike="noStrike" spc="-1" dirty="0">
                <a:solidFill>
                  <a:srgbClr val="000000"/>
                </a:solidFill>
                <a:latin typeface="Calibri"/>
                <a:ea typeface="DejaVu Sans"/>
              </a:rPr>
              <a:t>from the data! </a:t>
            </a:r>
            <a:endParaRPr lang="en-US" sz="2800" b="0" strike="noStrike" spc="-1" dirty="0">
              <a:latin typeface="Arial"/>
            </a:endParaRPr>
          </a:p>
        </p:txBody>
      </p:sp>
      <p:sp>
        <p:nvSpPr>
          <p:cNvPr id="383"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1A3BE071-E677-4C9E-A6D4-ED0822CD10E2}" type="slidenum">
              <a:rPr lang="en-US" sz="1200" b="0" strike="noStrike" spc="-1">
                <a:solidFill>
                  <a:srgbClr val="8B8B8B"/>
                </a:solidFill>
                <a:latin typeface="Calibri"/>
                <a:ea typeface="DejaVu Sans"/>
              </a:rPr>
              <a:t>9</a:t>
            </a:fld>
            <a:endParaRPr lang="en-US" sz="12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Why are statistics needed?</a:t>
            </a:r>
            <a:endParaRPr lang="en-US" sz="4400" b="0" strike="noStrike" spc="-1">
              <a:latin typeface="Arial"/>
            </a:endParaRPr>
          </a:p>
        </p:txBody>
      </p:sp>
      <p:sp>
        <p:nvSpPr>
          <p:cNvPr id="385"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spcBef>
                <a:spcPts val="1001"/>
              </a:spcBef>
              <a:buNone/>
            </a:pPr>
            <a:r>
              <a:rPr lang="en-US" sz="2800" b="0" i="1" strike="noStrike" spc="-1" dirty="0">
                <a:solidFill>
                  <a:srgbClr val="ED7D31"/>
                </a:solidFill>
                <a:latin typeface="Calibri"/>
                <a:ea typeface="DejaVu Sans"/>
              </a:rPr>
              <a:t>What is statistics?</a:t>
            </a:r>
            <a:endParaRPr lang="en-US" sz="2800" b="0" strike="noStrike" spc="-1" dirty="0">
              <a:latin typeface="Arial"/>
            </a:endParaRPr>
          </a:p>
          <a:p>
            <a:pPr>
              <a:lnSpc>
                <a:spcPct val="90000"/>
              </a:lnSpc>
              <a:spcBef>
                <a:spcPts val="1001"/>
              </a:spcBef>
              <a:buNone/>
            </a:pPr>
            <a:r>
              <a:rPr lang="en-US" sz="2800" b="0" strike="noStrike" spc="-1" dirty="0" err="1">
                <a:solidFill>
                  <a:srgbClr val="000000"/>
                </a:solidFill>
                <a:latin typeface="Calibri"/>
                <a:ea typeface="DejaVu Sans"/>
              </a:rPr>
              <a:t>Agresti</a:t>
            </a:r>
            <a:r>
              <a:rPr lang="en-US" sz="2800" b="0" strike="noStrike" spc="-1" dirty="0">
                <a:solidFill>
                  <a:srgbClr val="000000"/>
                </a:solidFill>
                <a:latin typeface="Calibri"/>
                <a:ea typeface="DejaVu Sans"/>
              </a:rPr>
              <a:t> &amp; Franklin: “Statistics is the art and science of learning from data” (p. 4)</a:t>
            </a:r>
            <a:endParaRPr lang="en-US" sz="2800" b="0" strike="noStrike" spc="-1" dirty="0">
              <a:latin typeface="Arial"/>
            </a:endParaRPr>
          </a:p>
          <a:p>
            <a:pPr>
              <a:lnSpc>
                <a:spcPct val="90000"/>
              </a:lnSpc>
              <a:spcBef>
                <a:spcPts val="1001"/>
              </a:spcBef>
              <a:buNone/>
            </a:pPr>
            <a:endParaRPr lang="en-US" sz="2800" b="0" strike="noStrike" spc="-1" dirty="0">
              <a:latin typeface="Arial"/>
            </a:endParaRPr>
          </a:p>
          <a:p>
            <a:pPr>
              <a:lnSpc>
                <a:spcPct val="90000"/>
              </a:lnSpc>
              <a:spcBef>
                <a:spcPts val="1001"/>
              </a:spcBef>
              <a:buNone/>
            </a:pPr>
            <a:r>
              <a:rPr lang="en-US" sz="2800" b="0" strike="noStrike" spc="-1" dirty="0">
                <a:solidFill>
                  <a:srgbClr val="000000"/>
                </a:solidFill>
                <a:latin typeface="Calibri"/>
                <a:ea typeface="DejaVu Sans"/>
              </a:rPr>
              <a:t>Three components:</a:t>
            </a:r>
            <a:endParaRPr lang="en-US" sz="2800" b="0" strike="noStrike" spc="-1" dirty="0">
              <a:latin typeface="Arial"/>
            </a:endParaRPr>
          </a:p>
          <a:p>
            <a:pPr marL="228600" indent="-226800">
              <a:lnSpc>
                <a:spcPct val="90000"/>
              </a:lnSpc>
              <a:spcBef>
                <a:spcPts val="1001"/>
              </a:spcBef>
              <a:buClr>
                <a:srgbClr val="ED7D31"/>
              </a:buClr>
              <a:buFont typeface="Arial"/>
              <a:buChar char="•"/>
            </a:pPr>
            <a:r>
              <a:rPr lang="en-US" sz="2800" b="0" i="1" strike="noStrike" spc="-1" dirty="0">
                <a:solidFill>
                  <a:srgbClr val="ED7D31"/>
                </a:solidFill>
                <a:latin typeface="Calibri"/>
                <a:ea typeface="DejaVu Sans"/>
              </a:rPr>
              <a:t>Experimental Design</a:t>
            </a:r>
            <a:r>
              <a:rPr lang="en-US" sz="2800" b="0" strike="noStrike" spc="-1" dirty="0">
                <a:solidFill>
                  <a:srgbClr val="ED7D31"/>
                </a:solidFill>
                <a:latin typeface="Calibri"/>
                <a:ea typeface="DejaVu Sans"/>
              </a:rPr>
              <a:t> </a:t>
            </a:r>
            <a:r>
              <a:rPr lang="en-US" sz="2800" b="0" strike="noStrike" spc="-1" dirty="0">
                <a:solidFill>
                  <a:srgbClr val="000000"/>
                </a:solidFill>
                <a:latin typeface="Calibri"/>
                <a:ea typeface="DejaVu Sans"/>
              </a:rPr>
              <a:t>(i.e., Research Methods)</a:t>
            </a:r>
            <a:endParaRPr lang="en-US" sz="2800" b="0" strike="noStrike" spc="-1" dirty="0">
              <a:latin typeface="Arial"/>
            </a:endParaRPr>
          </a:p>
          <a:p>
            <a:pPr marL="228600" indent="-226800">
              <a:lnSpc>
                <a:spcPct val="90000"/>
              </a:lnSpc>
              <a:spcBef>
                <a:spcPts val="1001"/>
              </a:spcBef>
              <a:buClr>
                <a:srgbClr val="ED7D31"/>
              </a:buClr>
              <a:buFont typeface="Arial"/>
              <a:buChar char="•"/>
            </a:pPr>
            <a:r>
              <a:rPr lang="en-US" sz="2800" b="0" i="1" strike="noStrike" spc="-1" dirty="0">
                <a:solidFill>
                  <a:srgbClr val="ED7D31"/>
                </a:solidFill>
                <a:latin typeface="Calibri"/>
                <a:ea typeface="DejaVu Sans"/>
              </a:rPr>
              <a:t>Descriptive statistics</a:t>
            </a:r>
            <a:r>
              <a:rPr lang="en-US" sz="2800" b="0" strike="noStrike" spc="-1" dirty="0">
                <a:solidFill>
                  <a:srgbClr val="000000"/>
                </a:solidFill>
                <a:latin typeface="Calibri"/>
                <a:ea typeface="DejaVu Sans"/>
              </a:rPr>
              <a:t> (summarize/compress all the data)</a:t>
            </a:r>
            <a:endParaRPr lang="en-US" sz="2800" b="0" strike="noStrike" spc="-1" dirty="0">
              <a:latin typeface="Arial"/>
            </a:endParaRPr>
          </a:p>
          <a:p>
            <a:pPr marL="228600" indent="-226800">
              <a:lnSpc>
                <a:spcPct val="90000"/>
              </a:lnSpc>
              <a:spcBef>
                <a:spcPts val="1001"/>
              </a:spcBef>
              <a:buClr>
                <a:srgbClr val="ED7D31"/>
              </a:buClr>
              <a:buFont typeface="Arial"/>
              <a:buChar char="•"/>
            </a:pPr>
            <a:r>
              <a:rPr lang="en-US" sz="2800" b="0" i="1" strike="noStrike" spc="-1" dirty="0">
                <a:solidFill>
                  <a:srgbClr val="ED7D31"/>
                </a:solidFill>
                <a:latin typeface="Calibri"/>
                <a:ea typeface="DejaVu Sans"/>
              </a:rPr>
              <a:t>Inferential statistics</a:t>
            </a:r>
            <a:r>
              <a:rPr lang="en-US" sz="2800" b="0" strike="noStrike" spc="-1" dirty="0">
                <a:solidFill>
                  <a:srgbClr val="000000"/>
                </a:solidFill>
                <a:latin typeface="Calibri"/>
                <a:ea typeface="DejaVu Sans"/>
              </a:rPr>
              <a:t> (learn from the data, generalize)</a:t>
            </a:r>
            <a:endParaRPr lang="en-US" sz="2800" b="0" strike="noStrike" spc="-1" dirty="0">
              <a:latin typeface="Arial"/>
            </a:endParaRPr>
          </a:p>
        </p:txBody>
      </p:sp>
      <p:sp>
        <p:nvSpPr>
          <p:cNvPr id="386"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5F0DCD9F-99DC-4297-8C96-2061A182167C}" type="slidenum">
              <a:rPr lang="en-US" sz="1200" b="0" strike="noStrike" spc="-1">
                <a:solidFill>
                  <a:srgbClr val="8B8B8B"/>
                </a:solidFill>
                <a:latin typeface="Calibri"/>
                <a:ea typeface="DejaVu Sans"/>
              </a:rPr>
              <a:t>10</a:t>
            </a:fld>
            <a:endParaRPr lang="en-US" sz="12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7" name="Picture 386"/>
          <p:cNvPicPr/>
          <p:nvPr/>
        </p:nvPicPr>
        <p:blipFill>
          <a:blip r:embed="rId3"/>
          <a:srcRect l="-2186" t="21945" r="10354" b="4877"/>
          <a:stretch/>
        </p:blipFill>
        <p:spPr>
          <a:xfrm>
            <a:off x="5969880" y="1696680"/>
            <a:ext cx="5688000" cy="4061880"/>
          </a:xfrm>
          <a:prstGeom prst="rect">
            <a:avLst/>
          </a:prstGeom>
          <a:ln w="0">
            <a:noFill/>
          </a:ln>
        </p:spPr>
      </p:pic>
      <p:sp>
        <p:nvSpPr>
          <p:cNvPr id="388"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Why are statistics needed?</a:t>
            </a:r>
            <a:endParaRPr lang="en-US" sz="4400" b="0" strike="noStrike" spc="-1">
              <a:latin typeface="Arial"/>
            </a:endParaRPr>
          </a:p>
        </p:txBody>
      </p:sp>
      <p:sp>
        <p:nvSpPr>
          <p:cNvPr id="389"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Descriptive statistics</a:t>
            </a:r>
            <a:endParaRPr lang="en-US" sz="2800" b="0" strike="noStrike" spc="-1">
              <a:latin typeface="Arial"/>
            </a:endParaRPr>
          </a:p>
          <a:p>
            <a:pPr marL="685800" lvl="1" indent="-226800">
              <a:lnSpc>
                <a:spcPct val="90000"/>
              </a:lnSpc>
              <a:spcBef>
                <a:spcPts val="499"/>
              </a:spcBef>
              <a:buClr>
                <a:srgbClr val="000000"/>
              </a:buClr>
              <a:buFont typeface="Arial"/>
              <a:buChar char="•"/>
            </a:pPr>
            <a:r>
              <a:rPr lang="en-US" sz="2400" b="0" strike="noStrike" spc="-1">
                <a:solidFill>
                  <a:srgbClr val="000000"/>
                </a:solidFill>
                <a:latin typeface="Calibri"/>
                <a:ea typeface="DejaVu Sans"/>
              </a:rPr>
              <a:t>Numerically (ie, average values)</a:t>
            </a:r>
            <a:endParaRPr lang="en-US" sz="2400" b="0" strike="noStrike" spc="-1">
              <a:latin typeface="Arial"/>
            </a:endParaRPr>
          </a:p>
          <a:p>
            <a:pPr marL="1296000" lvl="2" indent="-286560">
              <a:lnSpc>
                <a:spcPct val="100000"/>
              </a:lnSpc>
              <a:spcBef>
                <a:spcPts val="850"/>
              </a:spcBef>
              <a:buClr>
                <a:srgbClr val="000000"/>
              </a:buClr>
              <a:buSzPct val="45000"/>
              <a:buFont typeface="Wingdings" charset="2"/>
              <a:buChar char=""/>
            </a:pPr>
            <a:r>
              <a:rPr lang="en-US" sz="2400" b="0" strike="noStrike" spc="-1">
                <a:solidFill>
                  <a:srgbClr val="000000"/>
                </a:solidFill>
                <a:latin typeface="Calibri"/>
                <a:ea typeface="DejaVu Sans"/>
              </a:rPr>
              <a:t>→ Mean IQ = 101.3</a:t>
            </a:r>
            <a:endParaRPr lang="en-US" sz="2400" b="0" strike="noStrike" spc="-1">
              <a:latin typeface="Arial"/>
            </a:endParaRPr>
          </a:p>
          <a:p>
            <a:pPr marL="685800" lvl="1" indent="-226800">
              <a:lnSpc>
                <a:spcPct val="90000"/>
              </a:lnSpc>
              <a:spcBef>
                <a:spcPts val="499"/>
              </a:spcBef>
              <a:buClr>
                <a:srgbClr val="000000"/>
              </a:buClr>
              <a:buFont typeface="Arial"/>
              <a:buChar char="•"/>
            </a:pPr>
            <a:r>
              <a:rPr lang="en-US" sz="2400" b="0" strike="noStrike" spc="-1">
                <a:solidFill>
                  <a:srgbClr val="000000"/>
                </a:solidFill>
                <a:latin typeface="Calibri"/>
                <a:ea typeface="DejaVu Sans"/>
              </a:rPr>
              <a:t>Graphically (ie, a histogram)</a:t>
            </a:r>
            <a:endParaRPr lang="en-US" sz="2400" b="0" strike="noStrike" spc="-1">
              <a:latin typeface="Arial"/>
            </a:endParaRPr>
          </a:p>
        </p:txBody>
      </p:sp>
      <p:sp>
        <p:nvSpPr>
          <p:cNvPr id="390" name="CustomShape 3"/>
          <p:cNvSpPr/>
          <p:nvPr/>
        </p:nvSpPr>
        <p:spPr>
          <a:xfrm>
            <a:off x="1157040" y="4587120"/>
            <a:ext cx="4529520" cy="82116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dirty="0">
                <a:solidFill>
                  <a:srgbClr val="ED7D31"/>
                </a:solidFill>
                <a:latin typeface="Calibri"/>
                <a:ea typeface="DejaVu Sans"/>
              </a:rPr>
              <a:t>A Statistic</a:t>
            </a:r>
            <a:r>
              <a:rPr lang="en-US" sz="2400" b="0" strike="noStrike" spc="-1" dirty="0">
                <a:solidFill>
                  <a:srgbClr val="000000"/>
                </a:solidFill>
                <a:latin typeface="Calibri"/>
                <a:ea typeface="DejaVu Sans"/>
              </a:rPr>
              <a:t>: A numerical summary of the data is called a statistic</a:t>
            </a:r>
            <a:endParaRPr lang="en-US" sz="2400" b="0" strike="noStrike" spc="-1" dirty="0">
              <a:latin typeface="Arial"/>
            </a:endParaRPr>
          </a:p>
        </p:txBody>
      </p:sp>
      <p:sp>
        <p:nvSpPr>
          <p:cNvPr id="391" name="CustomShape 4"/>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B4F92473-E9A9-4811-B069-F8F10AE7BA10}" type="slidenum">
              <a:rPr lang="en-US" sz="1200" b="0" strike="noStrike" spc="-1">
                <a:solidFill>
                  <a:srgbClr val="8B8B8B"/>
                </a:solidFill>
                <a:latin typeface="Calibri"/>
                <a:ea typeface="DejaVu Sans"/>
              </a:rPr>
              <a:t>11</a:t>
            </a:fld>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Why are statistics needed?</a:t>
            </a:r>
            <a:endParaRPr lang="en-US" sz="4400" b="0" strike="noStrike" spc="-1">
              <a:latin typeface="Arial"/>
            </a:endParaRPr>
          </a:p>
        </p:txBody>
      </p:sp>
      <p:sp>
        <p:nvSpPr>
          <p:cNvPr id="393" name="CustomShape 2"/>
          <p:cNvSpPr/>
          <p:nvPr/>
        </p:nvSpPr>
        <p:spPr>
          <a:xfrm>
            <a:off x="838080" y="1825560"/>
            <a:ext cx="10512720" cy="451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Inferential statistics</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Making predictions and decisions about the </a:t>
            </a:r>
            <a:r>
              <a:rPr lang="en-US" sz="2400" b="1" strike="noStrike" spc="-1" dirty="0">
                <a:solidFill>
                  <a:srgbClr val="000000"/>
                </a:solidFill>
                <a:latin typeface="Calibri"/>
                <a:ea typeface="DejaVu Sans"/>
              </a:rPr>
              <a:t>population</a:t>
            </a:r>
            <a:endParaRPr lang="en-US" sz="2400" b="1"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Assessing the uncertainty about statements</a:t>
            </a:r>
            <a:endParaRPr lang="en-US" sz="2400" b="0" strike="noStrike" spc="-1" dirty="0">
              <a:latin typeface="Arial"/>
            </a:endParaRPr>
          </a:p>
          <a:p>
            <a:pPr>
              <a:lnSpc>
                <a:spcPct val="100000"/>
              </a:lnSpc>
              <a:buNone/>
            </a:pPr>
            <a:endParaRPr lang="en-US" sz="2400" b="0" strike="noStrike" spc="-1" dirty="0">
              <a:latin typeface="Arial"/>
            </a:endParaRPr>
          </a:p>
          <a:p>
            <a:pPr>
              <a:lnSpc>
                <a:spcPct val="100000"/>
              </a:lnSpc>
              <a:buNone/>
            </a:pPr>
            <a:endParaRPr lang="en-US" sz="2400" b="0" strike="noStrike" spc="-1" dirty="0">
              <a:latin typeface="Arial"/>
            </a:endParaRPr>
          </a:p>
          <a:p>
            <a:pPr>
              <a:lnSpc>
                <a:spcPct val="100000"/>
              </a:lnSpc>
              <a:buNone/>
            </a:pPr>
            <a:endParaRPr lang="en-US" sz="2400" b="0" strike="noStrike" spc="-1" dirty="0">
              <a:latin typeface="Arial"/>
            </a:endParaRPr>
          </a:p>
          <a:p>
            <a:pPr>
              <a:lnSpc>
                <a:spcPct val="100000"/>
              </a:lnSpc>
              <a:buNone/>
            </a:pPr>
            <a:endParaRPr lang="en-US" sz="2400" b="0" strike="noStrike" spc="-1" dirty="0">
              <a:latin typeface="Arial"/>
            </a:endParaRPr>
          </a:p>
          <a:p>
            <a:pPr>
              <a:lnSpc>
                <a:spcPct val="100000"/>
              </a:lnSpc>
              <a:buNone/>
            </a:pPr>
            <a:endParaRPr lang="en-US" sz="2400" b="0" strike="noStrike" spc="-1" dirty="0">
              <a:latin typeface="Arial"/>
            </a:endParaRPr>
          </a:p>
          <a:p>
            <a:pPr>
              <a:lnSpc>
                <a:spcPct val="90000"/>
              </a:lnSpc>
              <a:spcBef>
                <a:spcPts val="1001"/>
              </a:spcBef>
              <a:buNone/>
            </a:pPr>
            <a:endParaRPr lang="en-US" sz="2400" b="0" strike="noStrike" spc="-1" dirty="0">
              <a:latin typeface="Arial"/>
            </a:endParaRPr>
          </a:p>
        </p:txBody>
      </p:sp>
      <p:sp>
        <p:nvSpPr>
          <p:cNvPr id="394"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FFBFA06A-4CBB-4D66-BFA8-ECEC8C22D33C}" type="slidenum">
              <a:rPr lang="en-US" sz="1200" b="0" strike="noStrike" spc="-1">
                <a:solidFill>
                  <a:srgbClr val="8B8B8B"/>
                </a:solidFill>
                <a:latin typeface="Calibri"/>
                <a:ea typeface="DejaVu Sans"/>
              </a:rPr>
              <a:t>12</a:t>
            </a:fld>
            <a:endParaRPr lang="en-US" sz="12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CustomShape 1"/>
          <p:cNvSpPr/>
          <p:nvPr/>
        </p:nvSpPr>
        <p:spPr>
          <a:xfrm>
            <a:off x="4008600" y="4005360"/>
            <a:ext cx="4173840" cy="284976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396" name="CustomShape 2"/>
          <p:cNvSpPr/>
          <p:nvPr/>
        </p:nvSpPr>
        <p:spPr>
          <a:xfrm>
            <a:off x="3143160" y="3933720"/>
            <a:ext cx="2157840" cy="455400"/>
          </a:xfrm>
          <a:prstGeom prst="rect">
            <a:avLst/>
          </a:prstGeom>
          <a:solidFill>
            <a:srgbClr val="ED7D31"/>
          </a:solidFill>
          <a:ln w="936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2400" b="0" strike="noStrike" spc="-1">
                <a:solidFill>
                  <a:srgbClr val="000000"/>
                </a:solidFill>
                <a:latin typeface="Arial"/>
                <a:ea typeface="Arial"/>
              </a:rPr>
              <a:t>Sample</a:t>
            </a:r>
            <a:endParaRPr lang="en-US" sz="2400" b="0" strike="noStrike" spc="-1">
              <a:latin typeface="Arial"/>
            </a:endParaRPr>
          </a:p>
        </p:txBody>
      </p:sp>
      <p:sp>
        <p:nvSpPr>
          <p:cNvPr id="397" name="CustomShape 3"/>
          <p:cNvSpPr/>
          <p:nvPr/>
        </p:nvSpPr>
        <p:spPr>
          <a:xfrm>
            <a:off x="4295880" y="404640"/>
            <a:ext cx="3453120" cy="17974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398" name="CustomShape 4"/>
          <p:cNvSpPr/>
          <p:nvPr/>
        </p:nvSpPr>
        <p:spPr>
          <a:xfrm>
            <a:off x="5808600" y="836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399" name="CustomShape 5"/>
          <p:cNvSpPr/>
          <p:nvPr/>
        </p:nvSpPr>
        <p:spPr>
          <a:xfrm>
            <a:off x="5951520" y="1125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0" name="CustomShape 6"/>
          <p:cNvSpPr/>
          <p:nvPr/>
        </p:nvSpPr>
        <p:spPr>
          <a:xfrm>
            <a:off x="6167520" y="836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1" name="CustomShape 7"/>
          <p:cNvSpPr/>
          <p:nvPr/>
        </p:nvSpPr>
        <p:spPr>
          <a:xfrm>
            <a:off x="6311880" y="1125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2" name="CustomShape 8"/>
          <p:cNvSpPr/>
          <p:nvPr/>
        </p:nvSpPr>
        <p:spPr>
          <a:xfrm>
            <a:off x="6527880" y="836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3" name="CustomShape 9"/>
          <p:cNvSpPr/>
          <p:nvPr/>
        </p:nvSpPr>
        <p:spPr>
          <a:xfrm>
            <a:off x="494352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4" name="CustomShape 10"/>
          <p:cNvSpPr/>
          <p:nvPr/>
        </p:nvSpPr>
        <p:spPr>
          <a:xfrm>
            <a:off x="5159520" y="692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5" name="CustomShape 11"/>
          <p:cNvSpPr/>
          <p:nvPr/>
        </p:nvSpPr>
        <p:spPr>
          <a:xfrm>
            <a:off x="530388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6" name="CustomShape 12"/>
          <p:cNvSpPr/>
          <p:nvPr/>
        </p:nvSpPr>
        <p:spPr>
          <a:xfrm>
            <a:off x="5519880" y="692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7" name="CustomShape 13"/>
          <p:cNvSpPr/>
          <p:nvPr/>
        </p:nvSpPr>
        <p:spPr>
          <a:xfrm>
            <a:off x="566424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8" name="CustomShape 14"/>
          <p:cNvSpPr/>
          <p:nvPr/>
        </p:nvSpPr>
        <p:spPr>
          <a:xfrm>
            <a:off x="5807160" y="476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09" name="CustomShape 15"/>
          <p:cNvSpPr/>
          <p:nvPr/>
        </p:nvSpPr>
        <p:spPr>
          <a:xfrm>
            <a:off x="595152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0" name="CustomShape 16"/>
          <p:cNvSpPr/>
          <p:nvPr/>
        </p:nvSpPr>
        <p:spPr>
          <a:xfrm>
            <a:off x="6167520" y="763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1" name="CustomShape 17"/>
          <p:cNvSpPr/>
          <p:nvPr/>
        </p:nvSpPr>
        <p:spPr>
          <a:xfrm>
            <a:off x="631188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2" name="CustomShape 18"/>
          <p:cNvSpPr/>
          <p:nvPr/>
        </p:nvSpPr>
        <p:spPr>
          <a:xfrm>
            <a:off x="6527880" y="763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3" name="CustomShape 19"/>
          <p:cNvSpPr/>
          <p:nvPr/>
        </p:nvSpPr>
        <p:spPr>
          <a:xfrm>
            <a:off x="6599160" y="1123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4" name="CustomShape 20"/>
          <p:cNvSpPr/>
          <p:nvPr/>
        </p:nvSpPr>
        <p:spPr>
          <a:xfrm>
            <a:off x="6815160" y="8352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5" name="CustomShape 21"/>
          <p:cNvSpPr/>
          <p:nvPr/>
        </p:nvSpPr>
        <p:spPr>
          <a:xfrm>
            <a:off x="6959520" y="1197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6" name="CustomShape 22"/>
          <p:cNvSpPr/>
          <p:nvPr/>
        </p:nvSpPr>
        <p:spPr>
          <a:xfrm>
            <a:off x="7175520" y="907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7" name="CustomShape 23"/>
          <p:cNvSpPr/>
          <p:nvPr/>
        </p:nvSpPr>
        <p:spPr>
          <a:xfrm>
            <a:off x="724680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8" name="CustomShape 24"/>
          <p:cNvSpPr/>
          <p:nvPr/>
        </p:nvSpPr>
        <p:spPr>
          <a:xfrm>
            <a:off x="7246800" y="907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19" name="CustomShape 25"/>
          <p:cNvSpPr/>
          <p:nvPr/>
        </p:nvSpPr>
        <p:spPr>
          <a:xfrm>
            <a:off x="6743880" y="1413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0" name="CustomShape 26"/>
          <p:cNvSpPr/>
          <p:nvPr/>
        </p:nvSpPr>
        <p:spPr>
          <a:xfrm>
            <a:off x="559116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1" name="CustomShape 27"/>
          <p:cNvSpPr/>
          <p:nvPr/>
        </p:nvSpPr>
        <p:spPr>
          <a:xfrm>
            <a:off x="6456240" y="1413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2" name="CustomShape 28"/>
          <p:cNvSpPr/>
          <p:nvPr/>
        </p:nvSpPr>
        <p:spPr>
          <a:xfrm>
            <a:off x="6095880" y="1413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3" name="CustomShape 29"/>
          <p:cNvSpPr/>
          <p:nvPr/>
        </p:nvSpPr>
        <p:spPr>
          <a:xfrm>
            <a:off x="616752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4" name="CustomShape 30"/>
          <p:cNvSpPr/>
          <p:nvPr/>
        </p:nvSpPr>
        <p:spPr>
          <a:xfrm>
            <a:off x="6383160" y="1484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5" name="CustomShape 31"/>
          <p:cNvSpPr/>
          <p:nvPr/>
        </p:nvSpPr>
        <p:spPr>
          <a:xfrm>
            <a:off x="6529320" y="17017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6" name="CustomShape 32"/>
          <p:cNvSpPr/>
          <p:nvPr/>
        </p:nvSpPr>
        <p:spPr>
          <a:xfrm>
            <a:off x="501660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7" name="CustomShape 33"/>
          <p:cNvSpPr/>
          <p:nvPr/>
        </p:nvSpPr>
        <p:spPr>
          <a:xfrm>
            <a:off x="588024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8" name="CustomShape 34"/>
          <p:cNvSpPr/>
          <p:nvPr/>
        </p:nvSpPr>
        <p:spPr>
          <a:xfrm>
            <a:off x="530388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29" name="CustomShape 35"/>
          <p:cNvSpPr/>
          <p:nvPr/>
        </p:nvSpPr>
        <p:spPr>
          <a:xfrm>
            <a:off x="5951520" y="1628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0" name="CustomShape 36"/>
          <p:cNvSpPr/>
          <p:nvPr/>
        </p:nvSpPr>
        <p:spPr>
          <a:xfrm>
            <a:off x="5014800" y="1484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1" name="CustomShape 37"/>
          <p:cNvSpPr/>
          <p:nvPr/>
        </p:nvSpPr>
        <p:spPr>
          <a:xfrm>
            <a:off x="4943520" y="765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2" name="CustomShape 38"/>
          <p:cNvSpPr/>
          <p:nvPr/>
        </p:nvSpPr>
        <p:spPr>
          <a:xfrm>
            <a:off x="537516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3" name="CustomShape 39"/>
          <p:cNvSpPr/>
          <p:nvPr/>
        </p:nvSpPr>
        <p:spPr>
          <a:xfrm>
            <a:off x="5880240" y="1125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4" name="CustomShape 40"/>
          <p:cNvSpPr/>
          <p:nvPr/>
        </p:nvSpPr>
        <p:spPr>
          <a:xfrm>
            <a:off x="6240600" y="9097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5" name="CustomShape 41"/>
          <p:cNvSpPr/>
          <p:nvPr/>
        </p:nvSpPr>
        <p:spPr>
          <a:xfrm>
            <a:off x="494352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6" name="CustomShape 42"/>
          <p:cNvSpPr/>
          <p:nvPr/>
        </p:nvSpPr>
        <p:spPr>
          <a:xfrm>
            <a:off x="6527880" y="1341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7" name="CustomShape 43"/>
          <p:cNvSpPr/>
          <p:nvPr/>
        </p:nvSpPr>
        <p:spPr>
          <a:xfrm>
            <a:off x="5375160" y="476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8" name="CustomShape 44"/>
          <p:cNvSpPr/>
          <p:nvPr/>
        </p:nvSpPr>
        <p:spPr>
          <a:xfrm>
            <a:off x="5591160" y="1484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39" name="CustomShape 45"/>
          <p:cNvSpPr/>
          <p:nvPr/>
        </p:nvSpPr>
        <p:spPr>
          <a:xfrm>
            <a:off x="551988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0" name="CustomShape 46"/>
          <p:cNvSpPr/>
          <p:nvPr/>
        </p:nvSpPr>
        <p:spPr>
          <a:xfrm>
            <a:off x="5735520" y="12700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1" name="CustomShape 47"/>
          <p:cNvSpPr/>
          <p:nvPr/>
        </p:nvSpPr>
        <p:spPr>
          <a:xfrm>
            <a:off x="6095880" y="10540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2" name="CustomShape 48"/>
          <p:cNvSpPr/>
          <p:nvPr/>
        </p:nvSpPr>
        <p:spPr>
          <a:xfrm>
            <a:off x="6527880" y="1557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3" name="CustomShape 49"/>
          <p:cNvSpPr/>
          <p:nvPr/>
        </p:nvSpPr>
        <p:spPr>
          <a:xfrm>
            <a:off x="544680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4" name="CustomShape 50"/>
          <p:cNvSpPr/>
          <p:nvPr/>
        </p:nvSpPr>
        <p:spPr>
          <a:xfrm>
            <a:off x="580716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5" name="CustomShape 51"/>
          <p:cNvSpPr/>
          <p:nvPr/>
        </p:nvSpPr>
        <p:spPr>
          <a:xfrm>
            <a:off x="6456240" y="1123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6" name="CustomShape 52"/>
          <p:cNvSpPr/>
          <p:nvPr/>
        </p:nvSpPr>
        <p:spPr>
          <a:xfrm>
            <a:off x="566244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7" name="CustomShape 53"/>
          <p:cNvSpPr/>
          <p:nvPr/>
        </p:nvSpPr>
        <p:spPr>
          <a:xfrm>
            <a:off x="537516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8" name="CustomShape 54"/>
          <p:cNvSpPr/>
          <p:nvPr/>
        </p:nvSpPr>
        <p:spPr>
          <a:xfrm>
            <a:off x="6815160" y="1628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49" name="CustomShape 55"/>
          <p:cNvSpPr/>
          <p:nvPr/>
        </p:nvSpPr>
        <p:spPr>
          <a:xfrm>
            <a:off x="4583160" y="1123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0" name="CustomShape 56"/>
          <p:cNvSpPr/>
          <p:nvPr/>
        </p:nvSpPr>
        <p:spPr>
          <a:xfrm>
            <a:off x="4583160" y="1413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1" name="CustomShape 57"/>
          <p:cNvSpPr/>
          <p:nvPr/>
        </p:nvSpPr>
        <p:spPr>
          <a:xfrm>
            <a:off x="4799160" y="1555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2" name="CustomShape 58"/>
          <p:cNvSpPr/>
          <p:nvPr/>
        </p:nvSpPr>
        <p:spPr>
          <a:xfrm>
            <a:off x="5159520" y="1123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3" name="CustomShape 59"/>
          <p:cNvSpPr/>
          <p:nvPr/>
        </p:nvSpPr>
        <p:spPr>
          <a:xfrm>
            <a:off x="5159520" y="12668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4" name="CustomShape 60"/>
          <p:cNvSpPr/>
          <p:nvPr/>
        </p:nvSpPr>
        <p:spPr>
          <a:xfrm>
            <a:off x="573552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5" name="CustomShape 61"/>
          <p:cNvSpPr/>
          <p:nvPr/>
        </p:nvSpPr>
        <p:spPr>
          <a:xfrm>
            <a:off x="5230800" y="1771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6" name="CustomShape 62"/>
          <p:cNvSpPr/>
          <p:nvPr/>
        </p:nvSpPr>
        <p:spPr>
          <a:xfrm>
            <a:off x="5591160" y="1771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7" name="CustomShape 63"/>
          <p:cNvSpPr/>
          <p:nvPr/>
        </p:nvSpPr>
        <p:spPr>
          <a:xfrm>
            <a:off x="6456240" y="547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8" name="CustomShape 64"/>
          <p:cNvSpPr/>
          <p:nvPr/>
        </p:nvSpPr>
        <p:spPr>
          <a:xfrm>
            <a:off x="6240600" y="14144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59" name="CustomShape 65"/>
          <p:cNvSpPr/>
          <p:nvPr/>
        </p:nvSpPr>
        <p:spPr>
          <a:xfrm>
            <a:off x="703116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60" name="CustomShape 66"/>
          <p:cNvSpPr/>
          <p:nvPr/>
        </p:nvSpPr>
        <p:spPr>
          <a:xfrm>
            <a:off x="5303880" y="836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61" name="CustomShape 67"/>
          <p:cNvSpPr/>
          <p:nvPr/>
        </p:nvSpPr>
        <p:spPr>
          <a:xfrm>
            <a:off x="6095880" y="15588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62" name="CustomShape 68"/>
          <p:cNvSpPr/>
          <p:nvPr/>
        </p:nvSpPr>
        <p:spPr>
          <a:xfrm>
            <a:off x="7391520" y="1197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63" name="CustomShape 69"/>
          <p:cNvSpPr/>
          <p:nvPr/>
        </p:nvSpPr>
        <p:spPr>
          <a:xfrm>
            <a:off x="674388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64" name="CustomShape 70"/>
          <p:cNvSpPr/>
          <p:nvPr/>
        </p:nvSpPr>
        <p:spPr>
          <a:xfrm>
            <a:off x="7104240" y="1484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65" name="CustomShape 71"/>
          <p:cNvSpPr/>
          <p:nvPr/>
        </p:nvSpPr>
        <p:spPr>
          <a:xfrm>
            <a:off x="6022800" y="476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66" name="CustomShape 72"/>
          <p:cNvSpPr/>
          <p:nvPr/>
        </p:nvSpPr>
        <p:spPr>
          <a:xfrm>
            <a:off x="6743880" y="620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67" name="Line 73"/>
          <p:cNvSpPr/>
          <p:nvPr/>
        </p:nvSpPr>
        <p:spPr>
          <a:xfrm>
            <a:off x="6024240" y="2205000"/>
            <a:ext cx="360" cy="1800000"/>
          </a:xfrm>
          <a:prstGeom prst="line">
            <a:avLst/>
          </a:prstGeom>
          <a:ln w="76320">
            <a:solidFill>
              <a:srgbClr val="000000"/>
            </a:solidFill>
            <a:round/>
            <a:tailEnd type="triangle" w="med" len="med"/>
          </a:ln>
        </p:spPr>
        <p:style>
          <a:lnRef idx="0">
            <a:scrgbClr r="0" g="0" b="0"/>
          </a:lnRef>
          <a:fillRef idx="0">
            <a:scrgbClr r="0" g="0" b="0"/>
          </a:fillRef>
          <a:effectRef idx="0">
            <a:scrgbClr r="0" g="0" b="0"/>
          </a:effectRef>
          <a:fontRef idx="minor"/>
        </p:style>
        <p:txBody>
          <a:bodyPr/>
          <a:lstStyle/>
          <a:p>
            <a:endParaRPr lang="en-NL"/>
          </a:p>
        </p:txBody>
      </p:sp>
      <p:sp>
        <p:nvSpPr>
          <p:cNvPr id="468" name="CustomShape 74"/>
          <p:cNvSpPr/>
          <p:nvPr/>
        </p:nvSpPr>
        <p:spPr>
          <a:xfrm>
            <a:off x="5951520" y="1844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69" name="CustomShape 75"/>
          <p:cNvSpPr/>
          <p:nvPr/>
        </p:nvSpPr>
        <p:spPr>
          <a:xfrm>
            <a:off x="6167520" y="620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470" name="CustomShape 76"/>
          <p:cNvSpPr/>
          <p:nvPr/>
        </p:nvSpPr>
        <p:spPr>
          <a:xfrm>
            <a:off x="2424240" y="404640"/>
            <a:ext cx="2518200" cy="577080"/>
          </a:xfrm>
          <a:prstGeom prst="rect">
            <a:avLst/>
          </a:prstGeom>
          <a:solidFill>
            <a:srgbClr val="ED7D31"/>
          </a:solidFill>
          <a:ln w="936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3200" b="0" strike="noStrike" spc="-1">
                <a:solidFill>
                  <a:srgbClr val="000000"/>
                </a:solidFill>
                <a:latin typeface="Arial"/>
                <a:ea typeface="Arial"/>
              </a:rPr>
              <a:t>Population</a:t>
            </a:r>
            <a:endParaRPr lang="en-US" sz="3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mph" presetSubtype="2" fill="hold" nodeType="clickEffect">
                                  <p:stCondLst>
                                    <p:cond delay="0"/>
                                  </p:stCondLst>
                                  <p:childTnLst>
                                    <p:animClr clrSpc="rgb" dir="cw">
                                      <p:cBhvr>
                                        <p:cTn id="6" dur="2000" fill="hold"/>
                                        <p:tgtEl>
                                          <p:spTgt spid="469"/>
                                        </p:tgtEl>
                                        <p:attrNameLst>
                                          <p:attrName>fillcolor</p:attrName>
                                        </p:attrNameLst>
                                      </p:cBhvr>
                                      <p:to>
                                        <a:srgbClr val="FF0000"/>
                                      </p:to>
                                    </p:animClr>
                                    <p:set>
                                      <p:cBhvr>
                                        <p:cTn id="7" dur="2000" fill="hold"/>
                                        <p:tgtEl>
                                          <p:spTgt spid="469"/>
                                        </p:tgtEl>
                                        <p:attrNameLst>
                                          <p:attrName>fill.type</p:attrName>
                                        </p:attrNameLst>
                                      </p:cBhvr>
                                      <p:to>
                                        <p:strVal val="solid"/>
                                      </p:to>
                                    </p:set>
                                    <p:set>
                                      <p:cBhvr>
                                        <p:cTn id="8" dur="2000" fill="hold"/>
                                        <p:tgtEl>
                                          <p:spTgt spid="469"/>
                                        </p:tgtEl>
                                        <p:attrNameLst>
                                          <p:attrName>fill.on</p:attrName>
                                        </p:attrNameLst>
                                      </p:cBhvr>
                                    </p:set>
                                  </p:childTnLst>
                                </p:cTn>
                              </p:par>
                              <p:par>
                                <p:cTn id="9" presetID="1" presetClass="emph" presetSubtype="2" fill="hold" nodeType="withEffect">
                                  <p:stCondLst>
                                    <p:cond delay="0"/>
                                  </p:stCondLst>
                                  <p:childTnLst>
                                    <p:animClr clrSpc="rgb" dir="cw">
                                      <p:cBhvr>
                                        <p:cTn id="10" dur="2000" fill="hold"/>
                                        <p:tgtEl>
                                          <p:spTgt spid="441"/>
                                        </p:tgtEl>
                                        <p:attrNameLst>
                                          <p:attrName>fillcolor</p:attrName>
                                        </p:attrNameLst>
                                      </p:cBhvr>
                                      <p:to>
                                        <a:srgbClr val="FF0000"/>
                                      </p:to>
                                    </p:animClr>
                                    <p:set>
                                      <p:cBhvr>
                                        <p:cTn id="11" dur="2000" fill="hold"/>
                                        <p:tgtEl>
                                          <p:spTgt spid="441"/>
                                        </p:tgtEl>
                                        <p:attrNameLst>
                                          <p:attrName>fill.type</p:attrName>
                                        </p:attrNameLst>
                                      </p:cBhvr>
                                      <p:to>
                                        <p:strVal val="solid"/>
                                      </p:to>
                                    </p:set>
                                    <p:set>
                                      <p:cBhvr>
                                        <p:cTn id="12" dur="2000" fill="hold"/>
                                        <p:tgtEl>
                                          <p:spTgt spid="441"/>
                                        </p:tgtEl>
                                        <p:attrNameLst>
                                          <p:attrName>fill.on</p:attrName>
                                        </p:attrNameLst>
                                      </p:cBhvr>
                                    </p:set>
                                  </p:childTnLst>
                                </p:cTn>
                              </p:par>
                              <p:par>
                                <p:cTn id="13" presetID="1" presetClass="emph" presetSubtype="2" fill="hold" nodeType="withEffect">
                                  <p:stCondLst>
                                    <p:cond delay="0"/>
                                  </p:stCondLst>
                                  <p:childTnLst>
                                    <p:animClr clrSpc="rgb" dir="cw">
                                      <p:cBhvr>
                                        <p:cTn id="14" dur="2000" fill="hold"/>
                                        <p:tgtEl>
                                          <p:spTgt spid="431"/>
                                        </p:tgtEl>
                                        <p:attrNameLst>
                                          <p:attrName>fillcolor</p:attrName>
                                        </p:attrNameLst>
                                      </p:cBhvr>
                                      <p:to>
                                        <a:srgbClr val="FF0000"/>
                                      </p:to>
                                    </p:animClr>
                                    <p:set>
                                      <p:cBhvr>
                                        <p:cTn id="15" dur="2000" fill="hold"/>
                                        <p:tgtEl>
                                          <p:spTgt spid="431"/>
                                        </p:tgtEl>
                                        <p:attrNameLst>
                                          <p:attrName>fill.type</p:attrName>
                                        </p:attrNameLst>
                                      </p:cBhvr>
                                      <p:to>
                                        <p:strVal val="solid"/>
                                      </p:to>
                                    </p:set>
                                    <p:set>
                                      <p:cBhvr>
                                        <p:cTn id="16" dur="2000" fill="hold"/>
                                        <p:tgtEl>
                                          <p:spTgt spid="431"/>
                                        </p:tgtEl>
                                        <p:attrNameLst>
                                          <p:attrName>fill.on</p:attrName>
                                        </p:attrNameLst>
                                      </p:cBhvr>
                                    </p:set>
                                  </p:childTnLst>
                                </p:cTn>
                              </p:par>
                              <p:par>
                                <p:cTn id="17" presetID="1" presetClass="emph" presetSubtype="2" fill="hold" nodeType="withEffect">
                                  <p:stCondLst>
                                    <p:cond delay="0"/>
                                  </p:stCondLst>
                                  <p:childTnLst>
                                    <p:animClr clrSpc="rgb" dir="cw">
                                      <p:cBhvr>
                                        <p:cTn id="18" dur="2000" fill="hold"/>
                                        <p:tgtEl>
                                          <p:spTgt spid="446"/>
                                        </p:tgtEl>
                                        <p:attrNameLst>
                                          <p:attrName>fillcolor</p:attrName>
                                        </p:attrNameLst>
                                      </p:cBhvr>
                                      <p:to>
                                        <a:srgbClr val="FF0000"/>
                                      </p:to>
                                    </p:animClr>
                                    <p:set>
                                      <p:cBhvr>
                                        <p:cTn id="19" dur="2000" fill="hold"/>
                                        <p:tgtEl>
                                          <p:spTgt spid="446"/>
                                        </p:tgtEl>
                                        <p:attrNameLst>
                                          <p:attrName>fill.type</p:attrName>
                                        </p:attrNameLst>
                                      </p:cBhvr>
                                      <p:to>
                                        <p:strVal val="solid"/>
                                      </p:to>
                                    </p:set>
                                    <p:set>
                                      <p:cBhvr>
                                        <p:cTn id="20" dur="2000" fill="hold"/>
                                        <p:tgtEl>
                                          <p:spTgt spid="446"/>
                                        </p:tgtEl>
                                        <p:attrNameLst>
                                          <p:attrName>fill.on</p:attrName>
                                        </p:attrNameLst>
                                      </p:cBhvr>
                                    </p:set>
                                  </p:childTnLst>
                                </p:cTn>
                              </p:par>
                              <p:par>
                                <p:cTn id="21" presetID="1" presetClass="emph" presetSubtype="2" fill="hold" nodeType="withEffect">
                                  <p:stCondLst>
                                    <p:cond delay="0"/>
                                  </p:stCondLst>
                                  <p:childTnLst>
                                    <p:animClr clrSpc="rgb" dir="cw">
                                      <p:cBhvr>
                                        <p:cTn id="22" dur="2000" fill="hold"/>
                                        <p:tgtEl>
                                          <p:spTgt spid="442"/>
                                        </p:tgtEl>
                                        <p:attrNameLst>
                                          <p:attrName>fillcolor</p:attrName>
                                        </p:attrNameLst>
                                      </p:cBhvr>
                                      <p:to>
                                        <a:srgbClr val="FF0000"/>
                                      </p:to>
                                    </p:animClr>
                                    <p:set>
                                      <p:cBhvr>
                                        <p:cTn id="23" dur="2000" fill="hold"/>
                                        <p:tgtEl>
                                          <p:spTgt spid="442"/>
                                        </p:tgtEl>
                                        <p:attrNameLst>
                                          <p:attrName>fill.type</p:attrName>
                                        </p:attrNameLst>
                                      </p:cBhvr>
                                      <p:to>
                                        <p:strVal val="solid"/>
                                      </p:to>
                                    </p:set>
                                    <p:set>
                                      <p:cBhvr>
                                        <p:cTn id="24" dur="2000" fill="hold"/>
                                        <p:tgtEl>
                                          <p:spTgt spid="442"/>
                                        </p:tgtEl>
                                        <p:attrNameLst>
                                          <p:attrName>fill.on</p:attrName>
                                        </p:attrNameLst>
                                      </p:cBhvr>
                                    </p:set>
                                  </p:childTnLst>
                                </p:cTn>
                              </p:par>
                            </p:childTnLst>
                          </p:cTn>
                        </p:par>
                      </p:childTnLst>
                    </p:cTn>
                  </p:par>
                  <p:par>
                    <p:cTn id="25" fill="hold" nodeType="clickEffect">
                      <p:stCondLst>
                        <p:cond delay="indefinite"/>
                      </p:stCondLst>
                      <p:childTnLst>
                        <p:par>
                          <p:cTn id="26" fill="hold" nodeType="withEffect">
                            <p:stCondLst>
                              <p:cond delay="0"/>
                            </p:stCondLst>
                            <p:childTnLst>
                              <p:par>
                                <p:cTn id="27" presetID="1" presetClass="entr" fill="hold" nodeType="clickEffect">
                                  <p:stCondLst>
                                    <p:cond delay="0"/>
                                  </p:stCondLst>
                                  <p:childTnLst>
                                    <p:set>
                                      <p:cBhvr>
                                        <p:cTn id="28" dur="1" fill="hold">
                                          <p:stCondLst>
                                            <p:cond delay="0"/>
                                          </p:stCondLst>
                                        </p:cTn>
                                        <p:tgtEl>
                                          <p:spTgt spid="467"/>
                                        </p:tgtEl>
                                        <p:attrNameLst>
                                          <p:attrName>style.visibility</p:attrName>
                                        </p:attrNameLst>
                                      </p:cBhvr>
                                      <p:to>
                                        <p:strVal val="visible"/>
                                      </p:to>
                                    </p:set>
                                  </p:childTnLst>
                                </p:cTn>
                              </p:par>
                              <p:par>
                                <p:cTn id="29" presetClass="path" fill="hold" nodeType="withEffect">
                                  <p:stCondLst>
                                    <p:cond delay="0"/>
                                  </p:stCondLst>
                                  <p:childTnLst>
                                    <p:animMotion origin="layout" path="M -1.11111E-006 4.91329E-006 L -0.03941 0.78658 E">
                                      <p:cBhvr>
                                        <p:cTn id="30" dur="2000" fill="hold"/>
                                        <p:tgtEl>
                                          <p:spTgt spid="469"/>
                                        </p:tgtEl>
                                      </p:cBhvr>
                                    </p:animMotion>
                                  </p:childTnLst>
                                </p:cTn>
                              </p:par>
                              <p:par>
                                <p:cTn id="31" presetClass="path" fill="hold" nodeType="withEffect">
                                  <p:stCondLst>
                                    <p:cond delay="0"/>
                                  </p:stCondLst>
                                  <p:childTnLst>
                                    <p:animMotion origin="layout" path="M 1.38889E-006 3.52601E-006 L -0.02361 0.61849 E">
                                      <p:cBhvr>
                                        <p:cTn id="32" dur="2000" fill="hold"/>
                                        <p:tgtEl>
                                          <p:spTgt spid="441"/>
                                        </p:tgtEl>
                                      </p:cBhvr>
                                    </p:animMotion>
                                  </p:childTnLst>
                                </p:cTn>
                              </p:par>
                              <p:par>
                                <p:cTn id="33" presetClass="path" fill="hold" nodeType="withEffect">
                                  <p:stCondLst>
                                    <p:cond delay="0"/>
                                  </p:stCondLst>
                                  <p:childTnLst>
                                    <p:animMotion origin="layout" path="M 3.05556E-006 4.45087E-006 L 0.10243 0.5452 E">
                                      <p:cBhvr>
                                        <p:cTn id="34" dur="2000" fill="hold"/>
                                        <p:tgtEl>
                                          <p:spTgt spid="431"/>
                                        </p:tgtEl>
                                      </p:cBhvr>
                                    </p:animMotion>
                                  </p:childTnLst>
                                </p:cTn>
                              </p:par>
                              <p:par>
                                <p:cTn id="35" presetClass="path" fill="hold" nodeType="withEffect">
                                  <p:stCondLst>
                                    <p:cond delay="0"/>
                                  </p:stCondLst>
                                  <p:childTnLst>
                                    <p:animMotion origin="layout" path="M -2.77778E-006 -4.9711E-006 L 0.0158 0.5244 E">
                                      <p:cBhvr>
                                        <p:cTn id="36" dur="2000" fill="hold"/>
                                        <p:tgtEl>
                                          <p:spTgt spid="446"/>
                                        </p:tgtEl>
                                      </p:cBhvr>
                                    </p:animMotion>
                                  </p:childTnLst>
                                </p:cTn>
                              </p:par>
                              <p:par>
                                <p:cTn id="37" presetClass="path" fill="hold" nodeType="withEffect">
                                  <p:stCondLst>
                                    <p:cond delay="0"/>
                                  </p:stCondLst>
                                  <p:childTnLst>
                                    <p:animMotion origin="layout" path="M -8.33333E-007 -1.27168E-006 L -0.07882 0.59769 E">
                                      <p:cBhvr>
                                        <p:cTn id="38" dur="2000" fill="hold"/>
                                        <p:tgtEl>
                                          <p:spTgt spid="442"/>
                                        </p:tgtEl>
                                      </p:cBhvr>
                                    </p:animMotion>
                                  </p:childTnLst>
                                </p:cTn>
                              </p:par>
                              <p:par>
                                <p:cTn id="39" presetID="1" presetClass="entr" fill="hold" nodeType="withEffect">
                                  <p:stCondLst>
                                    <p:cond delay="0"/>
                                  </p:stCondLst>
                                  <p:childTnLst>
                                    <p:set>
                                      <p:cBhvr>
                                        <p:cTn id="40" dur="1" fill="hold">
                                          <p:stCondLst>
                                            <p:cond delay="0"/>
                                          </p:stCondLst>
                                        </p:cTn>
                                        <p:tgtEl>
                                          <p:spTgt spid="395"/>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Why are statistics needed?</a:t>
            </a:r>
            <a:endParaRPr lang="en-US" sz="4400" b="0" strike="noStrike" spc="-1">
              <a:latin typeface="Arial"/>
            </a:endParaRPr>
          </a:p>
        </p:txBody>
      </p:sp>
      <p:sp>
        <p:nvSpPr>
          <p:cNvPr id="472" name="CustomShape 2"/>
          <p:cNvSpPr/>
          <p:nvPr/>
        </p:nvSpPr>
        <p:spPr>
          <a:xfrm>
            <a:off x="838080" y="1825560"/>
            <a:ext cx="10512720" cy="451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Inferential statistics</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Making predictions and decisions about the population</a:t>
            </a:r>
            <a:endParaRPr lang="en-US" sz="2400" b="0" strike="noStrike" spc="-1" dirty="0">
              <a:latin typeface="Arial"/>
            </a:endParaRPr>
          </a:p>
          <a:p>
            <a:pPr>
              <a:lnSpc>
                <a:spcPct val="100000"/>
              </a:lnSpc>
              <a:buNone/>
            </a:pPr>
            <a:endParaRPr lang="en-US" sz="2400" b="0" strike="noStrike" spc="-1" dirty="0">
              <a:latin typeface="Arial"/>
            </a:endParaRPr>
          </a:p>
          <a:p>
            <a:pPr>
              <a:lnSpc>
                <a:spcPct val="100000"/>
              </a:lnSpc>
              <a:buNone/>
            </a:pPr>
            <a:endParaRPr lang="en-US" sz="2400" b="0" strike="noStrike" spc="-1" dirty="0">
              <a:latin typeface="Arial"/>
            </a:endParaRPr>
          </a:p>
          <a:p>
            <a:pPr>
              <a:lnSpc>
                <a:spcPct val="100000"/>
              </a:lnSpc>
              <a:buNone/>
            </a:pPr>
            <a:endParaRPr lang="en-US" sz="2400" b="0" strike="noStrike" spc="-1" dirty="0">
              <a:latin typeface="Arial"/>
            </a:endParaRPr>
          </a:p>
          <a:p>
            <a:pPr>
              <a:lnSpc>
                <a:spcPct val="100000"/>
              </a:lnSpc>
              <a:buNone/>
            </a:pPr>
            <a:endParaRPr lang="en-US" sz="2400" b="0" strike="noStrike" spc="-1" dirty="0">
              <a:latin typeface="Arial"/>
            </a:endParaRPr>
          </a:p>
          <a:p>
            <a:pPr>
              <a:lnSpc>
                <a:spcPct val="100000"/>
              </a:lnSpc>
              <a:buNone/>
            </a:pPr>
            <a:endParaRPr lang="en-US" sz="2400" b="0" strike="noStrike" spc="-1" dirty="0">
              <a:latin typeface="Arial"/>
            </a:endParaRPr>
          </a:p>
          <a:p>
            <a:pPr>
              <a:lnSpc>
                <a:spcPct val="90000"/>
              </a:lnSpc>
              <a:spcBef>
                <a:spcPts val="1001"/>
              </a:spcBef>
              <a:buNone/>
            </a:pPr>
            <a:endParaRPr lang="en-US" sz="2400" b="0" strike="noStrike" spc="-1" dirty="0">
              <a:latin typeface="Arial"/>
            </a:endParaRPr>
          </a:p>
          <a:p>
            <a:pPr>
              <a:lnSpc>
                <a:spcPct val="90000"/>
              </a:lnSpc>
              <a:spcBef>
                <a:spcPts val="499"/>
              </a:spcBef>
              <a:buNone/>
            </a:pP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200" b="0" strike="noStrike" spc="-1" dirty="0">
                <a:solidFill>
                  <a:srgbClr val="000000"/>
                </a:solidFill>
                <a:latin typeface="Calibri"/>
                <a:ea typeface="DejaVu Sans"/>
              </a:rPr>
              <a:t>Many things can go wrong when drawing inferences →</a:t>
            </a:r>
            <a:r>
              <a:rPr lang="en-US" sz="2200" b="0" strike="noStrike" spc="-1" dirty="0">
                <a:solidFill>
                  <a:srgbClr val="000000"/>
                </a:solidFill>
                <a:latin typeface="Wingdings"/>
                <a:ea typeface="DejaVu Sans"/>
              </a:rPr>
              <a:t> </a:t>
            </a:r>
            <a:r>
              <a:rPr lang="en-US" sz="2200" b="0" strike="noStrike" spc="-1" dirty="0">
                <a:solidFill>
                  <a:srgbClr val="000000"/>
                </a:solidFill>
                <a:latin typeface="Calibri"/>
                <a:ea typeface="DejaVu Sans"/>
              </a:rPr>
              <a:t> Statistics</a:t>
            </a:r>
            <a:endParaRPr lang="en-US" sz="2200" b="0" strike="noStrike" spc="-1" dirty="0">
              <a:latin typeface="Arial"/>
            </a:endParaRPr>
          </a:p>
        </p:txBody>
      </p:sp>
      <p:sp>
        <p:nvSpPr>
          <p:cNvPr id="473" name="CustomShape 3"/>
          <p:cNvSpPr/>
          <p:nvPr/>
        </p:nvSpPr>
        <p:spPr>
          <a:xfrm>
            <a:off x="845280" y="3108960"/>
            <a:ext cx="9759600" cy="118692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a:solidFill>
                  <a:srgbClr val="ED7D31"/>
                </a:solidFill>
                <a:latin typeface="Calibri"/>
                <a:ea typeface="DejaVu Sans"/>
              </a:rPr>
              <a:t>Population</a:t>
            </a:r>
            <a:r>
              <a:rPr lang="en-US" sz="2400" b="0" strike="noStrike" spc="-1">
                <a:solidFill>
                  <a:srgbClr val="000000"/>
                </a:solidFill>
                <a:latin typeface="Calibri"/>
                <a:ea typeface="DejaVu Sans"/>
              </a:rPr>
              <a:t>:</a:t>
            </a:r>
            <a:r>
              <a:rPr lang="en-US" sz="2400" b="1" strike="noStrike" spc="-1">
                <a:solidFill>
                  <a:srgbClr val="000000"/>
                </a:solidFill>
                <a:latin typeface="Calibri"/>
                <a:ea typeface="DejaVu Sans"/>
              </a:rPr>
              <a:t> All</a:t>
            </a:r>
            <a:r>
              <a:rPr lang="en-US" sz="2400" b="0" strike="noStrike" spc="-1">
                <a:solidFill>
                  <a:srgbClr val="000000"/>
                </a:solidFill>
                <a:latin typeface="Calibri"/>
                <a:ea typeface="DejaVu Sans"/>
              </a:rPr>
              <a:t> scores/data we are interested in</a:t>
            </a:r>
            <a:endParaRPr lang="en-US" sz="2400" b="0" strike="noStrike" spc="-1">
              <a:latin typeface="Arial"/>
            </a:endParaRPr>
          </a:p>
          <a:p>
            <a:pPr>
              <a:lnSpc>
                <a:spcPct val="100000"/>
              </a:lnSpc>
              <a:buNone/>
            </a:pPr>
            <a:r>
              <a:rPr lang="en-US" sz="2400" b="0" i="1" strike="noStrike" spc="-1">
                <a:solidFill>
                  <a:srgbClr val="ED7D31"/>
                </a:solidFill>
                <a:latin typeface="Calibri"/>
                <a:ea typeface="DejaVu Sans"/>
              </a:rPr>
              <a:t>Sample</a:t>
            </a:r>
            <a:r>
              <a:rPr lang="en-US" sz="2400" b="0" strike="noStrike" spc="-1">
                <a:solidFill>
                  <a:srgbClr val="000000"/>
                </a:solidFill>
                <a:latin typeface="Calibri"/>
                <a:ea typeface="DejaVu Sans"/>
              </a:rPr>
              <a:t>: The part of the population that we have actually observed</a:t>
            </a:r>
            <a:endParaRPr lang="en-US" sz="2400" b="0" strike="noStrike" spc="-1">
              <a:latin typeface="Arial"/>
            </a:endParaRPr>
          </a:p>
          <a:p>
            <a:pPr>
              <a:lnSpc>
                <a:spcPct val="100000"/>
              </a:lnSpc>
              <a:buNone/>
            </a:pPr>
            <a:r>
              <a:rPr lang="en-US" sz="2400" b="0" i="1" strike="noStrike" spc="-1">
                <a:solidFill>
                  <a:srgbClr val="ED7D31"/>
                </a:solidFill>
                <a:latin typeface="Calibri"/>
                <a:ea typeface="DejaVu Sans"/>
              </a:rPr>
              <a:t>Inference</a:t>
            </a:r>
            <a:r>
              <a:rPr lang="en-US" sz="2400" b="0" strike="noStrike" spc="-1">
                <a:solidFill>
                  <a:srgbClr val="000000"/>
                </a:solidFill>
                <a:latin typeface="Calibri"/>
                <a:ea typeface="DejaVu Sans"/>
              </a:rPr>
              <a:t>: Drawing a conclusion about the population, based on the sample</a:t>
            </a:r>
            <a:endParaRPr lang="en-US" sz="2400" b="0" strike="noStrike" spc="-1">
              <a:latin typeface="Arial"/>
            </a:endParaRPr>
          </a:p>
        </p:txBody>
      </p:sp>
      <p:sp>
        <p:nvSpPr>
          <p:cNvPr id="474" name="CustomShape 4"/>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6277DCA3-61FC-47AE-A373-312F54026D64}" type="slidenum">
              <a:rPr lang="en-US" sz="1200" b="0" strike="noStrike" spc="-1">
                <a:solidFill>
                  <a:srgbClr val="8B8B8B"/>
                </a:solidFill>
                <a:latin typeface="Calibri"/>
                <a:ea typeface="DejaVu Sans"/>
              </a:rPr>
              <a:t>14</a:t>
            </a:fld>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7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Why are statistics needed?</a:t>
            </a:r>
            <a:endParaRPr lang="en-US" sz="4400" b="0" strike="noStrike" spc="-1">
              <a:latin typeface="Arial"/>
            </a:endParaRPr>
          </a:p>
        </p:txBody>
      </p:sp>
      <p:sp>
        <p:nvSpPr>
          <p:cNvPr id="476" name="CustomShape 2"/>
          <p:cNvSpPr/>
          <p:nvPr/>
        </p:nvSpPr>
        <p:spPr>
          <a:xfrm>
            <a:off x="838080" y="1825560"/>
            <a:ext cx="10512720" cy="451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3200" b="0" strike="noStrike" spc="-1" dirty="0">
                <a:solidFill>
                  <a:srgbClr val="000000"/>
                </a:solidFill>
                <a:latin typeface="Calibri"/>
                <a:ea typeface="DejaVu Sans"/>
              </a:rPr>
              <a:t>Reproducibility crisis:</a:t>
            </a:r>
            <a:endParaRPr lang="en-US" sz="3200" b="0" strike="noStrike" spc="-1" dirty="0">
              <a:latin typeface="Arial"/>
            </a:endParaRPr>
          </a:p>
          <a:p>
            <a:pPr marL="720000" indent="-226800">
              <a:lnSpc>
                <a:spcPct val="100000"/>
              </a:lnSpc>
              <a:spcBef>
                <a:spcPts val="1134"/>
              </a:spcBef>
              <a:buClr>
                <a:srgbClr val="000000"/>
              </a:buClr>
              <a:buFont typeface="Arial"/>
              <a:buChar char="•"/>
            </a:pPr>
            <a:r>
              <a:rPr lang="en-US" sz="2400" b="0" strike="noStrike" spc="-1" dirty="0">
                <a:solidFill>
                  <a:srgbClr val="000000"/>
                </a:solidFill>
                <a:latin typeface="Calibri"/>
                <a:ea typeface="DejaVu Sans"/>
              </a:rPr>
              <a:t>Center for Open Science tried to replicate 100 published psychological studies</a:t>
            </a:r>
            <a:endParaRPr lang="en-US" sz="2400" b="0" strike="noStrike" spc="-1" dirty="0">
              <a:latin typeface="Arial"/>
            </a:endParaRPr>
          </a:p>
          <a:p>
            <a:pPr marL="720000" indent="-226800">
              <a:lnSpc>
                <a:spcPct val="100000"/>
              </a:lnSpc>
              <a:spcBef>
                <a:spcPts val="1134"/>
              </a:spcBef>
              <a:buClr>
                <a:srgbClr val="000000"/>
              </a:buClr>
              <a:buFont typeface="Arial"/>
              <a:buChar char="•"/>
            </a:pPr>
            <a:r>
              <a:rPr lang="en-US" sz="2400" b="0" strike="noStrike" spc="-1" dirty="0">
                <a:solidFill>
                  <a:srgbClr val="000000"/>
                </a:solidFill>
                <a:latin typeface="Calibri"/>
                <a:ea typeface="DejaVu Sans"/>
              </a:rPr>
              <a:t>Only 35 studies replicated</a:t>
            </a:r>
            <a:endParaRPr lang="en-US" sz="2400" b="0" strike="noStrike" spc="-1" dirty="0">
              <a:latin typeface="Arial"/>
            </a:endParaRPr>
          </a:p>
          <a:p>
            <a:pPr>
              <a:lnSpc>
                <a:spcPct val="100000"/>
              </a:lnSpc>
              <a:spcBef>
                <a:spcPts val="1417"/>
              </a:spcBef>
              <a:buNone/>
            </a:pPr>
            <a:endParaRPr lang="en-US" sz="2000" b="0" strike="noStrike" spc="-1" dirty="0">
              <a:latin typeface="Arial"/>
            </a:endParaRPr>
          </a:p>
          <a:p>
            <a:pPr>
              <a:lnSpc>
                <a:spcPct val="100000"/>
              </a:lnSpc>
              <a:spcBef>
                <a:spcPts val="1417"/>
              </a:spcBef>
              <a:buNone/>
            </a:pPr>
            <a:endParaRPr lang="en-US" sz="2000" b="0" strike="noStrike" spc="-1" dirty="0">
              <a:latin typeface="Arial"/>
            </a:endParaRPr>
          </a:p>
          <a:p>
            <a:pPr>
              <a:lnSpc>
                <a:spcPct val="100000"/>
              </a:lnSpc>
              <a:spcBef>
                <a:spcPts val="1417"/>
              </a:spcBef>
              <a:buNone/>
            </a:pPr>
            <a:endParaRPr lang="en-US" sz="2000" b="0" strike="noStrike" spc="-1" dirty="0">
              <a:latin typeface="Arial"/>
            </a:endParaRPr>
          </a:p>
          <a:p>
            <a:pPr>
              <a:lnSpc>
                <a:spcPct val="100000"/>
              </a:lnSpc>
              <a:spcBef>
                <a:spcPts val="1417"/>
              </a:spcBef>
              <a:buNone/>
            </a:pPr>
            <a:endParaRPr lang="en-US" sz="2000" b="0" strike="noStrike" spc="-1" dirty="0">
              <a:latin typeface="Arial"/>
            </a:endParaRPr>
          </a:p>
          <a:p>
            <a:pPr marL="228600" indent="-226800">
              <a:lnSpc>
                <a:spcPct val="100000"/>
              </a:lnSpc>
              <a:spcBef>
                <a:spcPts val="1417"/>
              </a:spcBef>
              <a:buClr>
                <a:srgbClr val="000000"/>
              </a:buClr>
              <a:buFont typeface="Arial"/>
              <a:buChar char="•"/>
            </a:pPr>
            <a:r>
              <a:rPr lang="en-US" sz="1500" b="0" u="sng" strike="noStrike" spc="-1" dirty="0">
                <a:solidFill>
                  <a:srgbClr val="0000FF"/>
                </a:solidFill>
                <a:uFillTx/>
                <a:latin typeface="Calibri"/>
                <a:ea typeface="DejaVu Sans"/>
                <a:hlinkClick r:id="rId3"/>
              </a:rPr>
              <a:t>https://science.sciencemag.org/content/349/6251/aac4716.full?ijkey=1xgFoCnpLswpk&amp;keytype=ref&amp;siteid=sci</a:t>
            </a:r>
            <a:r>
              <a:rPr lang="en-US" sz="1500" b="0" strike="noStrike" spc="-1" dirty="0">
                <a:solidFill>
                  <a:srgbClr val="2A6099"/>
                </a:solidFill>
                <a:latin typeface="Calibri"/>
                <a:ea typeface="DejaVu Sans"/>
              </a:rPr>
              <a:t> </a:t>
            </a:r>
            <a:endParaRPr lang="en-US" sz="1500" b="0" strike="noStrike" spc="-1" dirty="0">
              <a:latin typeface="Arial"/>
            </a:endParaRPr>
          </a:p>
          <a:p>
            <a:pPr marL="228600" indent="-226800">
              <a:lnSpc>
                <a:spcPct val="100000"/>
              </a:lnSpc>
              <a:spcBef>
                <a:spcPts val="1417"/>
              </a:spcBef>
              <a:buClr>
                <a:srgbClr val="000000"/>
              </a:buClr>
              <a:buFont typeface="Arial"/>
              <a:buChar char="•"/>
            </a:pPr>
            <a:r>
              <a:rPr lang="en-US" sz="1500" b="0" u="sng" strike="noStrike" spc="-1" dirty="0">
                <a:solidFill>
                  <a:srgbClr val="0000FF"/>
                </a:solidFill>
                <a:uFillTx/>
                <a:latin typeface="Calibri"/>
                <a:ea typeface="DejaVu Sans"/>
                <a:hlinkClick r:id="rId4"/>
              </a:rPr>
              <a:t>https://en.wikipedia.org/wiki/Reproducibility_Project</a:t>
            </a:r>
            <a:r>
              <a:rPr lang="en-US" sz="1500" b="0" strike="noStrike" spc="-1" dirty="0">
                <a:solidFill>
                  <a:srgbClr val="2A6099"/>
                </a:solidFill>
                <a:latin typeface="Calibri"/>
                <a:ea typeface="DejaVu Sans"/>
              </a:rPr>
              <a:t> </a:t>
            </a:r>
            <a:endParaRPr lang="en-US" sz="1500" b="0" strike="noStrike" spc="-1" dirty="0">
              <a:latin typeface="Arial"/>
            </a:endParaRPr>
          </a:p>
        </p:txBody>
      </p:sp>
      <p:sp>
        <p:nvSpPr>
          <p:cNvPr id="477"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7921BE08-2ECA-4652-9B42-4F176585CD82}" type="slidenum">
              <a:rPr lang="en-US" sz="1200" b="0" strike="noStrike" spc="-1">
                <a:solidFill>
                  <a:srgbClr val="8B8B8B"/>
                </a:solidFill>
                <a:latin typeface="Calibri"/>
                <a:ea typeface="DejaVu Sans"/>
              </a:rPr>
              <a:t>15</a:t>
            </a:fld>
            <a:endParaRPr lang="en-US" sz="12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CustomShape 1"/>
          <p:cNvSpPr/>
          <p:nvPr/>
        </p:nvSpPr>
        <p:spPr>
          <a:xfrm>
            <a:off x="838080" y="500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Overview of Today</a:t>
            </a:r>
            <a:endParaRPr lang="en-US" sz="4400" b="0" strike="noStrike" spc="-1">
              <a:latin typeface="Arial"/>
            </a:endParaRPr>
          </a:p>
        </p:txBody>
      </p:sp>
      <p:sp>
        <p:nvSpPr>
          <p:cNvPr id="479"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1500" lnSpcReduction="20000"/>
          </a:bodyPr>
          <a:lstStyle/>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Why are statistics needed?</a:t>
            </a:r>
            <a:endParaRPr lang="en-US" sz="2800" b="0" strike="noStrike" spc="-1" dirty="0">
              <a:latin typeface="Arial"/>
            </a:endParaRPr>
          </a:p>
          <a:p>
            <a:pPr marL="514440" indent="-512640">
              <a:lnSpc>
                <a:spcPct val="90000"/>
              </a:lnSpc>
              <a:spcBef>
                <a:spcPts val="1001"/>
              </a:spcBef>
              <a:buClr>
                <a:srgbClr val="ED7D31"/>
              </a:buClr>
              <a:buFont typeface="StarSymbol"/>
              <a:buAutoNum type="arabicPeriod"/>
            </a:pPr>
            <a:r>
              <a:rPr lang="en-US" sz="2800" b="1" strike="noStrike" spc="-1" dirty="0">
                <a:solidFill>
                  <a:srgbClr val="ED7D31"/>
                </a:solidFill>
                <a:latin typeface="Calibri"/>
                <a:ea typeface="DejaVu Sans"/>
              </a:rPr>
              <a:t>A little bit about the course</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The book: </a:t>
            </a:r>
            <a:r>
              <a:rPr lang="en-US" sz="2400" b="0" strike="noStrike" spc="-1" dirty="0" err="1">
                <a:solidFill>
                  <a:srgbClr val="000000"/>
                </a:solidFill>
                <a:latin typeface="Calibri"/>
                <a:ea typeface="DejaVu Sans"/>
              </a:rPr>
              <a:t>Agresti</a:t>
            </a:r>
            <a:r>
              <a:rPr lang="en-US" sz="2400" b="0" strike="noStrike" spc="-1" dirty="0">
                <a:solidFill>
                  <a:srgbClr val="000000"/>
                </a:solidFill>
                <a:latin typeface="Calibri"/>
                <a:ea typeface="DejaVu Sans"/>
              </a:rPr>
              <a:t>  &amp; Franklin</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Comparison to high school math</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How to prepare</a:t>
            </a:r>
            <a:endParaRPr lang="en-US" sz="2400" b="0" strike="noStrike" spc="-1" dirty="0">
              <a:latin typeface="Arial"/>
            </a:endParaRPr>
          </a:p>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How can you explore data?</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Types of data</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Displaying data</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Characteristics of a distribution</a:t>
            </a:r>
            <a:endParaRPr lang="en-US" sz="2400" b="0" strike="noStrike" spc="-1" dirty="0">
              <a:latin typeface="Arial"/>
            </a:endParaRPr>
          </a:p>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Recap</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Next time</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Example exam question</a:t>
            </a:r>
            <a:endParaRPr lang="en-US" sz="2400" b="0" strike="noStrike" spc="-1" dirty="0">
              <a:latin typeface="Arial"/>
            </a:endParaRPr>
          </a:p>
        </p:txBody>
      </p:sp>
      <p:sp>
        <p:nvSpPr>
          <p:cNvPr id="480"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F9BFE582-4961-483C-8E78-C3950F4B7DAB}" type="slidenum">
              <a:rPr lang="en-US" sz="1200" b="0" strike="noStrike" spc="-1">
                <a:solidFill>
                  <a:srgbClr val="8B8B8B"/>
                </a:solidFill>
                <a:latin typeface="Calibri"/>
                <a:ea typeface="DejaVu Sans"/>
              </a:rPr>
              <a:t>16</a:t>
            </a:fld>
            <a:endParaRPr lang="en-US" sz="12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Agresti &amp; Franklin book</a:t>
            </a:r>
            <a:endParaRPr lang="en-US" sz="4400" b="0" strike="noStrike" spc="-1">
              <a:latin typeface="Arial"/>
            </a:endParaRPr>
          </a:p>
        </p:txBody>
      </p:sp>
      <p:sp>
        <p:nvSpPr>
          <p:cNvPr id="482" name="CustomShape 2"/>
          <p:cNvSpPr/>
          <p:nvPr/>
        </p:nvSpPr>
        <p:spPr>
          <a:xfrm>
            <a:off x="5579280" y="1825560"/>
            <a:ext cx="6242760" cy="446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88000" lnSpcReduction="10000"/>
          </a:bodyPr>
          <a:lstStyle/>
          <a:p>
            <a:pPr>
              <a:lnSpc>
                <a:spcPct val="90000"/>
              </a:lnSpc>
              <a:spcBef>
                <a:spcPts val="1001"/>
              </a:spcBef>
              <a:buNone/>
            </a:pPr>
            <a:r>
              <a:rPr lang="en-US" sz="2800" b="0" strike="noStrike" spc="-1">
                <a:solidFill>
                  <a:srgbClr val="000000"/>
                </a:solidFill>
                <a:latin typeface="Calibri"/>
                <a:ea typeface="DejaVu Sans"/>
              </a:rPr>
              <a:t>Do we all have the book?</a:t>
            </a:r>
            <a:endParaRPr lang="en-US" sz="2800" b="0" strike="noStrike" spc="-1">
              <a:latin typeface="Arial"/>
            </a:endParaRPr>
          </a:p>
          <a:p>
            <a:pPr>
              <a:lnSpc>
                <a:spcPct val="90000"/>
              </a:lnSpc>
              <a:spcBef>
                <a:spcPts val="1001"/>
              </a:spcBef>
              <a:buNone/>
            </a:pPr>
            <a:endParaRPr lang="en-US" sz="2800" b="0" strike="noStrike" spc="-1">
              <a:latin typeface="Arial"/>
            </a:endParaRPr>
          </a:p>
          <a:p>
            <a:pPr marL="228600" indent="-226800">
              <a:lnSpc>
                <a:spcPct val="90000"/>
              </a:lnSpc>
              <a:spcBef>
                <a:spcPts val="1001"/>
              </a:spcBef>
              <a:buClr>
                <a:srgbClr val="00B050"/>
              </a:buClr>
              <a:buFont typeface=".AppleSystemUIFont"/>
              <a:buChar char="+"/>
            </a:pPr>
            <a:r>
              <a:rPr lang="en-US" sz="2800" b="0" strike="noStrike" spc="-1">
                <a:solidFill>
                  <a:srgbClr val="00B050"/>
                </a:solidFill>
                <a:latin typeface="Calibri"/>
                <a:ea typeface="DejaVu Sans"/>
              </a:rPr>
              <a:t>Excellent explanations</a:t>
            </a:r>
            <a:endParaRPr lang="en-US" sz="2800" b="0" strike="noStrike" spc="-1">
              <a:latin typeface="Arial"/>
            </a:endParaRPr>
          </a:p>
          <a:p>
            <a:pPr marL="228600" indent="-226800">
              <a:lnSpc>
                <a:spcPct val="90000"/>
              </a:lnSpc>
              <a:spcBef>
                <a:spcPts val="1001"/>
              </a:spcBef>
              <a:buClr>
                <a:srgbClr val="00B050"/>
              </a:buClr>
              <a:buFont typeface=".AppleSystemUIFont"/>
              <a:buChar char="+"/>
            </a:pPr>
            <a:r>
              <a:rPr lang="en-US" sz="2800" b="0" strike="noStrike" spc="-1">
                <a:solidFill>
                  <a:srgbClr val="00B050"/>
                </a:solidFill>
                <a:latin typeface="Calibri"/>
                <a:ea typeface="DejaVu Sans"/>
              </a:rPr>
              <a:t>Many examples</a:t>
            </a:r>
            <a:endParaRPr lang="en-US" sz="2800" b="0" strike="noStrike" spc="-1">
              <a:latin typeface="Arial"/>
            </a:endParaRPr>
          </a:p>
          <a:p>
            <a:pPr marL="228600" indent="-226800">
              <a:lnSpc>
                <a:spcPct val="90000"/>
              </a:lnSpc>
              <a:spcBef>
                <a:spcPts val="1001"/>
              </a:spcBef>
              <a:buClr>
                <a:srgbClr val="00B050"/>
              </a:buClr>
              <a:buFont typeface=".AppleSystemUIFont"/>
              <a:buChar char="+"/>
            </a:pPr>
            <a:r>
              <a:rPr lang="en-US" sz="2800" b="0" strike="noStrike" spc="-1">
                <a:solidFill>
                  <a:srgbClr val="00B050"/>
                </a:solidFill>
                <a:latin typeface="Calibri"/>
                <a:ea typeface="DejaVu Sans"/>
              </a:rPr>
              <a:t>Many practice questions</a:t>
            </a:r>
            <a:endParaRPr lang="en-US" sz="2800" b="0" strike="noStrike" spc="-1">
              <a:latin typeface="Arial"/>
            </a:endParaRPr>
          </a:p>
          <a:p>
            <a:pPr marL="228600" indent="-226800">
              <a:lnSpc>
                <a:spcPct val="90000"/>
              </a:lnSpc>
              <a:spcBef>
                <a:spcPts val="1001"/>
              </a:spcBef>
              <a:buClr>
                <a:srgbClr val="00B050"/>
              </a:buClr>
              <a:buFont typeface=".AppleSystemUIFont"/>
              <a:buChar char="+"/>
            </a:pPr>
            <a:r>
              <a:rPr lang="en-US" sz="2800" b="0" strike="noStrike" spc="-1">
                <a:solidFill>
                  <a:srgbClr val="00B050"/>
                </a:solidFill>
                <a:latin typeface="Calibri"/>
                <a:ea typeface="DejaVu Sans"/>
              </a:rPr>
              <a:t>Summary of each chapter</a:t>
            </a:r>
            <a:endParaRPr lang="en-US" sz="2800" b="0" strike="noStrike" spc="-1">
              <a:latin typeface="Arial"/>
            </a:endParaRPr>
          </a:p>
          <a:p>
            <a:pPr marL="228600" indent="-226800">
              <a:lnSpc>
                <a:spcPct val="90000"/>
              </a:lnSpc>
              <a:spcBef>
                <a:spcPts val="1001"/>
              </a:spcBef>
              <a:buClr>
                <a:srgbClr val="FF0000"/>
              </a:buClr>
              <a:buFont typeface=".AppleSystemUIFont"/>
              <a:buChar char="-"/>
            </a:pPr>
            <a:r>
              <a:rPr lang="en-US" sz="2800" b="0" strike="noStrike" spc="-1">
                <a:solidFill>
                  <a:srgbClr val="FF0000"/>
                </a:solidFill>
                <a:latin typeface="Calibri"/>
                <a:ea typeface="DejaVu Sans"/>
              </a:rPr>
              <a:t>Boring at times</a:t>
            </a:r>
            <a:endParaRPr lang="en-US" sz="2800" b="0" strike="noStrike" spc="-1">
              <a:latin typeface="Arial"/>
            </a:endParaRPr>
          </a:p>
          <a:p>
            <a:pPr marL="228600" indent="-226800">
              <a:lnSpc>
                <a:spcPct val="90000"/>
              </a:lnSpc>
              <a:spcBef>
                <a:spcPts val="1001"/>
              </a:spcBef>
              <a:buClr>
                <a:srgbClr val="FF0000"/>
              </a:buClr>
              <a:buFont typeface=".AppleSystemUIFont"/>
              <a:buChar char="-"/>
            </a:pPr>
            <a:r>
              <a:rPr lang="en-US" sz="2800" b="0" strike="noStrike" spc="-1">
                <a:solidFill>
                  <a:srgbClr val="FF0000"/>
                </a:solidFill>
                <a:latin typeface="Calibri"/>
                <a:ea typeface="DejaVu Sans"/>
              </a:rPr>
              <a:t>Difficult to find specific topics</a:t>
            </a:r>
            <a:endParaRPr lang="en-US" sz="2800" b="0" strike="noStrike" spc="-1">
              <a:latin typeface="Arial"/>
            </a:endParaRPr>
          </a:p>
          <a:p>
            <a:pPr>
              <a:lnSpc>
                <a:spcPct val="90000"/>
              </a:lnSpc>
              <a:spcBef>
                <a:spcPts val="1001"/>
              </a:spcBef>
              <a:buNone/>
            </a:pPr>
            <a:endParaRPr lang="en-US" sz="2800" b="0" strike="noStrike" spc="-1">
              <a:latin typeface="Arial"/>
            </a:endParaRPr>
          </a:p>
          <a:p>
            <a:pPr>
              <a:lnSpc>
                <a:spcPct val="90000"/>
              </a:lnSpc>
              <a:spcBef>
                <a:spcPts val="1001"/>
              </a:spcBef>
              <a:buNone/>
            </a:pPr>
            <a:r>
              <a:rPr lang="en-US" sz="2800" b="0" strike="noStrike" spc="-1">
                <a:solidFill>
                  <a:srgbClr val="000000"/>
                </a:solidFill>
                <a:latin typeface="Calibri"/>
                <a:ea typeface="DejaVu Sans"/>
              </a:rPr>
              <a:t>Basis of the course: Read! Read! Read!</a:t>
            </a:r>
            <a:endParaRPr lang="en-US" sz="2800" b="0" strike="noStrike" spc="-1">
              <a:latin typeface="Arial"/>
            </a:endParaRPr>
          </a:p>
        </p:txBody>
      </p:sp>
      <p:sp>
        <p:nvSpPr>
          <p:cNvPr id="483"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2F598093-1C8F-4610-9A69-9A60ADBAF277}" type="slidenum">
              <a:rPr lang="en-US" sz="1200" b="0" strike="noStrike" spc="-1">
                <a:solidFill>
                  <a:srgbClr val="8B8B8B"/>
                </a:solidFill>
                <a:latin typeface="Calibri"/>
                <a:ea typeface="DejaVu Sans"/>
              </a:rPr>
              <a:t>17</a:t>
            </a:fld>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48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48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48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48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48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48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48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Lectures vs practice</a:t>
            </a:r>
            <a:endParaRPr lang="en-US" sz="4400" b="0" strike="noStrike" spc="-1">
              <a:latin typeface="Arial"/>
            </a:endParaRPr>
          </a:p>
        </p:txBody>
      </p:sp>
      <p:sp>
        <p:nvSpPr>
          <p:cNvPr id="485" name="CustomShape 2"/>
          <p:cNvSpPr/>
          <p:nvPr/>
        </p:nvSpPr>
        <p:spPr>
          <a:xfrm>
            <a:off x="838080" y="1825560"/>
            <a:ext cx="10512720" cy="477246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87500" lnSpcReduction="10000"/>
          </a:bodyPr>
          <a:lstStyle/>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Learning Statistics is mainly </a:t>
            </a:r>
            <a:r>
              <a:rPr lang="en-US" sz="2800" b="1" i="1" strike="noStrike" spc="-1" dirty="0">
                <a:solidFill>
                  <a:srgbClr val="ED7D31"/>
                </a:solidFill>
                <a:latin typeface="Calibri"/>
                <a:ea typeface="DejaVu Sans"/>
              </a:rPr>
              <a:t>doing</a:t>
            </a:r>
            <a:endParaRPr lang="en-US" sz="2800" b="0" strike="noStrike" spc="-1" dirty="0">
              <a:latin typeface="Arial"/>
            </a:endParaRPr>
          </a:p>
          <a:p>
            <a:pPr marL="685800" lvl="1"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“Like riding a bike”</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Practice, Practice, Practice</a:t>
            </a:r>
            <a:endParaRPr lang="en-US" sz="2800" b="0" strike="noStrike" spc="-1" dirty="0">
              <a:latin typeface="Arial"/>
            </a:endParaRPr>
          </a:p>
          <a:p>
            <a:pPr>
              <a:lnSpc>
                <a:spcPct val="90000"/>
              </a:lnSpc>
              <a:spcBef>
                <a:spcPts val="1001"/>
              </a:spcBef>
              <a:buNone/>
            </a:pP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Lectures:</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Provide structure</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Point to important topics</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Extra explanation of difficult topics</a:t>
            </a:r>
            <a:endParaRPr lang="en-US" sz="2400" b="0" strike="noStrike" spc="-1" dirty="0">
              <a:latin typeface="Arial"/>
            </a:endParaRPr>
          </a:p>
          <a:p>
            <a:pPr>
              <a:lnSpc>
                <a:spcPct val="100000"/>
              </a:lnSpc>
              <a:buNone/>
            </a:pPr>
            <a:endParaRPr lang="en-US" sz="2400" b="0" strike="noStrike" spc="-1" dirty="0">
              <a:latin typeface="Arial"/>
            </a:endParaRPr>
          </a:p>
          <a:p>
            <a:pPr marL="228600" indent="-226800">
              <a:lnSpc>
                <a:spcPct val="90000"/>
              </a:lnSpc>
              <a:spcBef>
                <a:spcPts val="1001"/>
              </a:spcBef>
              <a:buClr>
                <a:srgbClr val="ED7D31"/>
              </a:buClr>
              <a:buFont typeface="Arial"/>
              <a:buChar char="•"/>
            </a:pPr>
            <a:r>
              <a:rPr lang="en-US" sz="2800" b="0" i="1" strike="noStrike" spc="-1" dirty="0">
                <a:solidFill>
                  <a:srgbClr val="ED7D31"/>
                </a:solidFill>
                <a:latin typeface="Calibri"/>
                <a:ea typeface="DejaVu Sans"/>
              </a:rPr>
              <a:t>Caveat: The lectures are not a complete summary of all topics!</a:t>
            </a:r>
          </a:p>
          <a:p>
            <a:pPr marL="685800" lvl="1" indent="-226800">
              <a:lnSpc>
                <a:spcPct val="90000"/>
              </a:lnSpc>
              <a:spcBef>
                <a:spcPts val="1001"/>
              </a:spcBef>
              <a:buClr>
                <a:srgbClr val="ED7D31"/>
              </a:buClr>
              <a:buFont typeface="Arial"/>
              <a:buChar char="•"/>
            </a:pPr>
            <a:r>
              <a:rPr lang="en-US" sz="2500" i="1" spc="-1" dirty="0">
                <a:solidFill>
                  <a:srgbClr val="ED7D31"/>
                </a:solidFill>
                <a:latin typeface="Calibri"/>
              </a:rPr>
              <a:t>Always check the Canvas modules for the interim exam information</a:t>
            </a:r>
          </a:p>
          <a:p>
            <a:pPr marL="685800" lvl="1" indent="-226800">
              <a:lnSpc>
                <a:spcPct val="90000"/>
              </a:lnSpc>
              <a:spcBef>
                <a:spcPts val="1001"/>
              </a:spcBef>
              <a:buClr>
                <a:srgbClr val="ED7D31"/>
              </a:buClr>
              <a:buFont typeface="Arial"/>
              <a:buChar char="•"/>
            </a:pPr>
            <a:r>
              <a:rPr lang="en-US" sz="2500" b="0" i="1" strike="noStrike" spc="-1" dirty="0">
                <a:solidFill>
                  <a:srgbClr val="ED7D31"/>
                </a:solidFill>
                <a:latin typeface="Calibri"/>
                <a:sym typeface="Wingdings" pitchFamily="2" charset="2"/>
              </a:rPr>
              <a:t> </a:t>
            </a:r>
            <a:r>
              <a:rPr lang="en-US" sz="2500" b="0" i="1" strike="noStrike" spc="-1" dirty="0">
                <a:solidFill>
                  <a:srgbClr val="ED7D31"/>
                </a:solidFill>
                <a:latin typeface="Calibri"/>
              </a:rPr>
              <a:t>Formula sheet</a:t>
            </a:r>
            <a:endParaRPr lang="en-US" sz="2500" b="0" strike="noStrike" spc="-1" dirty="0">
              <a:latin typeface="Arial"/>
            </a:endParaRPr>
          </a:p>
        </p:txBody>
      </p:sp>
      <p:sp>
        <p:nvSpPr>
          <p:cNvPr id="486"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13D80C58-E246-4730-89D9-BBE3A5364C9B}" type="slidenum">
              <a:rPr lang="en-US" sz="1200" b="0" strike="noStrike" spc="-1">
                <a:solidFill>
                  <a:srgbClr val="8B8B8B"/>
                </a:solidFill>
                <a:latin typeface="Calibri"/>
                <a:ea typeface="DejaVu Sans"/>
              </a:rPr>
              <a:t>18</a:t>
            </a:fld>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85">
                                            <p:txEl>
                                              <p:pRg st="9" end="9"/>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485">
                                            <p:txEl>
                                              <p:pRg st="10" end="10"/>
                                            </p:txEl>
                                          </p:spTgt>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48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dirty="0">
                <a:solidFill>
                  <a:srgbClr val="000000"/>
                </a:solidFill>
                <a:latin typeface="Calibri Light"/>
                <a:ea typeface="DejaVu Sans"/>
              </a:rPr>
              <a:t>Comparison to high school math</a:t>
            </a:r>
            <a:endParaRPr lang="en-US" sz="4400" b="0" strike="noStrike" spc="-1" dirty="0">
              <a:latin typeface="Arial"/>
            </a:endParaRPr>
          </a:p>
        </p:txBody>
      </p:sp>
      <p:sp>
        <p:nvSpPr>
          <p:cNvPr id="488"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0500" lnSpcReduction="20000"/>
          </a:bodyPr>
          <a:lstStyle/>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Some topics are a repetition of high school math (Dutch system: “</a:t>
            </a:r>
            <a:r>
              <a:rPr lang="en-US" sz="2800" b="0" strike="noStrike" spc="-1" dirty="0" err="1">
                <a:solidFill>
                  <a:srgbClr val="000000"/>
                </a:solidFill>
                <a:latin typeface="Calibri"/>
                <a:ea typeface="DejaVu Sans"/>
              </a:rPr>
              <a:t>Wiskunde</a:t>
            </a:r>
            <a:r>
              <a:rPr lang="en-US" sz="2800" b="0" strike="noStrike" spc="-1" dirty="0">
                <a:solidFill>
                  <a:srgbClr val="000000"/>
                </a:solidFill>
                <a:latin typeface="Calibri"/>
                <a:ea typeface="DejaVu Sans"/>
              </a:rPr>
              <a:t> A/C”)</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Examples:</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Some descriptive statistics (mean, median, quartiles, standard deviation) and graphs</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Probability, probability distributions etc.</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Population vs sample</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Hypothesis testing</a:t>
            </a:r>
            <a:endParaRPr lang="en-US" sz="2400" b="0" strike="noStrike" spc="-1" dirty="0">
              <a:latin typeface="Arial"/>
            </a:endParaRPr>
          </a:p>
          <a:p>
            <a:pPr>
              <a:lnSpc>
                <a:spcPct val="100000"/>
              </a:lnSpc>
              <a:buNone/>
            </a:pPr>
            <a:endParaRPr lang="en-US" sz="24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In our course:</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Short recap + extension</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Deeper knowledge + relevant applications</a:t>
            </a:r>
            <a:endParaRPr lang="en-US" sz="2400" b="0" strike="noStrike" spc="-1" dirty="0">
              <a:latin typeface="Arial"/>
            </a:endParaRPr>
          </a:p>
          <a:p>
            <a:pPr>
              <a:lnSpc>
                <a:spcPct val="90000"/>
              </a:lnSpc>
              <a:spcBef>
                <a:spcPts val="1001"/>
              </a:spcBef>
              <a:buNone/>
            </a:pPr>
            <a:endParaRPr lang="en-US" sz="2400" b="0" strike="noStrike" spc="-1" dirty="0">
              <a:latin typeface="Arial"/>
            </a:endParaRPr>
          </a:p>
          <a:p>
            <a:pPr marL="228600" indent="-226800">
              <a:lnSpc>
                <a:spcPct val="90000"/>
              </a:lnSpc>
              <a:spcBef>
                <a:spcPts val="1001"/>
              </a:spcBef>
              <a:buClr>
                <a:srgbClr val="ED7D31"/>
              </a:buClr>
              <a:buFont typeface="Arial"/>
              <a:buChar char="•"/>
            </a:pPr>
            <a:r>
              <a:rPr lang="en-US" sz="2800" b="0" i="1" strike="noStrike" spc="-1" dirty="0">
                <a:solidFill>
                  <a:srgbClr val="ED7D31"/>
                </a:solidFill>
                <a:latin typeface="Calibri"/>
                <a:ea typeface="DejaVu Sans"/>
              </a:rPr>
              <a:t>More focus on </a:t>
            </a:r>
            <a:r>
              <a:rPr lang="en-US" sz="2800" b="1" i="1" strike="noStrike" spc="-1" dirty="0">
                <a:solidFill>
                  <a:srgbClr val="ED7D31"/>
                </a:solidFill>
                <a:latin typeface="Calibri"/>
                <a:ea typeface="DejaVu Sans"/>
              </a:rPr>
              <a:t>understanding</a:t>
            </a:r>
            <a:endParaRPr lang="en-US" sz="2800" b="0" strike="noStrike" spc="-1" dirty="0">
              <a:latin typeface="Arial"/>
            </a:endParaRPr>
          </a:p>
          <a:p>
            <a:pPr>
              <a:lnSpc>
                <a:spcPct val="100000"/>
              </a:lnSpc>
              <a:buNone/>
            </a:pPr>
            <a:endParaRPr lang="en-US" sz="2800" b="0" strike="noStrike" spc="-1" dirty="0">
              <a:latin typeface="Arial"/>
            </a:endParaRPr>
          </a:p>
        </p:txBody>
      </p:sp>
      <p:sp>
        <p:nvSpPr>
          <p:cNvPr id="489"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BD25F05A-FC7A-4D9B-96E5-B2C7130B0ACD}" type="slidenum">
              <a:rPr lang="en-US" sz="1200" b="0" strike="noStrike" spc="-1">
                <a:solidFill>
                  <a:srgbClr val="8B8B8B"/>
                </a:solidFill>
                <a:latin typeface="Calibri"/>
                <a:ea typeface="DejaVu Sans"/>
              </a:rPr>
              <a:t>19</a:t>
            </a:fld>
            <a:endParaRPr lang="en-US" sz="1200" b="0" strike="noStrike" spc="-1">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dirty="0">
                <a:solidFill>
                  <a:srgbClr val="000000"/>
                </a:solidFill>
                <a:latin typeface="Calibri Light"/>
                <a:ea typeface="DejaVu Sans"/>
              </a:rPr>
              <a:t>How to prepare for the course (stats)?!</a:t>
            </a:r>
            <a:endParaRPr lang="en-US" sz="4400" b="0" strike="noStrike" spc="-1" dirty="0">
              <a:latin typeface="Arial"/>
            </a:endParaRPr>
          </a:p>
        </p:txBody>
      </p:sp>
      <p:sp>
        <p:nvSpPr>
          <p:cNvPr id="488"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8000"/>
          </a:bodyPr>
          <a:lstStyle/>
          <a:p>
            <a:pPr marL="228600" indent="-226800">
              <a:lnSpc>
                <a:spcPct val="90000"/>
              </a:lnSpc>
              <a:spcBef>
                <a:spcPts val="1001"/>
              </a:spcBef>
              <a:buClr>
                <a:srgbClr val="000000"/>
              </a:buClr>
              <a:buFont typeface="Arial"/>
              <a:buChar char="•"/>
            </a:pPr>
            <a:r>
              <a:rPr lang="en-US" sz="2800" spc="-1" dirty="0">
                <a:solidFill>
                  <a:srgbClr val="000000"/>
                </a:solidFill>
                <a:latin typeface="Calibri"/>
              </a:rPr>
              <a:t>The different stages of confusion when learning statistics</a:t>
            </a:r>
          </a:p>
          <a:p>
            <a:pPr marL="685800" lvl="1" indent="-226800">
              <a:lnSpc>
                <a:spcPct val="90000"/>
              </a:lnSpc>
              <a:spcBef>
                <a:spcPts val="1001"/>
              </a:spcBef>
              <a:buClr>
                <a:srgbClr val="000000"/>
              </a:buClr>
              <a:buFont typeface="Arial"/>
              <a:buChar char="•"/>
            </a:pPr>
            <a:r>
              <a:rPr lang="en-US" sz="2800" spc="-1" dirty="0">
                <a:solidFill>
                  <a:srgbClr val="000000"/>
                </a:solidFill>
                <a:latin typeface="Calibri"/>
              </a:rPr>
              <a:t>Book: can keep rereading</a:t>
            </a:r>
          </a:p>
          <a:p>
            <a:pPr marL="685800" lvl="1" indent="-226800">
              <a:lnSpc>
                <a:spcPct val="90000"/>
              </a:lnSpc>
              <a:spcBef>
                <a:spcPts val="1001"/>
              </a:spcBef>
              <a:buClr>
                <a:srgbClr val="000000"/>
              </a:buClr>
              <a:buFont typeface="Arial"/>
              <a:buChar char="•"/>
            </a:pPr>
            <a:r>
              <a:rPr lang="en-US" sz="2800" b="0" strike="noStrike" spc="-1" dirty="0">
                <a:solidFill>
                  <a:srgbClr val="000000"/>
                </a:solidFill>
                <a:latin typeface="Calibri"/>
              </a:rPr>
              <a:t>Exercises: can keep (re)doing</a:t>
            </a:r>
          </a:p>
          <a:p>
            <a:pPr marL="685800" lvl="1" indent="-226800">
              <a:lnSpc>
                <a:spcPct val="90000"/>
              </a:lnSpc>
              <a:spcBef>
                <a:spcPts val="1001"/>
              </a:spcBef>
              <a:buClr>
                <a:srgbClr val="000000"/>
              </a:buClr>
              <a:buFont typeface="Arial"/>
              <a:buChar char="•"/>
            </a:pPr>
            <a:r>
              <a:rPr lang="en-US" sz="2800" b="0" strike="noStrike" spc="-1" dirty="0">
                <a:solidFill>
                  <a:srgbClr val="000000"/>
                </a:solidFill>
                <a:latin typeface="Calibri"/>
              </a:rPr>
              <a:t>Lectures: happen once</a:t>
            </a:r>
          </a:p>
          <a:p>
            <a:pPr marL="685800" lvl="1" indent="-226800">
              <a:lnSpc>
                <a:spcPct val="90000"/>
              </a:lnSpc>
              <a:spcBef>
                <a:spcPts val="1001"/>
              </a:spcBef>
              <a:buClr>
                <a:srgbClr val="000000"/>
              </a:buClr>
              <a:buFont typeface="Arial"/>
              <a:buChar char="•"/>
            </a:pPr>
            <a:endParaRPr lang="en-US" sz="2800" spc="-1" dirty="0">
              <a:solidFill>
                <a:srgbClr val="000000"/>
              </a:solidFill>
              <a:latin typeface="Calibri"/>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rPr>
              <a:t>Use the tutorials</a:t>
            </a:r>
          </a:p>
          <a:p>
            <a:pPr marL="228600" indent="-226800">
              <a:lnSpc>
                <a:spcPct val="90000"/>
              </a:lnSpc>
              <a:spcBef>
                <a:spcPts val="1001"/>
              </a:spcBef>
              <a:buClr>
                <a:srgbClr val="000000"/>
              </a:buClr>
              <a:buFont typeface="Arial"/>
              <a:buChar char="•"/>
            </a:pPr>
            <a:r>
              <a:rPr lang="en-US" sz="2800" spc="-1" dirty="0">
                <a:solidFill>
                  <a:srgbClr val="000000"/>
                </a:solidFill>
                <a:latin typeface="Calibri"/>
              </a:rPr>
              <a:t>Use the Canvas discussion board</a:t>
            </a: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rPr>
              <a:t>Work together on the exercises</a:t>
            </a:r>
          </a:p>
          <a:p>
            <a:pPr marL="685800" lvl="1" indent="-226800">
              <a:lnSpc>
                <a:spcPct val="90000"/>
              </a:lnSpc>
              <a:spcBef>
                <a:spcPts val="1001"/>
              </a:spcBef>
              <a:buClr>
                <a:srgbClr val="000000"/>
              </a:buClr>
              <a:buFont typeface="Arial"/>
              <a:buChar char="•"/>
            </a:pPr>
            <a:r>
              <a:rPr lang="en-US" b="0" strike="noStrike" spc="-1" dirty="0">
                <a:latin typeface="Arial"/>
                <a:hlinkClick r:id="rId3"/>
              </a:rPr>
              <a:t>https://edu.nl/t9wbp</a:t>
            </a:r>
            <a:r>
              <a:rPr lang="en-US" b="0" strike="noStrike" spc="-1" dirty="0">
                <a:latin typeface="Arial"/>
              </a:rPr>
              <a:t> </a:t>
            </a:r>
          </a:p>
          <a:p>
            <a:pPr>
              <a:lnSpc>
                <a:spcPct val="100000"/>
              </a:lnSpc>
              <a:buNone/>
            </a:pPr>
            <a:endParaRPr lang="en-US" sz="2800" b="0" strike="noStrike" spc="-1" dirty="0">
              <a:latin typeface="Arial"/>
            </a:endParaRPr>
          </a:p>
        </p:txBody>
      </p:sp>
      <p:sp>
        <p:nvSpPr>
          <p:cNvPr id="489"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BD25F05A-FC7A-4D9B-96E5-B2C7130B0ACD}" type="slidenum">
              <a:rPr lang="en-US" sz="1200" b="0" strike="noStrike" spc="-1">
                <a:solidFill>
                  <a:srgbClr val="8B8B8B"/>
                </a:solidFill>
                <a:latin typeface="Calibri"/>
                <a:ea typeface="DejaVu Sans"/>
              </a:rPr>
              <a:t>20</a:t>
            </a:fld>
            <a:endParaRPr lang="en-US" sz="1200" b="0" strike="noStrike" spc="-1">
              <a:latin typeface="Arial"/>
            </a:endParaRPr>
          </a:p>
        </p:txBody>
      </p:sp>
    </p:spTree>
    <p:extLst>
      <p:ext uri="{BB962C8B-B14F-4D97-AF65-F5344CB8AC3E}">
        <p14:creationId xmlns:p14="http://schemas.microsoft.com/office/powerpoint/2010/main" val="2662030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dirty="0">
                <a:solidFill>
                  <a:srgbClr val="000000"/>
                </a:solidFill>
                <a:latin typeface="Calibri Light"/>
                <a:ea typeface="DejaVu Sans"/>
              </a:rPr>
              <a:t>How to prepare for the exam?!</a:t>
            </a:r>
            <a:endParaRPr lang="en-US" sz="4400" b="0" strike="noStrike" spc="-1" dirty="0">
              <a:latin typeface="Arial"/>
            </a:endParaRPr>
          </a:p>
        </p:txBody>
      </p:sp>
      <p:sp>
        <p:nvSpPr>
          <p:cNvPr id="488"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0500" lnSpcReduction="10000"/>
          </a:bodyPr>
          <a:lstStyle/>
          <a:p>
            <a:pPr marL="228600" indent="-226800">
              <a:lnSpc>
                <a:spcPct val="90000"/>
              </a:lnSpc>
              <a:spcBef>
                <a:spcPts val="1001"/>
              </a:spcBef>
              <a:buClr>
                <a:srgbClr val="000000"/>
              </a:buClr>
              <a:buFont typeface="Arial"/>
              <a:buChar char="•"/>
            </a:pPr>
            <a:r>
              <a:rPr lang="en-US" sz="2800" spc="-1" dirty="0">
                <a:solidFill>
                  <a:srgbClr val="000000"/>
                </a:solidFill>
                <a:latin typeface="Calibri"/>
              </a:rPr>
              <a:t>Practice the exercises, WA, trial exam, formula sheet (see Canvas) </a:t>
            </a:r>
          </a:p>
          <a:p>
            <a:pPr marL="228600" indent="-226800">
              <a:lnSpc>
                <a:spcPct val="90000"/>
              </a:lnSpc>
              <a:spcBef>
                <a:spcPts val="1001"/>
              </a:spcBef>
              <a:buClr>
                <a:srgbClr val="000000"/>
              </a:buClr>
              <a:buFont typeface="Arial"/>
              <a:buChar char="•"/>
            </a:pPr>
            <a:r>
              <a:rPr lang="en-US" sz="2800" spc="-1" dirty="0">
                <a:solidFill>
                  <a:srgbClr val="000000"/>
                </a:solidFill>
                <a:latin typeface="Calibri"/>
              </a:rPr>
              <a:t>Practice the software (Ans calculator, later Excel)</a:t>
            </a:r>
          </a:p>
          <a:p>
            <a:pPr marL="459000" lvl="1">
              <a:lnSpc>
                <a:spcPct val="90000"/>
              </a:lnSpc>
              <a:spcBef>
                <a:spcPts val="1001"/>
              </a:spcBef>
              <a:buClr>
                <a:srgbClr val="000000"/>
              </a:buClr>
            </a:pPr>
            <a:r>
              <a:rPr lang="en-US" sz="2800" spc="-1" dirty="0">
                <a:solidFill>
                  <a:srgbClr val="000000"/>
                </a:solidFill>
                <a:latin typeface="Calibri"/>
                <a:sym typeface="Wingdings" pitchFamily="2" charset="2"/>
              </a:rPr>
              <a:t> Speed is important!</a:t>
            </a:r>
            <a:endParaRPr lang="en-US" sz="2800" spc="-1" dirty="0">
              <a:solidFill>
                <a:srgbClr val="000000"/>
              </a:solidFill>
              <a:latin typeface="Calibri"/>
            </a:endParaRPr>
          </a:p>
          <a:p>
            <a:pPr marL="228600" indent="-226800">
              <a:lnSpc>
                <a:spcPct val="90000"/>
              </a:lnSpc>
              <a:spcBef>
                <a:spcPts val="1001"/>
              </a:spcBef>
              <a:buClr>
                <a:srgbClr val="000000"/>
              </a:buClr>
              <a:buFont typeface="Arial"/>
              <a:buChar char="•"/>
            </a:pPr>
            <a:r>
              <a:rPr lang="en-US" sz="2800" spc="-1" dirty="0">
                <a:solidFill>
                  <a:srgbClr val="000000"/>
                </a:solidFill>
                <a:latin typeface="Calibri"/>
              </a:rPr>
              <a:t>Read the book while keeping lecture slides in mind</a:t>
            </a:r>
          </a:p>
          <a:p>
            <a:pPr marL="228600" indent="-226800">
              <a:lnSpc>
                <a:spcPct val="90000"/>
              </a:lnSpc>
              <a:spcBef>
                <a:spcPts val="1001"/>
              </a:spcBef>
              <a:buClr>
                <a:srgbClr val="000000"/>
              </a:buClr>
              <a:buFont typeface="Arial"/>
              <a:buChar char="•"/>
            </a:pPr>
            <a:endParaRPr lang="en-US" sz="2800" b="0" strike="noStrike" spc="-1" dirty="0">
              <a:solidFill>
                <a:srgbClr val="000000"/>
              </a:solidFill>
              <a:latin typeface="Calibri"/>
            </a:endParaRPr>
          </a:p>
          <a:p>
            <a:pPr marL="228600" indent="-226800">
              <a:lnSpc>
                <a:spcPct val="90000"/>
              </a:lnSpc>
              <a:spcBef>
                <a:spcPts val="1001"/>
              </a:spcBef>
              <a:buClr>
                <a:srgbClr val="000000"/>
              </a:buClr>
              <a:buFont typeface="Arial"/>
              <a:buChar char="•"/>
            </a:pPr>
            <a:r>
              <a:rPr lang="en-US" sz="2800" spc="-1" dirty="0">
                <a:solidFill>
                  <a:srgbClr val="000000"/>
                </a:solidFill>
                <a:latin typeface="Calibri"/>
              </a:rPr>
              <a:t>On the exam: </a:t>
            </a:r>
          </a:p>
          <a:p>
            <a:pPr marL="685800" lvl="1" indent="-226800">
              <a:lnSpc>
                <a:spcPct val="90000"/>
              </a:lnSpc>
              <a:spcBef>
                <a:spcPts val="1001"/>
              </a:spcBef>
              <a:buClr>
                <a:srgbClr val="000000"/>
              </a:buClr>
              <a:buFont typeface="Arial"/>
              <a:buChar char="•"/>
            </a:pPr>
            <a:r>
              <a:rPr lang="en-US" sz="2800" spc="-1" dirty="0">
                <a:solidFill>
                  <a:srgbClr val="000000"/>
                </a:solidFill>
                <a:latin typeface="Calibri"/>
              </a:rPr>
              <a:t>You don’t have to stick to the question order!</a:t>
            </a:r>
          </a:p>
          <a:p>
            <a:pPr marL="685800" lvl="1" indent="-226800">
              <a:lnSpc>
                <a:spcPct val="90000"/>
              </a:lnSpc>
              <a:spcBef>
                <a:spcPts val="1001"/>
              </a:spcBef>
              <a:buClr>
                <a:srgbClr val="000000"/>
              </a:buClr>
              <a:buFont typeface="Arial"/>
              <a:buChar char="•"/>
            </a:pPr>
            <a:r>
              <a:rPr lang="en-US" sz="2800" b="0" strike="noStrike" spc="-1" dirty="0">
                <a:solidFill>
                  <a:srgbClr val="000000"/>
                </a:solidFill>
                <a:latin typeface="Calibri"/>
              </a:rPr>
              <a:t>Focus on </a:t>
            </a:r>
            <a:r>
              <a:rPr lang="en-US" sz="2800" b="1" strike="noStrike" spc="-1" dirty="0">
                <a:solidFill>
                  <a:srgbClr val="000000"/>
                </a:solidFill>
                <a:latin typeface="Calibri"/>
              </a:rPr>
              <a:t>fast</a:t>
            </a:r>
            <a:r>
              <a:rPr lang="en-US" sz="2800" b="0" strike="noStrike" spc="-1" dirty="0">
                <a:solidFill>
                  <a:srgbClr val="000000"/>
                </a:solidFill>
                <a:latin typeface="Calibri"/>
              </a:rPr>
              <a:t> questions </a:t>
            </a:r>
            <a:r>
              <a:rPr lang="en-US" sz="2800" spc="-1" dirty="0">
                <a:solidFill>
                  <a:srgbClr val="000000"/>
                </a:solidFill>
                <a:latin typeface="Calibri"/>
              </a:rPr>
              <a:t>(e.g., without calculations)</a:t>
            </a:r>
          </a:p>
          <a:p>
            <a:pPr marL="685800" lvl="1" indent="-226800">
              <a:lnSpc>
                <a:spcPct val="90000"/>
              </a:lnSpc>
              <a:spcBef>
                <a:spcPts val="1001"/>
              </a:spcBef>
              <a:buClr>
                <a:srgbClr val="000000"/>
              </a:buClr>
              <a:buFont typeface="Arial"/>
              <a:buChar char="•"/>
            </a:pPr>
            <a:r>
              <a:rPr lang="en-US" sz="2800" b="0" strike="noStrike" spc="-1" dirty="0">
                <a:solidFill>
                  <a:srgbClr val="000000"/>
                </a:solidFill>
                <a:latin typeface="Calibri"/>
              </a:rPr>
              <a:t>Focus on </a:t>
            </a:r>
            <a:r>
              <a:rPr lang="en-US" sz="2800" b="1" strike="noStrike" spc="-1" dirty="0">
                <a:solidFill>
                  <a:srgbClr val="000000"/>
                </a:solidFill>
                <a:latin typeface="Calibri"/>
              </a:rPr>
              <a:t>open</a:t>
            </a:r>
            <a:r>
              <a:rPr lang="en-US" sz="2800" b="0" strike="noStrike" spc="-1" dirty="0">
                <a:solidFill>
                  <a:srgbClr val="000000"/>
                </a:solidFill>
                <a:latin typeface="Calibri"/>
              </a:rPr>
              <a:t> question (partial points possible)</a:t>
            </a:r>
          </a:p>
          <a:p>
            <a:pPr marL="685800" lvl="1" indent="-226800">
              <a:lnSpc>
                <a:spcPct val="90000"/>
              </a:lnSpc>
              <a:spcBef>
                <a:spcPts val="1001"/>
              </a:spcBef>
              <a:buClr>
                <a:srgbClr val="000000"/>
              </a:buClr>
              <a:buFont typeface="Arial"/>
              <a:buChar char="•"/>
            </a:pPr>
            <a:r>
              <a:rPr lang="en-US" sz="2800" spc="-1" dirty="0">
                <a:solidFill>
                  <a:srgbClr val="000000"/>
                </a:solidFill>
                <a:latin typeface="Calibri"/>
              </a:rPr>
              <a:t>Then go back to time intensive questions</a:t>
            </a:r>
            <a:endParaRPr lang="en-US" sz="2800" b="0" strike="noStrike" spc="-1" dirty="0">
              <a:solidFill>
                <a:srgbClr val="000000"/>
              </a:solidFill>
              <a:latin typeface="Calibri"/>
            </a:endParaRPr>
          </a:p>
        </p:txBody>
      </p:sp>
      <p:sp>
        <p:nvSpPr>
          <p:cNvPr id="489"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BD25F05A-FC7A-4D9B-96E5-B2C7130B0ACD}" type="slidenum">
              <a:rPr lang="en-US" sz="1200" b="0" strike="noStrike" spc="-1">
                <a:solidFill>
                  <a:srgbClr val="8B8B8B"/>
                </a:solidFill>
                <a:latin typeface="Calibri"/>
                <a:ea typeface="DejaVu Sans"/>
              </a:rPr>
              <a:t>21</a:t>
            </a:fld>
            <a:endParaRPr lang="en-US" sz="1200" b="0" strike="noStrike" spc="-1">
              <a:latin typeface="Arial"/>
            </a:endParaRPr>
          </a:p>
        </p:txBody>
      </p:sp>
    </p:spTree>
    <p:extLst>
      <p:ext uri="{BB962C8B-B14F-4D97-AF65-F5344CB8AC3E}">
        <p14:creationId xmlns:p14="http://schemas.microsoft.com/office/powerpoint/2010/main" val="3291935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9DC3E6-0C87-062D-D6E6-0DE237763375}"/>
              </a:ext>
            </a:extLst>
          </p:cNvPr>
          <p:cNvSpPr>
            <a:spLocks noGrp="1"/>
          </p:cNvSpPr>
          <p:nvPr>
            <p:ph type="subTitle"/>
          </p:nvPr>
        </p:nvSpPr>
        <p:spPr>
          <a:xfrm>
            <a:off x="1624308" y="5567243"/>
            <a:ext cx="8943384" cy="925717"/>
          </a:xfrm>
        </p:spPr>
        <p:txBody>
          <a:bodyPr/>
          <a:lstStyle/>
          <a:p>
            <a:pPr marL="0" indent="0" algn="ctr">
              <a:buNone/>
            </a:pPr>
            <a:r>
              <a:rPr lang="en-GB" sz="3200" dirty="0">
                <a:hlinkClick r:id="rId3"/>
              </a:rPr>
              <a:t>https://www.youtube.com/watch?v=JC82Il2cjqA</a:t>
            </a:r>
            <a:r>
              <a:rPr lang="en-GB" sz="3200" dirty="0"/>
              <a:t> </a:t>
            </a:r>
            <a:endParaRPr lang="en-NL" sz="3200" dirty="0"/>
          </a:p>
        </p:txBody>
      </p:sp>
      <p:sp>
        <p:nvSpPr>
          <p:cNvPr id="4" name="CustomShape 1">
            <a:extLst>
              <a:ext uri="{FF2B5EF4-FFF2-40B4-BE49-F238E27FC236}">
                <a16:creationId xmlns:a16="http://schemas.microsoft.com/office/drawing/2014/main" id="{A36B4741-8E36-2D1E-29F0-0E9236484982}"/>
              </a:ext>
            </a:extLst>
          </p:cNvPr>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dirty="0">
                <a:solidFill>
                  <a:srgbClr val="000000"/>
                </a:solidFill>
                <a:latin typeface="Calibri Light"/>
                <a:ea typeface="DejaVu Sans"/>
              </a:rPr>
              <a:t>You’ll get there!</a:t>
            </a:r>
            <a:endParaRPr lang="en-US" sz="4400" b="0" strike="noStrike" spc="-1" dirty="0">
              <a:latin typeface="Arial"/>
            </a:endParaRPr>
          </a:p>
        </p:txBody>
      </p:sp>
      <p:pic>
        <p:nvPicPr>
          <p:cNvPr id="5" name="Online Media 4" descr="You Can Learn Anything">
            <a:hlinkClick r:id="" action="ppaction://media"/>
            <a:extLst>
              <a:ext uri="{FF2B5EF4-FFF2-40B4-BE49-F238E27FC236}">
                <a16:creationId xmlns:a16="http://schemas.microsoft.com/office/drawing/2014/main" id="{C8874495-8A8B-7F48-614B-C0F75565878F}"/>
              </a:ext>
            </a:extLst>
          </p:cNvPr>
          <p:cNvPicPr>
            <a:picLocks noRot="1" noChangeAspect="1"/>
          </p:cNvPicPr>
          <p:nvPr>
            <a:videoFile r:link="rId1"/>
          </p:nvPr>
        </p:nvPicPr>
        <p:blipFill>
          <a:blip r:embed="rId4"/>
          <a:stretch>
            <a:fillRect/>
          </a:stretch>
        </p:blipFill>
        <p:spPr>
          <a:xfrm>
            <a:off x="2636015" y="1474990"/>
            <a:ext cx="6916849" cy="3908020"/>
          </a:xfrm>
          <a:prstGeom prst="rect">
            <a:avLst/>
          </a:prstGeom>
        </p:spPr>
      </p:pic>
    </p:spTree>
    <p:extLst>
      <p:ext uri="{BB962C8B-B14F-4D97-AF65-F5344CB8AC3E}">
        <p14:creationId xmlns:p14="http://schemas.microsoft.com/office/powerpoint/2010/main" val="121191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3674133" y="2201600"/>
            <a:ext cx="4367600" cy="2245600"/>
          </a:xfrm>
          <a:prstGeom prst="rect">
            <a:avLst/>
          </a:prstGeom>
        </p:spPr>
        <p:txBody>
          <a:bodyPr spcFirstLastPara="1" wrap="square" lIns="121900" tIns="121900" rIns="121900" bIns="121900" anchor="t" anchorCtr="0">
            <a:normAutofit/>
          </a:bodyPr>
          <a:lstStyle/>
          <a:p>
            <a:pPr marL="0" indent="0">
              <a:buNone/>
            </a:pPr>
            <a:r>
              <a:rPr lang="en" sz="2667" b="1">
                <a:solidFill>
                  <a:schemeClr val="dk1"/>
                </a:solidFill>
                <a:latin typeface="Times New Roman"/>
                <a:ea typeface="Times New Roman"/>
                <a:cs typeface="Times New Roman"/>
                <a:sym typeface="Times New Roman"/>
              </a:rPr>
              <a:t>Office hours in G3.03</a:t>
            </a:r>
            <a:endParaRPr sz="2667" b="1">
              <a:solidFill>
                <a:schemeClr val="dk1"/>
              </a:solidFill>
              <a:latin typeface="Times New Roman"/>
              <a:ea typeface="Times New Roman"/>
              <a:cs typeface="Times New Roman"/>
              <a:sym typeface="Times New Roman"/>
            </a:endParaRPr>
          </a:p>
          <a:p>
            <a:pPr marL="0" indent="0">
              <a:spcBef>
                <a:spcPts val="1600"/>
              </a:spcBef>
              <a:buNone/>
            </a:pPr>
            <a:r>
              <a:rPr lang="en" sz="2667" b="1">
                <a:solidFill>
                  <a:schemeClr val="dk1"/>
                </a:solidFill>
                <a:latin typeface="Times New Roman"/>
                <a:ea typeface="Times New Roman"/>
                <a:cs typeface="Times New Roman"/>
                <a:sym typeface="Times New Roman"/>
              </a:rPr>
              <a:t>Shriya: Wednesdays, 10-13</a:t>
            </a:r>
            <a:endParaRPr sz="2667" b="1">
              <a:solidFill>
                <a:schemeClr val="dk1"/>
              </a:solidFill>
              <a:latin typeface="Times New Roman"/>
              <a:ea typeface="Times New Roman"/>
              <a:cs typeface="Times New Roman"/>
              <a:sym typeface="Times New Roman"/>
            </a:endParaRPr>
          </a:p>
          <a:p>
            <a:pPr marL="0" indent="0">
              <a:spcBef>
                <a:spcPts val="1600"/>
              </a:spcBef>
              <a:spcAft>
                <a:spcPts val="1600"/>
              </a:spcAft>
              <a:buNone/>
            </a:pPr>
            <a:r>
              <a:rPr lang="en" sz="2667" b="1">
                <a:solidFill>
                  <a:schemeClr val="dk1"/>
                </a:solidFill>
                <a:latin typeface="Times New Roman"/>
                <a:ea typeface="Times New Roman"/>
                <a:cs typeface="Times New Roman"/>
                <a:sym typeface="Times New Roman"/>
              </a:rPr>
              <a:t>Jules: Fridays, 12-14</a:t>
            </a:r>
            <a:endParaRPr sz="2667" b="1">
              <a:solidFill>
                <a:schemeClr val="dk1"/>
              </a:solidFill>
              <a:latin typeface="Times New Roman"/>
              <a:ea typeface="Times New Roman"/>
              <a:cs typeface="Times New Roman"/>
              <a:sym typeface="Times New Roman"/>
            </a:endParaRPr>
          </a:p>
        </p:txBody>
      </p:sp>
      <p:pic>
        <p:nvPicPr>
          <p:cNvPr id="55" name="Google Shape;55;p13"/>
          <p:cNvPicPr preferRelativeResize="0"/>
          <p:nvPr/>
        </p:nvPicPr>
        <p:blipFill rotWithShape="1">
          <a:blip r:embed="rId3">
            <a:alphaModFix/>
          </a:blip>
          <a:srcRect l="12709" t="36457" b="34734"/>
          <a:stretch/>
        </p:blipFill>
        <p:spPr>
          <a:xfrm>
            <a:off x="3825134" y="548285"/>
            <a:ext cx="5052692" cy="1217300"/>
          </a:xfrm>
          <a:prstGeom prst="rect">
            <a:avLst/>
          </a:prstGeom>
          <a:noFill/>
          <a:ln>
            <a:noFill/>
          </a:ln>
        </p:spPr>
      </p:pic>
      <p:pic>
        <p:nvPicPr>
          <p:cNvPr id="56" name="Google Shape;56;p13"/>
          <p:cNvPicPr preferRelativeResize="0"/>
          <p:nvPr/>
        </p:nvPicPr>
        <p:blipFill>
          <a:blip r:embed="rId4">
            <a:alphaModFix/>
          </a:blip>
          <a:stretch>
            <a:fillRect/>
          </a:stretch>
        </p:blipFill>
        <p:spPr>
          <a:xfrm>
            <a:off x="8041734" y="1765586"/>
            <a:ext cx="3747933" cy="3731900"/>
          </a:xfrm>
          <a:prstGeom prst="rect">
            <a:avLst/>
          </a:prstGeom>
          <a:noFill/>
          <a:ln>
            <a:noFill/>
          </a:ln>
        </p:spPr>
      </p:pic>
      <p:pic>
        <p:nvPicPr>
          <p:cNvPr id="57" name="Google Shape;57;p13"/>
          <p:cNvPicPr preferRelativeResize="0"/>
          <p:nvPr/>
        </p:nvPicPr>
        <p:blipFill>
          <a:blip r:embed="rId5">
            <a:alphaModFix/>
          </a:blip>
          <a:stretch>
            <a:fillRect/>
          </a:stretch>
        </p:blipFill>
        <p:spPr>
          <a:xfrm>
            <a:off x="8939151" y="5745316"/>
            <a:ext cx="863349" cy="863349"/>
          </a:xfrm>
          <a:prstGeom prst="rect">
            <a:avLst/>
          </a:prstGeom>
          <a:noFill/>
          <a:ln>
            <a:noFill/>
          </a:ln>
        </p:spPr>
      </p:pic>
      <p:pic>
        <p:nvPicPr>
          <p:cNvPr id="58" name="Google Shape;58;p13"/>
          <p:cNvPicPr preferRelativeResize="0"/>
          <p:nvPr/>
        </p:nvPicPr>
        <p:blipFill>
          <a:blip r:embed="rId6">
            <a:alphaModFix/>
          </a:blip>
          <a:stretch>
            <a:fillRect/>
          </a:stretch>
        </p:blipFill>
        <p:spPr>
          <a:xfrm>
            <a:off x="528767" y="1517802"/>
            <a:ext cx="2986999" cy="4227501"/>
          </a:xfrm>
          <a:prstGeom prst="rect">
            <a:avLst/>
          </a:prstGeom>
          <a:noFill/>
          <a:ln>
            <a:noFill/>
          </a:ln>
        </p:spPr>
      </p:pic>
      <p:sp>
        <p:nvSpPr>
          <p:cNvPr id="59" name="Google Shape;59;p13"/>
          <p:cNvSpPr txBox="1"/>
          <p:nvPr/>
        </p:nvSpPr>
        <p:spPr>
          <a:xfrm>
            <a:off x="3825133" y="4580533"/>
            <a:ext cx="3907200" cy="1335600"/>
          </a:xfrm>
          <a:prstGeom prst="rect">
            <a:avLst/>
          </a:prstGeom>
          <a:noFill/>
          <a:ln>
            <a:noFill/>
          </a:ln>
        </p:spPr>
        <p:txBody>
          <a:bodyPr spcFirstLastPara="1" wrap="square" lIns="121900" tIns="121900" rIns="121900" bIns="121900" anchor="t" anchorCtr="0">
            <a:noAutofit/>
          </a:bodyPr>
          <a:lstStyle/>
          <a:p>
            <a:r>
              <a:rPr lang="en" sz="2800" b="1">
                <a:solidFill>
                  <a:schemeClr val="dk1"/>
                </a:solidFill>
                <a:latin typeface="Times New Roman"/>
                <a:ea typeface="Times New Roman"/>
                <a:cs typeface="Times New Roman"/>
                <a:sym typeface="Times New Roman"/>
              </a:rPr>
              <a:t>Contact:</a:t>
            </a:r>
            <a:endParaRPr sz="2800" b="1">
              <a:solidFill>
                <a:schemeClr val="dk1"/>
              </a:solidFill>
              <a:latin typeface="Times New Roman"/>
              <a:ea typeface="Times New Roman"/>
              <a:cs typeface="Times New Roman"/>
              <a:sym typeface="Times New Roman"/>
            </a:endParaRPr>
          </a:p>
          <a:p>
            <a:r>
              <a:rPr lang="en" sz="2800" b="1">
                <a:solidFill>
                  <a:schemeClr val="dk1"/>
                </a:solidFill>
                <a:latin typeface="Times New Roman"/>
                <a:ea typeface="Times New Roman"/>
                <a:cs typeface="Times New Roman"/>
                <a:sym typeface="Times New Roman"/>
              </a:rPr>
              <a:t>spiegeloog-fmg@uva.nl</a:t>
            </a:r>
            <a:endParaRPr sz="2800" b="1">
              <a:solidFill>
                <a:schemeClr val="dk1"/>
              </a:solidFill>
              <a:latin typeface="Times New Roman"/>
              <a:ea typeface="Times New Roman"/>
              <a:cs typeface="Times New Roman"/>
              <a:sym typeface="Times New Roman"/>
            </a:endParaRPr>
          </a:p>
        </p:txBody>
      </p:sp>
      <p:pic>
        <p:nvPicPr>
          <p:cNvPr id="60" name="Google Shape;60;p13"/>
          <p:cNvPicPr preferRelativeResize="0"/>
          <p:nvPr/>
        </p:nvPicPr>
        <p:blipFill>
          <a:blip r:embed="rId7">
            <a:alphaModFix/>
          </a:blip>
          <a:stretch>
            <a:fillRect/>
          </a:stretch>
        </p:blipFill>
        <p:spPr>
          <a:xfrm>
            <a:off x="10006067" y="5745307"/>
            <a:ext cx="863333" cy="8633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ustomShape 1"/>
          <p:cNvSpPr/>
          <p:nvPr/>
        </p:nvSpPr>
        <p:spPr>
          <a:xfrm>
            <a:off x="838080" y="500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Overview of Today</a:t>
            </a:r>
            <a:endParaRPr lang="en-US" sz="4400" b="0" strike="noStrike" spc="-1">
              <a:latin typeface="Arial"/>
            </a:endParaRPr>
          </a:p>
        </p:txBody>
      </p:sp>
      <p:sp>
        <p:nvSpPr>
          <p:cNvPr id="491"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1500" lnSpcReduction="20000"/>
          </a:bodyPr>
          <a:lstStyle/>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Why are statistics needed?</a:t>
            </a:r>
            <a:endParaRPr lang="en-US" sz="2800" b="0" strike="noStrike" spc="-1" dirty="0">
              <a:latin typeface="Arial"/>
            </a:endParaRPr>
          </a:p>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A little bit about the course</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The book: </a:t>
            </a:r>
            <a:r>
              <a:rPr lang="en-US" sz="2400" b="0" strike="noStrike" spc="-1" dirty="0" err="1">
                <a:solidFill>
                  <a:srgbClr val="000000"/>
                </a:solidFill>
                <a:latin typeface="Calibri"/>
                <a:ea typeface="DejaVu Sans"/>
              </a:rPr>
              <a:t>Agresti</a:t>
            </a:r>
            <a:r>
              <a:rPr lang="en-US" sz="2400" b="0" strike="noStrike" spc="-1" dirty="0">
                <a:solidFill>
                  <a:srgbClr val="000000"/>
                </a:solidFill>
                <a:latin typeface="Calibri"/>
                <a:ea typeface="DejaVu Sans"/>
              </a:rPr>
              <a:t>  &amp; Franklin</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Comparison to high school math</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How to prepare</a:t>
            </a:r>
            <a:endParaRPr lang="en-US" sz="2400" b="0" strike="noStrike" spc="-1" dirty="0">
              <a:latin typeface="Arial"/>
            </a:endParaRPr>
          </a:p>
          <a:p>
            <a:pPr marL="514440" indent="-512640">
              <a:lnSpc>
                <a:spcPct val="90000"/>
              </a:lnSpc>
              <a:spcBef>
                <a:spcPts val="1001"/>
              </a:spcBef>
              <a:buClr>
                <a:srgbClr val="ED7D31"/>
              </a:buClr>
              <a:buFont typeface="StarSymbol"/>
              <a:buAutoNum type="arabicPeriod"/>
            </a:pPr>
            <a:r>
              <a:rPr lang="en-US" sz="2800" b="1" strike="noStrike" spc="-1" dirty="0">
                <a:solidFill>
                  <a:srgbClr val="ED7D31"/>
                </a:solidFill>
                <a:latin typeface="Calibri"/>
                <a:ea typeface="DejaVu Sans"/>
              </a:rPr>
              <a:t>How can you explore data?</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Types of data</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Displaying data</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Characteristics of a distribution</a:t>
            </a:r>
            <a:endParaRPr lang="en-US" sz="2400" b="0" strike="noStrike" spc="-1" dirty="0">
              <a:latin typeface="Arial"/>
            </a:endParaRPr>
          </a:p>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Recap</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Next time</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Example exam question</a:t>
            </a:r>
            <a:endParaRPr lang="en-US" sz="2400" b="0" strike="noStrike" spc="-1" dirty="0">
              <a:latin typeface="Arial"/>
            </a:endParaRPr>
          </a:p>
        </p:txBody>
      </p:sp>
      <p:sp>
        <p:nvSpPr>
          <p:cNvPr id="492"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8893735C-FB74-4025-AE58-F4CE63F9A0F9}" type="slidenum">
              <a:rPr lang="en-US" sz="1200" b="0" strike="noStrike" spc="-1">
                <a:solidFill>
                  <a:srgbClr val="8B8B8B"/>
                </a:solidFill>
                <a:latin typeface="Calibri"/>
                <a:ea typeface="DejaVu Sans"/>
              </a:rPr>
              <a:t>24</a:t>
            </a:fld>
            <a:endParaRPr lang="en-US" sz="1200" b="0" strike="noStrike" spc="-1">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Types of data</a:t>
            </a:r>
            <a:endParaRPr lang="en-US" sz="4400" b="0" strike="noStrike" spc="-1">
              <a:latin typeface="Arial"/>
            </a:endParaRPr>
          </a:p>
        </p:txBody>
      </p:sp>
      <p:sp>
        <p:nvSpPr>
          <p:cNvPr id="494" name="CustomShape 2"/>
          <p:cNvSpPr/>
          <p:nvPr/>
        </p:nvSpPr>
        <p:spPr>
          <a:xfrm>
            <a:off x="731520" y="2406240"/>
            <a:ext cx="10512720" cy="188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“Length”: I am 184 cm, you are (most likely) something else</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“Eye Color”: Some have green eyes, others have brown eyes</a:t>
            </a:r>
            <a:endParaRPr lang="en-US" sz="2800" b="0" strike="noStrike" spc="-1" dirty="0">
              <a:latin typeface="Arial"/>
            </a:endParaRPr>
          </a:p>
        </p:txBody>
      </p:sp>
      <p:sp>
        <p:nvSpPr>
          <p:cNvPr id="495" name="CustomShape 3"/>
          <p:cNvSpPr/>
          <p:nvPr/>
        </p:nvSpPr>
        <p:spPr>
          <a:xfrm>
            <a:off x="838080" y="1463040"/>
            <a:ext cx="10162800" cy="82116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dirty="0">
                <a:solidFill>
                  <a:srgbClr val="ED7D31"/>
                </a:solidFill>
                <a:latin typeface="Calibri"/>
                <a:ea typeface="DejaVu Sans"/>
              </a:rPr>
              <a:t>Variable</a:t>
            </a:r>
            <a:r>
              <a:rPr lang="en-US" sz="2400" b="0" strike="noStrike" spc="-1" dirty="0">
                <a:solidFill>
                  <a:srgbClr val="000000"/>
                </a:solidFill>
                <a:latin typeface="Calibri"/>
                <a:ea typeface="DejaVu Sans"/>
              </a:rPr>
              <a:t> (general):</a:t>
            </a:r>
            <a:r>
              <a:rPr lang="en-US" sz="2400" b="1" strike="noStrike" spc="-1" dirty="0">
                <a:solidFill>
                  <a:srgbClr val="000000"/>
                </a:solidFill>
                <a:latin typeface="Calibri"/>
                <a:ea typeface="DejaVu Sans"/>
              </a:rPr>
              <a:t> </a:t>
            </a:r>
            <a:r>
              <a:rPr lang="en-US" sz="2400" b="0" strike="noStrike" spc="-1" dirty="0">
                <a:solidFill>
                  <a:srgbClr val="000000"/>
                </a:solidFill>
                <a:latin typeface="Calibri"/>
                <a:ea typeface="DejaVu Sans"/>
              </a:rPr>
              <a:t>A thing that can take multiple “values”</a:t>
            </a:r>
            <a:endParaRPr lang="en-US" sz="2400" b="0" strike="noStrike" spc="-1" dirty="0">
              <a:latin typeface="Arial"/>
            </a:endParaRPr>
          </a:p>
          <a:p>
            <a:pPr>
              <a:lnSpc>
                <a:spcPct val="100000"/>
              </a:lnSpc>
              <a:buNone/>
            </a:pPr>
            <a:r>
              <a:rPr lang="en-US" sz="2400" b="0" i="1" strike="noStrike" spc="-1" dirty="0">
                <a:solidFill>
                  <a:srgbClr val="ED7D31"/>
                </a:solidFill>
                <a:latin typeface="Calibri"/>
                <a:ea typeface="DejaVu Sans"/>
              </a:rPr>
              <a:t>Variable</a:t>
            </a:r>
            <a:r>
              <a:rPr lang="en-US" sz="2400" b="0" strike="noStrike" spc="-1" dirty="0">
                <a:solidFill>
                  <a:srgbClr val="000000"/>
                </a:solidFill>
                <a:latin typeface="Calibri"/>
                <a:ea typeface="DejaVu Sans"/>
              </a:rPr>
              <a:t> (book):</a:t>
            </a:r>
            <a:r>
              <a:rPr lang="en-US" sz="2400" b="1" strike="noStrike" spc="-1" dirty="0">
                <a:solidFill>
                  <a:srgbClr val="000000"/>
                </a:solidFill>
                <a:latin typeface="Calibri"/>
                <a:ea typeface="DejaVu Sans"/>
              </a:rPr>
              <a:t> </a:t>
            </a:r>
            <a:r>
              <a:rPr lang="en-US" sz="2400" b="0" strike="noStrike" spc="-1" dirty="0">
                <a:solidFill>
                  <a:srgbClr val="000000"/>
                </a:solidFill>
                <a:latin typeface="Calibri"/>
                <a:ea typeface="DejaVu Sans"/>
              </a:rPr>
              <a:t>Any characteristic observed in a study (p. 25)</a:t>
            </a:r>
            <a:endParaRPr lang="en-US" sz="2400" b="0" strike="noStrike" spc="-1" dirty="0">
              <a:latin typeface="Arial"/>
            </a:endParaRPr>
          </a:p>
        </p:txBody>
      </p:sp>
      <p:sp>
        <p:nvSpPr>
          <p:cNvPr id="496" name="CustomShape 4"/>
          <p:cNvSpPr/>
          <p:nvPr/>
        </p:nvSpPr>
        <p:spPr>
          <a:xfrm>
            <a:off x="807480" y="3750840"/>
            <a:ext cx="10162800" cy="82116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a:solidFill>
                  <a:srgbClr val="ED7D31"/>
                </a:solidFill>
                <a:latin typeface="Calibri"/>
                <a:ea typeface="DejaVu Sans"/>
              </a:rPr>
              <a:t>Categorical</a:t>
            </a:r>
            <a:r>
              <a:rPr lang="en-US" sz="2400" b="0" strike="noStrike" spc="-1">
                <a:solidFill>
                  <a:srgbClr val="000000"/>
                </a:solidFill>
                <a:latin typeface="Calibri"/>
                <a:ea typeface="DejaVu Sans"/>
              </a:rPr>
              <a:t>:</a:t>
            </a:r>
            <a:r>
              <a:rPr lang="en-US" sz="2400" b="1" strike="noStrike" spc="-1">
                <a:solidFill>
                  <a:srgbClr val="000000"/>
                </a:solidFill>
                <a:latin typeface="Calibri"/>
                <a:ea typeface="DejaVu Sans"/>
              </a:rPr>
              <a:t> </a:t>
            </a:r>
            <a:r>
              <a:rPr lang="en-US" sz="2400" b="0" strike="noStrike" spc="-1">
                <a:solidFill>
                  <a:srgbClr val="000000"/>
                </a:solidFill>
                <a:latin typeface="Calibri"/>
                <a:ea typeface="DejaVu Sans"/>
              </a:rPr>
              <a:t>Each observation belongs to one category</a:t>
            </a:r>
            <a:endParaRPr lang="en-US" sz="2400" b="0" strike="noStrike" spc="-1">
              <a:latin typeface="Arial"/>
            </a:endParaRPr>
          </a:p>
          <a:p>
            <a:pPr>
              <a:lnSpc>
                <a:spcPct val="100000"/>
              </a:lnSpc>
              <a:buNone/>
            </a:pPr>
            <a:r>
              <a:rPr lang="en-US" sz="2400" b="0" i="1" strike="noStrike" spc="-1">
                <a:solidFill>
                  <a:srgbClr val="ED7D31"/>
                </a:solidFill>
                <a:latin typeface="Calibri"/>
                <a:ea typeface="DejaVu Sans"/>
              </a:rPr>
              <a:t>Quantitative</a:t>
            </a:r>
            <a:r>
              <a:rPr lang="en-US" sz="2400" b="0" strike="noStrike" spc="-1">
                <a:solidFill>
                  <a:srgbClr val="000000"/>
                </a:solidFill>
                <a:latin typeface="Calibri"/>
                <a:ea typeface="DejaVu Sans"/>
              </a:rPr>
              <a:t>:</a:t>
            </a:r>
            <a:r>
              <a:rPr lang="en-US" sz="2400" b="1" strike="noStrike" spc="-1">
                <a:solidFill>
                  <a:srgbClr val="000000"/>
                </a:solidFill>
                <a:latin typeface="Calibri"/>
                <a:ea typeface="DejaVu Sans"/>
              </a:rPr>
              <a:t> </a:t>
            </a:r>
            <a:r>
              <a:rPr lang="en-US" sz="2400" b="0" strike="noStrike" spc="-1">
                <a:solidFill>
                  <a:srgbClr val="000000"/>
                </a:solidFill>
                <a:latin typeface="Calibri"/>
                <a:ea typeface="DejaVu Sans"/>
              </a:rPr>
              <a:t>Each observation has a numerical value representing a magnitude</a:t>
            </a:r>
            <a:endParaRPr lang="en-US" sz="2400" b="0" strike="noStrike" spc="-1">
              <a:latin typeface="Arial"/>
            </a:endParaRPr>
          </a:p>
        </p:txBody>
      </p:sp>
      <p:sp>
        <p:nvSpPr>
          <p:cNvPr id="497" name="CustomShape 6"/>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6D642DAB-14F6-4599-A1A4-BC70CC10592F}" type="slidenum">
              <a:rPr lang="en-US" sz="1200" b="0" strike="noStrike" spc="-1">
                <a:solidFill>
                  <a:srgbClr val="8B8B8B"/>
                </a:solidFill>
                <a:latin typeface="Calibri"/>
                <a:ea typeface="DejaVu Sans"/>
              </a:rPr>
              <a:t>25</a:t>
            </a:fld>
            <a:endParaRPr lang="en-US" sz="1200" b="0" strike="noStrike" spc="-1">
              <a:latin typeface="Arial"/>
            </a:endParaRPr>
          </a:p>
        </p:txBody>
      </p:sp>
      <p:grpSp>
        <p:nvGrpSpPr>
          <p:cNvPr id="498" name="Group 497"/>
          <p:cNvGrpSpPr/>
          <p:nvPr/>
        </p:nvGrpSpPr>
        <p:grpSpPr>
          <a:xfrm>
            <a:off x="-111960" y="4341600"/>
            <a:ext cx="11514960" cy="1508760"/>
            <a:chOff x="-111960" y="4341600"/>
            <a:chExt cx="11514960" cy="1508760"/>
          </a:xfrm>
        </p:grpSpPr>
        <p:sp>
          <p:nvSpPr>
            <p:cNvPr id="499" name="CustomShape 5"/>
            <p:cNvSpPr/>
            <p:nvPr/>
          </p:nvSpPr>
          <p:spPr>
            <a:xfrm>
              <a:off x="1240200" y="5029200"/>
              <a:ext cx="10162800" cy="82116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dirty="0">
                  <a:solidFill>
                    <a:srgbClr val="ED7D31"/>
                  </a:solidFill>
                  <a:latin typeface="Calibri"/>
                  <a:ea typeface="DejaVu Sans"/>
                </a:rPr>
                <a:t>Discrete</a:t>
              </a:r>
              <a:r>
                <a:rPr lang="en-US" sz="2400" b="0" strike="noStrike" spc="-1" dirty="0">
                  <a:solidFill>
                    <a:srgbClr val="000000"/>
                  </a:solidFill>
                  <a:latin typeface="Calibri"/>
                  <a:ea typeface="DejaVu Sans"/>
                </a:rPr>
                <a:t>: Every observation is one of a specific set of values (e.g., 0, 1, 2)</a:t>
              </a:r>
              <a:endParaRPr lang="en-US" sz="2400" b="0" strike="noStrike" spc="-1" dirty="0">
                <a:latin typeface="Arial"/>
              </a:endParaRPr>
            </a:p>
            <a:p>
              <a:pPr>
                <a:lnSpc>
                  <a:spcPct val="100000"/>
                </a:lnSpc>
                <a:buNone/>
              </a:pPr>
              <a:r>
                <a:rPr lang="en-US" sz="2400" b="0" i="1" strike="noStrike" spc="-1" dirty="0">
                  <a:solidFill>
                    <a:srgbClr val="ED7D31"/>
                  </a:solidFill>
                  <a:latin typeface="Calibri"/>
                  <a:ea typeface="DejaVu Sans"/>
                </a:rPr>
                <a:t>Continuous</a:t>
              </a:r>
              <a:r>
                <a:rPr lang="en-US" sz="2400" b="0" strike="noStrike" spc="-1" dirty="0">
                  <a:solidFill>
                    <a:srgbClr val="000000"/>
                  </a:solidFill>
                  <a:latin typeface="Calibri"/>
                  <a:ea typeface="DejaVu Sans"/>
                </a:rPr>
                <a:t>:</a:t>
              </a:r>
              <a:r>
                <a:rPr lang="en-US" sz="2400" b="1" strike="noStrike" spc="-1" dirty="0">
                  <a:solidFill>
                    <a:srgbClr val="000000"/>
                  </a:solidFill>
                  <a:latin typeface="Calibri"/>
                  <a:ea typeface="DejaVu Sans"/>
                </a:rPr>
                <a:t> </a:t>
              </a:r>
              <a:r>
                <a:rPr lang="en-US" sz="2400" b="0" strike="noStrike" spc="-1" dirty="0">
                  <a:solidFill>
                    <a:srgbClr val="000000"/>
                  </a:solidFill>
                  <a:latin typeface="Calibri"/>
                  <a:ea typeface="DejaVu Sans"/>
                </a:rPr>
                <a:t>Every observation comes from a range (e.g., 0-3)</a:t>
              </a:r>
              <a:endParaRPr lang="en-US" sz="2400" b="0" strike="noStrike" spc="-1" dirty="0">
                <a:latin typeface="Arial"/>
              </a:endParaRPr>
            </a:p>
          </p:txBody>
        </p:sp>
        <p:grpSp>
          <p:nvGrpSpPr>
            <p:cNvPr id="500" name="Group 499"/>
            <p:cNvGrpSpPr/>
            <p:nvPr/>
          </p:nvGrpSpPr>
          <p:grpSpPr>
            <a:xfrm>
              <a:off x="-111960" y="4341600"/>
              <a:ext cx="1290240" cy="1408680"/>
              <a:chOff x="-111960" y="4341600"/>
              <a:chExt cx="1290240" cy="1408680"/>
            </a:xfrm>
          </p:grpSpPr>
          <p:sp>
            <p:nvSpPr>
              <p:cNvPr id="501" name="Freeform 500"/>
              <p:cNvSpPr/>
              <p:nvPr/>
            </p:nvSpPr>
            <p:spPr>
              <a:xfrm>
                <a:off x="36000" y="4836600"/>
                <a:ext cx="1142280" cy="913680"/>
              </a:xfrm>
              <a:custGeom>
                <a:avLst/>
                <a:gdLst/>
                <a:ahLst/>
                <a:cxnLst/>
                <a:rect l="l" t="t" r="r" b="b"/>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55308D"/>
              </a:solidFill>
              <a:ln w="0">
                <a:solidFill>
                  <a:srgbClr val="3465A4"/>
                </a:solidFill>
              </a:ln>
            </p:spPr>
            <p:style>
              <a:lnRef idx="0">
                <a:scrgbClr r="0" g="0" b="0"/>
              </a:lnRef>
              <a:fillRef idx="0">
                <a:scrgbClr r="0" g="0" b="0"/>
              </a:fillRef>
              <a:effectRef idx="0">
                <a:scrgbClr r="0" g="0" b="0"/>
              </a:effectRef>
              <a:fontRef idx="minor"/>
            </p:style>
            <p:txBody>
              <a:bodyPr/>
              <a:lstStyle/>
              <a:p>
                <a:endParaRPr lang="en-NL"/>
              </a:p>
            </p:txBody>
          </p:sp>
          <p:sp>
            <p:nvSpPr>
              <p:cNvPr id="502" name="Freeform 501"/>
              <p:cNvSpPr/>
              <p:nvPr/>
            </p:nvSpPr>
            <p:spPr>
              <a:xfrm rot="5382000">
                <a:off x="3960" y="4229640"/>
                <a:ext cx="685080" cy="913680"/>
              </a:xfrm>
              <a:custGeom>
                <a:avLst/>
                <a:gdLst/>
                <a:ahLst/>
                <a:cxnLst/>
                <a:rect l="l" t="t" r="r" b="b"/>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55308D"/>
              </a:solidFill>
              <a:ln w="0">
                <a:solidFill>
                  <a:srgbClr val="3465A4"/>
                </a:solidFill>
              </a:ln>
            </p:spPr>
            <p:style>
              <a:lnRef idx="0">
                <a:scrgbClr r="0" g="0" b="0"/>
              </a:lnRef>
              <a:fillRef idx="0">
                <a:scrgbClr r="0" g="0" b="0"/>
              </a:fillRef>
              <a:effectRef idx="0">
                <a:scrgbClr r="0" g="0" b="0"/>
              </a:effectRef>
              <a:fontRef idx="minor"/>
            </p:style>
            <p:txBody>
              <a:bodyPr/>
              <a:lstStyle/>
              <a:p>
                <a:endParaRPr lang="en-NL"/>
              </a:p>
            </p:txBody>
          </p:sp>
        </p:grpSp>
      </p:gr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4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Let’s practice this</a:t>
            </a:r>
            <a:endParaRPr lang="en-US" sz="4400" b="0" strike="noStrike" spc="-1">
              <a:latin typeface="Arial"/>
            </a:endParaRPr>
          </a:p>
        </p:txBody>
      </p:sp>
      <p:sp>
        <p:nvSpPr>
          <p:cNvPr id="504"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7000"/>
          </a:bodyPr>
          <a:lstStyle/>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ntarell"/>
                <a:ea typeface="DejaVu Sans"/>
              </a:rPr>
              <a:t>“Race track” </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ntarell"/>
                <a:ea typeface="DejaVu Sans"/>
              </a:rPr>
              <a:t>→ Categorical</a:t>
            </a:r>
            <a:endParaRPr lang="en-US" sz="24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ntarell"/>
                <a:ea typeface="DejaVu Sans"/>
              </a:rPr>
              <a:t>“Weight”</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ntarell"/>
                <a:ea typeface="DejaVu Sans"/>
              </a:rPr>
              <a:t>→ Quantitative, continuous</a:t>
            </a:r>
            <a:endParaRPr lang="en-US" sz="24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ntarell"/>
                <a:ea typeface="DejaVu Sans"/>
              </a:rPr>
              <a:t>“Number of students”?</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ntarell"/>
                <a:ea typeface="DejaVu Sans"/>
              </a:rPr>
              <a:t>→ Quantitative, discrete</a:t>
            </a:r>
            <a:endParaRPr lang="en-US" sz="24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ntarell"/>
                <a:ea typeface="DejaVu Sans"/>
              </a:rPr>
              <a:t>“Percentage of students that will pass this course”?</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ntarell"/>
                <a:ea typeface="DejaVu Sans"/>
              </a:rPr>
              <a:t>→ Quantitative, continuous</a:t>
            </a:r>
            <a:endParaRPr lang="en-US" sz="24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ntarell"/>
                <a:ea typeface="DejaVu Sans"/>
              </a:rPr>
              <a:t>“Study year”?</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200" b="0" strike="noStrike" spc="-1" dirty="0">
                <a:solidFill>
                  <a:srgbClr val="000000"/>
                </a:solidFill>
                <a:latin typeface="Cantarell"/>
                <a:ea typeface="DejaVu Sans"/>
              </a:rPr>
              <a:t>→ </a:t>
            </a:r>
            <a:r>
              <a:rPr lang="en-US" sz="2100" b="0" strike="noStrike" spc="-1" dirty="0">
                <a:solidFill>
                  <a:srgbClr val="000000"/>
                </a:solidFill>
                <a:latin typeface="Cantarell"/>
                <a:ea typeface="DejaVu Sans"/>
              </a:rPr>
              <a:t>Quantitative</a:t>
            </a:r>
            <a:r>
              <a:rPr lang="en-US" sz="2200" b="0" strike="noStrike" spc="-1" dirty="0">
                <a:solidFill>
                  <a:srgbClr val="000000"/>
                </a:solidFill>
                <a:latin typeface="Cantarell"/>
                <a:ea typeface="DejaVu Sans"/>
              </a:rPr>
              <a:t>, Discrete or Continuous?</a:t>
            </a:r>
            <a:endParaRPr lang="en-US" sz="2200" b="0" strike="noStrike" spc="-1" dirty="0">
              <a:latin typeface="Arial"/>
            </a:endParaRPr>
          </a:p>
        </p:txBody>
      </p:sp>
      <p:sp>
        <p:nvSpPr>
          <p:cNvPr id="505"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6F02920B-B062-4866-AAD9-EF31D5E17D38}" type="slidenum">
              <a:rPr lang="en-US" sz="1200" b="0" strike="noStrike" spc="-1">
                <a:solidFill>
                  <a:srgbClr val="8B8B8B"/>
                </a:solidFill>
                <a:latin typeface="Calibri"/>
                <a:ea typeface="DejaVu Sans"/>
              </a:rPr>
              <a:t>26</a:t>
            </a:fld>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50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50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50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50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50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50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50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50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p:cTn id="42" dur="1" fill="hold">
                                          <p:stCondLst>
                                            <p:cond delay="0"/>
                                          </p:stCondLst>
                                        </p:cTn>
                                        <p:tgtEl>
                                          <p:spTgt spid="50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Displaying Data</a:t>
            </a:r>
            <a:endParaRPr lang="en-US" sz="4400" b="0" strike="noStrike" spc="-1">
              <a:latin typeface="Arial"/>
            </a:endParaRPr>
          </a:p>
        </p:txBody>
      </p:sp>
      <p:sp>
        <p:nvSpPr>
          <p:cNvPr id="507" name="CustomShape 2"/>
          <p:cNvSpPr/>
          <p:nvPr/>
        </p:nvSpPr>
        <p:spPr>
          <a:xfrm>
            <a:off x="838080" y="1825560"/>
            <a:ext cx="80341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Data is often overwhelming</a:t>
            </a:r>
            <a:endParaRPr lang="en-US" sz="2800" b="0" strike="noStrike" spc="-1">
              <a:latin typeface="Arial"/>
            </a:endParaRPr>
          </a:p>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Data is often complex</a:t>
            </a:r>
            <a:endParaRPr lang="en-US" sz="2800" b="0" strike="noStrike" spc="-1">
              <a:latin typeface="Arial"/>
            </a:endParaRPr>
          </a:p>
          <a:p>
            <a:pPr>
              <a:lnSpc>
                <a:spcPct val="90000"/>
              </a:lnSpc>
              <a:spcBef>
                <a:spcPts val="1001"/>
              </a:spcBef>
              <a:buNone/>
            </a:pPr>
            <a:endParaRPr lang="en-US" sz="2800" b="0" strike="noStrike" spc="-1">
              <a:latin typeface="Arial"/>
            </a:endParaRPr>
          </a:p>
          <a:p>
            <a:pPr>
              <a:lnSpc>
                <a:spcPct val="90000"/>
              </a:lnSpc>
              <a:spcBef>
                <a:spcPts val="1001"/>
              </a:spcBef>
              <a:buNone/>
            </a:pPr>
            <a:endParaRPr lang="en-US" sz="2800" b="0" strike="noStrike" spc="-1">
              <a:latin typeface="Arial"/>
            </a:endParaRPr>
          </a:p>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Good display methods help you focus on the relevant aspects of the data</a:t>
            </a:r>
            <a:endParaRPr lang="en-US" sz="2800" b="0" strike="noStrike" spc="-1">
              <a:latin typeface="Arial"/>
            </a:endParaRPr>
          </a:p>
        </p:txBody>
      </p:sp>
      <p:pic>
        <p:nvPicPr>
          <p:cNvPr id="508" name="Picture 4"/>
          <p:cNvPicPr/>
          <p:nvPr/>
        </p:nvPicPr>
        <p:blipFill>
          <a:blip r:embed="rId3"/>
          <a:stretch/>
        </p:blipFill>
        <p:spPr>
          <a:xfrm>
            <a:off x="5943600" y="1058400"/>
            <a:ext cx="5994720" cy="2369880"/>
          </a:xfrm>
          <a:prstGeom prst="rect">
            <a:avLst/>
          </a:prstGeom>
          <a:ln w="0">
            <a:noFill/>
          </a:ln>
        </p:spPr>
      </p:pic>
      <p:sp>
        <p:nvSpPr>
          <p:cNvPr id="509"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68F9C668-1AF1-466F-B566-31B7E6437A12}" type="slidenum">
              <a:rPr lang="en-US" sz="1200" b="0" strike="noStrike" spc="-1">
                <a:solidFill>
                  <a:srgbClr val="8B8B8B"/>
                </a:solidFill>
                <a:latin typeface="Calibri"/>
                <a:ea typeface="DejaVu Sans"/>
              </a:rPr>
              <a:t>27</a:t>
            </a:fld>
            <a:endParaRPr lang="en-US" sz="1200" b="0" strike="noStrike" spc="-1">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CustomShape 86"/>
          <p:cNvSpPr/>
          <p:nvPr/>
        </p:nvSpPr>
        <p:spPr>
          <a:xfrm>
            <a:off x="1234080" y="18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000" b="0" strike="noStrike" spc="-1" dirty="0">
                <a:solidFill>
                  <a:srgbClr val="000000"/>
                </a:solidFill>
                <a:latin typeface="Calibri Light"/>
                <a:ea typeface="DejaVu Sans"/>
              </a:rPr>
              <a:t>Example 1: Movie genres of the IMDB Top 250 </a:t>
            </a:r>
            <a:endParaRPr lang="en-US" sz="4000" b="0" strike="noStrike" spc="-1" dirty="0">
              <a:latin typeface="Arial"/>
            </a:endParaRPr>
          </a:p>
        </p:txBody>
      </p:sp>
      <p:pic>
        <p:nvPicPr>
          <p:cNvPr id="2" name="Picture 1">
            <a:extLst>
              <a:ext uri="{FF2B5EF4-FFF2-40B4-BE49-F238E27FC236}">
                <a16:creationId xmlns:a16="http://schemas.microsoft.com/office/drawing/2014/main" id="{5843C7E5-625C-D586-FFEA-1E14FD6D6941}"/>
              </a:ext>
            </a:extLst>
          </p:cNvPr>
          <p:cNvPicPr>
            <a:picLocks noChangeAspect="1"/>
          </p:cNvPicPr>
          <p:nvPr/>
        </p:nvPicPr>
        <p:blipFill rotWithShape="1">
          <a:blip r:embed="rId2"/>
          <a:srcRect r="64793"/>
          <a:stretch/>
        </p:blipFill>
        <p:spPr>
          <a:xfrm>
            <a:off x="1234080" y="1760290"/>
            <a:ext cx="3020928" cy="508862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CustomShape 86"/>
          <p:cNvSpPr/>
          <p:nvPr/>
        </p:nvSpPr>
        <p:spPr>
          <a:xfrm>
            <a:off x="1234080" y="18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000" b="0" strike="noStrike" spc="-1" dirty="0">
                <a:solidFill>
                  <a:srgbClr val="000000"/>
                </a:solidFill>
                <a:latin typeface="Calibri Light"/>
                <a:ea typeface="DejaVu Sans"/>
              </a:rPr>
              <a:t>Example 1: Movie genres of the IMDB Top 250 </a:t>
            </a:r>
            <a:endParaRPr lang="en-US" sz="4000" b="0" strike="noStrike" spc="-1" dirty="0">
              <a:latin typeface="Arial"/>
            </a:endParaRPr>
          </a:p>
        </p:txBody>
      </p:sp>
      <p:pic>
        <p:nvPicPr>
          <p:cNvPr id="2" name="Picture 1">
            <a:extLst>
              <a:ext uri="{FF2B5EF4-FFF2-40B4-BE49-F238E27FC236}">
                <a16:creationId xmlns:a16="http://schemas.microsoft.com/office/drawing/2014/main" id="{5843C7E5-625C-D586-FFEA-1E14FD6D6941}"/>
              </a:ext>
            </a:extLst>
          </p:cNvPr>
          <p:cNvPicPr>
            <a:picLocks noChangeAspect="1"/>
          </p:cNvPicPr>
          <p:nvPr/>
        </p:nvPicPr>
        <p:blipFill rotWithShape="1">
          <a:blip r:embed="rId2"/>
          <a:srcRect r="49305"/>
          <a:stretch/>
        </p:blipFill>
        <p:spPr>
          <a:xfrm>
            <a:off x="1234080" y="1760290"/>
            <a:ext cx="4349856" cy="5088628"/>
          </a:xfrm>
          <a:prstGeom prst="rect">
            <a:avLst/>
          </a:prstGeom>
        </p:spPr>
      </p:pic>
      <p:sp>
        <p:nvSpPr>
          <p:cNvPr id="3" name="CustomShape 88">
            <a:extLst>
              <a:ext uri="{FF2B5EF4-FFF2-40B4-BE49-F238E27FC236}">
                <a16:creationId xmlns:a16="http://schemas.microsoft.com/office/drawing/2014/main" id="{85D6CFE7-470D-42AA-A4E4-D1B95EAEF95D}"/>
              </a:ext>
            </a:extLst>
          </p:cNvPr>
          <p:cNvSpPr/>
          <p:nvPr/>
        </p:nvSpPr>
        <p:spPr>
          <a:xfrm>
            <a:off x="6096000" y="2298377"/>
            <a:ext cx="3655885" cy="1130623"/>
          </a:xfrm>
          <a:prstGeom prst="rect">
            <a:avLst/>
          </a:prstGeom>
          <a:solidFill>
            <a:srgbClr val="FDC578"/>
          </a:solidFill>
          <a:ln w="57240">
            <a:solidFill>
              <a:srgbClr val="F58220"/>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3200" b="0" strike="noStrike" spc="-1" dirty="0">
                <a:solidFill>
                  <a:srgbClr val="000000"/>
                </a:solidFill>
                <a:latin typeface="Arial"/>
                <a:ea typeface="DejaVu Sans"/>
              </a:rPr>
              <a:t>e.g., 73 / 250 = </a:t>
            </a:r>
            <a:br>
              <a:rPr sz="3200" dirty="0"/>
            </a:br>
            <a:r>
              <a:rPr lang="en-US" sz="3200" b="0" strike="noStrike" spc="-1" dirty="0">
                <a:solidFill>
                  <a:srgbClr val="000000"/>
                </a:solidFill>
                <a:latin typeface="Arial"/>
                <a:ea typeface="DejaVu Sans"/>
              </a:rPr>
              <a:t>0.292 → 29.2%</a:t>
            </a:r>
            <a:endParaRPr lang="en-US" sz="3200" b="0" strike="noStrike" spc="-1" dirty="0">
              <a:latin typeface="Arial"/>
            </a:endParaRPr>
          </a:p>
        </p:txBody>
      </p:sp>
    </p:spTree>
    <p:extLst>
      <p:ext uri="{BB962C8B-B14F-4D97-AF65-F5344CB8AC3E}">
        <p14:creationId xmlns:p14="http://schemas.microsoft.com/office/powerpoint/2010/main" val="1990336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2600" b="0" strike="noStrike" spc="-1">
                <a:solidFill>
                  <a:srgbClr val="000000"/>
                </a:solidFill>
                <a:latin typeface="Calibri Light"/>
                <a:ea typeface="DejaVu Sans"/>
              </a:rPr>
              <a:t>We can also visualize the frequency table using a bar chart:</a:t>
            </a:r>
            <a:endParaRPr lang="en-US" sz="2600" b="0" strike="noStrike" spc="-1">
              <a:latin typeface="Arial"/>
            </a:endParaRPr>
          </a:p>
        </p:txBody>
      </p:sp>
      <p:sp>
        <p:nvSpPr>
          <p:cNvPr id="517" name="CustomShape 25"/>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60827437-C894-4B36-A2EB-607B87DC2A25}" type="slidenum">
              <a:rPr lang="en-US" sz="1200" b="0" strike="noStrike" spc="-1">
                <a:solidFill>
                  <a:srgbClr val="8B8B8B"/>
                </a:solidFill>
                <a:latin typeface="Calibri"/>
                <a:ea typeface="DejaVu Sans"/>
              </a:rPr>
              <a:t>30</a:t>
            </a:fld>
            <a:endParaRPr lang="en-US" sz="1200" b="0" strike="noStrike" spc="-1">
              <a:latin typeface="Arial"/>
            </a:endParaRPr>
          </a:p>
        </p:txBody>
      </p:sp>
      <p:pic>
        <p:nvPicPr>
          <p:cNvPr id="3" name="Picture 2">
            <a:extLst>
              <a:ext uri="{FF2B5EF4-FFF2-40B4-BE49-F238E27FC236}">
                <a16:creationId xmlns:a16="http://schemas.microsoft.com/office/drawing/2014/main" id="{0732CB10-EE4E-686A-A4C6-5CE8512039FF}"/>
              </a:ext>
            </a:extLst>
          </p:cNvPr>
          <p:cNvPicPr>
            <a:picLocks noChangeAspect="1"/>
          </p:cNvPicPr>
          <p:nvPr/>
        </p:nvPicPr>
        <p:blipFill>
          <a:blip r:embed="rId3"/>
          <a:stretch>
            <a:fillRect/>
          </a:stretch>
        </p:blipFill>
        <p:spPr>
          <a:xfrm>
            <a:off x="0" y="1452163"/>
            <a:ext cx="12192000" cy="488289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CustomShape 85"/>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2600" b="0" strike="noStrike" spc="-1">
                <a:solidFill>
                  <a:srgbClr val="000000"/>
                </a:solidFill>
                <a:latin typeface="Calibri Light"/>
                <a:ea typeface="DejaVu Sans"/>
              </a:rPr>
              <a:t>We can also visualize the frequency table using a pie chart:</a:t>
            </a:r>
            <a:endParaRPr lang="en-US" sz="2600" b="0" strike="noStrike" spc="-1">
              <a:latin typeface="Arial"/>
            </a:endParaRPr>
          </a:p>
        </p:txBody>
      </p:sp>
      <p:sp>
        <p:nvSpPr>
          <p:cNvPr id="520" name="CustomShape 89"/>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A9060615-FF9B-4F0E-8440-3FEB960CC54B}" type="slidenum">
              <a:rPr lang="en-US" sz="1200" b="0" strike="noStrike" spc="-1">
                <a:solidFill>
                  <a:srgbClr val="8B8B8B"/>
                </a:solidFill>
                <a:latin typeface="Calibri"/>
                <a:ea typeface="DejaVu Sans"/>
              </a:rPr>
              <a:t>31</a:t>
            </a:fld>
            <a:endParaRPr lang="en-US" sz="1200" b="0" strike="noStrike" spc="-1">
              <a:latin typeface="Arial"/>
            </a:endParaRPr>
          </a:p>
        </p:txBody>
      </p:sp>
      <p:pic>
        <p:nvPicPr>
          <p:cNvPr id="2" name="Picture 1">
            <a:extLst>
              <a:ext uri="{FF2B5EF4-FFF2-40B4-BE49-F238E27FC236}">
                <a16:creationId xmlns:a16="http://schemas.microsoft.com/office/drawing/2014/main" id="{7EFA35B5-EE6E-AFF9-986E-93500CE29D3E}"/>
              </a:ext>
            </a:extLst>
          </p:cNvPr>
          <p:cNvPicPr>
            <a:picLocks noChangeAspect="1"/>
          </p:cNvPicPr>
          <p:nvPr/>
        </p:nvPicPr>
        <p:blipFill>
          <a:blip r:embed="rId3"/>
          <a:stretch>
            <a:fillRect/>
          </a:stretch>
        </p:blipFill>
        <p:spPr>
          <a:xfrm>
            <a:off x="2551140" y="1399550"/>
            <a:ext cx="7086600" cy="52451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Example 2: IQ</a:t>
            </a:r>
            <a:endParaRPr lang="en-US" sz="4400" b="0" strike="noStrike" spc="-1">
              <a:latin typeface="Arial"/>
            </a:endParaRPr>
          </a:p>
        </p:txBody>
      </p:sp>
      <p:pic>
        <p:nvPicPr>
          <p:cNvPr id="523" name="Picture 9"/>
          <p:cNvPicPr/>
          <p:nvPr/>
        </p:nvPicPr>
        <p:blipFill>
          <a:blip r:embed="rId3"/>
          <a:stretch/>
        </p:blipFill>
        <p:spPr>
          <a:xfrm>
            <a:off x="1101960" y="3200400"/>
            <a:ext cx="2370240" cy="3047040"/>
          </a:xfrm>
          <a:prstGeom prst="rect">
            <a:avLst/>
          </a:prstGeom>
          <a:ln w="0">
            <a:noFill/>
          </a:ln>
        </p:spPr>
      </p:pic>
      <p:sp>
        <p:nvSpPr>
          <p:cNvPr id="524" name="CustomShape 2"/>
          <p:cNvSpPr/>
          <p:nvPr/>
        </p:nvSpPr>
        <p:spPr>
          <a:xfrm>
            <a:off x="746640" y="1737360"/>
            <a:ext cx="10040760" cy="136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400" b="0" strike="noStrike" spc="-1" dirty="0">
                <a:solidFill>
                  <a:srgbClr val="000000"/>
                </a:solidFill>
                <a:latin typeface="Calibri"/>
                <a:ea typeface="DejaVu Sans"/>
              </a:rPr>
              <a:t>Standard measure of  intelligence</a:t>
            </a:r>
            <a:endParaRPr lang="en-US" sz="2400" b="0" strike="noStrike" spc="-1" dirty="0">
              <a:latin typeface="Arial"/>
            </a:endParaRPr>
          </a:p>
          <a:p>
            <a:pPr marL="228600" indent="-226800">
              <a:lnSpc>
                <a:spcPct val="90000"/>
              </a:lnSpc>
              <a:spcBef>
                <a:spcPts val="1001"/>
              </a:spcBef>
              <a:buClr>
                <a:srgbClr val="000000"/>
              </a:buClr>
              <a:buFont typeface="Arial"/>
              <a:buChar char="•"/>
            </a:pPr>
            <a:r>
              <a:rPr lang="en-US" sz="2400" b="0" strike="noStrike" spc="-1" dirty="0">
                <a:solidFill>
                  <a:srgbClr val="000000"/>
                </a:solidFill>
                <a:latin typeface="Calibri"/>
                <a:ea typeface="DejaVu Sans"/>
              </a:rPr>
              <a:t>Set of questions/items leads to a score, such that 100 is average</a:t>
            </a:r>
            <a:endParaRPr lang="en-US" sz="2400" b="0" strike="noStrike" spc="-1" dirty="0">
              <a:latin typeface="Arial"/>
            </a:endParaRPr>
          </a:p>
        </p:txBody>
      </p:sp>
      <p:sp>
        <p:nvSpPr>
          <p:cNvPr id="525"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9A1B74C4-A96C-442D-A019-2CC8738233D6}" type="slidenum">
              <a:rPr lang="en-US" sz="1200" b="0" strike="noStrike" spc="-1">
                <a:solidFill>
                  <a:srgbClr val="8B8B8B"/>
                </a:solidFill>
                <a:latin typeface="Calibri"/>
                <a:ea typeface="DejaVu Sans"/>
              </a:rPr>
              <a:t>32</a:t>
            </a:fld>
            <a:endParaRPr lang="en-US" sz="1200" b="0" strike="noStrike" spc="-1">
              <a:latin typeface="Arial"/>
            </a:endParaRPr>
          </a:p>
        </p:txBody>
      </p:sp>
      <p:sp>
        <p:nvSpPr>
          <p:cNvPr id="526" name="CustomShape 4"/>
          <p:cNvSpPr/>
          <p:nvPr/>
        </p:nvSpPr>
        <p:spPr>
          <a:xfrm>
            <a:off x="1005840" y="6309360"/>
            <a:ext cx="3929400" cy="25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100" b="0" strike="noStrike" spc="-1">
                <a:solidFill>
                  <a:srgbClr val="000000"/>
                </a:solidFill>
                <a:latin typeface="Arial"/>
                <a:ea typeface="DejaVu Sans"/>
              </a:rPr>
              <a:t>https://en.wikipedia.org/wiki/Alfred_Binet</a:t>
            </a:r>
            <a:endParaRPr lang="en-US" sz="1100" b="0" strike="noStrike" spc="-1">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dirty="0">
                <a:solidFill>
                  <a:srgbClr val="000000"/>
                </a:solidFill>
                <a:latin typeface="Calibri Light"/>
                <a:ea typeface="DejaVu Sans"/>
              </a:rPr>
              <a:t>Example 2: IQ Frequencies</a:t>
            </a:r>
            <a:endParaRPr lang="en-US" sz="4400" b="0" strike="noStrike" spc="-1" dirty="0">
              <a:latin typeface="Arial"/>
            </a:endParaRPr>
          </a:p>
        </p:txBody>
      </p:sp>
      <p:graphicFrame>
        <p:nvGraphicFramePr>
          <p:cNvPr id="528" name="Table 2"/>
          <p:cNvGraphicFramePr/>
          <p:nvPr/>
        </p:nvGraphicFramePr>
        <p:xfrm>
          <a:off x="636480" y="1586160"/>
          <a:ext cx="4758480" cy="4564800"/>
        </p:xfrm>
        <a:graphic>
          <a:graphicData uri="http://schemas.openxmlformats.org/drawingml/2006/table">
            <a:tbl>
              <a:tblPr/>
              <a:tblGrid>
                <a:gridCol w="2187720">
                  <a:extLst>
                    <a:ext uri="{9D8B030D-6E8A-4147-A177-3AD203B41FA5}">
                      <a16:colId xmlns:a16="http://schemas.microsoft.com/office/drawing/2014/main" val="20000"/>
                    </a:ext>
                  </a:extLst>
                </a:gridCol>
                <a:gridCol w="2570760">
                  <a:extLst>
                    <a:ext uri="{9D8B030D-6E8A-4147-A177-3AD203B41FA5}">
                      <a16:colId xmlns:a16="http://schemas.microsoft.com/office/drawing/2014/main" val="20001"/>
                    </a:ext>
                  </a:extLst>
                </a:gridCol>
              </a:tblGrid>
              <a:tr h="357120">
                <a:tc>
                  <a:txBody>
                    <a:bodyPr/>
                    <a:lstStyle/>
                    <a:p>
                      <a:pPr>
                        <a:lnSpc>
                          <a:spcPct val="100000"/>
                        </a:lnSpc>
                        <a:buNone/>
                      </a:pPr>
                      <a:r>
                        <a:rPr lang="en-US" sz="1800" b="1" strike="noStrike" spc="-1">
                          <a:solidFill>
                            <a:srgbClr val="FFFFFF"/>
                          </a:solidFill>
                          <a:latin typeface="Calibri"/>
                        </a:rPr>
                        <a:t>IQ range</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C000"/>
                    </a:solidFill>
                  </a:tcPr>
                </a:tc>
                <a:tc>
                  <a:txBody>
                    <a:bodyPr/>
                    <a:lstStyle/>
                    <a:p>
                      <a:pPr>
                        <a:lnSpc>
                          <a:spcPct val="100000"/>
                        </a:lnSpc>
                        <a:buNone/>
                      </a:pPr>
                      <a:r>
                        <a:rPr lang="en-US" sz="1800" b="1" strike="noStrike" spc="-1">
                          <a:solidFill>
                            <a:srgbClr val="FFFFFF"/>
                          </a:solidFill>
                          <a:latin typeface="Calibri"/>
                        </a:rPr>
                        <a:t>Frequency</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C000"/>
                    </a:solidFill>
                  </a:tcPr>
                </a:tc>
                <a:extLst>
                  <a:ext uri="{0D108BD9-81ED-4DB2-BD59-A6C34878D82A}">
                    <a16:rowId xmlns:a16="http://schemas.microsoft.com/office/drawing/2014/main" val="10000"/>
                  </a:ext>
                </a:extLst>
              </a:tr>
              <a:tr h="357120">
                <a:tc>
                  <a:txBody>
                    <a:bodyPr/>
                    <a:lstStyle/>
                    <a:p>
                      <a:pPr>
                        <a:lnSpc>
                          <a:spcPct val="100000"/>
                        </a:lnSpc>
                        <a:buNone/>
                      </a:pPr>
                      <a:r>
                        <a:rPr lang="en-US" sz="1800" b="0" strike="noStrike" spc="-1">
                          <a:solidFill>
                            <a:srgbClr val="000000"/>
                          </a:solidFill>
                          <a:latin typeface="Calibri"/>
                        </a:rPr>
                        <a:t>50-60</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tc>
                  <a:txBody>
                    <a:bodyPr/>
                    <a:lstStyle/>
                    <a:p>
                      <a:pPr>
                        <a:lnSpc>
                          <a:spcPct val="100000"/>
                        </a:lnSpc>
                        <a:buNone/>
                      </a:pPr>
                      <a:r>
                        <a:rPr lang="en-US" sz="1800" b="0" strike="noStrike" spc="-1">
                          <a:solidFill>
                            <a:srgbClr val="000000"/>
                          </a:solidFill>
                          <a:latin typeface="Calibri"/>
                        </a:rPr>
                        <a:t>1</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extLst>
                  <a:ext uri="{0D108BD9-81ED-4DB2-BD59-A6C34878D82A}">
                    <a16:rowId xmlns:a16="http://schemas.microsoft.com/office/drawing/2014/main" val="10001"/>
                  </a:ext>
                </a:extLst>
              </a:tr>
              <a:tr h="357120">
                <a:tc>
                  <a:txBody>
                    <a:bodyPr/>
                    <a:lstStyle/>
                    <a:p>
                      <a:pPr>
                        <a:lnSpc>
                          <a:spcPct val="100000"/>
                        </a:lnSpc>
                        <a:buNone/>
                      </a:pPr>
                      <a:r>
                        <a:rPr lang="en-US" sz="1800" b="0" strike="noStrike" spc="-1">
                          <a:solidFill>
                            <a:srgbClr val="000000"/>
                          </a:solidFill>
                          <a:latin typeface="Calibri"/>
                        </a:rPr>
                        <a:t>60-70</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tc>
                  <a:txBody>
                    <a:bodyPr/>
                    <a:lstStyle/>
                    <a:p>
                      <a:pPr>
                        <a:lnSpc>
                          <a:spcPct val="100000"/>
                        </a:lnSpc>
                        <a:buNone/>
                      </a:pPr>
                      <a:r>
                        <a:rPr lang="en-US" sz="1800" b="0" strike="noStrike" spc="-1">
                          <a:solidFill>
                            <a:srgbClr val="000000"/>
                          </a:solidFill>
                          <a:latin typeface="Calibri"/>
                        </a:rPr>
                        <a:t>1</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extLst>
                  <a:ext uri="{0D108BD9-81ED-4DB2-BD59-A6C34878D82A}">
                    <a16:rowId xmlns:a16="http://schemas.microsoft.com/office/drawing/2014/main" val="10002"/>
                  </a:ext>
                </a:extLst>
              </a:tr>
              <a:tr h="357120">
                <a:tc>
                  <a:txBody>
                    <a:bodyPr/>
                    <a:lstStyle/>
                    <a:p>
                      <a:pPr>
                        <a:lnSpc>
                          <a:spcPct val="100000"/>
                        </a:lnSpc>
                        <a:buNone/>
                      </a:pPr>
                      <a:r>
                        <a:rPr lang="en-US" sz="1800" b="0" strike="noStrike" spc="-1">
                          <a:solidFill>
                            <a:srgbClr val="000000"/>
                          </a:solidFill>
                          <a:latin typeface="Calibri"/>
                        </a:rPr>
                        <a:t>70-80</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tc>
                  <a:txBody>
                    <a:bodyPr/>
                    <a:lstStyle/>
                    <a:p>
                      <a:pPr>
                        <a:lnSpc>
                          <a:spcPct val="100000"/>
                        </a:lnSpc>
                        <a:buNone/>
                      </a:pPr>
                      <a:r>
                        <a:rPr lang="en-US" sz="1800" b="0" strike="noStrike" spc="-1">
                          <a:solidFill>
                            <a:srgbClr val="000000"/>
                          </a:solidFill>
                          <a:latin typeface="Calibri"/>
                        </a:rPr>
                        <a:t>12</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extLst>
                  <a:ext uri="{0D108BD9-81ED-4DB2-BD59-A6C34878D82A}">
                    <a16:rowId xmlns:a16="http://schemas.microsoft.com/office/drawing/2014/main" val="10003"/>
                  </a:ext>
                </a:extLst>
              </a:tr>
              <a:tr h="357120">
                <a:tc>
                  <a:txBody>
                    <a:bodyPr/>
                    <a:lstStyle/>
                    <a:p>
                      <a:pPr>
                        <a:lnSpc>
                          <a:spcPct val="100000"/>
                        </a:lnSpc>
                        <a:buNone/>
                      </a:pPr>
                      <a:r>
                        <a:rPr lang="en-US" sz="1800" b="0" strike="noStrike" spc="-1">
                          <a:solidFill>
                            <a:srgbClr val="000000"/>
                          </a:solidFill>
                          <a:latin typeface="Calibri"/>
                        </a:rPr>
                        <a:t>80-90</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tc>
                  <a:txBody>
                    <a:bodyPr/>
                    <a:lstStyle/>
                    <a:p>
                      <a:pPr>
                        <a:lnSpc>
                          <a:spcPct val="100000"/>
                        </a:lnSpc>
                        <a:buNone/>
                      </a:pPr>
                      <a:r>
                        <a:rPr lang="en-US" sz="1800" b="0" strike="noStrike" spc="-1">
                          <a:solidFill>
                            <a:srgbClr val="000000"/>
                          </a:solidFill>
                          <a:latin typeface="Calibri"/>
                        </a:rPr>
                        <a:t>14</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extLst>
                  <a:ext uri="{0D108BD9-81ED-4DB2-BD59-A6C34878D82A}">
                    <a16:rowId xmlns:a16="http://schemas.microsoft.com/office/drawing/2014/main" val="10004"/>
                  </a:ext>
                </a:extLst>
              </a:tr>
              <a:tr h="357120">
                <a:tc>
                  <a:txBody>
                    <a:bodyPr/>
                    <a:lstStyle/>
                    <a:p>
                      <a:pPr>
                        <a:lnSpc>
                          <a:spcPct val="100000"/>
                        </a:lnSpc>
                        <a:buNone/>
                      </a:pPr>
                      <a:r>
                        <a:rPr lang="en-US" sz="1800" b="0" strike="noStrike" spc="-1">
                          <a:solidFill>
                            <a:srgbClr val="000000"/>
                          </a:solidFill>
                          <a:latin typeface="Calibri"/>
                        </a:rPr>
                        <a:t>90-100</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tc>
                  <a:txBody>
                    <a:bodyPr/>
                    <a:lstStyle/>
                    <a:p>
                      <a:pPr>
                        <a:lnSpc>
                          <a:spcPct val="100000"/>
                        </a:lnSpc>
                        <a:buNone/>
                      </a:pPr>
                      <a:r>
                        <a:rPr lang="en-US" sz="1800" b="0" strike="noStrike" spc="-1">
                          <a:solidFill>
                            <a:srgbClr val="000000"/>
                          </a:solidFill>
                          <a:latin typeface="Calibri"/>
                        </a:rPr>
                        <a:t>22</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extLst>
                  <a:ext uri="{0D108BD9-81ED-4DB2-BD59-A6C34878D82A}">
                    <a16:rowId xmlns:a16="http://schemas.microsoft.com/office/drawing/2014/main" val="10005"/>
                  </a:ext>
                </a:extLst>
              </a:tr>
              <a:tr h="501120">
                <a:tc>
                  <a:txBody>
                    <a:bodyPr/>
                    <a:lstStyle/>
                    <a:p>
                      <a:pPr>
                        <a:lnSpc>
                          <a:spcPct val="100000"/>
                        </a:lnSpc>
                        <a:buNone/>
                      </a:pPr>
                      <a:r>
                        <a:rPr lang="en-US" sz="1800" b="0" strike="noStrike" spc="-1">
                          <a:solidFill>
                            <a:srgbClr val="000000"/>
                          </a:solidFill>
                          <a:latin typeface="Calibri"/>
                        </a:rPr>
                        <a:t>100-110</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tc>
                  <a:txBody>
                    <a:bodyPr/>
                    <a:lstStyle/>
                    <a:p>
                      <a:pPr>
                        <a:lnSpc>
                          <a:spcPct val="100000"/>
                        </a:lnSpc>
                        <a:buNone/>
                      </a:pPr>
                      <a:r>
                        <a:rPr lang="en-US" sz="1800" b="0" strike="noStrike" spc="-1">
                          <a:solidFill>
                            <a:srgbClr val="000000"/>
                          </a:solidFill>
                          <a:latin typeface="Calibri"/>
                        </a:rPr>
                        <a:t>22</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extLst>
                  <a:ext uri="{0D108BD9-81ED-4DB2-BD59-A6C34878D82A}">
                    <a16:rowId xmlns:a16="http://schemas.microsoft.com/office/drawing/2014/main" val="10006"/>
                  </a:ext>
                </a:extLst>
              </a:tr>
              <a:tr h="501120">
                <a:tc>
                  <a:txBody>
                    <a:bodyPr/>
                    <a:lstStyle/>
                    <a:p>
                      <a:pPr>
                        <a:lnSpc>
                          <a:spcPct val="100000"/>
                        </a:lnSpc>
                        <a:buNone/>
                      </a:pPr>
                      <a:r>
                        <a:rPr lang="en-US" sz="1800" b="0" strike="noStrike" spc="-1">
                          <a:solidFill>
                            <a:srgbClr val="000000"/>
                          </a:solidFill>
                          <a:latin typeface="Calibri"/>
                        </a:rPr>
                        <a:t>110-120</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tc>
                  <a:txBody>
                    <a:bodyPr/>
                    <a:lstStyle/>
                    <a:p>
                      <a:pPr>
                        <a:lnSpc>
                          <a:spcPct val="100000"/>
                        </a:lnSpc>
                        <a:buNone/>
                      </a:pPr>
                      <a:r>
                        <a:rPr lang="en-US" sz="1800" b="0" strike="noStrike" spc="-1">
                          <a:solidFill>
                            <a:srgbClr val="000000"/>
                          </a:solidFill>
                          <a:latin typeface="Calibri"/>
                        </a:rPr>
                        <a:t>18</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extLst>
                  <a:ext uri="{0D108BD9-81ED-4DB2-BD59-A6C34878D82A}">
                    <a16:rowId xmlns:a16="http://schemas.microsoft.com/office/drawing/2014/main" val="10007"/>
                  </a:ext>
                </a:extLst>
              </a:tr>
              <a:tr h="501120">
                <a:tc>
                  <a:txBody>
                    <a:bodyPr/>
                    <a:lstStyle/>
                    <a:p>
                      <a:pPr>
                        <a:lnSpc>
                          <a:spcPct val="100000"/>
                        </a:lnSpc>
                        <a:buNone/>
                      </a:pPr>
                      <a:r>
                        <a:rPr lang="en-US" sz="1800" b="0" strike="noStrike" spc="-1">
                          <a:solidFill>
                            <a:srgbClr val="000000"/>
                          </a:solidFill>
                          <a:latin typeface="Calibri"/>
                        </a:rPr>
                        <a:t>120-130</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tc>
                  <a:txBody>
                    <a:bodyPr/>
                    <a:lstStyle/>
                    <a:p>
                      <a:pPr>
                        <a:lnSpc>
                          <a:spcPct val="100000"/>
                        </a:lnSpc>
                        <a:buNone/>
                      </a:pPr>
                      <a:r>
                        <a:rPr lang="en-US" sz="1800" b="0" strike="noStrike" spc="-1">
                          <a:solidFill>
                            <a:srgbClr val="000000"/>
                          </a:solidFill>
                          <a:latin typeface="Calibri"/>
                        </a:rPr>
                        <a:t>7</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extLst>
                  <a:ext uri="{0D108BD9-81ED-4DB2-BD59-A6C34878D82A}">
                    <a16:rowId xmlns:a16="http://schemas.microsoft.com/office/drawing/2014/main" val="10008"/>
                  </a:ext>
                </a:extLst>
              </a:tr>
              <a:tr h="501120">
                <a:tc>
                  <a:txBody>
                    <a:bodyPr/>
                    <a:lstStyle/>
                    <a:p>
                      <a:pPr>
                        <a:lnSpc>
                          <a:spcPct val="100000"/>
                        </a:lnSpc>
                        <a:buNone/>
                      </a:pPr>
                      <a:r>
                        <a:rPr lang="en-US" sz="1800" b="0" strike="noStrike" spc="-1">
                          <a:solidFill>
                            <a:srgbClr val="000000"/>
                          </a:solidFill>
                          <a:latin typeface="Calibri"/>
                        </a:rPr>
                        <a:t>130-140</a:t>
                      </a:r>
                      <a:endParaRPr lang="en-US" sz="1800" b="0" strike="noStrike" spc="-1">
                        <a:latin typeface="Arial"/>
                      </a:endParaRPr>
                    </a:p>
                  </a:txBody>
                  <a:tcPr>
                    <a:lnL>
                      <a:noFill/>
                    </a:lnL>
                    <a:lnR>
                      <a:noFill/>
                    </a:lnR>
                    <a:lnT w="25200">
                      <a:solidFill>
                        <a:srgbClr val="000000"/>
                      </a:solidFill>
                    </a:lnT>
                    <a:lnB w="28080">
                      <a:solidFill>
                        <a:srgbClr val="000000"/>
                      </a:solidFill>
                    </a:lnB>
                    <a:solidFill>
                      <a:srgbClr val="E7E7E7"/>
                    </a:solidFill>
                  </a:tcPr>
                </a:tc>
                <a:tc>
                  <a:txBody>
                    <a:bodyPr/>
                    <a:lstStyle/>
                    <a:p>
                      <a:pPr>
                        <a:lnSpc>
                          <a:spcPct val="100000"/>
                        </a:lnSpc>
                        <a:buNone/>
                      </a:pPr>
                      <a:r>
                        <a:rPr lang="en-US" sz="1800" b="0" strike="noStrike" spc="-1">
                          <a:solidFill>
                            <a:srgbClr val="000000"/>
                          </a:solidFill>
                          <a:latin typeface="Calibri"/>
                        </a:rPr>
                        <a:t>3</a:t>
                      </a:r>
                      <a:endParaRPr lang="en-US" sz="1800" b="0" strike="noStrike" spc="-1">
                        <a:latin typeface="Arial"/>
                      </a:endParaRPr>
                    </a:p>
                  </a:txBody>
                  <a:tcPr>
                    <a:lnL>
                      <a:noFill/>
                    </a:lnL>
                    <a:lnR>
                      <a:noFill/>
                    </a:lnR>
                    <a:lnT w="25200">
                      <a:solidFill>
                        <a:srgbClr val="000000"/>
                      </a:solidFill>
                    </a:lnT>
                    <a:lnB w="28080">
                      <a:solidFill>
                        <a:srgbClr val="000000"/>
                      </a:solidFill>
                    </a:lnB>
                    <a:solidFill>
                      <a:srgbClr val="E7E7E7"/>
                    </a:solidFill>
                  </a:tcPr>
                </a:tc>
                <a:extLst>
                  <a:ext uri="{0D108BD9-81ED-4DB2-BD59-A6C34878D82A}">
                    <a16:rowId xmlns:a16="http://schemas.microsoft.com/office/drawing/2014/main" val="10009"/>
                  </a:ext>
                </a:extLst>
              </a:tr>
              <a:tr h="357120">
                <a:tc>
                  <a:txBody>
                    <a:bodyPr/>
                    <a:lstStyle/>
                    <a:p>
                      <a:endParaRPr lang="en-NL"/>
                    </a:p>
                  </a:txBody>
                  <a:tcPr>
                    <a:lnL>
                      <a:noFill/>
                    </a:lnL>
                    <a:lnR>
                      <a:noFill/>
                    </a:lnR>
                    <a:lnT w="28080">
                      <a:solidFill>
                        <a:srgbClr val="000000"/>
                      </a:solidFill>
                    </a:lnT>
                    <a:lnB w="25200">
                      <a:solidFill>
                        <a:srgbClr val="000000"/>
                      </a:solidFill>
                    </a:lnB>
                    <a:solidFill>
                      <a:srgbClr val="FFFFFF"/>
                    </a:solidFill>
                  </a:tcPr>
                </a:tc>
                <a:tc>
                  <a:txBody>
                    <a:bodyPr/>
                    <a:lstStyle/>
                    <a:p>
                      <a:pPr>
                        <a:lnSpc>
                          <a:spcPct val="100000"/>
                        </a:lnSpc>
                        <a:buNone/>
                      </a:pPr>
                      <a:r>
                        <a:rPr lang="en-US" sz="1800" b="1" i="1" strike="noStrike" spc="-1">
                          <a:solidFill>
                            <a:srgbClr val="000000"/>
                          </a:solidFill>
                          <a:latin typeface="Calibri"/>
                        </a:rPr>
                        <a:t>n</a:t>
                      </a:r>
                      <a:r>
                        <a:rPr lang="en-US" sz="1800" b="1" strike="noStrike" spc="-1">
                          <a:solidFill>
                            <a:srgbClr val="000000"/>
                          </a:solidFill>
                          <a:latin typeface="Calibri"/>
                        </a:rPr>
                        <a:t> = 100</a:t>
                      </a:r>
                      <a:endParaRPr lang="en-US" sz="1800" b="0" strike="noStrike" spc="-1">
                        <a:latin typeface="Arial"/>
                      </a:endParaRPr>
                    </a:p>
                  </a:txBody>
                  <a:tcPr>
                    <a:lnL>
                      <a:noFill/>
                    </a:lnL>
                    <a:lnR>
                      <a:noFill/>
                    </a:lnR>
                    <a:lnT w="28080">
                      <a:solidFill>
                        <a:srgbClr val="000000"/>
                      </a:solidFill>
                    </a:lnT>
                    <a:lnB w="25200">
                      <a:solidFill>
                        <a:srgbClr val="000000"/>
                      </a:solidFill>
                    </a:lnB>
                    <a:solidFill>
                      <a:srgbClr val="FFFFFF"/>
                    </a:solidFill>
                  </a:tcPr>
                </a:tc>
                <a:extLst>
                  <a:ext uri="{0D108BD9-81ED-4DB2-BD59-A6C34878D82A}">
                    <a16:rowId xmlns:a16="http://schemas.microsoft.com/office/drawing/2014/main" val="10010"/>
                  </a:ext>
                </a:extLst>
              </a:tr>
            </a:tbl>
          </a:graphicData>
        </a:graphic>
      </p:graphicFrame>
      <p:sp>
        <p:nvSpPr>
          <p:cNvPr id="529"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DB18954F-BE25-46F5-911D-BADBC2141632}" type="slidenum">
              <a:rPr lang="en-US" sz="1200" b="0" strike="noStrike" spc="-1">
                <a:solidFill>
                  <a:srgbClr val="8B8B8B"/>
                </a:solidFill>
                <a:latin typeface="Calibri"/>
                <a:ea typeface="DejaVu Sans"/>
              </a:rPr>
              <a:t>33</a:t>
            </a:fld>
            <a:endParaRPr lang="en-US" sz="1200" b="0" strike="noStrike" spc="-1">
              <a:latin typeface="Arial"/>
            </a:endParaRPr>
          </a:p>
        </p:txBody>
      </p:sp>
      <p:grpSp>
        <p:nvGrpSpPr>
          <p:cNvPr id="3" name="Group 2">
            <a:extLst>
              <a:ext uri="{FF2B5EF4-FFF2-40B4-BE49-F238E27FC236}">
                <a16:creationId xmlns:a16="http://schemas.microsoft.com/office/drawing/2014/main" id="{AAD3C73A-ABE4-ABE3-5199-B281529273B3}"/>
              </a:ext>
            </a:extLst>
          </p:cNvPr>
          <p:cNvGrpSpPr/>
          <p:nvPr/>
        </p:nvGrpSpPr>
        <p:grpSpPr>
          <a:xfrm>
            <a:off x="6035040" y="1963270"/>
            <a:ext cx="5850000" cy="4069249"/>
            <a:chOff x="6035040" y="1963270"/>
            <a:chExt cx="5850000" cy="4069249"/>
          </a:xfrm>
        </p:grpSpPr>
        <p:pic>
          <p:nvPicPr>
            <p:cNvPr id="530" name="Picture 529"/>
            <p:cNvPicPr/>
            <p:nvPr/>
          </p:nvPicPr>
          <p:blipFill rotWithShape="1">
            <a:blip r:embed="rId3"/>
            <a:srcRect t="20494"/>
            <a:stretch/>
          </p:blipFill>
          <p:spPr>
            <a:xfrm>
              <a:off x="6035040" y="1963270"/>
              <a:ext cx="5850000" cy="4069249"/>
            </a:xfrm>
            <a:prstGeom prst="rect">
              <a:avLst/>
            </a:prstGeom>
            <a:ln w="0">
              <a:noFill/>
            </a:ln>
          </p:spPr>
        </p:pic>
        <p:pic>
          <p:nvPicPr>
            <p:cNvPr id="2" name="Picture 1">
              <a:extLst>
                <a:ext uri="{FF2B5EF4-FFF2-40B4-BE49-F238E27FC236}">
                  <a16:creationId xmlns:a16="http://schemas.microsoft.com/office/drawing/2014/main" id="{012BCFE9-12A8-7192-83B4-7F137C36F35C}"/>
                </a:ext>
              </a:extLst>
            </p:cNvPr>
            <p:cNvPicPr>
              <a:picLocks noChangeAspect="1"/>
            </p:cNvPicPr>
            <p:nvPr/>
          </p:nvPicPr>
          <p:blipFill rotWithShape="1">
            <a:blip r:embed="rId4"/>
            <a:srcRect t="40485" r="98189" b="42995"/>
            <a:stretch/>
          </p:blipFill>
          <p:spPr>
            <a:xfrm>
              <a:off x="6035040" y="2443655"/>
              <a:ext cx="469271" cy="1715076"/>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Histogram vs Bar chart</a:t>
            </a:r>
            <a:endParaRPr lang="en-US" sz="4400" b="0" strike="noStrike" spc="-1">
              <a:latin typeface="Arial"/>
            </a:endParaRPr>
          </a:p>
        </p:txBody>
      </p:sp>
      <p:sp>
        <p:nvSpPr>
          <p:cNvPr id="532" name="CustomShape 2"/>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49C544CA-9291-4165-B2D1-6DB842DE49A7}" type="slidenum">
              <a:rPr lang="en-US" sz="1200" b="0" strike="noStrike" spc="-1">
                <a:solidFill>
                  <a:srgbClr val="8B8B8B"/>
                </a:solidFill>
                <a:latin typeface="Calibri"/>
                <a:ea typeface="DejaVu Sans"/>
              </a:rPr>
              <a:t>34</a:t>
            </a:fld>
            <a:endParaRPr lang="en-US" sz="1200" b="0" strike="noStrike" spc="-1">
              <a:latin typeface="Arial"/>
            </a:endParaRPr>
          </a:p>
        </p:txBody>
      </p:sp>
      <p:pic>
        <p:nvPicPr>
          <p:cNvPr id="534" name="Picture 533"/>
          <p:cNvPicPr/>
          <p:nvPr/>
        </p:nvPicPr>
        <p:blipFill>
          <a:blip r:embed="rId3"/>
          <a:stretch/>
        </p:blipFill>
        <p:spPr>
          <a:xfrm>
            <a:off x="6309360" y="1920240"/>
            <a:ext cx="5406120" cy="4107600"/>
          </a:xfrm>
          <a:prstGeom prst="rect">
            <a:avLst/>
          </a:prstGeom>
          <a:ln w="0">
            <a:noFill/>
          </a:ln>
        </p:spPr>
      </p:pic>
      <p:grpSp>
        <p:nvGrpSpPr>
          <p:cNvPr id="2" name="Group 1">
            <a:extLst>
              <a:ext uri="{FF2B5EF4-FFF2-40B4-BE49-F238E27FC236}">
                <a16:creationId xmlns:a16="http://schemas.microsoft.com/office/drawing/2014/main" id="{0663F6D2-9556-83A8-286A-BF38CE409559}"/>
              </a:ext>
            </a:extLst>
          </p:cNvPr>
          <p:cNvGrpSpPr/>
          <p:nvPr/>
        </p:nvGrpSpPr>
        <p:grpSpPr>
          <a:xfrm>
            <a:off x="430337" y="2321430"/>
            <a:ext cx="5850000" cy="4069249"/>
            <a:chOff x="6035040" y="1963270"/>
            <a:chExt cx="5850000" cy="4069249"/>
          </a:xfrm>
        </p:grpSpPr>
        <p:pic>
          <p:nvPicPr>
            <p:cNvPr id="3" name="Picture 2">
              <a:extLst>
                <a:ext uri="{FF2B5EF4-FFF2-40B4-BE49-F238E27FC236}">
                  <a16:creationId xmlns:a16="http://schemas.microsoft.com/office/drawing/2014/main" id="{2C5E97FA-F045-663D-C42E-DD983083A0FD}"/>
                </a:ext>
              </a:extLst>
            </p:cNvPr>
            <p:cNvPicPr/>
            <p:nvPr/>
          </p:nvPicPr>
          <p:blipFill rotWithShape="1">
            <a:blip r:embed="rId4"/>
            <a:srcRect t="20494"/>
            <a:stretch/>
          </p:blipFill>
          <p:spPr>
            <a:xfrm>
              <a:off x="6035040" y="1963270"/>
              <a:ext cx="5850000" cy="4069249"/>
            </a:xfrm>
            <a:prstGeom prst="rect">
              <a:avLst/>
            </a:prstGeom>
            <a:ln w="0">
              <a:noFill/>
            </a:ln>
          </p:spPr>
        </p:pic>
        <p:pic>
          <p:nvPicPr>
            <p:cNvPr id="4" name="Picture 3">
              <a:extLst>
                <a:ext uri="{FF2B5EF4-FFF2-40B4-BE49-F238E27FC236}">
                  <a16:creationId xmlns:a16="http://schemas.microsoft.com/office/drawing/2014/main" id="{DC82F84E-9438-F863-8FC0-6F77829358F3}"/>
                </a:ext>
              </a:extLst>
            </p:cNvPr>
            <p:cNvPicPr>
              <a:picLocks noChangeAspect="1"/>
            </p:cNvPicPr>
            <p:nvPr/>
          </p:nvPicPr>
          <p:blipFill rotWithShape="1">
            <a:blip r:embed="rId5"/>
            <a:srcRect t="40485" r="98189" b="42995"/>
            <a:stretch/>
          </p:blipFill>
          <p:spPr>
            <a:xfrm>
              <a:off x="6035040" y="2443655"/>
              <a:ext cx="469271" cy="1715076"/>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Example 2: IQ</a:t>
            </a:r>
            <a:endParaRPr lang="en-US" sz="4400" b="0" strike="noStrike" spc="-1">
              <a:latin typeface="Arial"/>
            </a:endParaRPr>
          </a:p>
        </p:txBody>
      </p:sp>
      <p:sp>
        <p:nvSpPr>
          <p:cNvPr id="536" name="CustomShape 2"/>
          <p:cNvSpPr/>
          <p:nvPr/>
        </p:nvSpPr>
        <p:spPr>
          <a:xfrm>
            <a:off x="268200" y="1879200"/>
            <a:ext cx="649584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Really a quantitative variable</a:t>
            </a:r>
            <a:endParaRPr lang="en-US" sz="2800" b="0" strike="noStrike" spc="-1" dirty="0">
              <a:latin typeface="Arial"/>
            </a:endParaRPr>
          </a:p>
          <a:p>
            <a:pPr>
              <a:lnSpc>
                <a:spcPct val="90000"/>
              </a:lnSpc>
              <a:spcBef>
                <a:spcPts val="499"/>
              </a:spcBef>
              <a:buNone/>
            </a:pP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Histogram describes the sample</a:t>
            </a:r>
            <a:br>
              <a:rPr sz="1800" dirty="0"/>
            </a:br>
            <a:r>
              <a:rPr lang="en-US" sz="2800" b="0" strike="noStrike" spc="-1" dirty="0">
                <a:solidFill>
                  <a:srgbClr val="000000"/>
                </a:solidFill>
                <a:latin typeface="Calibri"/>
                <a:ea typeface="DejaVu Sans"/>
              </a:rPr>
              <a:t> </a:t>
            </a: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But the population is described by a continuous distribution</a:t>
            </a:r>
            <a:endParaRPr lang="en-US" sz="2800" b="0" strike="noStrike" spc="-1" dirty="0">
              <a:latin typeface="Arial"/>
            </a:endParaRPr>
          </a:p>
          <a:p>
            <a:pPr>
              <a:lnSpc>
                <a:spcPct val="90000"/>
              </a:lnSpc>
              <a:spcBef>
                <a:spcPts val="1001"/>
              </a:spcBef>
              <a:buNone/>
            </a:pPr>
            <a:endParaRPr lang="en-US" sz="2800" b="0" strike="noStrike" spc="-1" dirty="0">
              <a:latin typeface="Arial"/>
            </a:endParaRPr>
          </a:p>
        </p:txBody>
      </p:sp>
      <p:sp>
        <p:nvSpPr>
          <p:cNvPr id="537"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48D91680-A040-460A-9458-47CC448C04C8}" type="slidenum">
              <a:rPr lang="en-US" sz="1200" b="0" strike="noStrike" spc="-1">
                <a:solidFill>
                  <a:srgbClr val="8B8B8B"/>
                </a:solidFill>
                <a:latin typeface="Calibri"/>
                <a:ea typeface="DejaVu Sans"/>
              </a:rPr>
              <a:t>35</a:t>
            </a:fld>
            <a:endParaRPr lang="en-US" sz="1200" b="0" strike="noStrike" spc="-1">
              <a:latin typeface="Arial"/>
            </a:endParaRPr>
          </a:p>
        </p:txBody>
      </p:sp>
      <p:pic>
        <p:nvPicPr>
          <p:cNvPr id="538" name="Picture 537"/>
          <p:cNvPicPr/>
          <p:nvPr/>
        </p:nvPicPr>
        <p:blipFill>
          <a:blip r:embed="rId3"/>
          <a:stretch/>
        </p:blipFill>
        <p:spPr>
          <a:xfrm>
            <a:off x="6823440" y="1371600"/>
            <a:ext cx="5061240" cy="4428360"/>
          </a:xfrm>
          <a:prstGeom prst="rect">
            <a:avLst/>
          </a:prstGeom>
          <a:ln w="0">
            <a:noFill/>
          </a:ln>
        </p:spPr>
      </p:pic>
      <p:pic>
        <p:nvPicPr>
          <p:cNvPr id="539" name="Picture 538"/>
          <p:cNvPicPr/>
          <p:nvPr/>
        </p:nvPicPr>
        <p:blipFill>
          <a:blip r:embed="rId3"/>
          <a:stretch/>
        </p:blipFill>
        <p:spPr>
          <a:xfrm>
            <a:off x="6823440" y="1371600"/>
            <a:ext cx="5061240" cy="4428360"/>
          </a:xfrm>
          <a:prstGeom prst="rect">
            <a:avLst/>
          </a:prstGeom>
          <a:ln w="0">
            <a:noFill/>
          </a:ln>
        </p:spPr>
      </p:pic>
      <p:grpSp>
        <p:nvGrpSpPr>
          <p:cNvPr id="3" name="Group 2">
            <a:extLst>
              <a:ext uri="{FF2B5EF4-FFF2-40B4-BE49-F238E27FC236}">
                <a16:creationId xmlns:a16="http://schemas.microsoft.com/office/drawing/2014/main" id="{953E3C66-D465-2428-F875-FCD77A6756B2}"/>
              </a:ext>
            </a:extLst>
          </p:cNvPr>
          <p:cNvGrpSpPr/>
          <p:nvPr/>
        </p:nvGrpSpPr>
        <p:grpSpPr>
          <a:xfrm>
            <a:off x="6764040" y="1421280"/>
            <a:ext cx="5029920" cy="4318560"/>
            <a:chOff x="6764040" y="1421280"/>
            <a:chExt cx="5029920" cy="4318560"/>
          </a:xfrm>
        </p:grpSpPr>
        <p:pic>
          <p:nvPicPr>
            <p:cNvPr id="540" name="Picture 539"/>
            <p:cNvPicPr/>
            <p:nvPr/>
          </p:nvPicPr>
          <p:blipFill>
            <a:blip r:embed="rId4"/>
            <a:stretch/>
          </p:blipFill>
          <p:spPr>
            <a:xfrm>
              <a:off x="6858000" y="1421280"/>
              <a:ext cx="4935960" cy="4318560"/>
            </a:xfrm>
            <a:prstGeom prst="rect">
              <a:avLst/>
            </a:prstGeom>
            <a:ln w="0">
              <a:noFill/>
            </a:ln>
          </p:spPr>
        </p:pic>
        <p:pic>
          <p:nvPicPr>
            <p:cNvPr id="2" name="Picture 1">
              <a:extLst>
                <a:ext uri="{FF2B5EF4-FFF2-40B4-BE49-F238E27FC236}">
                  <a16:creationId xmlns:a16="http://schemas.microsoft.com/office/drawing/2014/main" id="{2B6A5241-EEBA-8278-AB7F-E1CEF38E91B5}"/>
                </a:ext>
              </a:extLst>
            </p:cNvPr>
            <p:cNvPicPr>
              <a:picLocks noChangeAspect="1"/>
            </p:cNvPicPr>
            <p:nvPr/>
          </p:nvPicPr>
          <p:blipFill rotWithShape="1">
            <a:blip r:embed="rId5"/>
            <a:srcRect t="40485" r="98189" b="42995"/>
            <a:stretch/>
          </p:blipFill>
          <p:spPr>
            <a:xfrm>
              <a:off x="6764040" y="2694240"/>
              <a:ext cx="435677" cy="1592298"/>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CustomShape 9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3600" b="0" strike="noStrike" spc="-1">
                <a:solidFill>
                  <a:srgbClr val="000000"/>
                </a:solidFill>
                <a:latin typeface="Calibri Light"/>
                <a:ea typeface="DejaVu Sans"/>
              </a:rPr>
              <a:t>From histogram to continuous distribution</a:t>
            </a:r>
            <a:endParaRPr lang="en-US" sz="3600" b="0" strike="noStrike" spc="-1">
              <a:latin typeface="Arial"/>
            </a:endParaRPr>
          </a:p>
        </p:txBody>
      </p:sp>
      <p:sp>
        <p:nvSpPr>
          <p:cNvPr id="542" name="CustomShape 92"/>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7AAAE002-9BBD-4762-9F92-FF3DA54FC5D4}" type="slidenum">
              <a:rPr lang="en-US" sz="1200" b="0" strike="noStrike" spc="-1">
                <a:solidFill>
                  <a:srgbClr val="8B8B8B"/>
                </a:solidFill>
                <a:latin typeface="Calibri"/>
                <a:ea typeface="DejaVu Sans"/>
              </a:rPr>
              <a:t>36</a:t>
            </a:fld>
            <a:endParaRPr lang="en-US" sz="1200" b="0" strike="noStrike" spc="-1">
              <a:latin typeface="Arial"/>
            </a:endParaRPr>
          </a:p>
        </p:txBody>
      </p:sp>
      <p:pic>
        <p:nvPicPr>
          <p:cNvPr id="543" name="Picture 542"/>
          <p:cNvPicPr/>
          <p:nvPr/>
        </p:nvPicPr>
        <p:blipFill>
          <a:blip r:embed="rId3"/>
          <a:stretch/>
        </p:blipFill>
        <p:spPr>
          <a:xfrm>
            <a:off x="0" y="2446200"/>
            <a:ext cx="2855520" cy="2855520"/>
          </a:xfrm>
          <a:prstGeom prst="rect">
            <a:avLst/>
          </a:prstGeom>
          <a:ln w="0">
            <a:noFill/>
          </a:ln>
        </p:spPr>
      </p:pic>
      <p:pic>
        <p:nvPicPr>
          <p:cNvPr id="544" name="Picture 543"/>
          <p:cNvPicPr/>
          <p:nvPr/>
        </p:nvPicPr>
        <p:blipFill>
          <a:blip r:embed="rId4"/>
          <a:stretch/>
        </p:blipFill>
        <p:spPr>
          <a:xfrm>
            <a:off x="2377440" y="2446200"/>
            <a:ext cx="2855520" cy="2855520"/>
          </a:xfrm>
          <a:prstGeom prst="rect">
            <a:avLst/>
          </a:prstGeom>
          <a:ln w="0">
            <a:noFill/>
          </a:ln>
        </p:spPr>
      </p:pic>
      <p:pic>
        <p:nvPicPr>
          <p:cNvPr id="545" name="Picture 544"/>
          <p:cNvPicPr/>
          <p:nvPr/>
        </p:nvPicPr>
        <p:blipFill>
          <a:blip r:embed="rId5"/>
          <a:stretch/>
        </p:blipFill>
        <p:spPr>
          <a:xfrm>
            <a:off x="4754880" y="2377440"/>
            <a:ext cx="2855520" cy="2855520"/>
          </a:xfrm>
          <a:prstGeom prst="rect">
            <a:avLst/>
          </a:prstGeom>
          <a:ln w="0">
            <a:noFill/>
          </a:ln>
        </p:spPr>
      </p:pic>
      <p:pic>
        <p:nvPicPr>
          <p:cNvPr id="546" name="Picture 545"/>
          <p:cNvPicPr/>
          <p:nvPr/>
        </p:nvPicPr>
        <p:blipFill>
          <a:blip r:embed="rId6"/>
          <a:stretch/>
        </p:blipFill>
        <p:spPr>
          <a:xfrm>
            <a:off x="7043400" y="2354760"/>
            <a:ext cx="2855520" cy="2855520"/>
          </a:xfrm>
          <a:prstGeom prst="rect">
            <a:avLst/>
          </a:prstGeom>
          <a:ln w="0">
            <a:noFill/>
          </a:ln>
        </p:spPr>
      </p:pic>
      <p:pic>
        <p:nvPicPr>
          <p:cNvPr id="547" name="Picture 546"/>
          <p:cNvPicPr/>
          <p:nvPr/>
        </p:nvPicPr>
        <p:blipFill>
          <a:blip r:embed="rId7"/>
          <a:stretch/>
        </p:blipFill>
        <p:spPr>
          <a:xfrm>
            <a:off x="9395640" y="2377440"/>
            <a:ext cx="2855520" cy="285552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5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5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5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Statistic vs parameter</a:t>
            </a:r>
            <a:endParaRPr lang="en-US" sz="4400" b="0" strike="noStrike" spc="-1">
              <a:latin typeface="Arial"/>
            </a:endParaRPr>
          </a:p>
        </p:txBody>
      </p:sp>
      <p:sp>
        <p:nvSpPr>
          <p:cNvPr id="549" name="CustomShape 2"/>
          <p:cNvSpPr/>
          <p:nvPr/>
        </p:nvSpPr>
        <p:spPr>
          <a:xfrm>
            <a:off x="838080" y="2558160"/>
            <a:ext cx="10512720" cy="3616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You can compute this! (mean, median, standard deviation, etc)</a:t>
            </a:r>
            <a:endParaRPr lang="en-US" sz="2800" b="0" strike="noStrike" spc="-1">
              <a:latin typeface="Arial"/>
            </a:endParaRPr>
          </a:p>
          <a:p>
            <a:pPr>
              <a:lnSpc>
                <a:spcPct val="90000"/>
              </a:lnSpc>
              <a:spcBef>
                <a:spcPts val="1001"/>
              </a:spcBef>
              <a:buNone/>
            </a:pPr>
            <a:endParaRPr lang="en-US" sz="2800" b="0" strike="noStrike" spc="-1">
              <a:latin typeface="Arial"/>
            </a:endParaRPr>
          </a:p>
          <a:p>
            <a:pPr>
              <a:lnSpc>
                <a:spcPct val="90000"/>
              </a:lnSpc>
              <a:spcBef>
                <a:spcPts val="1001"/>
              </a:spcBef>
              <a:buNone/>
            </a:pPr>
            <a:endParaRPr lang="en-US" sz="2800" b="0" strike="noStrike" spc="-1">
              <a:latin typeface="Arial"/>
            </a:endParaRPr>
          </a:p>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This cannot be computed (usually)</a:t>
            </a:r>
            <a:endParaRPr lang="en-US" sz="2800" b="0" strike="noStrike" spc="-1">
              <a:latin typeface="Arial"/>
            </a:endParaRPr>
          </a:p>
        </p:txBody>
      </p:sp>
      <p:sp>
        <p:nvSpPr>
          <p:cNvPr id="550" name="CustomShape 3"/>
          <p:cNvSpPr/>
          <p:nvPr/>
        </p:nvSpPr>
        <p:spPr>
          <a:xfrm>
            <a:off x="838080" y="1825560"/>
            <a:ext cx="10162800" cy="45540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a:solidFill>
                  <a:srgbClr val="ED7D31"/>
                </a:solidFill>
                <a:latin typeface="Calibri"/>
                <a:ea typeface="DejaVu Sans"/>
              </a:rPr>
              <a:t>A statistic</a:t>
            </a:r>
            <a:r>
              <a:rPr lang="en-US" sz="2400" b="0" strike="noStrike" spc="-1">
                <a:solidFill>
                  <a:srgbClr val="000000"/>
                </a:solidFill>
                <a:latin typeface="Calibri"/>
                <a:ea typeface="DejaVu Sans"/>
              </a:rPr>
              <a:t>:</a:t>
            </a:r>
            <a:r>
              <a:rPr lang="en-US" sz="2400" b="1" strike="noStrike" spc="-1">
                <a:solidFill>
                  <a:srgbClr val="000000"/>
                </a:solidFill>
                <a:latin typeface="Calibri"/>
                <a:ea typeface="DejaVu Sans"/>
              </a:rPr>
              <a:t> </a:t>
            </a:r>
            <a:r>
              <a:rPr lang="en-US" sz="2400" b="0" strike="noStrike" spc="-1">
                <a:solidFill>
                  <a:srgbClr val="000000"/>
                </a:solidFill>
                <a:latin typeface="Calibri"/>
                <a:ea typeface="DejaVu Sans"/>
              </a:rPr>
              <a:t>A numerical summary of the data is called a statistic</a:t>
            </a:r>
            <a:endParaRPr lang="en-US" sz="2400" b="0" strike="noStrike" spc="-1">
              <a:latin typeface="Arial"/>
            </a:endParaRPr>
          </a:p>
        </p:txBody>
      </p:sp>
      <p:sp>
        <p:nvSpPr>
          <p:cNvPr id="551" name="CustomShape 4"/>
          <p:cNvSpPr/>
          <p:nvPr/>
        </p:nvSpPr>
        <p:spPr>
          <a:xfrm>
            <a:off x="807480" y="3476520"/>
            <a:ext cx="10162800" cy="45540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0000"/>
                </a:solidFill>
                <a:latin typeface="Calibri"/>
                <a:ea typeface="DejaVu Sans"/>
              </a:rPr>
              <a:t>A </a:t>
            </a:r>
            <a:r>
              <a:rPr lang="en-US" sz="2400" b="0" i="1" strike="noStrike" spc="-1">
                <a:solidFill>
                  <a:srgbClr val="ED7D31"/>
                </a:solidFill>
                <a:latin typeface="Calibri"/>
                <a:ea typeface="DejaVu Sans"/>
              </a:rPr>
              <a:t>parameter</a:t>
            </a:r>
            <a:r>
              <a:rPr lang="en-US" sz="2400" b="0" strike="noStrike" spc="-1">
                <a:solidFill>
                  <a:srgbClr val="000000"/>
                </a:solidFill>
                <a:latin typeface="Calibri"/>
                <a:ea typeface="DejaVu Sans"/>
              </a:rPr>
              <a:t>:</a:t>
            </a:r>
            <a:r>
              <a:rPr lang="en-US" sz="2400" b="1" strike="noStrike" spc="-1">
                <a:solidFill>
                  <a:srgbClr val="000000"/>
                </a:solidFill>
                <a:latin typeface="Calibri"/>
                <a:ea typeface="DejaVu Sans"/>
              </a:rPr>
              <a:t> </a:t>
            </a:r>
            <a:r>
              <a:rPr lang="en-US" sz="2400" b="0" strike="noStrike" spc="-1">
                <a:solidFill>
                  <a:srgbClr val="000000"/>
                </a:solidFill>
                <a:latin typeface="Calibri"/>
                <a:ea typeface="DejaVu Sans"/>
              </a:rPr>
              <a:t>A numerical summary of the population is called a parameter</a:t>
            </a:r>
            <a:endParaRPr lang="en-US" sz="2400" b="0" strike="noStrike" spc="-1">
              <a:latin typeface="Arial"/>
            </a:endParaRPr>
          </a:p>
        </p:txBody>
      </p:sp>
      <p:sp>
        <p:nvSpPr>
          <p:cNvPr id="552" name="CustomShape 5"/>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9EA7DBCF-87BF-4A1B-97BD-0CED60B12792}" type="slidenum">
              <a:rPr lang="en-US" sz="1200" b="0" strike="noStrike" spc="-1">
                <a:solidFill>
                  <a:srgbClr val="8B8B8B"/>
                </a:solidFill>
                <a:latin typeface="Calibri"/>
                <a:ea typeface="DejaVu Sans"/>
              </a:rPr>
              <a:t>37</a:t>
            </a:fld>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5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CustomShape 1"/>
          <p:cNvSpPr/>
          <p:nvPr/>
        </p:nvSpPr>
        <p:spPr>
          <a:xfrm>
            <a:off x="4008600" y="4005360"/>
            <a:ext cx="4173840" cy="284976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54" name="CustomShape 2"/>
          <p:cNvSpPr/>
          <p:nvPr/>
        </p:nvSpPr>
        <p:spPr>
          <a:xfrm>
            <a:off x="3143160" y="3933720"/>
            <a:ext cx="2157840" cy="455400"/>
          </a:xfrm>
          <a:prstGeom prst="rect">
            <a:avLst/>
          </a:prstGeom>
          <a:solidFill>
            <a:srgbClr val="ED7D31"/>
          </a:solidFill>
          <a:ln w="936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2400" b="0" strike="noStrike" spc="-1">
                <a:solidFill>
                  <a:srgbClr val="000000"/>
                </a:solidFill>
                <a:latin typeface="Arial"/>
                <a:ea typeface="Arial"/>
              </a:rPr>
              <a:t>Sample</a:t>
            </a:r>
            <a:endParaRPr lang="en-US" sz="2400" b="0" strike="noStrike" spc="-1">
              <a:latin typeface="Arial"/>
            </a:endParaRPr>
          </a:p>
        </p:txBody>
      </p:sp>
      <p:sp>
        <p:nvSpPr>
          <p:cNvPr id="555" name="CustomShape 3"/>
          <p:cNvSpPr/>
          <p:nvPr/>
        </p:nvSpPr>
        <p:spPr>
          <a:xfrm>
            <a:off x="4295880" y="404640"/>
            <a:ext cx="3453120" cy="17974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56" name="CustomShape 4"/>
          <p:cNvSpPr/>
          <p:nvPr/>
        </p:nvSpPr>
        <p:spPr>
          <a:xfrm>
            <a:off x="5808600" y="836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57" name="CustomShape 5"/>
          <p:cNvSpPr/>
          <p:nvPr/>
        </p:nvSpPr>
        <p:spPr>
          <a:xfrm>
            <a:off x="5951520" y="1125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58" name="CustomShape 6"/>
          <p:cNvSpPr/>
          <p:nvPr/>
        </p:nvSpPr>
        <p:spPr>
          <a:xfrm>
            <a:off x="6167520" y="836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59" name="CustomShape 7"/>
          <p:cNvSpPr/>
          <p:nvPr/>
        </p:nvSpPr>
        <p:spPr>
          <a:xfrm>
            <a:off x="6311880" y="1125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0" name="CustomShape 8"/>
          <p:cNvSpPr/>
          <p:nvPr/>
        </p:nvSpPr>
        <p:spPr>
          <a:xfrm>
            <a:off x="6527880" y="836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1" name="CustomShape 9"/>
          <p:cNvSpPr/>
          <p:nvPr/>
        </p:nvSpPr>
        <p:spPr>
          <a:xfrm>
            <a:off x="494352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2" name="CustomShape 10"/>
          <p:cNvSpPr/>
          <p:nvPr/>
        </p:nvSpPr>
        <p:spPr>
          <a:xfrm>
            <a:off x="5159520" y="692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3" name="CustomShape 11"/>
          <p:cNvSpPr/>
          <p:nvPr/>
        </p:nvSpPr>
        <p:spPr>
          <a:xfrm>
            <a:off x="530388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4" name="CustomShape 12"/>
          <p:cNvSpPr/>
          <p:nvPr/>
        </p:nvSpPr>
        <p:spPr>
          <a:xfrm>
            <a:off x="5519880" y="692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5" name="CustomShape 13"/>
          <p:cNvSpPr/>
          <p:nvPr/>
        </p:nvSpPr>
        <p:spPr>
          <a:xfrm>
            <a:off x="566424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6" name="CustomShape 14"/>
          <p:cNvSpPr/>
          <p:nvPr/>
        </p:nvSpPr>
        <p:spPr>
          <a:xfrm>
            <a:off x="5807160" y="476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7" name="CustomShape 15"/>
          <p:cNvSpPr/>
          <p:nvPr/>
        </p:nvSpPr>
        <p:spPr>
          <a:xfrm>
            <a:off x="595152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8" name="CustomShape 16"/>
          <p:cNvSpPr/>
          <p:nvPr/>
        </p:nvSpPr>
        <p:spPr>
          <a:xfrm>
            <a:off x="6167520" y="763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69" name="CustomShape 17"/>
          <p:cNvSpPr/>
          <p:nvPr/>
        </p:nvSpPr>
        <p:spPr>
          <a:xfrm>
            <a:off x="631188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0" name="CustomShape 18"/>
          <p:cNvSpPr/>
          <p:nvPr/>
        </p:nvSpPr>
        <p:spPr>
          <a:xfrm>
            <a:off x="6527880" y="763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1" name="CustomShape 19"/>
          <p:cNvSpPr/>
          <p:nvPr/>
        </p:nvSpPr>
        <p:spPr>
          <a:xfrm>
            <a:off x="6599160" y="1123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2" name="CustomShape 20"/>
          <p:cNvSpPr/>
          <p:nvPr/>
        </p:nvSpPr>
        <p:spPr>
          <a:xfrm>
            <a:off x="6815160" y="8352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3" name="CustomShape 21"/>
          <p:cNvSpPr/>
          <p:nvPr/>
        </p:nvSpPr>
        <p:spPr>
          <a:xfrm>
            <a:off x="6959520" y="1197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4" name="CustomShape 22"/>
          <p:cNvSpPr/>
          <p:nvPr/>
        </p:nvSpPr>
        <p:spPr>
          <a:xfrm>
            <a:off x="7175520" y="907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5" name="CustomShape 23"/>
          <p:cNvSpPr/>
          <p:nvPr/>
        </p:nvSpPr>
        <p:spPr>
          <a:xfrm>
            <a:off x="724680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6" name="CustomShape 24"/>
          <p:cNvSpPr/>
          <p:nvPr/>
        </p:nvSpPr>
        <p:spPr>
          <a:xfrm>
            <a:off x="7246800" y="907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7" name="CustomShape 25"/>
          <p:cNvSpPr/>
          <p:nvPr/>
        </p:nvSpPr>
        <p:spPr>
          <a:xfrm>
            <a:off x="6743880" y="1413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8" name="CustomShape 26"/>
          <p:cNvSpPr/>
          <p:nvPr/>
        </p:nvSpPr>
        <p:spPr>
          <a:xfrm>
            <a:off x="559116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79" name="CustomShape 27"/>
          <p:cNvSpPr/>
          <p:nvPr/>
        </p:nvSpPr>
        <p:spPr>
          <a:xfrm>
            <a:off x="6456240" y="1413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0" name="CustomShape 28"/>
          <p:cNvSpPr/>
          <p:nvPr/>
        </p:nvSpPr>
        <p:spPr>
          <a:xfrm>
            <a:off x="6095880" y="1413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1" name="CustomShape 29"/>
          <p:cNvSpPr/>
          <p:nvPr/>
        </p:nvSpPr>
        <p:spPr>
          <a:xfrm>
            <a:off x="616752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2" name="CustomShape 30"/>
          <p:cNvSpPr/>
          <p:nvPr/>
        </p:nvSpPr>
        <p:spPr>
          <a:xfrm>
            <a:off x="6383160" y="1484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3" name="CustomShape 31"/>
          <p:cNvSpPr/>
          <p:nvPr/>
        </p:nvSpPr>
        <p:spPr>
          <a:xfrm>
            <a:off x="6529320" y="17017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4" name="CustomShape 32"/>
          <p:cNvSpPr/>
          <p:nvPr/>
        </p:nvSpPr>
        <p:spPr>
          <a:xfrm>
            <a:off x="501660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5" name="CustomShape 33"/>
          <p:cNvSpPr/>
          <p:nvPr/>
        </p:nvSpPr>
        <p:spPr>
          <a:xfrm>
            <a:off x="588024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6" name="CustomShape 34"/>
          <p:cNvSpPr/>
          <p:nvPr/>
        </p:nvSpPr>
        <p:spPr>
          <a:xfrm>
            <a:off x="530388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7" name="CustomShape 35"/>
          <p:cNvSpPr/>
          <p:nvPr/>
        </p:nvSpPr>
        <p:spPr>
          <a:xfrm>
            <a:off x="5951520" y="1628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8" name="CustomShape 36"/>
          <p:cNvSpPr/>
          <p:nvPr/>
        </p:nvSpPr>
        <p:spPr>
          <a:xfrm>
            <a:off x="5014800" y="1484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89" name="CustomShape 37"/>
          <p:cNvSpPr/>
          <p:nvPr/>
        </p:nvSpPr>
        <p:spPr>
          <a:xfrm>
            <a:off x="4943520" y="765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0" name="CustomShape 38"/>
          <p:cNvSpPr/>
          <p:nvPr/>
        </p:nvSpPr>
        <p:spPr>
          <a:xfrm>
            <a:off x="537516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1" name="CustomShape 39"/>
          <p:cNvSpPr/>
          <p:nvPr/>
        </p:nvSpPr>
        <p:spPr>
          <a:xfrm>
            <a:off x="5880240" y="1125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2" name="CustomShape 40"/>
          <p:cNvSpPr/>
          <p:nvPr/>
        </p:nvSpPr>
        <p:spPr>
          <a:xfrm>
            <a:off x="6240600" y="9097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3" name="CustomShape 41"/>
          <p:cNvSpPr/>
          <p:nvPr/>
        </p:nvSpPr>
        <p:spPr>
          <a:xfrm>
            <a:off x="4943520" y="1268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4" name="CustomShape 42"/>
          <p:cNvSpPr/>
          <p:nvPr/>
        </p:nvSpPr>
        <p:spPr>
          <a:xfrm>
            <a:off x="6527880" y="1341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5" name="CustomShape 43"/>
          <p:cNvSpPr/>
          <p:nvPr/>
        </p:nvSpPr>
        <p:spPr>
          <a:xfrm>
            <a:off x="5375160" y="476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6" name="CustomShape 44"/>
          <p:cNvSpPr/>
          <p:nvPr/>
        </p:nvSpPr>
        <p:spPr>
          <a:xfrm>
            <a:off x="5591160" y="1484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7" name="CustomShape 45"/>
          <p:cNvSpPr/>
          <p:nvPr/>
        </p:nvSpPr>
        <p:spPr>
          <a:xfrm>
            <a:off x="551988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8" name="CustomShape 46"/>
          <p:cNvSpPr/>
          <p:nvPr/>
        </p:nvSpPr>
        <p:spPr>
          <a:xfrm>
            <a:off x="5735520" y="12700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599" name="CustomShape 47"/>
          <p:cNvSpPr/>
          <p:nvPr/>
        </p:nvSpPr>
        <p:spPr>
          <a:xfrm>
            <a:off x="6095880" y="10540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0" name="CustomShape 48"/>
          <p:cNvSpPr/>
          <p:nvPr/>
        </p:nvSpPr>
        <p:spPr>
          <a:xfrm>
            <a:off x="6527880" y="15573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1" name="CustomShape 49"/>
          <p:cNvSpPr/>
          <p:nvPr/>
        </p:nvSpPr>
        <p:spPr>
          <a:xfrm>
            <a:off x="544680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2" name="CustomShape 50"/>
          <p:cNvSpPr/>
          <p:nvPr/>
        </p:nvSpPr>
        <p:spPr>
          <a:xfrm>
            <a:off x="580716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3" name="CustomShape 51"/>
          <p:cNvSpPr/>
          <p:nvPr/>
        </p:nvSpPr>
        <p:spPr>
          <a:xfrm>
            <a:off x="6456240" y="1123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4" name="CustomShape 52"/>
          <p:cNvSpPr/>
          <p:nvPr/>
        </p:nvSpPr>
        <p:spPr>
          <a:xfrm>
            <a:off x="566244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5" name="CustomShape 53"/>
          <p:cNvSpPr/>
          <p:nvPr/>
        </p:nvSpPr>
        <p:spPr>
          <a:xfrm>
            <a:off x="5375160" y="1339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6" name="CustomShape 54"/>
          <p:cNvSpPr/>
          <p:nvPr/>
        </p:nvSpPr>
        <p:spPr>
          <a:xfrm>
            <a:off x="6815160" y="1628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7" name="CustomShape 55"/>
          <p:cNvSpPr/>
          <p:nvPr/>
        </p:nvSpPr>
        <p:spPr>
          <a:xfrm>
            <a:off x="4583160" y="1123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8" name="CustomShape 56"/>
          <p:cNvSpPr/>
          <p:nvPr/>
        </p:nvSpPr>
        <p:spPr>
          <a:xfrm>
            <a:off x="4583160" y="1413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09" name="CustomShape 57"/>
          <p:cNvSpPr/>
          <p:nvPr/>
        </p:nvSpPr>
        <p:spPr>
          <a:xfrm>
            <a:off x="4799160" y="1555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0" name="CustomShape 58"/>
          <p:cNvSpPr/>
          <p:nvPr/>
        </p:nvSpPr>
        <p:spPr>
          <a:xfrm>
            <a:off x="5159520" y="112392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1" name="CustomShape 59"/>
          <p:cNvSpPr/>
          <p:nvPr/>
        </p:nvSpPr>
        <p:spPr>
          <a:xfrm>
            <a:off x="5159520" y="12668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2" name="CustomShape 60"/>
          <p:cNvSpPr/>
          <p:nvPr/>
        </p:nvSpPr>
        <p:spPr>
          <a:xfrm>
            <a:off x="573552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3" name="CustomShape 61"/>
          <p:cNvSpPr/>
          <p:nvPr/>
        </p:nvSpPr>
        <p:spPr>
          <a:xfrm>
            <a:off x="5230800" y="1771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4" name="CustomShape 62"/>
          <p:cNvSpPr/>
          <p:nvPr/>
        </p:nvSpPr>
        <p:spPr>
          <a:xfrm>
            <a:off x="5591160" y="1771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5" name="CustomShape 63"/>
          <p:cNvSpPr/>
          <p:nvPr/>
        </p:nvSpPr>
        <p:spPr>
          <a:xfrm>
            <a:off x="6456240" y="54756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6" name="CustomShape 64"/>
          <p:cNvSpPr/>
          <p:nvPr/>
        </p:nvSpPr>
        <p:spPr>
          <a:xfrm>
            <a:off x="6240600" y="14144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7" name="CustomShape 65"/>
          <p:cNvSpPr/>
          <p:nvPr/>
        </p:nvSpPr>
        <p:spPr>
          <a:xfrm>
            <a:off x="7031160" y="1052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8" name="CustomShape 66"/>
          <p:cNvSpPr/>
          <p:nvPr/>
        </p:nvSpPr>
        <p:spPr>
          <a:xfrm>
            <a:off x="5303880" y="836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19" name="CustomShape 67"/>
          <p:cNvSpPr/>
          <p:nvPr/>
        </p:nvSpPr>
        <p:spPr>
          <a:xfrm>
            <a:off x="6095880" y="15588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20" name="CustomShape 68"/>
          <p:cNvSpPr/>
          <p:nvPr/>
        </p:nvSpPr>
        <p:spPr>
          <a:xfrm>
            <a:off x="7391520" y="1197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21" name="CustomShape 69"/>
          <p:cNvSpPr/>
          <p:nvPr/>
        </p:nvSpPr>
        <p:spPr>
          <a:xfrm>
            <a:off x="6743880" y="98100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22" name="CustomShape 70"/>
          <p:cNvSpPr/>
          <p:nvPr/>
        </p:nvSpPr>
        <p:spPr>
          <a:xfrm>
            <a:off x="7104240" y="1484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23" name="CustomShape 71"/>
          <p:cNvSpPr/>
          <p:nvPr/>
        </p:nvSpPr>
        <p:spPr>
          <a:xfrm>
            <a:off x="6022800" y="47628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24" name="CustomShape 72"/>
          <p:cNvSpPr/>
          <p:nvPr/>
        </p:nvSpPr>
        <p:spPr>
          <a:xfrm>
            <a:off x="6743880" y="620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25" name="CustomShape 73"/>
          <p:cNvSpPr/>
          <p:nvPr/>
        </p:nvSpPr>
        <p:spPr>
          <a:xfrm>
            <a:off x="6024240" y="2205000"/>
            <a:ext cx="360" cy="1797840"/>
          </a:xfrm>
          <a:custGeom>
            <a:avLst/>
            <a:gdLst/>
            <a:ahLst/>
            <a:cxnLst/>
            <a:rect l="l" t="t" r="r" b="b"/>
            <a:pathLst>
              <a:path w="2" h="5001">
                <a:moveTo>
                  <a:pt x="0" y="0"/>
                </a:moveTo>
                <a:lnTo>
                  <a:pt x="1" y="5000"/>
                </a:lnTo>
              </a:path>
            </a:pathLst>
          </a:custGeom>
          <a:noFill/>
          <a:ln w="76320">
            <a:solidFill>
              <a:srgbClr val="000000"/>
            </a:solidFill>
            <a:round/>
            <a:tailEnd type="triangle" w="med" len="med"/>
          </a:ln>
        </p:spPr>
        <p:style>
          <a:lnRef idx="0">
            <a:scrgbClr r="0" g="0" b="0"/>
          </a:lnRef>
          <a:fillRef idx="0">
            <a:scrgbClr r="0" g="0" b="0"/>
          </a:fillRef>
          <a:effectRef idx="0">
            <a:scrgbClr r="0" g="0" b="0"/>
          </a:effectRef>
          <a:fontRef idx="minor"/>
        </p:style>
        <p:txBody>
          <a:bodyPr/>
          <a:lstStyle/>
          <a:p>
            <a:endParaRPr lang="en-NL"/>
          </a:p>
        </p:txBody>
      </p:sp>
      <p:sp>
        <p:nvSpPr>
          <p:cNvPr id="626" name="CustomShape 74"/>
          <p:cNvSpPr/>
          <p:nvPr/>
        </p:nvSpPr>
        <p:spPr>
          <a:xfrm>
            <a:off x="5951520" y="1844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27" name="CustomShape 75"/>
          <p:cNvSpPr/>
          <p:nvPr/>
        </p:nvSpPr>
        <p:spPr>
          <a:xfrm>
            <a:off x="6167520" y="620640"/>
            <a:ext cx="287640" cy="287640"/>
          </a:xfrm>
          <a:prstGeom prst="smileyFace">
            <a:avLst>
              <a:gd name="adj" fmla="val 4653"/>
            </a:avLst>
          </a:prstGeom>
          <a:solidFill>
            <a:srgbClr val="FF99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n-NL"/>
          </a:p>
        </p:txBody>
      </p:sp>
      <p:sp>
        <p:nvSpPr>
          <p:cNvPr id="628" name="CustomShape 76"/>
          <p:cNvSpPr/>
          <p:nvPr/>
        </p:nvSpPr>
        <p:spPr>
          <a:xfrm>
            <a:off x="2424240" y="404640"/>
            <a:ext cx="2518200" cy="577080"/>
          </a:xfrm>
          <a:prstGeom prst="rect">
            <a:avLst/>
          </a:prstGeom>
          <a:solidFill>
            <a:srgbClr val="ED7D31"/>
          </a:solidFill>
          <a:ln w="9360">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3200" b="0" strike="noStrike" spc="-1">
                <a:solidFill>
                  <a:srgbClr val="000000"/>
                </a:solidFill>
                <a:latin typeface="Arial"/>
                <a:ea typeface="Arial"/>
              </a:rPr>
              <a:t>Population</a:t>
            </a:r>
            <a:endParaRPr lang="en-US" sz="3200" b="0" strike="noStrike" spc="-1">
              <a:latin typeface="Arial"/>
            </a:endParaRPr>
          </a:p>
        </p:txBody>
      </p:sp>
      <p:sp>
        <p:nvSpPr>
          <p:cNvPr id="629" name="CustomShape 78"/>
          <p:cNvSpPr/>
          <p:nvPr/>
        </p:nvSpPr>
        <p:spPr>
          <a:xfrm>
            <a:off x="685800" y="5258880"/>
            <a:ext cx="2513880" cy="91260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i="1" strike="noStrike" spc="-1">
                <a:solidFill>
                  <a:srgbClr val="ED7D31"/>
                </a:solidFill>
                <a:latin typeface="Calibri"/>
                <a:ea typeface="DejaVu Sans"/>
              </a:rPr>
              <a:t>A statistic</a:t>
            </a:r>
            <a:r>
              <a:rPr lang="en-US" sz="1800" b="0" strike="noStrike" spc="-1">
                <a:solidFill>
                  <a:srgbClr val="000000"/>
                </a:solidFill>
                <a:latin typeface="Calibri"/>
                <a:ea typeface="DejaVu Sans"/>
              </a:rPr>
              <a:t>:</a:t>
            </a:r>
            <a:r>
              <a:rPr lang="en-US" sz="1800" b="1" strike="noStrike" spc="-1">
                <a:solidFill>
                  <a:srgbClr val="000000"/>
                </a:solidFill>
                <a:latin typeface="Calibri"/>
                <a:ea typeface="DejaVu Sans"/>
              </a:rPr>
              <a:t> </a:t>
            </a:r>
            <a:r>
              <a:rPr lang="en-US" sz="1800" b="0" strike="noStrike" spc="-1">
                <a:solidFill>
                  <a:srgbClr val="000000"/>
                </a:solidFill>
                <a:latin typeface="Calibri"/>
                <a:ea typeface="DejaVu Sans"/>
              </a:rPr>
              <a:t>A numerical summary of the data is called a statistic</a:t>
            </a:r>
            <a:endParaRPr lang="en-US" sz="1800" b="0" strike="noStrike" spc="-1">
              <a:latin typeface="Arial"/>
            </a:endParaRPr>
          </a:p>
        </p:txBody>
      </p:sp>
      <p:sp>
        <p:nvSpPr>
          <p:cNvPr id="630" name="CustomShape 79"/>
          <p:cNvSpPr/>
          <p:nvPr/>
        </p:nvSpPr>
        <p:spPr>
          <a:xfrm>
            <a:off x="8583840" y="595440"/>
            <a:ext cx="2845440" cy="130932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000" b="0" strike="noStrike" spc="-1">
                <a:solidFill>
                  <a:srgbClr val="000000"/>
                </a:solidFill>
                <a:latin typeface="Calibri"/>
                <a:ea typeface="DejaVu Sans"/>
              </a:rPr>
              <a:t>A </a:t>
            </a:r>
            <a:r>
              <a:rPr lang="en-US" sz="2000" b="0" i="1" strike="noStrike" spc="-1">
                <a:solidFill>
                  <a:srgbClr val="ED7D31"/>
                </a:solidFill>
                <a:latin typeface="Calibri"/>
                <a:ea typeface="DejaVu Sans"/>
              </a:rPr>
              <a:t>parameter</a:t>
            </a:r>
            <a:r>
              <a:rPr lang="en-US" sz="2000" b="0" strike="noStrike" spc="-1">
                <a:solidFill>
                  <a:srgbClr val="000000"/>
                </a:solidFill>
                <a:latin typeface="Calibri"/>
                <a:ea typeface="DejaVu Sans"/>
              </a:rPr>
              <a:t>:</a:t>
            </a:r>
            <a:r>
              <a:rPr lang="en-US" sz="2000" b="1" strike="noStrike" spc="-1">
                <a:solidFill>
                  <a:srgbClr val="000000"/>
                </a:solidFill>
                <a:latin typeface="Calibri"/>
                <a:ea typeface="DejaVu Sans"/>
              </a:rPr>
              <a:t> </a:t>
            </a:r>
            <a:r>
              <a:rPr lang="en-US" sz="2000" b="0" strike="noStrike" spc="-1">
                <a:solidFill>
                  <a:srgbClr val="000000"/>
                </a:solidFill>
                <a:latin typeface="Calibri"/>
                <a:ea typeface="DejaVu Sans"/>
              </a:rPr>
              <a:t>A numerical summary of the population is called a parameter</a:t>
            </a:r>
            <a:endParaRPr lang="en-US" sz="20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627"/>
                                        </p:tgtEl>
                                        <p:attrNameLst>
                                          <p:attrName>fillcolor</p:attrName>
                                        </p:attrNameLst>
                                      </p:cBhvr>
                                      <p:to>
                                        <a:srgbClr val="FF0000"/>
                                      </p:to>
                                    </p:animClr>
                                    <p:set>
                                      <p:cBhvr>
                                        <p:cTn id="7" dur="2000" fill="hold"/>
                                        <p:tgtEl>
                                          <p:spTgt spid="627"/>
                                        </p:tgtEl>
                                        <p:attrNameLst>
                                          <p:attrName>fill.type</p:attrName>
                                        </p:attrNameLst>
                                      </p:cBhvr>
                                      <p:to>
                                        <p:strVal val="solid"/>
                                      </p:to>
                                    </p:set>
                                    <p:set>
                                      <p:cBhvr>
                                        <p:cTn id="8" dur="2000" fill="hold"/>
                                        <p:tgtEl>
                                          <p:spTgt spid="627"/>
                                        </p:tgtEl>
                                        <p:attrNameLst>
                                          <p:attrName>fill.on</p:attrName>
                                        </p:attrNameLst>
                                      </p:cBhvr>
                                    </p:set>
                                  </p:childTnLst>
                                </p:cTn>
                              </p:par>
                              <p:par>
                                <p:cTn id="9" presetID="1" presetClass="emph" presetSubtype="2" fill="hold" nodeType="withEffect">
                                  <p:stCondLst>
                                    <p:cond delay="0"/>
                                  </p:stCondLst>
                                  <p:childTnLst>
                                    <p:animClr clrSpc="rgb" dir="cw">
                                      <p:cBhvr>
                                        <p:cTn id="10" dur="2000" fill="hold"/>
                                        <p:tgtEl>
                                          <p:spTgt spid="599"/>
                                        </p:tgtEl>
                                        <p:attrNameLst>
                                          <p:attrName>fillcolor</p:attrName>
                                        </p:attrNameLst>
                                      </p:cBhvr>
                                      <p:to>
                                        <a:srgbClr val="FF0000"/>
                                      </p:to>
                                    </p:animClr>
                                    <p:set>
                                      <p:cBhvr>
                                        <p:cTn id="11" dur="2000" fill="hold"/>
                                        <p:tgtEl>
                                          <p:spTgt spid="599"/>
                                        </p:tgtEl>
                                        <p:attrNameLst>
                                          <p:attrName>fill.type</p:attrName>
                                        </p:attrNameLst>
                                      </p:cBhvr>
                                      <p:to>
                                        <p:strVal val="solid"/>
                                      </p:to>
                                    </p:set>
                                    <p:set>
                                      <p:cBhvr>
                                        <p:cTn id="12" dur="2000" fill="hold"/>
                                        <p:tgtEl>
                                          <p:spTgt spid="599"/>
                                        </p:tgtEl>
                                        <p:attrNameLst>
                                          <p:attrName>fill.on</p:attrName>
                                        </p:attrNameLst>
                                      </p:cBhvr>
                                    </p:set>
                                  </p:childTnLst>
                                </p:cTn>
                              </p:par>
                              <p:par>
                                <p:cTn id="13" presetID="1" presetClass="emph" presetSubtype="2" fill="hold" nodeType="withEffect">
                                  <p:stCondLst>
                                    <p:cond delay="0"/>
                                  </p:stCondLst>
                                  <p:childTnLst>
                                    <p:animClr clrSpc="rgb" dir="cw">
                                      <p:cBhvr>
                                        <p:cTn id="14" dur="2000" fill="hold"/>
                                        <p:tgtEl>
                                          <p:spTgt spid="589"/>
                                        </p:tgtEl>
                                        <p:attrNameLst>
                                          <p:attrName>fillcolor</p:attrName>
                                        </p:attrNameLst>
                                      </p:cBhvr>
                                      <p:to>
                                        <a:srgbClr val="FF0000"/>
                                      </p:to>
                                    </p:animClr>
                                    <p:set>
                                      <p:cBhvr>
                                        <p:cTn id="15" dur="2000" fill="hold"/>
                                        <p:tgtEl>
                                          <p:spTgt spid="589"/>
                                        </p:tgtEl>
                                        <p:attrNameLst>
                                          <p:attrName>fill.type</p:attrName>
                                        </p:attrNameLst>
                                      </p:cBhvr>
                                      <p:to>
                                        <p:strVal val="solid"/>
                                      </p:to>
                                    </p:set>
                                    <p:set>
                                      <p:cBhvr>
                                        <p:cTn id="16" dur="2000" fill="hold"/>
                                        <p:tgtEl>
                                          <p:spTgt spid="589"/>
                                        </p:tgtEl>
                                        <p:attrNameLst>
                                          <p:attrName>fill.on</p:attrName>
                                        </p:attrNameLst>
                                      </p:cBhvr>
                                    </p:set>
                                  </p:childTnLst>
                                </p:cTn>
                              </p:par>
                              <p:par>
                                <p:cTn id="17" presetID="1" presetClass="emph" presetSubtype="2" fill="hold" nodeType="withEffect">
                                  <p:stCondLst>
                                    <p:cond delay="0"/>
                                  </p:stCondLst>
                                  <p:childTnLst>
                                    <p:animClr clrSpc="rgb" dir="cw">
                                      <p:cBhvr>
                                        <p:cTn id="18" dur="2000" fill="hold"/>
                                        <p:tgtEl>
                                          <p:spTgt spid="604"/>
                                        </p:tgtEl>
                                        <p:attrNameLst>
                                          <p:attrName>fillcolor</p:attrName>
                                        </p:attrNameLst>
                                      </p:cBhvr>
                                      <p:to>
                                        <a:srgbClr val="FF0000"/>
                                      </p:to>
                                    </p:animClr>
                                    <p:set>
                                      <p:cBhvr>
                                        <p:cTn id="19" dur="2000" fill="hold"/>
                                        <p:tgtEl>
                                          <p:spTgt spid="604"/>
                                        </p:tgtEl>
                                        <p:attrNameLst>
                                          <p:attrName>fill.type</p:attrName>
                                        </p:attrNameLst>
                                      </p:cBhvr>
                                      <p:to>
                                        <p:strVal val="solid"/>
                                      </p:to>
                                    </p:set>
                                    <p:set>
                                      <p:cBhvr>
                                        <p:cTn id="20" dur="2000" fill="hold"/>
                                        <p:tgtEl>
                                          <p:spTgt spid="604"/>
                                        </p:tgtEl>
                                        <p:attrNameLst>
                                          <p:attrName>fill.on</p:attrName>
                                        </p:attrNameLst>
                                      </p:cBhvr>
                                    </p:set>
                                  </p:childTnLst>
                                </p:cTn>
                              </p:par>
                              <p:par>
                                <p:cTn id="21" presetID="1" presetClass="emph" presetSubtype="2" fill="hold" nodeType="withEffect">
                                  <p:stCondLst>
                                    <p:cond delay="0"/>
                                  </p:stCondLst>
                                  <p:childTnLst>
                                    <p:animClr clrSpc="rgb" dir="cw">
                                      <p:cBhvr>
                                        <p:cTn id="22" dur="2000" fill="hold"/>
                                        <p:tgtEl>
                                          <p:spTgt spid="600"/>
                                        </p:tgtEl>
                                        <p:attrNameLst>
                                          <p:attrName>fillcolor</p:attrName>
                                        </p:attrNameLst>
                                      </p:cBhvr>
                                      <p:to>
                                        <a:srgbClr val="FF0000"/>
                                      </p:to>
                                    </p:animClr>
                                    <p:set>
                                      <p:cBhvr>
                                        <p:cTn id="23" dur="2000" fill="hold"/>
                                        <p:tgtEl>
                                          <p:spTgt spid="600"/>
                                        </p:tgtEl>
                                        <p:attrNameLst>
                                          <p:attrName>fill.type</p:attrName>
                                        </p:attrNameLst>
                                      </p:cBhvr>
                                      <p:to>
                                        <p:strVal val="solid"/>
                                      </p:to>
                                    </p:set>
                                    <p:set>
                                      <p:cBhvr>
                                        <p:cTn id="24" dur="2000" fill="hold"/>
                                        <p:tgtEl>
                                          <p:spTgt spid="600"/>
                                        </p:tgtEl>
                                        <p:attrNameLst>
                                          <p:attrName>fill.on</p:attrName>
                                        </p:attrNameLst>
                                      </p:cBhvr>
                                    </p:set>
                                  </p:childTnLst>
                                </p:cTn>
                              </p:par>
                            </p:childTnLst>
                          </p:cTn>
                        </p:par>
                      </p:childTnLst>
                    </p:cTn>
                  </p:par>
                  <p:par>
                    <p:cTn id="25" fill="hold">
                      <p:stCondLst>
                        <p:cond delay="indefinite"/>
                      </p:stCondLst>
                      <p:childTnLst>
                        <p:par>
                          <p:cTn id="26" fill="hold">
                            <p:stCondLst>
                              <p:cond delay="0"/>
                            </p:stCondLst>
                            <p:childTnLst>
                              <p:par>
                                <p:cTn id="27" presetID="1" presetClass="entr" fill="hold" nodeType="clickEffect">
                                  <p:stCondLst>
                                    <p:cond delay="0"/>
                                  </p:stCondLst>
                                  <p:childTnLst>
                                    <p:set>
                                      <p:cBhvr>
                                        <p:cTn id="28" dur="1" fill="hold">
                                          <p:stCondLst>
                                            <p:cond delay="0"/>
                                          </p:stCondLst>
                                        </p:cTn>
                                        <p:tgtEl>
                                          <p:spTgt spid="625"/>
                                        </p:tgtEl>
                                        <p:attrNameLst>
                                          <p:attrName>style.visibility</p:attrName>
                                        </p:attrNameLst>
                                      </p:cBhvr>
                                      <p:to>
                                        <p:strVal val="visible"/>
                                      </p:to>
                                    </p:set>
                                  </p:childTnLst>
                                </p:cTn>
                              </p:par>
                              <p:par>
                                <p:cTn id="29" presetClass="path" fill="hold" nodeType="withEffect">
                                  <p:stCondLst>
                                    <p:cond delay="0"/>
                                  </p:stCondLst>
                                  <p:childTnLst>
                                    <p:animMotion origin="layout" path="M -1.11111E-006 4.91329E-006 L -0.03941 0.78658 E">
                                      <p:cBhvr>
                                        <p:cTn id="30" dur="2000" fill="hold"/>
                                        <p:tgtEl>
                                          <p:spTgt spid="627"/>
                                        </p:tgtEl>
                                      </p:cBhvr>
                                    </p:animMotion>
                                  </p:childTnLst>
                                </p:cTn>
                              </p:par>
                              <p:par>
                                <p:cTn id="31" presetClass="path" fill="hold" nodeType="withEffect">
                                  <p:stCondLst>
                                    <p:cond delay="0"/>
                                  </p:stCondLst>
                                  <p:childTnLst>
                                    <p:animMotion origin="layout" path="M 1.38889E-006 3.52601E-006 L -0.02361 0.61849 E">
                                      <p:cBhvr>
                                        <p:cTn id="32" dur="2000" fill="hold"/>
                                        <p:tgtEl>
                                          <p:spTgt spid="599"/>
                                        </p:tgtEl>
                                      </p:cBhvr>
                                    </p:animMotion>
                                  </p:childTnLst>
                                </p:cTn>
                              </p:par>
                              <p:par>
                                <p:cTn id="33" presetClass="path" fill="hold" nodeType="withEffect">
                                  <p:stCondLst>
                                    <p:cond delay="0"/>
                                  </p:stCondLst>
                                  <p:childTnLst>
                                    <p:animMotion origin="layout" path="M 3.05556E-006 4.45087E-006 L 0.10243 0.5452 E">
                                      <p:cBhvr>
                                        <p:cTn id="34" dur="2000" fill="hold"/>
                                        <p:tgtEl>
                                          <p:spTgt spid="589"/>
                                        </p:tgtEl>
                                      </p:cBhvr>
                                    </p:animMotion>
                                  </p:childTnLst>
                                </p:cTn>
                              </p:par>
                              <p:par>
                                <p:cTn id="35" presetClass="path" fill="hold" nodeType="withEffect">
                                  <p:stCondLst>
                                    <p:cond delay="0"/>
                                  </p:stCondLst>
                                  <p:childTnLst>
                                    <p:animMotion origin="layout" path="M -2.77778E-006 -4.9711E-006 L 0.0158 0.5244 E">
                                      <p:cBhvr>
                                        <p:cTn id="36" dur="2000" fill="hold"/>
                                        <p:tgtEl>
                                          <p:spTgt spid="604"/>
                                        </p:tgtEl>
                                      </p:cBhvr>
                                    </p:animMotion>
                                  </p:childTnLst>
                                </p:cTn>
                              </p:par>
                              <p:par>
                                <p:cTn id="37" presetClass="path" fill="hold" nodeType="withEffect">
                                  <p:stCondLst>
                                    <p:cond delay="0"/>
                                  </p:stCondLst>
                                  <p:childTnLst>
                                    <p:animMotion origin="layout" path="M -8.33333E-007 -1.27168E-006 L -0.07882 0.59769 E">
                                      <p:cBhvr>
                                        <p:cTn id="38" dur="2000" fill="hold"/>
                                        <p:tgtEl>
                                          <p:spTgt spid="600"/>
                                        </p:tgtEl>
                                      </p:cBhvr>
                                    </p:animMotion>
                                  </p:childTnLst>
                                </p:cTn>
                              </p:par>
                              <p:par>
                                <p:cTn id="39" presetID="1" presetClass="entr" fill="hold" nodeType="withEffect">
                                  <p:stCondLst>
                                    <p:cond delay="0"/>
                                  </p:stCondLst>
                                  <p:childTnLst>
                                    <p:set>
                                      <p:cBhvr>
                                        <p:cTn id="40" dur="1" fill="hold">
                                          <p:stCondLst>
                                            <p:cond delay="0"/>
                                          </p:stCondLst>
                                        </p:cTn>
                                        <p:tgtEl>
                                          <p:spTgt spid="553"/>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5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Statistic vs parameter</a:t>
            </a:r>
            <a:endParaRPr lang="en-US" sz="4400" b="0" strike="noStrike" spc="-1">
              <a:latin typeface="Arial"/>
            </a:endParaRPr>
          </a:p>
        </p:txBody>
      </p:sp>
      <p:sp>
        <p:nvSpPr>
          <p:cNvPr id="632" name="CustomShape 2"/>
          <p:cNvSpPr/>
          <p:nvPr/>
        </p:nvSpPr>
        <p:spPr>
          <a:xfrm>
            <a:off x="838080" y="2558160"/>
            <a:ext cx="10512720" cy="3616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You can compute this! (mean, median, standard deviation, </a:t>
            </a:r>
            <a:r>
              <a:rPr lang="en-US" sz="2800" b="0" strike="noStrike" spc="-1" dirty="0" err="1">
                <a:solidFill>
                  <a:srgbClr val="000000"/>
                </a:solidFill>
                <a:latin typeface="Calibri"/>
                <a:ea typeface="DejaVu Sans"/>
              </a:rPr>
              <a:t>etc</a:t>
            </a:r>
            <a:r>
              <a:rPr lang="en-US" sz="2800" b="0" strike="noStrike" spc="-1" dirty="0">
                <a:solidFill>
                  <a:srgbClr val="000000"/>
                </a:solidFill>
                <a:latin typeface="Calibri"/>
                <a:ea typeface="DejaVu Sans"/>
              </a:rPr>
              <a:t>)</a:t>
            </a:r>
            <a:endParaRPr lang="en-US" sz="2800" b="0" strike="noStrike" spc="-1" dirty="0">
              <a:latin typeface="Arial"/>
            </a:endParaRPr>
          </a:p>
          <a:p>
            <a:pPr>
              <a:lnSpc>
                <a:spcPct val="90000"/>
              </a:lnSpc>
              <a:spcBef>
                <a:spcPts val="1001"/>
              </a:spcBef>
              <a:buNone/>
            </a:pPr>
            <a:endParaRPr lang="en-US" sz="2800" b="0" strike="noStrike" spc="-1" dirty="0">
              <a:latin typeface="Arial"/>
            </a:endParaRPr>
          </a:p>
          <a:p>
            <a:pPr>
              <a:lnSpc>
                <a:spcPct val="90000"/>
              </a:lnSpc>
              <a:spcBef>
                <a:spcPts val="1001"/>
              </a:spcBef>
              <a:buNone/>
            </a:pP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This cannot be computed (usually)</a:t>
            </a:r>
            <a:endParaRPr lang="en-US" sz="2800" b="0" strike="noStrike" spc="-1" dirty="0">
              <a:latin typeface="Arial"/>
            </a:endParaRPr>
          </a:p>
          <a:p>
            <a:pPr>
              <a:lnSpc>
                <a:spcPct val="90000"/>
              </a:lnSpc>
              <a:spcBef>
                <a:spcPts val="1001"/>
              </a:spcBef>
              <a:buNone/>
            </a:pPr>
            <a:endParaRPr lang="en-US" sz="2800" b="0" strike="noStrike" spc="-1" dirty="0">
              <a:latin typeface="Arial"/>
            </a:endParaRPr>
          </a:p>
          <a:p>
            <a:pPr marL="228600" indent="-226800">
              <a:lnSpc>
                <a:spcPct val="90000"/>
              </a:lnSpc>
              <a:spcBef>
                <a:spcPts val="1001"/>
              </a:spcBef>
              <a:buClr>
                <a:srgbClr val="000000"/>
              </a:buClr>
              <a:buFont typeface="Arial"/>
              <a:buChar char="•"/>
            </a:pPr>
            <a:r>
              <a:rPr lang="en-US" sz="2800" b="0" strike="noStrike" spc="-1" dirty="0">
                <a:solidFill>
                  <a:srgbClr val="000000"/>
                </a:solidFill>
                <a:latin typeface="Wingdings"/>
                <a:ea typeface="DejaVu Sans"/>
              </a:rPr>
              <a:t>→ </a:t>
            </a:r>
            <a:r>
              <a:rPr lang="en-US" sz="2800" b="0" strike="noStrike" spc="-1" dirty="0">
                <a:solidFill>
                  <a:srgbClr val="000000"/>
                </a:solidFill>
                <a:latin typeface="Calibri"/>
                <a:ea typeface="DejaVu Sans"/>
              </a:rPr>
              <a:t>We use statistics to </a:t>
            </a:r>
            <a:r>
              <a:rPr lang="en-US" sz="2800" b="1" strike="noStrike" spc="-1" dirty="0">
                <a:solidFill>
                  <a:srgbClr val="000000"/>
                </a:solidFill>
                <a:latin typeface="Calibri"/>
                <a:ea typeface="DejaVu Sans"/>
              </a:rPr>
              <a:t>estimate</a:t>
            </a:r>
            <a:r>
              <a:rPr lang="en-US" sz="2800" b="0" strike="noStrike" spc="-1" dirty="0">
                <a:solidFill>
                  <a:srgbClr val="000000"/>
                </a:solidFill>
                <a:latin typeface="Calibri"/>
                <a:ea typeface="DejaVu Sans"/>
              </a:rPr>
              <a:t> parameters</a:t>
            </a:r>
            <a:endParaRPr lang="en-US" sz="2800" b="0" strike="noStrike" spc="-1" dirty="0">
              <a:latin typeface="Arial"/>
            </a:endParaRPr>
          </a:p>
        </p:txBody>
      </p:sp>
      <p:sp>
        <p:nvSpPr>
          <p:cNvPr id="633" name="CustomShape 3"/>
          <p:cNvSpPr/>
          <p:nvPr/>
        </p:nvSpPr>
        <p:spPr>
          <a:xfrm>
            <a:off x="838080" y="1825560"/>
            <a:ext cx="10162800" cy="45540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a:solidFill>
                  <a:srgbClr val="ED7D31"/>
                </a:solidFill>
                <a:latin typeface="Calibri"/>
                <a:ea typeface="DejaVu Sans"/>
              </a:rPr>
              <a:t>A statistic</a:t>
            </a:r>
            <a:r>
              <a:rPr lang="en-US" sz="2400" b="0" strike="noStrike" spc="-1">
                <a:solidFill>
                  <a:srgbClr val="000000"/>
                </a:solidFill>
                <a:latin typeface="Calibri"/>
                <a:ea typeface="DejaVu Sans"/>
              </a:rPr>
              <a:t>:</a:t>
            </a:r>
            <a:r>
              <a:rPr lang="en-US" sz="2400" b="1" strike="noStrike" spc="-1">
                <a:solidFill>
                  <a:srgbClr val="000000"/>
                </a:solidFill>
                <a:latin typeface="Calibri"/>
                <a:ea typeface="DejaVu Sans"/>
              </a:rPr>
              <a:t> </a:t>
            </a:r>
            <a:r>
              <a:rPr lang="en-US" sz="2400" b="0" strike="noStrike" spc="-1">
                <a:solidFill>
                  <a:srgbClr val="000000"/>
                </a:solidFill>
                <a:latin typeface="Calibri"/>
                <a:ea typeface="DejaVu Sans"/>
              </a:rPr>
              <a:t>A numerical summary of the data is called a statistic</a:t>
            </a:r>
            <a:endParaRPr lang="en-US" sz="2400" b="0" strike="noStrike" spc="-1">
              <a:latin typeface="Arial"/>
            </a:endParaRPr>
          </a:p>
        </p:txBody>
      </p:sp>
      <p:sp>
        <p:nvSpPr>
          <p:cNvPr id="634" name="CustomShape 4"/>
          <p:cNvSpPr/>
          <p:nvPr/>
        </p:nvSpPr>
        <p:spPr>
          <a:xfrm>
            <a:off x="811440" y="3461400"/>
            <a:ext cx="10162800" cy="45540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0000"/>
                </a:solidFill>
                <a:latin typeface="Calibri"/>
                <a:ea typeface="DejaVu Sans"/>
              </a:rPr>
              <a:t>A </a:t>
            </a:r>
            <a:r>
              <a:rPr lang="en-US" sz="2400" b="0" i="1" strike="noStrike" spc="-1">
                <a:solidFill>
                  <a:srgbClr val="ED7D31"/>
                </a:solidFill>
                <a:latin typeface="Calibri"/>
                <a:ea typeface="DejaVu Sans"/>
              </a:rPr>
              <a:t>parameter</a:t>
            </a:r>
            <a:r>
              <a:rPr lang="en-US" sz="2400" b="0" strike="noStrike" spc="-1">
                <a:solidFill>
                  <a:srgbClr val="000000"/>
                </a:solidFill>
                <a:latin typeface="Calibri"/>
                <a:ea typeface="DejaVu Sans"/>
              </a:rPr>
              <a:t>:</a:t>
            </a:r>
            <a:r>
              <a:rPr lang="en-US" sz="2400" b="1" strike="noStrike" spc="-1">
                <a:solidFill>
                  <a:srgbClr val="000000"/>
                </a:solidFill>
                <a:latin typeface="Calibri"/>
                <a:ea typeface="DejaVu Sans"/>
              </a:rPr>
              <a:t> </a:t>
            </a:r>
            <a:r>
              <a:rPr lang="en-US" sz="2400" b="0" strike="noStrike" spc="-1">
                <a:solidFill>
                  <a:srgbClr val="000000"/>
                </a:solidFill>
                <a:latin typeface="Calibri"/>
                <a:ea typeface="DejaVu Sans"/>
              </a:rPr>
              <a:t>A numerical summary of the population is called a parameter</a:t>
            </a:r>
            <a:endParaRPr lang="en-US" sz="2400" b="0" strike="noStrike" spc="-1">
              <a:latin typeface="Arial"/>
            </a:endParaRPr>
          </a:p>
        </p:txBody>
      </p:sp>
      <p:sp>
        <p:nvSpPr>
          <p:cNvPr id="635" name="CustomShape 5"/>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33A388F3-110C-4197-A293-CE5A00856F15}" type="slidenum">
              <a:rPr lang="en-US" sz="1200" b="0" strike="noStrike" spc="-1">
                <a:solidFill>
                  <a:srgbClr val="8B8B8B"/>
                </a:solidFill>
                <a:latin typeface="Calibri"/>
                <a:ea typeface="DejaVu Sans"/>
              </a:rPr>
              <a:t>39</a:t>
            </a:fld>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3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CustomShape 1"/>
          <p:cNvSpPr/>
          <p:nvPr/>
        </p:nvSpPr>
        <p:spPr>
          <a:xfrm>
            <a:off x="838080" y="3884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Example: Mean IQ</a:t>
            </a:r>
            <a:endParaRPr lang="en-US" sz="4400" b="0" strike="noStrike" spc="-1">
              <a:latin typeface="Arial"/>
            </a:endParaRPr>
          </a:p>
        </p:txBody>
      </p:sp>
      <p:sp>
        <p:nvSpPr>
          <p:cNvPr id="637" name="CustomShape 2"/>
          <p:cNvSpPr/>
          <p:nvPr/>
        </p:nvSpPr>
        <p:spPr>
          <a:xfrm>
            <a:off x="838080" y="1848600"/>
            <a:ext cx="894420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60000" indent="-216000">
              <a:lnSpc>
                <a:spcPct val="90000"/>
              </a:lnSpc>
              <a:spcBef>
                <a:spcPts val="1001"/>
              </a:spcBef>
              <a:buClr>
                <a:srgbClr val="000000"/>
              </a:buClr>
              <a:buFont typeface="Arial"/>
              <a:buChar char="•"/>
            </a:pPr>
            <a:r>
              <a:rPr lang="en-US" sz="2800" b="0" strike="noStrike" spc="-1" dirty="0">
                <a:solidFill>
                  <a:srgbClr val="000000"/>
                </a:solidFill>
                <a:latin typeface="Calibri"/>
                <a:ea typeface="DejaVu Sans"/>
              </a:rPr>
              <a:t>We want to know the average IQ in particular populations</a:t>
            </a:r>
            <a:endParaRPr lang="en-US" sz="2800" b="0" strike="noStrike" spc="-1" dirty="0">
              <a:latin typeface="Arial"/>
            </a:endParaRPr>
          </a:p>
          <a:p>
            <a:pPr marL="2160000" indent="-2160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E.g.,</a:t>
            </a:r>
            <a:r>
              <a:rPr lang="en-US" sz="2400" b="0" strike="noStrike" spc="-1" dirty="0">
                <a:solidFill>
                  <a:srgbClr val="800080"/>
                </a:solidFill>
                <a:latin typeface="Calibri"/>
                <a:ea typeface="DejaVu Sans"/>
              </a:rPr>
              <a:t> soccer players</a:t>
            </a:r>
            <a:r>
              <a:rPr lang="en-US" sz="2400" b="0" strike="noStrike" spc="-1" dirty="0">
                <a:solidFill>
                  <a:srgbClr val="FF8000"/>
                </a:solidFill>
                <a:latin typeface="Calibri"/>
                <a:ea typeface="DejaVu Sans"/>
              </a:rPr>
              <a:t>  </a:t>
            </a:r>
            <a:r>
              <a:rPr lang="en-US" sz="2400" b="0" strike="noStrike" spc="-1" dirty="0">
                <a:solidFill>
                  <a:srgbClr val="000000"/>
                </a:solidFill>
                <a:latin typeface="Calibri"/>
                <a:ea typeface="DejaVu Sans"/>
              </a:rPr>
              <a:t>vs </a:t>
            </a:r>
            <a:r>
              <a:rPr lang="en-US" sz="2400" b="0" strike="noStrike" spc="-1" dirty="0">
                <a:solidFill>
                  <a:srgbClr val="FF8000"/>
                </a:solidFill>
                <a:latin typeface="Calibri"/>
                <a:ea typeface="DejaVu Sans"/>
              </a:rPr>
              <a:t>chess players</a:t>
            </a:r>
            <a:endParaRPr lang="en-US" sz="2400" b="0" strike="noStrike" spc="-1" dirty="0">
              <a:latin typeface="Arial"/>
            </a:endParaRPr>
          </a:p>
          <a:p>
            <a:pPr marL="360000">
              <a:lnSpc>
                <a:spcPct val="100000"/>
              </a:lnSpc>
              <a:buNone/>
            </a:pPr>
            <a:endParaRPr lang="en-US" sz="2400" b="0" strike="noStrike" spc="-1" dirty="0">
              <a:latin typeface="Arial"/>
            </a:endParaRPr>
          </a:p>
          <a:p>
            <a:pPr marL="360000">
              <a:lnSpc>
                <a:spcPct val="100000"/>
              </a:lnSpc>
              <a:buNone/>
            </a:pPr>
            <a:endParaRPr lang="en-US" sz="2400" b="0" strike="noStrike" spc="-1" dirty="0">
              <a:latin typeface="Arial"/>
            </a:endParaRPr>
          </a:p>
          <a:p>
            <a:pPr marL="360000">
              <a:lnSpc>
                <a:spcPct val="100000"/>
              </a:lnSpc>
              <a:buNone/>
            </a:pPr>
            <a:endParaRPr lang="en-US" sz="2400" b="0" strike="noStrike" spc="-1" dirty="0">
              <a:latin typeface="Arial"/>
            </a:endParaRPr>
          </a:p>
          <a:p>
            <a:pPr marL="360000">
              <a:lnSpc>
                <a:spcPct val="90000"/>
              </a:lnSpc>
              <a:spcBef>
                <a:spcPts val="1001"/>
              </a:spcBef>
              <a:buNone/>
            </a:pPr>
            <a:endParaRPr lang="en-US" sz="2400" b="0" strike="noStrike" spc="-1" dirty="0">
              <a:latin typeface="Arial"/>
            </a:endParaRPr>
          </a:p>
          <a:p>
            <a:pPr marL="360000">
              <a:lnSpc>
                <a:spcPct val="90000"/>
              </a:lnSpc>
              <a:spcBef>
                <a:spcPts val="1001"/>
              </a:spcBef>
              <a:buNone/>
            </a:pPr>
            <a:endParaRPr lang="en-US" sz="2400" b="0" strike="noStrike" spc="-1" dirty="0">
              <a:latin typeface="Arial"/>
            </a:endParaRPr>
          </a:p>
          <a:p>
            <a:pPr marL="360000">
              <a:lnSpc>
                <a:spcPct val="90000"/>
              </a:lnSpc>
              <a:spcBef>
                <a:spcPts val="1001"/>
              </a:spcBef>
              <a:buNone/>
            </a:pPr>
            <a:endParaRPr lang="en-US" sz="2400" b="0" strike="noStrike" spc="-1" dirty="0">
              <a:latin typeface="Arial"/>
            </a:endParaRPr>
          </a:p>
          <a:p>
            <a:pPr marL="360000">
              <a:lnSpc>
                <a:spcPct val="90000"/>
              </a:lnSpc>
              <a:spcBef>
                <a:spcPts val="1001"/>
              </a:spcBef>
              <a:buNone/>
            </a:pPr>
            <a:endParaRPr lang="en-US" sz="2400" b="0" strike="noStrike" spc="-1" dirty="0">
              <a:latin typeface="Arial"/>
            </a:endParaRPr>
          </a:p>
          <a:p>
            <a:pPr marL="360000" indent="-216000">
              <a:lnSpc>
                <a:spcPct val="90000"/>
              </a:lnSpc>
              <a:spcBef>
                <a:spcPts val="1001"/>
              </a:spcBef>
              <a:buClr>
                <a:srgbClr val="000000"/>
              </a:buClr>
              <a:buFont typeface="Arial"/>
              <a:buChar char="•"/>
            </a:pPr>
            <a:r>
              <a:rPr lang="en-US" sz="2800" b="0" i="1" strike="noStrike" spc="-1" dirty="0">
                <a:solidFill>
                  <a:srgbClr val="000000"/>
                </a:solidFill>
                <a:latin typeface="Calibri"/>
                <a:ea typeface="DejaVu Sans"/>
              </a:rPr>
              <a:t>Location</a:t>
            </a:r>
            <a:r>
              <a:rPr lang="en-US" sz="2800" b="0" strike="noStrike" spc="-1" dirty="0">
                <a:solidFill>
                  <a:srgbClr val="000000"/>
                </a:solidFill>
                <a:latin typeface="Calibri"/>
                <a:ea typeface="DejaVu Sans"/>
              </a:rPr>
              <a:t> of the distribution</a:t>
            </a:r>
            <a:endParaRPr lang="en-US" sz="2800" b="0" strike="noStrike" spc="-1" dirty="0">
              <a:latin typeface="Arial"/>
            </a:endParaRPr>
          </a:p>
        </p:txBody>
      </p:sp>
      <p:sp>
        <p:nvSpPr>
          <p:cNvPr id="638"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F6FF5CFC-FFCF-4F6F-9C0E-8486F6D9BAB7}" type="slidenum">
              <a:rPr lang="en-US" sz="1200" b="0" strike="noStrike" spc="-1">
                <a:solidFill>
                  <a:srgbClr val="8B8B8B"/>
                </a:solidFill>
                <a:latin typeface="Calibri"/>
                <a:ea typeface="DejaVu Sans"/>
              </a:rPr>
              <a:t>40</a:t>
            </a:fld>
            <a:endParaRPr lang="en-US" sz="1200" b="0" strike="noStrike" spc="-1">
              <a:latin typeface="Arial"/>
            </a:endParaRPr>
          </a:p>
        </p:txBody>
      </p:sp>
      <p:pic>
        <p:nvPicPr>
          <p:cNvPr id="1028" name="Picture 4" descr="Free soccer football player vector">
            <a:extLst>
              <a:ext uri="{FF2B5EF4-FFF2-40B4-BE49-F238E27FC236}">
                <a16:creationId xmlns:a16="http://schemas.microsoft.com/office/drawing/2014/main" id="{F8FE847E-E34F-C330-B924-26566F7F3D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8339" y="2862622"/>
            <a:ext cx="2740320" cy="27403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ree chess player chess smile vector">
            <a:extLst>
              <a:ext uri="{FF2B5EF4-FFF2-40B4-BE49-F238E27FC236}">
                <a16:creationId xmlns:a16="http://schemas.microsoft.com/office/drawing/2014/main" id="{6C1DD939-5CBB-EE63-4709-D86C7365AF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8659" y="2926084"/>
            <a:ext cx="1992911" cy="219347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89C4C68-7862-28CE-A18A-E49DC3F53EED}"/>
              </a:ext>
            </a:extLst>
          </p:cNvPr>
          <p:cNvSpPr txBox="1"/>
          <p:nvPr/>
        </p:nvSpPr>
        <p:spPr>
          <a:xfrm>
            <a:off x="4629463" y="6612671"/>
            <a:ext cx="2929954" cy="246221"/>
          </a:xfrm>
          <a:prstGeom prst="rect">
            <a:avLst/>
          </a:prstGeom>
          <a:noFill/>
        </p:spPr>
        <p:txBody>
          <a:bodyPr wrap="square" rtlCol="0">
            <a:spAutoFit/>
          </a:bodyPr>
          <a:lstStyle/>
          <a:p>
            <a:pPr algn="ctr"/>
            <a:r>
              <a:rPr lang="en-NL" sz="1000" dirty="0"/>
              <a:t>Source: pixabay.com</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3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63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457560" y="13788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Location of the distribution: mean</a:t>
            </a:r>
            <a:endParaRPr lang="en-US" sz="4400" b="0" strike="noStrike" spc="-1">
              <a:latin typeface="Arial"/>
            </a:endParaRPr>
          </a:p>
        </p:txBody>
      </p:sp>
      <p:sp>
        <p:nvSpPr>
          <p:cNvPr id="640" name="CustomShape 2"/>
          <p:cNvSpPr/>
          <p:nvPr/>
        </p:nvSpPr>
        <p:spPr>
          <a:xfrm>
            <a:off x="6583680" y="1828800"/>
            <a:ext cx="5321520" cy="4348440"/>
          </a:xfrm>
          <a:prstGeom prst="rect">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 </a:t>
            </a:r>
            <a:endParaRPr lang="en-US" sz="2800" b="0" strike="noStrike" spc="-1">
              <a:latin typeface="Arial"/>
            </a:endParaRPr>
          </a:p>
        </p:txBody>
      </p:sp>
      <p:graphicFrame>
        <p:nvGraphicFramePr>
          <p:cNvPr id="641" name="Table 3"/>
          <p:cNvGraphicFramePr/>
          <p:nvPr/>
        </p:nvGraphicFramePr>
        <p:xfrm>
          <a:off x="3940920" y="1603080"/>
          <a:ext cx="2437920" cy="2590560"/>
        </p:xfrm>
        <a:graphic>
          <a:graphicData uri="http://schemas.openxmlformats.org/drawingml/2006/table">
            <a:tbl>
              <a:tblPr/>
              <a:tblGrid>
                <a:gridCol w="1121040">
                  <a:extLst>
                    <a:ext uri="{9D8B030D-6E8A-4147-A177-3AD203B41FA5}">
                      <a16:colId xmlns:a16="http://schemas.microsoft.com/office/drawing/2014/main" val="20000"/>
                    </a:ext>
                  </a:extLst>
                </a:gridCol>
                <a:gridCol w="1316880">
                  <a:extLst>
                    <a:ext uri="{9D8B030D-6E8A-4147-A177-3AD203B41FA5}">
                      <a16:colId xmlns:a16="http://schemas.microsoft.com/office/drawing/2014/main" val="20001"/>
                    </a:ext>
                  </a:extLst>
                </a:gridCol>
              </a:tblGrid>
              <a:tr h="357120">
                <a:tc>
                  <a:txBody>
                    <a:bodyPr/>
                    <a:lstStyle/>
                    <a:p>
                      <a:pPr>
                        <a:lnSpc>
                          <a:spcPct val="100000"/>
                        </a:lnSpc>
                        <a:buNone/>
                      </a:pPr>
                      <a:r>
                        <a:rPr lang="en-US" sz="1800" b="1" strike="noStrike" spc="-1">
                          <a:solidFill>
                            <a:srgbClr val="FFFFFF"/>
                          </a:solidFill>
                          <a:latin typeface="Calibri"/>
                        </a:rPr>
                        <a:t>#</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C000"/>
                    </a:solidFill>
                  </a:tcPr>
                </a:tc>
                <a:tc>
                  <a:txBody>
                    <a:bodyPr/>
                    <a:lstStyle/>
                    <a:p>
                      <a:pPr>
                        <a:lnSpc>
                          <a:spcPct val="100000"/>
                        </a:lnSpc>
                        <a:buNone/>
                      </a:pPr>
                      <a:r>
                        <a:rPr lang="en-US" sz="1800" b="1" strike="noStrike" spc="-1">
                          <a:solidFill>
                            <a:srgbClr val="FFFFFF"/>
                          </a:solidFill>
                          <a:latin typeface="Calibri"/>
                        </a:rPr>
                        <a:t>IQ</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C000"/>
                    </a:solidFill>
                  </a:tcPr>
                </a:tc>
                <a:extLst>
                  <a:ext uri="{0D108BD9-81ED-4DB2-BD59-A6C34878D82A}">
                    <a16:rowId xmlns:a16="http://schemas.microsoft.com/office/drawing/2014/main" val="10000"/>
                  </a:ext>
                </a:extLst>
              </a:tr>
              <a:tr h="370800">
                <a:tc>
                  <a:txBody>
                    <a:bodyPr/>
                    <a:lstStyle/>
                    <a:p>
                      <a:pPr>
                        <a:lnSpc>
                          <a:spcPct val="100000"/>
                        </a:lnSpc>
                        <a:buNone/>
                      </a:pPr>
                      <a:r>
                        <a:rPr lang="en-US" sz="1800" b="0" strike="noStrike" spc="-1">
                          <a:solidFill>
                            <a:srgbClr val="000000"/>
                          </a:solidFill>
                          <a:latin typeface="Calibri"/>
                        </a:rPr>
                        <a:t>1</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tc>
                  <a:txBody>
                    <a:bodyPr/>
                    <a:lstStyle/>
                    <a:p>
                      <a:pPr>
                        <a:lnSpc>
                          <a:spcPct val="100000"/>
                        </a:lnSpc>
                        <a:buNone/>
                      </a:pPr>
                      <a:r>
                        <a:rPr lang="en-US" sz="1800" b="0" strike="noStrike" spc="-1">
                          <a:solidFill>
                            <a:srgbClr val="000000"/>
                          </a:solidFill>
                          <a:latin typeface="Calibri"/>
                        </a:rPr>
                        <a:t>86</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extLst>
                  <a:ext uri="{0D108BD9-81ED-4DB2-BD59-A6C34878D82A}">
                    <a16:rowId xmlns:a16="http://schemas.microsoft.com/office/drawing/2014/main" val="10001"/>
                  </a:ext>
                </a:extLst>
              </a:tr>
              <a:tr h="370800">
                <a:tc>
                  <a:txBody>
                    <a:bodyPr/>
                    <a:lstStyle/>
                    <a:p>
                      <a:pPr>
                        <a:lnSpc>
                          <a:spcPct val="100000"/>
                        </a:lnSpc>
                        <a:buNone/>
                      </a:pPr>
                      <a:r>
                        <a:rPr lang="en-US" sz="1800" b="0" strike="noStrike" spc="-1">
                          <a:solidFill>
                            <a:srgbClr val="000000"/>
                          </a:solidFill>
                          <a:latin typeface="Calibri"/>
                        </a:rPr>
                        <a:t>2</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tc>
                  <a:txBody>
                    <a:bodyPr/>
                    <a:lstStyle/>
                    <a:p>
                      <a:pPr>
                        <a:lnSpc>
                          <a:spcPct val="100000"/>
                        </a:lnSpc>
                        <a:buNone/>
                      </a:pPr>
                      <a:r>
                        <a:rPr lang="en-US" sz="1800" b="0" strike="noStrike" spc="-1">
                          <a:solidFill>
                            <a:srgbClr val="000000"/>
                          </a:solidFill>
                          <a:latin typeface="Calibri"/>
                        </a:rPr>
                        <a:t>108</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extLst>
                  <a:ext uri="{0D108BD9-81ED-4DB2-BD59-A6C34878D82A}">
                    <a16:rowId xmlns:a16="http://schemas.microsoft.com/office/drawing/2014/main" val="10002"/>
                  </a:ext>
                </a:extLst>
              </a:tr>
              <a:tr h="370800">
                <a:tc>
                  <a:txBody>
                    <a:bodyPr/>
                    <a:lstStyle/>
                    <a:p>
                      <a:pPr>
                        <a:lnSpc>
                          <a:spcPct val="100000"/>
                        </a:lnSpc>
                        <a:buNone/>
                      </a:pPr>
                      <a:r>
                        <a:rPr lang="en-US" sz="1800" b="0" strike="noStrike" spc="-1">
                          <a:solidFill>
                            <a:srgbClr val="000000"/>
                          </a:solidFill>
                          <a:latin typeface="Calibri"/>
                        </a:rPr>
                        <a:t>3</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tc>
                  <a:txBody>
                    <a:bodyPr/>
                    <a:lstStyle/>
                    <a:p>
                      <a:pPr>
                        <a:lnSpc>
                          <a:spcPct val="100000"/>
                        </a:lnSpc>
                        <a:buNone/>
                      </a:pPr>
                      <a:r>
                        <a:rPr lang="en-US" sz="1800" b="0" strike="noStrike" spc="-1">
                          <a:solidFill>
                            <a:srgbClr val="000000"/>
                          </a:solidFill>
                          <a:latin typeface="Calibri"/>
                        </a:rPr>
                        <a:t>64</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extLst>
                  <a:ext uri="{0D108BD9-81ED-4DB2-BD59-A6C34878D82A}">
                    <a16:rowId xmlns:a16="http://schemas.microsoft.com/office/drawing/2014/main" val="10003"/>
                  </a:ext>
                </a:extLst>
              </a:tr>
              <a:tr h="370800">
                <a:tc>
                  <a:txBody>
                    <a:bodyPr/>
                    <a:lstStyle/>
                    <a:p>
                      <a:pPr>
                        <a:lnSpc>
                          <a:spcPct val="100000"/>
                        </a:lnSpc>
                        <a:buNone/>
                      </a:pPr>
                      <a:r>
                        <a:rPr lang="en-US" sz="1800" b="0" strike="noStrike" spc="-1">
                          <a:solidFill>
                            <a:srgbClr val="000000"/>
                          </a:solidFill>
                          <a:latin typeface="Calibri"/>
                        </a:rPr>
                        <a:t>…</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tc>
                  <a:txBody>
                    <a:bodyPr/>
                    <a:lstStyle/>
                    <a:p>
                      <a:pPr>
                        <a:lnSpc>
                          <a:spcPct val="100000"/>
                        </a:lnSpc>
                        <a:buNone/>
                      </a:pPr>
                      <a:r>
                        <a:rPr lang="en-US" sz="1800" b="0" strike="noStrike" spc="-1">
                          <a:solidFill>
                            <a:srgbClr val="000000"/>
                          </a:solidFill>
                          <a:latin typeface="Calibri"/>
                        </a:rPr>
                        <a:t>…</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extLst>
                  <a:ext uri="{0D108BD9-81ED-4DB2-BD59-A6C34878D82A}">
                    <a16:rowId xmlns:a16="http://schemas.microsoft.com/office/drawing/2014/main" val="10004"/>
                  </a:ext>
                </a:extLst>
              </a:tr>
              <a:tr h="370800">
                <a:tc>
                  <a:txBody>
                    <a:bodyPr/>
                    <a:lstStyle/>
                    <a:p>
                      <a:pPr>
                        <a:lnSpc>
                          <a:spcPct val="100000"/>
                        </a:lnSpc>
                        <a:buNone/>
                      </a:pPr>
                      <a:r>
                        <a:rPr lang="en-US" sz="1800" b="0" strike="noStrike" spc="-1">
                          <a:solidFill>
                            <a:srgbClr val="000000"/>
                          </a:solidFill>
                          <a:latin typeface="Calibri"/>
                        </a:rPr>
                        <a:t>99</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tc>
                  <a:txBody>
                    <a:bodyPr/>
                    <a:lstStyle/>
                    <a:p>
                      <a:pPr>
                        <a:lnSpc>
                          <a:spcPct val="100000"/>
                        </a:lnSpc>
                        <a:buNone/>
                      </a:pPr>
                      <a:r>
                        <a:rPr lang="en-US" sz="1800" b="0" strike="noStrike" spc="-1">
                          <a:solidFill>
                            <a:srgbClr val="000000"/>
                          </a:solidFill>
                          <a:latin typeface="Calibri"/>
                        </a:rPr>
                        <a:t>91</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E7E7E7"/>
                    </a:solidFill>
                  </a:tcPr>
                </a:tc>
                <a:extLst>
                  <a:ext uri="{0D108BD9-81ED-4DB2-BD59-A6C34878D82A}">
                    <a16:rowId xmlns:a16="http://schemas.microsoft.com/office/drawing/2014/main" val="10005"/>
                  </a:ext>
                </a:extLst>
              </a:tr>
              <a:tr h="370800">
                <a:tc>
                  <a:txBody>
                    <a:bodyPr/>
                    <a:lstStyle/>
                    <a:p>
                      <a:pPr>
                        <a:lnSpc>
                          <a:spcPct val="100000"/>
                        </a:lnSpc>
                        <a:buNone/>
                      </a:pPr>
                      <a:r>
                        <a:rPr lang="en-US" sz="1800" b="1" strike="noStrike" spc="-1">
                          <a:solidFill>
                            <a:srgbClr val="000000"/>
                          </a:solidFill>
                          <a:latin typeface="Calibri"/>
                        </a:rPr>
                        <a:t>100</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tc>
                  <a:txBody>
                    <a:bodyPr/>
                    <a:lstStyle/>
                    <a:p>
                      <a:pPr>
                        <a:lnSpc>
                          <a:spcPct val="100000"/>
                        </a:lnSpc>
                        <a:buNone/>
                      </a:pPr>
                      <a:r>
                        <a:rPr lang="en-US" sz="1800" b="1" strike="noStrike" spc="-1">
                          <a:solidFill>
                            <a:srgbClr val="000000"/>
                          </a:solidFill>
                          <a:latin typeface="Calibri"/>
                        </a:rPr>
                        <a:t>109</a:t>
                      </a:r>
                      <a:endParaRPr lang="en-US" sz="1800" b="0" strike="noStrike" spc="-1">
                        <a:latin typeface="Arial"/>
                      </a:endParaRPr>
                    </a:p>
                  </a:txBody>
                  <a:tcPr>
                    <a:lnL>
                      <a:noFill/>
                    </a:lnL>
                    <a:lnR>
                      <a:noFill/>
                    </a:lnR>
                    <a:lnT w="25200">
                      <a:solidFill>
                        <a:srgbClr val="000000"/>
                      </a:solidFill>
                    </a:lnT>
                    <a:lnB w="25200">
                      <a:solidFill>
                        <a:srgbClr val="000000"/>
                      </a:solidFill>
                    </a:lnB>
                    <a:solidFill>
                      <a:srgbClr val="FFFFFF"/>
                    </a:solidFill>
                  </a:tcPr>
                </a:tc>
                <a:extLst>
                  <a:ext uri="{0D108BD9-81ED-4DB2-BD59-A6C34878D82A}">
                    <a16:rowId xmlns:a16="http://schemas.microsoft.com/office/drawing/2014/main" val="10006"/>
                  </a:ext>
                </a:extLst>
              </a:tr>
            </a:tbl>
          </a:graphicData>
        </a:graphic>
      </p:graphicFrame>
      <p:sp>
        <p:nvSpPr>
          <p:cNvPr id="642" name="CustomShape 4"/>
          <p:cNvSpPr/>
          <p:nvPr/>
        </p:nvSpPr>
        <p:spPr>
          <a:xfrm>
            <a:off x="8599320" y="2744280"/>
            <a:ext cx="2553840" cy="45540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a:solidFill>
                  <a:srgbClr val="ED7D31"/>
                </a:solidFill>
                <a:latin typeface="Calibri"/>
                <a:ea typeface="DejaVu Sans"/>
              </a:rPr>
              <a:t>Statistic</a:t>
            </a:r>
            <a:endParaRPr lang="en-US" sz="2400" b="0" strike="noStrike" spc="-1">
              <a:latin typeface="Arial"/>
            </a:endParaRPr>
          </a:p>
        </p:txBody>
      </p:sp>
      <p:sp>
        <p:nvSpPr>
          <p:cNvPr id="643" name="CustomShape 5"/>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5A9E260E-A480-47A2-A556-1ABF5504586C}" type="slidenum">
              <a:rPr lang="en-US" sz="1200" b="0" strike="noStrike" spc="-1">
                <a:solidFill>
                  <a:srgbClr val="8B8B8B"/>
                </a:solidFill>
                <a:latin typeface="Calibri"/>
                <a:ea typeface="DejaVu Sans"/>
              </a:rPr>
              <a:t>41</a:t>
            </a:fld>
            <a:endParaRPr lang="en-US" sz="1200" b="0" strike="noStrike" spc="-1">
              <a:latin typeface="Arial"/>
            </a:endParaRPr>
          </a:p>
        </p:txBody>
      </p:sp>
      <p:grpSp>
        <p:nvGrpSpPr>
          <p:cNvPr id="3" name="Group 2">
            <a:extLst>
              <a:ext uri="{FF2B5EF4-FFF2-40B4-BE49-F238E27FC236}">
                <a16:creationId xmlns:a16="http://schemas.microsoft.com/office/drawing/2014/main" id="{E54A0333-B0E7-8438-E781-653A4AC1D314}"/>
              </a:ext>
            </a:extLst>
          </p:cNvPr>
          <p:cNvGrpSpPr/>
          <p:nvPr/>
        </p:nvGrpSpPr>
        <p:grpSpPr>
          <a:xfrm>
            <a:off x="182880" y="4023360"/>
            <a:ext cx="3471840" cy="2740320"/>
            <a:chOff x="182880" y="4023360"/>
            <a:chExt cx="3471840" cy="2740320"/>
          </a:xfrm>
        </p:grpSpPr>
        <p:pic>
          <p:nvPicPr>
            <p:cNvPr id="644" name="Picture 643"/>
            <p:cNvPicPr/>
            <p:nvPr/>
          </p:nvPicPr>
          <p:blipFill>
            <a:blip r:embed="rId4"/>
            <a:srcRect l="-3193" t="14955" r="12009" b="2753"/>
            <a:stretch/>
          </p:blipFill>
          <p:spPr>
            <a:xfrm>
              <a:off x="182880" y="4023360"/>
              <a:ext cx="3471840" cy="2740320"/>
            </a:xfrm>
            <a:prstGeom prst="rect">
              <a:avLst/>
            </a:prstGeom>
            <a:ln w="0">
              <a:noFill/>
            </a:ln>
          </p:spPr>
        </p:pic>
        <p:pic>
          <p:nvPicPr>
            <p:cNvPr id="2" name="Picture 1">
              <a:extLst>
                <a:ext uri="{FF2B5EF4-FFF2-40B4-BE49-F238E27FC236}">
                  <a16:creationId xmlns:a16="http://schemas.microsoft.com/office/drawing/2014/main" id="{E70A7291-621C-AA69-E901-CD5C092547A9}"/>
                </a:ext>
              </a:extLst>
            </p:cNvPr>
            <p:cNvPicPr>
              <a:picLocks noChangeAspect="1"/>
            </p:cNvPicPr>
            <p:nvPr/>
          </p:nvPicPr>
          <p:blipFill rotWithShape="1">
            <a:blip r:embed="rId5"/>
            <a:srcRect t="40485" r="98189" b="42995"/>
            <a:stretch/>
          </p:blipFill>
          <p:spPr>
            <a:xfrm>
              <a:off x="307820" y="4593020"/>
              <a:ext cx="301037" cy="1100221"/>
            </a:xfrm>
            <a:prstGeom prst="rect">
              <a:avLst/>
            </a:prstGeom>
          </p:spPr>
        </p:pic>
      </p:gr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6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646" name="CustomShape 4"/>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92C4A76C-9A29-45B8-9239-D735E9E35D85}" type="slidenum">
              <a:rPr lang="en-US" sz="1200" b="0" strike="noStrike" spc="-1">
                <a:solidFill>
                  <a:srgbClr val="8B8B8B"/>
                </a:solidFill>
                <a:latin typeface="Calibri"/>
                <a:ea typeface="DejaVu Sans"/>
              </a:rPr>
              <a:t>42</a:t>
            </a:fld>
            <a:endParaRPr lang="en-US" sz="1200" b="0" strike="noStrike" spc="-1">
              <a:latin typeface="Arial"/>
            </a:endParaRPr>
          </a:p>
        </p:txBody>
      </p:sp>
      <p:pic>
        <p:nvPicPr>
          <p:cNvPr id="647" name="Picture 646"/>
          <p:cNvPicPr/>
          <p:nvPr/>
        </p:nvPicPr>
        <p:blipFill>
          <a:blip r:embed="rId3"/>
          <a:stretch/>
        </p:blipFill>
        <p:spPr>
          <a:xfrm>
            <a:off x="2972160" y="1074600"/>
            <a:ext cx="5712840" cy="2855520"/>
          </a:xfrm>
          <a:prstGeom prst="rect">
            <a:avLst/>
          </a:prstGeom>
          <a:ln w="0">
            <a:noFill/>
          </a:ln>
        </p:spPr>
      </p:pic>
      <p:pic>
        <p:nvPicPr>
          <p:cNvPr id="648" name="Picture 647"/>
          <p:cNvPicPr/>
          <p:nvPr/>
        </p:nvPicPr>
        <p:blipFill>
          <a:blip r:embed="rId4"/>
          <a:stretch/>
        </p:blipFill>
        <p:spPr>
          <a:xfrm>
            <a:off x="3017520" y="3909240"/>
            <a:ext cx="5712840" cy="2855520"/>
          </a:xfrm>
          <a:prstGeom prst="rect">
            <a:avLst/>
          </a:prstGeom>
          <a:ln w="0">
            <a:noFill/>
          </a:ln>
        </p:spPr>
      </p:pic>
      <p:sp>
        <p:nvSpPr>
          <p:cNvPr id="649" name="CustomShape 5"/>
          <p:cNvSpPr/>
          <p:nvPr/>
        </p:nvSpPr>
        <p:spPr>
          <a:xfrm>
            <a:off x="2926080" y="91440"/>
            <a:ext cx="6378480" cy="73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4200" b="0" strike="noStrike" spc="-1">
                <a:solidFill>
                  <a:srgbClr val="000000"/>
                </a:solidFill>
                <a:latin typeface="Calibri Light"/>
                <a:ea typeface="DejaVu Sans"/>
              </a:rPr>
              <a:t>Statistic vs parameter</a:t>
            </a:r>
            <a:endParaRPr lang="en-US" sz="4200" b="0" strike="noStrike" spc="-1">
              <a:latin typeface="Arial"/>
            </a:endParaRPr>
          </a:p>
        </p:txBody>
      </p:sp>
      <p:pic>
        <p:nvPicPr>
          <p:cNvPr id="650" name="Picture 649"/>
          <p:cNvPicPr/>
          <p:nvPr/>
        </p:nvPicPr>
        <p:blipFill>
          <a:blip r:embed="rId5"/>
          <a:srcRect l="20805" t="33398" r="15608" b="29478"/>
          <a:stretch/>
        </p:blipFill>
        <p:spPr>
          <a:xfrm>
            <a:off x="3566160" y="1554480"/>
            <a:ext cx="1644120" cy="1644120"/>
          </a:xfrm>
          <a:prstGeom prst="rect">
            <a:avLst/>
          </a:prstGeom>
          <a:ln w="0">
            <a:noFill/>
          </a:ln>
        </p:spPr>
      </p:pic>
      <p:sp>
        <p:nvSpPr>
          <p:cNvPr id="651" name="CustomShape 6"/>
          <p:cNvSpPr/>
          <p:nvPr/>
        </p:nvSpPr>
        <p:spPr>
          <a:xfrm>
            <a:off x="5212080" y="2926080"/>
            <a:ext cx="181080" cy="27252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a:lstStyle/>
          <a:p>
            <a:endParaRPr lang="en-NL"/>
          </a:p>
        </p:txBody>
      </p:sp>
      <p:sp>
        <p:nvSpPr>
          <p:cNvPr id="652" name="CustomShape 80"/>
          <p:cNvSpPr/>
          <p:nvPr/>
        </p:nvSpPr>
        <p:spPr>
          <a:xfrm>
            <a:off x="9144000" y="358585"/>
            <a:ext cx="2742480" cy="1599480"/>
          </a:xfrm>
          <a:prstGeom prst="rect">
            <a:avLst/>
          </a:prstGeom>
          <a:solidFill>
            <a:srgbClr val="AFD095"/>
          </a:solidFill>
          <a:ln w="57240">
            <a:solidFill>
              <a:srgbClr val="77BC65"/>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a:solidFill>
                  <a:srgbClr val="000000"/>
                </a:solidFill>
                <a:latin typeface="Calibri"/>
                <a:ea typeface="DejaVu Sans"/>
              </a:rPr>
              <a:t>We use the sample to obtain an  approximation/estimate of population distribution and parameters</a:t>
            </a:r>
            <a:endParaRPr lang="en-US" sz="1800" b="0" strike="noStrike" spc="-1">
              <a:latin typeface="Arial"/>
            </a:endParaRPr>
          </a:p>
          <a:p>
            <a:pPr algn="ctr">
              <a:lnSpc>
                <a:spcPct val="100000"/>
              </a:lnSpc>
              <a:buNone/>
            </a:pPr>
            <a:endParaRPr lang="en-US" sz="1600" b="0" strike="noStrike" spc="-1">
              <a:latin typeface="Arial"/>
            </a:endParaRPr>
          </a:p>
        </p:txBody>
      </p:sp>
      <p:sp>
        <p:nvSpPr>
          <p:cNvPr id="653" name="CustomShape 81"/>
          <p:cNvSpPr/>
          <p:nvPr/>
        </p:nvSpPr>
        <p:spPr>
          <a:xfrm>
            <a:off x="9144000" y="2328137"/>
            <a:ext cx="2742480" cy="983880"/>
          </a:xfrm>
          <a:prstGeom prst="rect">
            <a:avLst/>
          </a:prstGeom>
          <a:solidFill>
            <a:srgbClr val="FFE994"/>
          </a:solidFill>
          <a:ln w="57240">
            <a:solidFill>
              <a:srgbClr val="77BC65"/>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a:solidFill>
                  <a:srgbClr val="000000"/>
                </a:solidFill>
                <a:latin typeface="Calibri"/>
                <a:ea typeface="DejaVu Sans"/>
              </a:rPr>
              <a:t>In this case, our best estimate of the population mean, is the sample mean </a:t>
            </a:r>
            <a:endParaRPr lang="en-US" sz="1800" b="0" strike="noStrike" spc="-1">
              <a:latin typeface="Arial"/>
            </a:endParaRPr>
          </a:p>
          <a:p>
            <a:pPr algn="ctr">
              <a:lnSpc>
                <a:spcPct val="100000"/>
              </a:lnSpc>
              <a:buNone/>
            </a:pPr>
            <a:endParaRPr lang="en-US" sz="1600" b="0" strike="noStrike" spc="-1">
              <a:latin typeface="Arial"/>
            </a:endParaRPr>
          </a:p>
        </p:txBody>
      </p:sp>
      <p:sp>
        <p:nvSpPr>
          <p:cNvPr id="654" name="CustomShape 82"/>
          <p:cNvSpPr/>
          <p:nvPr/>
        </p:nvSpPr>
        <p:spPr>
          <a:xfrm>
            <a:off x="9144000" y="3659109"/>
            <a:ext cx="2742480" cy="983880"/>
          </a:xfrm>
          <a:prstGeom prst="rect">
            <a:avLst/>
          </a:prstGeom>
          <a:solidFill>
            <a:srgbClr val="F7D1D5"/>
          </a:solidFill>
          <a:ln w="57240">
            <a:solidFill>
              <a:srgbClr val="77BC65"/>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a:solidFill>
                  <a:srgbClr val="000000"/>
                </a:solidFill>
                <a:latin typeface="Calibri"/>
                <a:ea typeface="DejaVu Sans"/>
              </a:rPr>
              <a:t>A difference in means reflects a difference in distributions</a:t>
            </a:r>
            <a:endParaRPr lang="en-US" sz="1800" b="0" strike="noStrike" spc="-1">
              <a:latin typeface="Arial"/>
            </a:endParaRPr>
          </a:p>
          <a:p>
            <a:pPr algn="ctr">
              <a:lnSpc>
                <a:spcPct val="100000"/>
              </a:lnSpc>
              <a:buNone/>
            </a:pP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53"/>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6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656"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D01844ED-C86D-403E-8DE0-297BB88F2C9F}" type="slidenum">
              <a:rPr lang="en-US" sz="1200" b="0" strike="noStrike" spc="-1">
                <a:solidFill>
                  <a:srgbClr val="8B8B8B"/>
                </a:solidFill>
                <a:latin typeface="Calibri"/>
                <a:ea typeface="DejaVu Sans"/>
              </a:rPr>
              <a:t>43</a:t>
            </a:fld>
            <a:endParaRPr lang="en-US" sz="1200" b="0" strike="noStrike" spc="-1">
              <a:latin typeface="Arial"/>
            </a:endParaRPr>
          </a:p>
        </p:txBody>
      </p:sp>
      <p:sp>
        <p:nvSpPr>
          <p:cNvPr id="657" name="CustomShape 4"/>
          <p:cNvSpPr/>
          <p:nvPr/>
        </p:nvSpPr>
        <p:spPr>
          <a:xfrm>
            <a:off x="2926080" y="91440"/>
            <a:ext cx="6378480" cy="73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4200" b="0" strike="noStrike" spc="-1">
                <a:solidFill>
                  <a:srgbClr val="000000"/>
                </a:solidFill>
                <a:latin typeface="Calibri Light"/>
                <a:ea typeface="DejaVu Sans"/>
              </a:rPr>
              <a:t>Statistic vs parameter</a:t>
            </a:r>
            <a:endParaRPr lang="en-US" sz="4200" b="0" strike="noStrike" spc="-1">
              <a:latin typeface="Arial"/>
            </a:endParaRPr>
          </a:p>
        </p:txBody>
      </p:sp>
      <p:pic>
        <p:nvPicPr>
          <p:cNvPr id="658" name="Picture 657"/>
          <p:cNvPicPr/>
          <p:nvPr/>
        </p:nvPicPr>
        <p:blipFill>
          <a:blip r:embed="rId3"/>
          <a:stretch/>
        </p:blipFill>
        <p:spPr>
          <a:xfrm>
            <a:off x="2011680" y="1097280"/>
            <a:ext cx="6498360" cy="5027400"/>
          </a:xfrm>
          <a:prstGeom prst="rect">
            <a:avLst/>
          </a:prstGeom>
          <a:ln w="0">
            <a:noFill/>
          </a:ln>
        </p:spPr>
      </p:pic>
      <p:sp>
        <p:nvSpPr>
          <p:cNvPr id="659" name="CustomShape 5"/>
          <p:cNvSpPr/>
          <p:nvPr/>
        </p:nvSpPr>
        <p:spPr>
          <a:xfrm>
            <a:off x="187560" y="1190520"/>
            <a:ext cx="3651120" cy="82116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a:solidFill>
                  <a:srgbClr val="ED7D31"/>
                </a:solidFill>
                <a:latin typeface="Calibri"/>
                <a:ea typeface="DejaVu Sans"/>
              </a:rPr>
              <a:t>Estimates of the parameters:</a:t>
            </a:r>
            <a:endParaRPr lang="en-US" sz="2400" b="0" strike="noStrike" spc="-1">
              <a:latin typeface="Arial"/>
            </a:endParaRPr>
          </a:p>
        </p:txBody>
      </p:sp>
      <p:sp>
        <p:nvSpPr>
          <p:cNvPr id="661" name="CustomShape 84"/>
          <p:cNvSpPr/>
          <p:nvPr/>
        </p:nvSpPr>
        <p:spPr>
          <a:xfrm>
            <a:off x="9144000" y="5016600"/>
            <a:ext cx="2742480" cy="1702080"/>
          </a:xfrm>
          <a:prstGeom prst="rect">
            <a:avLst/>
          </a:prstGeom>
          <a:solidFill>
            <a:srgbClr val="AFD095"/>
          </a:solidFill>
          <a:ln w="57240">
            <a:solidFill>
              <a:srgbClr val="77BC65"/>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a:solidFill>
                  <a:srgbClr val="000000"/>
                </a:solidFill>
                <a:latin typeface="Calibri"/>
                <a:ea typeface="DejaVu Sans"/>
              </a:rPr>
              <a:t>Allows us to conclude that there is a difference between the two populations?</a:t>
            </a:r>
            <a:endParaRPr lang="en-US" sz="1800" b="0" strike="noStrike" spc="-1">
              <a:latin typeface="Arial"/>
            </a:endParaRPr>
          </a:p>
          <a:p>
            <a:pPr algn="ctr">
              <a:lnSpc>
                <a:spcPct val="100000"/>
              </a:lnSpc>
              <a:buNone/>
            </a:pPr>
            <a:r>
              <a:rPr lang="en-US" sz="1600" b="0" strike="noStrike" spc="-1">
                <a:solidFill>
                  <a:srgbClr val="000000"/>
                </a:solidFill>
                <a:latin typeface="Calibri"/>
                <a:ea typeface="DejaVu Sans"/>
              </a:rPr>
              <a:t>→ inferential statistics</a:t>
            </a:r>
            <a:br>
              <a:rPr sz="1600"/>
            </a:br>
            <a:r>
              <a:rPr lang="en-US" sz="1600" b="0" strike="noStrike" spc="-1">
                <a:solidFill>
                  <a:srgbClr val="000000"/>
                </a:solidFill>
                <a:latin typeface="Calibri"/>
                <a:ea typeface="DejaVu Sans"/>
              </a:rPr>
              <a:t>(later in this course)</a:t>
            </a:r>
            <a:endParaRPr lang="en-US" sz="1600" b="0" strike="noStrike" spc="-1">
              <a:latin typeface="Arial"/>
            </a:endParaRPr>
          </a:p>
        </p:txBody>
      </p:sp>
      <p:sp>
        <p:nvSpPr>
          <p:cNvPr id="3" name="CustomShape 81">
            <a:extLst>
              <a:ext uri="{FF2B5EF4-FFF2-40B4-BE49-F238E27FC236}">
                <a16:creationId xmlns:a16="http://schemas.microsoft.com/office/drawing/2014/main" id="{6981C51C-5EF5-1C9A-412A-70036B95CF71}"/>
              </a:ext>
            </a:extLst>
          </p:cNvPr>
          <p:cNvSpPr/>
          <p:nvPr/>
        </p:nvSpPr>
        <p:spPr>
          <a:xfrm>
            <a:off x="9144000" y="2328137"/>
            <a:ext cx="2742480" cy="983880"/>
          </a:xfrm>
          <a:prstGeom prst="rect">
            <a:avLst/>
          </a:prstGeom>
          <a:solidFill>
            <a:srgbClr val="FFE994"/>
          </a:solidFill>
          <a:ln w="57240">
            <a:solidFill>
              <a:srgbClr val="77BC65"/>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a:solidFill>
                  <a:srgbClr val="000000"/>
                </a:solidFill>
                <a:latin typeface="Calibri"/>
                <a:ea typeface="DejaVu Sans"/>
              </a:rPr>
              <a:t>In this case, our best estimate of the population mean, is the sample mean </a:t>
            </a:r>
            <a:endParaRPr lang="en-US" sz="1800" b="0" strike="noStrike" spc="-1">
              <a:latin typeface="Arial"/>
            </a:endParaRPr>
          </a:p>
          <a:p>
            <a:pPr algn="ctr">
              <a:lnSpc>
                <a:spcPct val="100000"/>
              </a:lnSpc>
              <a:buNone/>
            </a:pPr>
            <a:endParaRPr lang="en-US" sz="1600" b="0" strike="noStrike" spc="-1">
              <a:latin typeface="Arial"/>
            </a:endParaRPr>
          </a:p>
        </p:txBody>
      </p:sp>
      <p:sp>
        <p:nvSpPr>
          <p:cNvPr id="4" name="CustomShape 82">
            <a:extLst>
              <a:ext uri="{FF2B5EF4-FFF2-40B4-BE49-F238E27FC236}">
                <a16:creationId xmlns:a16="http://schemas.microsoft.com/office/drawing/2014/main" id="{C9CB395F-213C-CF64-B5AD-0EEF55057833}"/>
              </a:ext>
            </a:extLst>
          </p:cNvPr>
          <p:cNvSpPr/>
          <p:nvPr/>
        </p:nvSpPr>
        <p:spPr>
          <a:xfrm>
            <a:off x="9144000" y="3659109"/>
            <a:ext cx="2742480" cy="983880"/>
          </a:xfrm>
          <a:prstGeom prst="rect">
            <a:avLst/>
          </a:prstGeom>
          <a:solidFill>
            <a:srgbClr val="F7D1D5"/>
          </a:solidFill>
          <a:ln w="57240">
            <a:solidFill>
              <a:srgbClr val="77BC65"/>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a:solidFill>
                  <a:srgbClr val="000000"/>
                </a:solidFill>
                <a:latin typeface="Calibri"/>
                <a:ea typeface="DejaVu Sans"/>
              </a:rPr>
              <a:t>A difference in means reflects a difference in distributions</a:t>
            </a:r>
            <a:endParaRPr lang="en-US" sz="1800" b="0" strike="noStrike" spc="-1">
              <a:latin typeface="Arial"/>
            </a:endParaRPr>
          </a:p>
          <a:p>
            <a:pPr algn="ctr">
              <a:lnSpc>
                <a:spcPct val="100000"/>
              </a:lnSpc>
              <a:buNone/>
            </a:pP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Location vs shape of </a:t>
            </a:r>
            <a:endParaRPr lang="en-US" sz="4400" b="0" strike="noStrike" spc="-1">
              <a:latin typeface="Arial"/>
            </a:endParaRPr>
          </a:p>
          <a:p>
            <a:pPr>
              <a:lnSpc>
                <a:spcPct val="90000"/>
              </a:lnSpc>
              <a:buNone/>
            </a:pPr>
            <a:r>
              <a:rPr lang="en-US" sz="4400" b="0" strike="noStrike" spc="-1">
                <a:solidFill>
                  <a:srgbClr val="000000"/>
                </a:solidFill>
                <a:latin typeface="Calibri Light"/>
                <a:ea typeface="DejaVu Sans"/>
              </a:rPr>
              <a:t>Continuous distributions</a:t>
            </a:r>
            <a:endParaRPr lang="en-US" sz="4400" b="0" strike="noStrike" spc="-1">
              <a:latin typeface="Arial"/>
            </a:endParaRPr>
          </a:p>
        </p:txBody>
      </p:sp>
      <p:sp>
        <p:nvSpPr>
          <p:cNvPr id="663" name="CustomShape 2"/>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F657B69F-54EE-46B9-98EC-E961587FEDFF}" type="slidenum">
              <a:rPr lang="en-US" sz="1200" b="0" strike="noStrike" spc="-1">
                <a:solidFill>
                  <a:srgbClr val="8B8B8B"/>
                </a:solidFill>
                <a:latin typeface="Calibri"/>
                <a:ea typeface="DejaVu Sans"/>
              </a:rPr>
              <a:t>44</a:t>
            </a:fld>
            <a:endParaRPr lang="en-US" sz="1200" b="0" strike="noStrike" spc="-1">
              <a:latin typeface="Arial"/>
            </a:endParaRPr>
          </a:p>
        </p:txBody>
      </p:sp>
      <p:pic>
        <p:nvPicPr>
          <p:cNvPr id="664" name="Picture 663"/>
          <p:cNvPicPr/>
          <p:nvPr/>
        </p:nvPicPr>
        <p:blipFill>
          <a:blip r:embed="rId3"/>
          <a:stretch/>
        </p:blipFill>
        <p:spPr>
          <a:xfrm>
            <a:off x="685800" y="1600200"/>
            <a:ext cx="7771680" cy="5180760"/>
          </a:xfrm>
          <a:prstGeom prst="rect">
            <a:avLst/>
          </a:prstGeom>
          <a:ln w="0">
            <a:noFill/>
          </a:ln>
        </p:spPr>
      </p:pic>
      <p:pic>
        <p:nvPicPr>
          <p:cNvPr id="665" name="Picture 664"/>
          <p:cNvPicPr/>
          <p:nvPr/>
        </p:nvPicPr>
        <p:blipFill>
          <a:blip r:embed="rId4"/>
          <a:stretch/>
        </p:blipFill>
        <p:spPr>
          <a:xfrm>
            <a:off x="8364960" y="2057400"/>
            <a:ext cx="4713120" cy="4799880"/>
          </a:xfrm>
          <a:prstGeom prst="rect">
            <a:avLst/>
          </a:prstGeom>
          <a:ln w="0">
            <a:noFill/>
          </a:ln>
        </p:spPr>
      </p:pic>
      <p:sp>
        <p:nvSpPr>
          <p:cNvPr id="666" name="CustomShape 4"/>
          <p:cNvSpPr/>
          <p:nvPr/>
        </p:nvSpPr>
        <p:spPr>
          <a:xfrm>
            <a:off x="3795840" y="2057400"/>
            <a:ext cx="35186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800080"/>
                </a:solidFill>
                <a:latin typeface="Arial"/>
                <a:ea typeface="DejaVu Sans"/>
              </a:rPr>
              <a:t>Always a profit, extreme results in the positive range</a:t>
            </a:r>
            <a:endParaRPr lang="en-US" sz="1800" b="0" strike="noStrike" spc="-1">
              <a:latin typeface="Arial"/>
            </a:endParaRPr>
          </a:p>
        </p:txBody>
      </p:sp>
      <p:sp>
        <p:nvSpPr>
          <p:cNvPr id="667" name="Rectangle 666"/>
          <p:cNvSpPr/>
          <p:nvPr/>
        </p:nvSpPr>
        <p:spPr>
          <a:xfrm>
            <a:off x="9829800" y="6629400"/>
            <a:ext cx="2285280" cy="304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100" b="0" strike="noStrike" spc="-1">
                <a:solidFill>
                  <a:srgbClr val="000000"/>
                </a:solidFill>
                <a:latin typeface="Arial"/>
                <a:ea typeface="DejaVu Sans"/>
              </a:rPr>
              <a:t>Source: pixabay.com</a:t>
            </a:r>
            <a:endParaRPr lang="en-US" sz="11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66"/>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6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 name="CustomShape 94"/>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Location vs shape of </a:t>
            </a:r>
            <a:endParaRPr lang="en-US" sz="4400" b="0" strike="noStrike" spc="-1">
              <a:latin typeface="Arial"/>
            </a:endParaRPr>
          </a:p>
          <a:p>
            <a:pPr>
              <a:lnSpc>
                <a:spcPct val="90000"/>
              </a:lnSpc>
              <a:buNone/>
            </a:pPr>
            <a:r>
              <a:rPr lang="en-US" sz="4400" b="0" strike="noStrike" spc="-1">
                <a:solidFill>
                  <a:srgbClr val="000000"/>
                </a:solidFill>
                <a:latin typeface="Calibri Light"/>
                <a:ea typeface="DejaVu Sans"/>
              </a:rPr>
              <a:t>Continuous distributions</a:t>
            </a:r>
            <a:endParaRPr lang="en-US" sz="4400" b="0" strike="noStrike" spc="-1">
              <a:latin typeface="Arial"/>
            </a:endParaRPr>
          </a:p>
        </p:txBody>
      </p:sp>
      <p:sp>
        <p:nvSpPr>
          <p:cNvPr id="669" name="CustomShape 95"/>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60AAC7B5-23DA-4254-81EB-312BBFAE443A}" type="slidenum">
              <a:rPr lang="en-US" sz="1200" b="0" strike="noStrike" spc="-1">
                <a:solidFill>
                  <a:srgbClr val="8B8B8B"/>
                </a:solidFill>
                <a:latin typeface="Calibri"/>
                <a:ea typeface="DejaVu Sans"/>
              </a:rPr>
              <a:t>45</a:t>
            </a:fld>
            <a:endParaRPr lang="en-US" sz="1200" b="0" strike="noStrike" spc="-1">
              <a:latin typeface="Arial"/>
            </a:endParaRPr>
          </a:p>
        </p:txBody>
      </p:sp>
      <p:pic>
        <p:nvPicPr>
          <p:cNvPr id="670" name="Picture 669"/>
          <p:cNvPicPr/>
          <p:nvPr/>
        </p:nvPicPr>
        <p:blipFill>
          <a:blip r:embed="rId3"/>
          <a:stretch/>
        </p:blipFill>
        <p:spPr>
          <a:xfrm>
            <a:off x="685800" y="1600200"/>
            <a:ext cx="7771680" cy="5180760"/>
          </a:xfrm>
          <a:prstGeom prst="rect">
            <a:avLst/>
          </a:prstGeom>
          <a:ln w="0">
            <a:noFill/>
          </a:ln>
        </p:spPr>
      </p:pic>
      <p:pic>
        <p:nvPicPr>
          <p:cNvPr id="671" name="Picture 670"/>
          <p:cNvPicPr/>
          <p:nvPr/>
        </p:nvPicPr>
        <p:blipFill>
          <a:blip r:embed="rId4"/>
          <a:stretch/>
        </p:blipFill>
        <p:spPr>
          <a:xfrm>
            <a:off x="8364960" y="2057760"/>
            <a:ext cx="4713120" cy="4799880"/>
          </a:xfrm>
          <a:prstGeom prst="rect">
            <a:avLst/>
          </a:prstGeom>
          <a:ln w="0">
            <a:noFill/>
          </a:ln>
        </p:spPr>
      </p:pic>
      <p:sp>
        <p:nvSpPr>
          <p:cNvPr id="672" name="CustomShape 97"/>
          <p:cNvSpPr/>
          <p:nvPr/>
        </p:nvSpPr>
        <p:spPr>
          <a:xfrm>
            <a:off x="3886200" y="2104920"/>
            <a:ext cx="31071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2A6099"/>
                </a:solidFill>
                <a:latin typeface="Arial"/>
                <a:ea typeface="DejaVu Sans"/>
              </a:rPr>
              <a:t>Can suffer loss, extreme values in negative range</a:t>
            </a:r>
            <a:endParaRPr lang="en-US" sz="1800" b="0" strike="noStrike" spc="-1">
              <a:latin typeface="Arial"/>
            </a:endParaRPr>
          </a:p>
        </p:txBody>
      </p:sp>
      <p:sp>
        <p:nvSpPr>
          <p:cNvPr id="673" name="Rectangle 672"/>
          <p:cNvSpPr/>
          <p:nvPr/>
        </p:nvSpPr>
        <p:spPr>
          <a:xfrm>
            <a:off x="9829800" y="6629760"/>
            <a:ext cx="2285280" cy="304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100" b="0" strike="noStrike" spc="-1">
                <a:solidFill>
                  <a:srgbClr val="000000"/>
                </a:solidFill>
                <a:latin typeface="Arial"/>
                <a:ea typeface="DejaVu Sans"/>
              </a:rPr>
              <a:t>Source: pixabay.com</a:t>
            </a:r>
            <a:endParaRPr lang="en-US" sz="11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 presetClass="entr" fill="hold" nodeType="withEffect">
                                  <p:stCondLst>
                                    <p:cond delay="0"/>
                                  </p:stCondLst>
                                  <p:childTnLst>
                                    <p:set>
                                      <p:cBhvr>
                                        <p:cTn id="6" dur="1" fill="hold">
                                          <p:stCondLst>
                                            <p:cond delay="0"/>
                                          </p:stCondLst>
                                        </p:cTn>
                                        <p:tgtEl>
                                          <p:spTgt spid="67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 name="CustomShape 96"/>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Location vs shape of </a:t>
            </a:r>
            <a:endParaRPr lang="en-US" sz="4400" b="0" strike="noStrike" spc="-1">
              <a:latin typeface="Arial"/>
            </a:endParaRPr>
          </a:p>
          <a:p>
            <a:pPr>
              <a:lnSpc>
                <a:spcPct val="90000"/>
              </a:lnSpc>
              <a:buNone/>
            </a:pPr>
            <a:r>
              <a:rPr lang="en-US" sz="4400" b="0" strike="noStrike" spc="-1">
                <a:solidFill>
                  <a:srgbClr val="000000"/>
                </a:solidFill>
                <a:latin typeface="Calibri Light"/>
                <a:ea typeface="DejaVu Sans"/>
              </a:rPr>
              <a:t>Continuous distributions</a:t>
            </a:r>
            <a:endParaRPr lang="en-US" sz="4400" b="0" strike="noStrike" spc="-1">
              <a:latin typeface="Arial"/>
            </a:endParaRPr>
          </a:p>
        </p:txBody>
      </p:sp>
      <p:sp>
        <p:nvSpPr>
          <p:cNvPr id="675" name="CustomShape 99"/>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2473D506-0882-48DE-BDA6-3E925C8249D2}" type="slidenum">
              <a:rPr lang="en-US" sz="1200" b="0" strike="noStrike" spc="-1">
                <a:solidFill>
                  <a:srgbClr val="8B8B8B"/>
                </a:solidFill>
                <a:latin typeface="Calibri"/>
                <a:ea typeface="DejaVu Sans"/>
              </a:rPr>
              <a:t>46</a:t>
            </a:fld>
            <a:endParaRPr lang="en-US" sz="1200" b="0" strike="noStrike" spc="-1">
              <a:latin typeface="Arial"/>
            </a:endParaRPr>
          </a:p>
        </p:txBody>
      </p:sp>
      <p:sp>
        <p:nvSpPr>
          <p:cNvPr id="676" name="CustomShape 100"/>
          <p:cNvSpPr/>
          <p:nvPr/>
        </p:nvSpPr>
        <p:spPr>
          <a:xfrm>
            <a:off x="8550720" y="4426920"/>
            <a:ext cx="31071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2A6099"/>
                </a:solidFill>
                <a:latin typeface="Arial"/>
                <a:ea typeface="DejaVu Sans"/>
              </a:rPr>
              <a:t>Can suffer loss, extreme values in negative range</a:t>
            </a:r>
            <a:endParaRPr lang="en-US" sz="1800" b="0" strike="noStrike" spc="-1">
              <a:latin typeface="Arial"/>
            </a:endParaRPr>
          </a:p>
        </p:txBody>
      </p:sp>
      <p:pic>
        <p:nvPicPr>
          <p:cNvPr id="677" name="Picture 676"/>
          <p:cNvPicPr/>
          <p:nvPr/>
        </p:nvPicPr>
        <p:blipFill>
          <a:blip r:embed="rId3"/>
          <a:stretch/>
        </p:blipFill>
        <p:spPr>
          <a:xfrm>
            <a:off x="685800" y="1600200"/>
            <a:ext cx="7771680" cy="5180760"/>
          </a:xfrm>
          <a:prstGeom prst="rect">
            <a:avLst/>
          </a:prstGeom>
          <a:ln w="0">
            <a:noFill/>
          </a:ln>
        </p:spPr>
      </p:pic>
      <p:sp>
        <p:nvSpPr>
          <p:cNvPr id="678" name="CustomShape 102"/>
          <p:cNvSpPr/>
          <p:nvPr/>
        </p:nvSpPr>
        <p:spPr>
          <a:xfrm>
            <a:off x="8458200" y="3474720"/>
            <a:ext cx="35186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800080"/>
                </a:solidFill>
                <a:latin typeface="Arial"/>
                <a:ea typeface="DejaVu Sans"/>
              </a:rPr>
              <a:t>Always a profit, extreme results in the positive range</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 presetClass="entr" fill="hold" nodeType="withEffect">
                                  <p:stCondLst>
                                    <p:cond delay="0"/>
                                  </p:stCondLst>
                                  <p:childTnLst>
                                    <p:set>
                                      <p:cBhvr>
                                        <p:cTn id="6" dur="1" fill="hold">
                                          <p:stCondLst>
                                            <p:cond delay="0"/>
                                          </p:stCondLst>
                                        </p:cTn>
                                        <p:tgtEl>
                                          <p:spTgt spid="67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 name="CustomShape 116"/>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Location vs shape of </a:t>
            </a:r>
            <a:endParaRPr lang="en-US" sz="4400" b="0" strike="noStrike" spc="-1">
              <a:latin typeface="Arial"/>
            </a:endParaRPr>
          </a:p>
          <a:p>
            <a:pPr>
              <a:lnSpc>
                <a:spcPct val="90000"/>
              </a:lnSpc>
              <a:buNone/>
            </a:pPr>
            <a:r>
              <a:rPr lang="en-US" sz="4400" b="0" strike="noStrike" spc="-1">
                <a:solidFill>
                  <a:srgbClr val="000000"/>
                </a:solidFill>
                <a:latin typeface="Calibri Light"/>
                <a:ea typeface="DejaVu Sans"/>
              </a:rPr>
              <a:t>Continuous distributions</a:t>
            </a:r>
            <a:endParaRPr lang="en-US" sz="4400" b="0" strike="noStrike" spc="-1">
              <a:latin typeface="Arial"/>
            </a:endParaRPr>
          </a:p>
        </p:txBody>
      </p:sp>
      <p:sp>
        <p:nvSpPr>
          <p:cNvPr id="680" name="CustomShape 117"/>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95BDF66E-9D7B-46C6-92F7-6086B87C0A23}" type="slidenum">
              <a:rPr lang="en-US" sz="1200" b="0" strike="noStrike" spc="-1">
                <a:solidFill>
                  <a:srgbClr val="8B8B8B"/>
                </a:solidFill>
                <a:latin typeface="Calibri"/>
                <a:ea typeface="DejaVu Sans"/>
              </a:rPr>
              <a:t>47</a:t>
            </a:fld>
            <a:endParaRPr lang="en-US" sz="1200" b="0" strike="noStrike" spc="-1">
              <a:latin typeface="Arial"/>
            </a:endParaRPr>
          </a:p>
        </p:txBody>
      </p:sp>
      <p:sp>
        <p:nvSpPr>
          <p:cNvPr id="681" name="CustomShape 118"/>
          <p:cNvSpPr/>
          <p:nvPr/>
        </p:nvSpPr>
        <p:spPr>
          <a:xfrm>
            <a:off x="8550720" y="4426920"/>
            <a:ext cx="31071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2A6099"/>
                </a:solidFill>
                <a:latin typeface="Arial"/>
                <a:ea typeface="DejaVu Sans"/>
              </a:rPr>
              <a:t>Can suffer loss, extreme values in negative range</a:t>
            </a:r>
            <a:endParaRPr lang="en-US" sz="1800" b="0" strike="noStrike" spc="-1">
              <a:latin typeface="Arial"/>
            </a:endParaRPr>
          </a:p>
        </p:txBody>
      </p:sp>
      <p:pic>
        <p:nvPicPr>
          <p:cNvPr id="682" name="Picture 681"/>
          <p:cNvPicPr/>
          <p:nvPr/>
        </p:nvPicPr>
        <p:blipFill>
          <a:blip r:embed="rId3"/>
          <a:stretch/>
        </p:blipFill>
        <p:spPr>
          <a:xfrm>
            <a:off x="685800" y="1600200"/>
            <a:ext cx="7771680" cy="5180760"/>
          </a:xfrm>
          <a:prstGeom prst="rect">
            <a:avLst/>
          </a:prstGeom>
          <a:ln w="0">
            <a:noFill/>
          </a:ln>
        </p:spPr>
      </p:pic>
      <p:sp>
        <p:nvSpPr>
          <p:cNvPr id="683" name="CustomShape 119"/>
          <p:cNvSpPr/>
          <p:nvPr/>
        </p:nvSpPr>
        <p:spPr>
          <a:xfrm>
            <a:off x="8458200" y="3474720"/>
            <a:ext cx="35186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800080"/>
                </a:solidFill>
                <a:latin typeface="Arial"/>
                <a:ea typeface="DejaVu Sans"/>
              </a:rPr>
              <a:t>Always a profit, extreme results in the positive range</a:t>
            </a:r>
            <a:endParaRPr lang="en-US" sz="1800" b="0" strike="noStrike" spc="-1">
              <a:latin typeface="Arial"/>
            </a:endParaRPr>
          </a:p>
        </p:txBody>
      </p:sp>
      <p:sp>
        <p:nvSpPr>
          <p:cNvPr id="2" name="CustomShape 124">
            <a:extLst>
              <a:ext uri="{FF2B5EF4-FFF2-40B4-BE49-F238E27FC236}">
                <a16:creationId xmlns:a16="http://schemas.microsoft.com/office/drawing/2014/main" id="{B79B8442-C7F4-C073-583D-3FDB54A0D092}"/>
              </a:ext>
            </a:extLst>
          </p:cNvPr>
          <p:cNvSpPr/>
          <p:nvPr/>
        </p:nvSpPr>
        <p:spPr>
          <a:xfrm>
            <a:off x="3556000" y="2124720"/>
            <a:ext cx="2742480" cy="456480"/>
          </a:xfrm>
          <a:prstGeom prst="rect">
            <a:avLst/>
          </a:prstGeom>
          <a:solidFill>
            <a:schemeClr val="accent4">
              <a:lumMod val="40000"/>
              <a:lumOff val="60000"/>
            </a:schemeClr>
          </a:solidFill>
          <a:ln w="57239">
            <a:solidFill>
              <a:schemeClr val="accent5">
                <a:lumMod val="75000"/>
              </a:schemeClr>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dirty="0">
                <a:solidFill>
                  <a:srgbClr val="000000"/>
                </a:solidFill>
                <a:latin typeface="Calibri"/>
                <a:ea typeface="DejaVu Sans"/>
              </a:rPr>
              <a:t>Mean </a:t>
            </a:r>
            <a:r>
              <a:rPr lang="en-US" spc="-1" dirty="0">
                <a:solidFill>
                  <a:srgbClr val="000000"/>
                </a:solidFill>
                <a:latin typeface="Calibri"/>
                <a:ea typeface="DejaVu Sans"/>
              </a:rPr>
              <a:t>=</a:t>
            </a:r>
            <a:r>
              <a:rPr lang="en-US" sz="1800" b="0" strike="noStrike" spc="-1" dirty="0">
                <a:solidFill>
                  <a:srgbClr val="000000"/>
                </a:solidFill>
                <a:latin typeface="Calibri"/>
                <a:ea typeface="DejaVu Sans"/>
              </a:rPr>
              <a:t> 5</a:t>
            </a:r>
            <a:endParaRPr lang="en-US" sz="1800" b="0" strike="noStrike" spc="-1" dirty="0">
              <a:latin typeface="Arial"/>
            </a:endParaRPr>
          </a:p>
          <a:p>
            <a:pPr algn="ctr">
              <a:lnSpc>
                <a:spcPct val="100000"/>
              </a:lnSpc>
              <a:buNone/>
            </a:pPr>
            <a:endParaRPr lang="en-US" sz="1600" b="0" strike="noStrike" spc="-1" dirty="0">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 presetClass="entr" fill="hold" nodeType="withEffect">
                                  <p:stCondLst>
                                    <p:cond delay="0"/>
                                  </p:stCondLst>
                                  <p:childTnLst>
                                    <p:set>
                                      <p:cBhvr>
                                        <p:cTn id="6" dur="1" fill="hold">
                                          <p:stCondLst>
                                            <p:cond delay="0"/>
                                          </p:stCondLst>
                                        </p:cTn>
                                        <p:tgtEl>
                                          <p:spTgt spid="68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CustomShape 103"/>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Another location measure: median</a:t>
            </a:r>
            <a:endParaRPr lang="en-US" sz="4400" b="0" strike="noStrike" spc="-1">
              <a:latin typeface="Arial"/>
            </a:endParaRPr>
          </a:p>
        </p:txBody>
      </p:sp>
      <p:sp>
        <p:nvSpPr>
          <p:cNvPr id="685" name="CustomShape 104"/>
          <p:cNvSpPr/>
          <p:nvPr/>
        </p:nvSpPr>
        <p:spPr>
          <a:xfrm>
            <a:off x="696960" y="1737360"/>
            <a:ext cx="5609880" cy="4020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7000"/>
          </a:bodyPr>
          <a:lstStyle/>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The value that divides the lower 50% of the observations </a:t>
            </a:r>
            <a:endParaRPr lang="en-US" sz="2800" b="0" strike="noStrike" spc="-1">
              <a:latin typeface="Arial"/>
            </a:endParaRPr>
          </a:p>
          <a:p>
            <a:pPr>
              <a:lnSpc>
                <a:spcPct val="90000"/>
              </a:lnSpc>
              <a:spcBef>
                <a:spcPts val="1001"/>
              </a:spcBef>
              <a:buNone/>
            </a:pPr>
            <a:endParaRPr lang="en-US" sz="2800" b="0" strike="noStrike" spc="-1">
              <a:latin typeface="Arial"/>
            </a:endParaRPr>
          </a:p>
          <a:p>
            <a:pPr marL="514440" indent="-512640">
              <a:lnSpc>
                <a:spcPct val="90000"/>
              </a:lnSpc>
              <a:spcBef>
                <a:spcPts val="1001"/>
              </a:spcBef>
              <a:buClr>
                <a:srgbClr val="000000"/>
              </a:buClr>
              <a:buFont typeface="StarSymbol"/>
              <a:buAutoNum type="arabicPeriod"/>
            </a:pPr>
            <a:r>
              <a:rPr lang="en-US" sz="2800" b="0" strike="noStrike" spc="-1">
                <a:solidFill>
                  <a:srgbClr val="000000"/>
                </a:solidFill>
                <a:latin typeface="Calibri"/>
                <a:ea typeface="DejaVu Sans"/>
              </a:rPr>
              <a:t>Order all observations</a:t>
            </a:r>
            <a:endParaRPr lang="en-US" sz="2800" b="0" strike="noStrike" spc="-1">
              <a:latin typeface="Arial"/>
            </a:endParaRPr>
          </a:p>
          <a:p>
            <a:pPr marL="864000" lvl="1" indent="-322560">
              <a:lnSpc>
                <a:spcPct val="100000"/>
              </a:lnSpc>
              <a:spcBef>
                <a:spcPts val="1134"/>
              </a:spcBef>
              <a:buClr>
                <a:srgbClr val="000000"/>
              </a:buClr>
              <a:buSzPct val="75000"/>
              <a:buFont typeface="Symbol"/>
              <a:buChar char=""/>
            </a:pPr>
            <a:r>
              <a:rPr lang="en-US" sz="2800" b="0" strike="noStrike" spc="-1">
                <a:solidFill>
                  <a:srgbClr val="000000"/>
                </a:solidFill>
                <a:latin typeface="Calibri"/>
                <a:ea typeface="DejaVu Sans"/>
              </a:rPr>
              <a:t>If odd </a:t>
            </a:r>
            <a:r>
              <a:rPr lang="en-US" sz="2800" b="0" i="1" strike="noStrike" spc="-1">
                <a:solidFill>
                  <a:srgbClr val="000000"/>
                </a:solidFill>
                <a:latin typeface="Calibri"/>
                <a:ea typeface="DejaVu Sans"/>
              </a:rPr>
              <a:t>n</a:t>
            </a:r>
            <a:r>
              <a:rPr lang="en-US" sz="2800" b="0" strike="noStrike" spc="-1">
                <a:solidFill>
                  <a:srgbClr val="000000"/>
                </a:solidFill>
                <a:latin typeface="Calibri"/>
                <a:ea typeface="DejaVu Sans"/>
              </a:rPr>
              <a:t>: Middle observation</a:t>
            </a:r>
            <a:br>
              <a:rPr sz="1800"/>
            </a:br>
            <a:br>
              <a:rPr sz="1800"/>
            </a:br>
            <a:r>
              <a:rPr lang="en-US" sz="2800" b="0" strike="noStrike" spc="-1">
                <a:solidFill>
                  <a:srgbClr val="000000"/>
                </a:solidFill>
                <a:latin typeface="Calibri"/>
                <a:ea typeface="DejaVu Sans"/>
              </a:rPr>
              <a:t> </a:t>
            </a:r>
            <a:endParaRPr lang="en-US" sz="2800" b="0" strike="noStrike" spc="-1">
              <a:latin typeface="Arial"/>
            </a:endParaRPr>
          </a:p>
          <a:p>
            <a:pPr marL="864000" lvl="1" indent="-322560">
              <a:lnSpc>
                <a:spcPct val="100000"/>
              </a:lnSpc>
              <a:spcBef>
                <a:spcPts val="1134"/>
              </a:spcBef>
              <a:buClr>
                <a:srgbClr val="000000"/>
              </a:buClr>
              <a:buSzPct val="75000"/>
              <a:buFont typeface="Symbol"/>
              <a:buChar char=""/>
            </a:pPr>
            <a:r>
              <a:rPr lang="en-US" sz="2800" b="0" strike="noStrike" spc="-1">
                <a:solidFill>
                  <a:srgbClr val="000000"/>
                </a:solidFill>
                <a:latin typeface="Calibri"/>
                <a:ea typeface="DejaVu Sans"/>
              </a:rPr>
              <a:t>If even </a:t>
            </a:r>
            <a:r>
              <a:rPr lang="en-US" sz="2800" b="0" i="1" strike="noStrike" spc="-1">
                <a:solidFill>
                  <a:srgbClr val="000000"/>
                </a:solidFill>
                <a:latin typeface="Calibri"/>
                <a:ea typeface="DejaVu Sans"/>
              </a:rPr>
              <a:t>n</a:t>
            </a:r>
            <a:r>
              <a:rPr lang="en-US" sz="2800" b="0" strike="noStrike" spc="-1">
                <a:solidFill>
                  <a:srgbClr val="000000"/>
                </a:solidFill>
                <a:latin typeface="Calibri"/>
                <a:ea typeface="DejaVu Sans"/>
              </a:rPr>
              <a:t>: Mean of middle two observations</a:t>
            </a:r>
            <a:endParaRPr lang="en-US" sz="2800" b="0" strike="noStrike" spc="-1">
              <a:latin typeface="Arial"/>
            </a:endParaRPr>
          </a:p>
        </p:txBody>
      </p:sp>
      <p:sp>
        <p:nvSpPr>
          <p:cNvPr id="686" name="CustomShape 105"/>
          <p:cNvSpPr/>
          <p:nvPr/>
        </p:nvSpPr>
        <p:spPr>
          <a:xfrm>
            <a:off x="6795360" y="2651760"/>
            <a:ext cx="4136558" cy="119887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0" i="1" strike="noStrike" spc="-1" dirty="0">
                <a:solidFill>
                  <a:srgbClr val="000000"/>
                </a:solidFill>
                <a:latin typeface="Calibri"/>
                <a:ea typeface="DejaVu Sans"/>
              </a:rPr>
              <a:t>n</a:t>
            </a:r>
            <a:r>
              <a:rPr lang="en-US" sz="2400" b="0" strike="noStrike" spc="-1" dirty="0">
                <a:solidFill>
                  <a:srgbClr val="000000"/>
                </a:solidFill>
                <a:latin typeface="Calibri"/>
                <a:ea typeface="DejaVu Sans"/>
              </a:rPr>
              <a:t> = 9</a:t>
            </a:r>
            <a:endParaRPr lang="en-US" sz="2400" b="0" strike="noStrike" spc="-1" dirty="0">
              <a:latin typeface="Arial"/>
            </a:endParaRPr>
          </a:p>
          <a:p>
            <a:pPr>
              <a:lnSpc>
                <a:spcPct val="100000"/>
              </a:lnSpc>
              <a:buNone/>
            </a:pPr>
            <a:r>
              <a:rPr lang="en-US" sz="2400" b="0" i="1" strike="noStrike" spc="-1" dirty="0">
                <a:solidFill>
                  <a:srgbClr val="000000"/>
                </a:solidFill>
                <a:latin typeface="Calibri"/>
                <a:ea typeface="DejaVu Sans"/>
              </a:rPr>
              <a:t>x</a:t>
            </a:r>
            <a:r>
              <a:rPr lang="en-US" sz="2400" b="0" strike="noStrike" spc="-1" dirty="0">
                <a:solidFill>
                  <a:srgbClr val="000000"/>
                </a:solidFill>
                <a:latin typeface="Calibri"/>
                <a:ea typeface="DejaVu Sans"/>
              </a:rPr>
              <a:t>: 1,9,2,4,5,3,3,7,12	</a:t>
            </a:r>
            <a:endParaRPr lang="en-US" sz="2400" b="0" strike="noStrike" spc="-1" dirty="0">
              <a:latin typeface="Arial"/>
            </a:endParaRPr>
          </a:p>
          <a:p>
            <a:pPr>
              <a:lnSpc>
                <a:spcPct val="100000"/>
              </a:lnSpc>
              <a:buNone/>
            </a:pPr>
            <a:r>
              <a:rPr lang="en-US" sz="2400" b="0" i="1" strike="noStrike" spc="-1" dirty="0">
                <a:solidFill>
                  <a:srgbClr val="000000"/>
                </a:solidFill>
                <a:latin typeface="Calibri"/>
                <a:ea typeface="DejaVu Sans"/>
              </a:rPr>
              <a:t>x</a:t>
            </a:r>
            <a:r>
              <a:rPr lang="en-US" sz="2400" b="0" strike="noStrike" spc="-1" dirty="0">
                <a:solidFill>
                  <a:srgbClr val="000000"/>
                </a:solidFill>
                <a:latin typeface="Calibri"/>
                <a:ea typeface="DejaVu Sans"/>
              </a:rPr>
              <a:t>: 1,2,3,3,</a:t>
            </a:r>
            <a:r>
              <a:rPr lang="en-US" sz="2400" b="1" strike="noStrike" spc="-1" dirty="0">
                <a:solidFill>
                  <a:srgbClr val="000000"/>
                </a:solidFill>
                <a:latin typeface="Calibri"/>
                <a:ea typeface="DejaVu Sans"/>
              </a:rPr>
              <a:t>4</a:t>
            </a:r>
            <a:r>
              <a:rPr lang="en-US" sz="2400" b="0" strike="noStrike" spc="-1" dirty="0">
                <a:solidFill>
                  <a:srgbClr val="000000"/>
                </a:solidFill>
                <a:latin typeface="Calibri"/>
                <a:ea typeface="DejaVu Sans"/>
              </a:rPr>
              <a:t>,5,7,9,12 	(ordered)</a:t>
            </a:r>
            <a:endParaRPr lang="en-US" sz="2400" b="0" strike="noStrike" spc="-1" dirty="0">
              <a:latin typeface="Arial"/>
            </a:endParaRPr>
          </a:p>
        </p:txBody>
      </p:sp>
      <p:sp>
        <p:nvSpPr>
          <p:cNvPr id="687" name="CustomShape 106"/>
          <p:cNvSpPr/>
          <p:nvPr/>
        </p:nvSpPr>
        <p:spPr>
          <a:xfrm>
            <a:off x="6752880" y="4724640"/>
            <a:ext cx="4136558" cy="119887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0" i="1" strike="noStrike" spc="-1" dirty="0">
                <a:solidFill>
                  <a:srgbClr val="000000"/>
                </a:solidFill>
                <a:latin typeface="Calibri"/>
                <a:ea typeface="DejaVu Sans"/>
              </a:rPr>
              <a:t>n</a:t>
            </a:r>
            <a:r>
              <a:rPr lang="en-US" sz="2400" b="0" strike="noStrike" spc="-1" dirty="0">
                <a:solidFill>
                  <a:srgbClr val="000000"/>
                </a:solidFill>
                <a:latin typeface="Calibri"/>
                <a:ea typeface="DejaVu Sans"/>
              </a:rPr>
              <a:t> = 8</a:t>
            </a:r>
            <a:endParaRPr lang="en-US" sz="2400" b="0" strike="noStrike" spc="-1" dirty="0">
              <a:latin typeface="Arial"/>
            </a:endParaRPr>
          </a:p>
          <a:p>
            <a:pPr>
              <a:lnSpc>
                <a:spcPct val="100000"/>
              </a:lnSpc>
              <a:buNone/>
            </a:pPr>
            <a:r>
              <a:rPr lang="en-US" sz="2400" b="0" i="1" strike="noStrike" spc="-1" dirty="0">
                <a:solidFill>
                  <a:srgbClr val="000000"/>
                </a:solidFill>
                <a:latin typeface="Calibri"/>
                <a:ea typeface="DejaVu Sans"/>
              </a:rPr>
              <a:t>x</a:t>
            </a:r>
            <a:r>
              <a:rPr lang="en-US" sz="2400" b="0" strike="noStrike" spc="-1" dirty="0">
                <a:solidFill>
                  <a:srgbClr val="000000"/>
                </a:solidFill>
                <a:latin typeface="Calibri"/>
                <a:ea typeface="DejaVu Sans"/>
              </a:rPr>
              <a:t>: 7,9,4,5,-1,8,9,2	</a:t>
            </a:r>
            <a:endParaRPr lang="en-US" sz="2400" b="0" strike="noStrike" spc="-1" dirty="0">
              <a:latin typeface="Arial"/>
            </a:endParaRPr>
          </a:p>
          <a:p>
            <a:pPr>
              <a:lnSpc>
                <a:spcPct val="100000"/>
              </a:lnSpc>
              <a:buNone/>
            </a:pPr>
            <a:r>
              <a:rPr lang="en-US" sz="2400" b="0" i="1" strike="noStrike" spc="-1" dirty="0">
                <a:solidFill>
                  <a:srgbClr val="000000"/>
                </a:solidFill>
                <a:latin typeface="Calibri"/>
                <a:ea typeface="DejaVu Sans"/>
              </a:rPr>
              <a:t>x</a:t>
            </a:r>
            <a:r>
              <a:rPr lang="en-US" sz="2400" b="0" strike="noStrike" spc="-1" dirty="0">
                <a:solidFill>
                  <a:srgbClr val="000000"/>
                </a:solidFill>
                <a:latin typeface="Calibri"/>
                <a:ea typeface="DejaVu Sans"/>
              </a:rPr>
              <a:t>: -1,2,4,</a:t>
            </a:r>
            <a:r>
              <a:rPr lang="en-US" sz="2400" b="1" strike="noStrike" spc="-1" dirty="0">
                <a:solidFill>
                  <a:srgbClr val="000000"/>
                </a:solidFill>
                <a:latin typeface="Calibri"/>
                <a:ea typeface="DejaVu Sans"/>
              </a:rPr>
              <a:t>5,7</a:t>
            </a:r>
            <a:r>
              <a:rPr lang="en-US" sz="2400" b="0" strike="noStrike" spc="-1" dirty="0">
                <a:solidFill>
                  <a:srgbClr val="000000"/>
                </a:solidFill>
                <a:latin typeface="Calibri"/>
                <a:ea typeface="DejaVu Sans"/>
              </a:rPr>
              <a:t>,8,9,9 	(ordered)</a:t>
            </a:r>
            <a:endParaRPr lang="en-US" sz="2400" b="0" strike="noStrike" spc="-1" dirty="0">
              <a:latin typeface="Arial"/>
            </a:endParaRPr>
          </a:p>
        </p:txBody>
      </p:sp>
      <p:sp>
        <p:nvSpPr>
          <p:cNvPr id="688" name="CustomShape 107"/>
          <p:cNvSpPr/>
          <p:nvPr/>
        </p:nvSpPr>
        <p:spPr>
          <a:xfrm>
            <a:off x="10224000" y="2468880"/>
            <a:ext cx="157248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0" strike="noStrike" spc="-1">
                <a:solidFill>
                  <a:srgbClr val="ED7D31"/>
                </a:solidFill>
                <a:latin typeface="Calibri"/>
                <a:ea typeface="DejaVu Sans"/>
              </a:rPr>
              <a:t>Median =</a:t>
            </a:r>
            <a:r>
              <a:rPr lang="en-US" sz="2400" b="1" strike="noStrike" spc="-1">
                <a:solidFill>
                  <a:srgbClr val="ED7D31"/>
                </a:solidFill>
                <a:latin typeface="Calibri"/>
                <a:ea typeface="DejaVu Sans"/>
              </a:rPr>
              <a:t> 4</a:t>
            </a:r>
            <a:endParaRPr lang="en-US" sz="2400" b="0" strike="noStrike" spc="-1">
              <a:latin typeface="Arial"/>
            </a:endParaRPr>
          </a:p>
        </p:txBody>
      </p:sp>
      <p:sp>
        <p:nvSpPr>
          <p:cNvPr id="689" name="CustomShape 108"/>
          <p:cNvSpPr/>
          <p:nvPr/>
        </p:nvSpPr>
        <p:spPr>
          <a:xfrm>
            <a:off x="8888760" y="4572000"/>
            <a:ext cx="277992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0" strike="noStrike" spc="-1">
                <a:solidFill>
                  <a:srgbClr val="FF8000"/>
                </a:solidFill>
                <a:latin typeface="Calibri"/>
                <a:ea typeface="DejaVu Sans"/>
              </a:rPr>
              <a:t>Median = (5+7)/2 = </a:t>
            </a:r>
            <a:r>
              <a:rPr lang="en-US" sz="2400" b="1" strike="noStrike" spc="-1">
                <a:solidFill>
                  <a:srgbClr val="FF8000"/>
                </a:solidFill>
                <a:latin typeface="Calibri"/>
                <a:ea typeface="DejaVu Sans"/>
              </a:rPr>
              <a:t>6</a:t>
            </a:r>
            <a:endParaRPr lang="en-US" sz="2400" b="0" strike="noStrike" spc="-1">
              <a:latin typeface="Arial"/>
            </a:endParaRPr>
          </a:p>
        </p:txBody>
      </p:sp>
      <p:sp>
        <p:nvSpPr>
          <p:cNvPr id="690" name="CustomShape 109"/>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E7C980BB-919A-4803-8437-3EA9665C636A}" type="slidenum">
              <a:rPr lang="en-US" sz="1200" b="0" strike="noStrike" spc="-1">
                <a:solidFill>
                  <a:srgbClr val="8B8B8B"/>
                </a:solidFill>
                <a:latin typeface="Calibri"/>
                <a:ea typeface="DejaVu Sans"/>
              </a:rPr>
              <a:t>48</a:t>
            </a:fld>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6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68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6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6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000" b="0" strike="noStrike" spc="-1">
                <a:solidFill>
                  <a:srgbClr val="000000"/>
                </a:solidFill>
                <a:latin typeface="Calibri Light"/>
                <a:ea typeface="DejaVu Sans"/>
              </a:rPr>
              <a:t>The Median of a Continuous Distribution</a:t>
            </a:r>
            <a:endParaRPr lang="en-US" sz="4000" b="0" strike="noStrike" spc="-1">
              <a:latin typeface="Arial"/>
            </a:endParaRPr>
          </a:p>
        </p:txBody>
      </p:sp>
      <p:sp>
        <p:nvSpPr>
          <p:cNvPr id="692" name="CustomShape 2"/>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78F5695A-8961-4E91-A958-A85D92CD9263}" type="slidenum">
              <a:rPr lang="en-US" sz="1200" b="0" strike="noStrike" spc="-1">
                <a:solidFill>
                  <a:srgbClr val="8B8B8B"/>
                </a:solidFill>
                <a:latin typeface="Calibri"/>
                <a:ea typeface="DejaVu Sans"/>
              </a:rPr>
              <a:t>49</a:t>
            </a:fld>
            <a:endParaRPr lang="en-US" sz="1200" b="0" strike="noStrike" spc="-1">
              <a:latin typeface="Arial"/>
            </a:endParaRPr>
          </a:p>
        </p:txBody>
      </p:sp>
      <p:pic>
        <p:nvPicPr>
          <p:cNvPr id="693" name="Picture 692"/>
          <p:cNvPicPr/>
          <p:nvPr/>
        </p:nvPicPr>
        <p:blipFill>
          <a:blip r:embed="rId3"/>
          <a:stretch/>
        </p:blipFill>
        <p:spPr>
          <a:xfrm>
            <a:off x="1621800" y="1600560"/>
            <a:ext cx="7771680" cy="5180760"/>
          </a:xfrm>
          <a:prstGeom prst="rect">
            <a:avLst/>
          </a:prstGeom>
          <a:ln w="0">
            <a:noFill/>
          </a:ln>
        </p:spPr>
      </p:pic>
      <p:sp>
        <p:nvSpPr>
          <p:cNvPr id="694" name="CustomShape 114"/>
          <p:cNvSpPr/>
          <p:nvPr/>
        </p:nvSpPr>
        <p:spPr>
          <a:xfrm>
            <a:off x="8915400" y="2971800"/>
            <a:ext cx="2742480" cy="456480"/>
          </a:xfrm>
          <a:prstGeom prst="rect">
            <a:avLst/>
          </a:prstGeom>
          <a:solidFill>
            <a:srgbClr val="F7D1D5"/>
          </a:solidFill>
          <a:ln w="57240">
            <a:solidFill>
              <a:srgbClr val="77BC65"/>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a:solidFill>
                  <a:srgbClr val="000000"/>
                </a:solidFill>
                <a:latin typeface="Calibri"/>
                <a:ea typeface="DejaVu Sans"/>
              </a:rPr>
              <a:t>Median ≈ 5.63</a:t>
            </a:r>
            <a:endParaRPr lang="en-US" sz="1800" b="0" strike="noStrike" spc="-1">
              <a:latin typeface="Arial"/>
            </a:endParaRPr>
          </a:p>
          <a:p>
            <a:pPr algn="ctr">
              <a:lnSpc>
                <a:spcPct val="100000"/>
              </a:lnSpc>
              <a:buNone/>
            </a:pPr>
            <a:endParaRPr lang="en-US" sz="1600" b="0" strike="noStrike" spc="-1">
              <a:latin typeface="Arial"/>
            </a:endParaRPr>
          </a:p>
        </p:txBody>
      </p:sp>
      <p:sp>
        <p:nvSpPr>
          <p:cNvPr id="695" name="CustomShape 121"/>
          <p:cNvSpPr/>
          <p:nvPr/>
        </p:nvSpPr>
        <p:spPr>
          <a:xfrm>
            <a:off x="8915400" y="3886200"/>
            <a:ext cx="2742480" cy="913680"/>
          </a:xfrm>
          <a:prstGeom prst="rect">
            <a:avLst/>
          </a:prstGeom>
          <a:solidFill>
            <a:srgbClr val="FFB66C"/>
          </a:solidFill>
          <a:ln w="57240">
            <a:solidFill>
              <a:srgbClr val="158466"/>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600" b="0" strike="noStrike" spc="-1">
                <a:solidFill>
                  <a:srgbClr val="000000"/>
                </a:solidFill>
                <a:latin typeface="Calibri"/>
                <a:ea typeface="DejaVu Sans"/>
              </a:rPr>
              <a:t>If you play this game, there is a 50% probability that your profit is 5.63 or </a:t>
            </a:r>
            <a:r>
              <a:rPr lang="en-US" sz="1600" b="1" strike="noStrike" spc="-1">
                <a:solidFill>
                  <a:srgbClr val="000000"/>
                </a:solidFill>
                <a:latin typeface="Calibri"/>
                <a:ea typeface="DejaVu Sans"/>
              </a:rPr>
              <a:t>lower</a:t>
            </a:r>
            <a:endParaRPr lang="en-US" sz="1600" b="0" strike="noStrike" spc="-1">
              <a:latin typeface="Arial"/>
            </a:endParaRPr>
          </a:p>
          <a:p>
            <a:pPr algn="ctr">
              <a:lnSpc>
                <a:spcPct val="100000"/>
              </a:lnSpc>
              <a:buNone/>
            </a:pPr>
            <a:endParaRPr lang="en-US" sz="1600" b="0" strike="noStrike" spc="-1">
              <a:latin typeface="Arial"/>
            </a:endParaRPr>
          </a:p>
        </p:txBody>
      </p:sp>
      <p:sp>
        <p:nvSpPr>
          <p:cNvPr id="696" name="CustomShape 122"/>
          <p:cNvSpPr/>
          <p:nvPr/>
        </p:nvSpPr>
        <p:spPr>
          <a:xfrm>
            <a:off x="8915400" y="5029200"/>
            <a:ext cx="2742480" cy="913680"/>
          </a:xfrm>
          <a:prstGeom prst="rect">
            <a:avLst/>
          </a:prstGeom>
          <a:solidFill>
            <a:srgbClr val="FFDE59"/>
          </a:solidFill>
          <a:ln w="57240">
            <a:solidFill>
              <a:srgbClr val="158466"/>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600" b="0" strike="noStrike" spc="-1">
                <a:solidFill>
                  <a:srgbClr val="000000"/>
                </a:solidFill>
                <a:latin typeface="Calibri"/>
                <a:ea typeface="DejaVu Sans"/>
              </a:rPr>
              <a:t>If you play this game, there is a 50% probability that your profit is 5.63 or </a:t>
            </a:r>
            <a:r>
              <a:rPr lang="en-US" sz="1600" b="1" strike="noStrike" spc="-1">
                <a:solidFill>
                  <a:srgbClr val="000000"/>
                </a:solidFill>
                <a:latin typeface="Calibri"/>
                <a:ea typeface="DejaVu Sans"/>
              </a:rPr>
              <a:t>higher</a:t>
            </a:r>
            <a:endParaRPr lang="en-US" sz="1600" b="0" strike="noStrike" spc="-1">
              <a:latin typeface="Arial"/>
            </a:endParaRPr>
          </a:p>
          <a:p>
            <a:pPr algn="ctr">
              <a:lnSpc>
                <a:spcPct val="100000"/>
              </a:lnSpc>
              <a:buNone/>
            </a:pPr>
            <a:endParaRPr lang="en-US" sz="16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 name="CustomShape 11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000" b="0" strike="noStrike" spc="-1">
                <a:solidFill>
                  <a:srgbClr val="000000"/>
                </a:solidFill>
                <a:latin typeface="Calibri Light"/>
                <a:ea typeface="DejaVu Sans"/>
              </a:rPr>
              <a:t>The Median of a Continuous Distribution</a:t>
            </a:r>
            <a:endParaRPr lang="en-US" sz="4000" b="0" strike="noStrike" spc="-1">
              <a:latin typeface="Arial"/>
            </a:endParaRPr>
          </a:p>
        </p:txBody>
      </p:sp>
      <p:sp>
        <p:nvSpPr>
          <p:cNvPr id="698" name="CustomShape 112"/>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47238BEB-4C6B-4C07-9418-1AB8EFF41533}" type="slidenum">
              <a:rPr lang="en-US" sz="1200" b="0" strike="noStrike" spc="-1">
                <a:solidFill>
                  <a:srgbClr val="8B8B8B"/>
                </a:solidFill>
                <a:latin typeface="Calibri"/>
                <a:ea typeface="DejaVu Sans"/>
              </a:rPr>
              <a:t>50</a:t>
            </a:fld>
            <a:endParaRPr lang="en-US" sz="1200" b="0" strike="noStrike" spc="-1">
              <a:latin typeface="Arial"/>
            </a:endParaRPr>
          </a:p>
        </p:txBody>
      </p:sp>
      <p:pic>
        <p:nvPicPr>
          <p:cNvPr id="699" name="Picture 698"/>
          <p:cNvPicPr/>
          <p:nvPr/>
        </p:nvPicPr>
        <p:blipFill>
          <a:blip r:embed="rId3"/>
          <a:stretch/>
        </p:blipFill>
        <p:spPr>
          <a:xfrm>
            <a:off x="1621800" y="1600560"/>
            <a:ext cx="7771680" cy="5180760"/>
          </a:xfrm>
          <a:prstGeom prst="rect">
            <a:avLst/>
          </a:prstGeom>
          <a:ln w="0">
            <a:noFill/>
          </a:ln>
        </p:spPr>
      </p:pic>
      <p:sp>
        <p:nvSpPr>
          <p:cNvPr id="700" name="CustomShape 123"/>
          <p:cNvSpPr/>
          <p:nvPr/>
        </p:nvSpPr>
        <p:spPr>
          <a:xfrm>
            <a:off x="6400800" y="2286000"/>
            <a:ext cx="2742480" cy="456480"/>
          </a:xfrm>
          <a:prstGeom prst="rect">
            <a:avLst/>
          </a:prstGeom>
          <a:solidFill>
            <a:srgbClr val="F7D1D5"/>
          </a:solidFill>
          <a:ln w="57240">
            <a:solidFill>
              <a:srgbClr val="77BC65"/>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a:solidFill>
                  <a:srgbClr val="000000"/>
                </a:solidFill>
                <a:latin typeface="Calibri"/>
                <a:ea typeface="DejaVu Sans"/>
              </a:rPr>
              <a:t>Median ≈ 5.63</a:t>
            </a:r>
            <a:endParaRPr lang="en-US" sz="1800" b="0" strike="noStrike" spc="-1">
              <a:latin typeface="Arial"/>
            </a:endParaRPr>
          </a:p>
          <a:p>
            <a:pPr algn="ctr">
              <a:lnSpc>
                <a:spcPct val="100000"/>
              </a:lnSpc>
              <a:buNone/>
            </a:pPr>
            <a:endParaRPr lang="en-US" sz="1600" b="0" strike="noStrike" spc="-1">
              <a:latin typeface="Arial"/>
            </a:endParaRPr>
          </a:p>
        </p:txBody>
      </p:sp>
      <p:sp>
        <p:nvSpPr>
          <p:cNvPr id="701" name="CustomShape 124"/>
          <p:cNvSpPr/>
          <p:nvPr/>
        </p:nvSpPr>
        <p:spPr>
          <a:xfrm>
            <a:off x="2743200" y="2286000"/>
            <a:ext cx="2742480" cy="456480"/>
          </a:xfrm>
          <a:prstGeom prst="rect">
            <a:avLst/>
          </a:prstGeom>
          <a:solidFill>
            <a:srgbClr val="FFB66C"/>
          </a:solidFill>
          <a:ln w="57240">
            <a:solidFill>
              <a:srgbClr val="55308D"/>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1800" b="0" strike="noStrike" spc="-1">
                <a:solidFill>
                  <a:srgbClr val="000000"/>
                </a:solidFill>
                <a:latin typeface="Calibri"/>
                <a:ea typeface="DejaVu Sans"/>
              </a:rPr>
              <a:t>Median ≈ 4.37</a:t>
            </a:r>
            <a:endParaRPr lang="en-US" sz="1800" b="0" strike="noStrike" spc="-1">
              <a:latin typeface="Arial"/>
            </a:endParaRPr>
          </a:p>
          <a:p>
            <a:pPr algn="ctr">
              <a:lnSpc>
                <a:spcPct val="100000"/>
              </a:lnSpc>
              <a:buNone/>
            </a:pPr>
            <a:endParaRPr lang="en-US" sz="1600" b="0" strike="noStrike" spc="-1">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000" b="0" strike="noStrike" spc="-1">
                <a:solidFill>
                  <a:srgbClr val="000000"/>
                </a:solidFill>
                <a:latin typeface="Calibri Light"/>
                <a:ea typeface="DejaVu Sans"/>
              </a:rPr>
              <a:t>Mean vs Median tells something about shape of a distribution</a:t>
            </a:r>
            <a:endParaRPr lang="en-US" sz="4000" b="0" strike="noStrike" spc="-1">
              <a:latin typeface="Arial"/>
            </a:endParaRPr>
          </a:p>
        </p:txBody>
      </p:sp>
      <p:sp>
        <p:nvSpPr>
          <p:cNvPr id="703" name="CustomShape 3"/>
          <p:cNvSpPr/>
          <p:nvPr/>
        </p:nvSpPr>
        <p:spPr>
          <a:xfrm>
            <a:off x="1046880" y="4989240"/>
            <a:ext cx="2295000" cy="91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buNone/>
            </a:pPr>
            <a:r>
              <a:rPr lang="en-US" sz="1800" b="0" strike="noStrike" spc="-1">
                <a:solidFill>
                  <a:srgbClr val="000000"/>
                </a:solidFill>
                <a:latin typeface="Calibri"/>
                <a:ea typeface="DejaVu Sans"/>
              </a:rPr>
              <a:t>Symmetric distribution</a:t>
            </a:r>
            <a:endParaRPr lang="en-US" sz="1800" b="0" strike="noStrike" spc="-1">
              <a:latin typeface="Arial"/>
            </a:endParaRPr>
          </a:p>
          <a:p>
            <a:pPr algn="ctr">
              <a:lnSpc>
                <a:spcPct val="100000"/>
              </a:lnSpc>
              <a:buNone/>
            </a:pPr>
            <a:endParaRPr lang="en-US" sz="1800" b="0" strike="noStrike" spc="-1">
              <a:latin typeface="Arial"/>
            </a:endParaRPr>
          </a:p>
          <a:p>
            <a:pPr algn="ctr">
              <a:lnSpc>
                <a:spcPct val="100000"/>
              </a:lnSpc>
              <a:buNone/>
            </a:pPr>
            <a:r>
              <a:rPr lang="en-US" sz="1800" b="0" i="1" strike="noStrike" spc="-1">
                <a:solidFill>
                  <a:srgbClr val="800080"/>
                </a:solidFill>
                <a:latin typeface="Calibri"/>
                <a:ea typeface="DejaVu Sans"/>
              </a:rPr>
              <a:t>Mean</a:t>
            </a:r>
            <a:r>
              <a:rPr lang="en-US" sz="1800" b="0" i="1" strike="noStrike" spc="-1">
                <a:solidFill>
                  <a:srgbClr val="000000"/>
                </a:solidFill>
                <a:latin typeface="Calibri"/>
                <a:ea typeface="DejaVu Sans"/>
              </a:rPr>
              <a:t> = </a:t>
            </a:r>
            <a:r>
              <a:rPr lang="en-US" sz="1800" b="0" i="1" strike="noStrike" spc="-1">
                <a:solidFill>
                  <a:srgbClr val="FF8000"/>
                </a:solidFill>
                <a:latin typeface="Calibri"/>
                <a:ea typeface="DejaVu Sans"/>
              </a:rPr>
              <a:t>Median</a:t>
            </a:r>
            <a:endParaRPr lang="en-US" sz="1800" b="0" strike="noStrike" spc="-1">
              <a:latin typeface="Arial"/>
            </a:endParaRPr>
          </a:p>
        </p:txBody>
      </p:sp>
      <p:sp>
        <p:nvSpPr>
          <p:cNvPr id="704" name="CustomShape 5"/>
          <p:cNvSpPr/>
          <p:nvPr/>
        </p:nvSpPr>
        <p:spPr>
          <a:xfrm>
            <a:off x="5065560" y="4989240"/>
            <a:ext cx="1983960" cy="91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buNone/>
            </a:pPr>
            <a:r>
              <a:rPr lang="en-US" sz="1800" b="0" strike="noStrike" spc="-1">
                <a:solidFill>
                  <a:srgbClr val="000000"/>
                </a:solidFill>
                <a:latin typeface="Calibri"/>
                <a:ea typeface="DejaVu Sans"/>
              </a:rPr>
              <a:t>Skewed to the right</a:t>
            </a:r>
            <a:endParaRPr lang="en-US" sz="1800" b="0" strike="noStrike" spc="-1">
              <a:latin typeface="Arial"/>
            </a:endParaRPr>
          </a:p>
          <a:p>
            <a:pPr algn="ctr">
              <a:lnSpc>
                <a:spcPct val="100000"/>
              </a:lnSpc>
              <a:buNone/>
            </a:pPr>
            <a:endParaRPr lang="en-US" sz="1800" b="0" strike="noStrike" spc="-1">
              <a:latin typeface="Arial"/>
            </a:endParaRPr>
          </a:p>
          <a:p>
            <a:pPr algn="ctr">
              <a:lnSpc>
                <a:spcPct val="100000"/>
              </a:lnSpc>
              <a:buNone/>
            </a:pPr>
            <a:r>
              <a:rPr lang="en-US" sz="1800" b="0" i="1" strike="noStrike" spc="-1">
                <a:solidFill>
                  <a:srgbClr val="800080"/>
                </a:solidFill>
                <a:latin typeface="Calibri"/>
                <a:ea typeface="DejaVu Sans"/>
              </a:rPr>
              <a:t>Mean</a:t>
            </a:r>
            <a:r>
              <a:rPr lang="en-US" sz="1800" b="0" i="1" strike="noStrike" spc="-1">
                <a:solidFill>
                  <a:srgbClr val="000000"/>
                </a:solidFill>
                <a:latin typeface="Calibri"/>
                <a:ea typeface="DejaVu Sans"/>
              </a:rPr>
              <a:t> &gt; </a:t>
            </a:r>
            <a:r>
              <a:rPr lang="en-US" sz="1800" b="0" i="1" strike="noStrike" spc="-1">
                <a:solidFill>
                  <a:srgbClr val="FF8000"/>
                </a:solidFill>
                <a:latin typeface="Calibri"/>
                <a:ea typeface="DejaVu Sans"/>
              </a:rPr>
              <a:t>Median</a:t>
            </a:r>
            <a:endParaRPr lang="en-US" sz="1800" b="0" strike="noStrike" spc="-1">
              <a:latin typeface="Arial"/>
            </a:endParaRPr>
          </a:p>
        </p:txBody>
      </p:sp>
      <p:sp>
        <p:nvSpPr>
          <p:cNvPr id="705" name="CustomShape 7"/>
          <p:cNvSpPr/>
          <p:nvPr/>
        </p:nvSpPr>
        <p:spPr>
          <a:xfrm>
            <a:off x="9155160" y="4989240"/>
            <a:ext cx="1854360" cy="91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buNone/>
            </a:pPr>
            <a:r>
              <a:rPr lang="en-US" sz="1800" b="0" strike="noStrike" spc="-1">
                <a:solidFill>
                  <a:srgbClr val="000000"/>
                </a:solidFill>
                <a:latin typeface="Calibri"/>
                <a:ea typeface="DejaVu Sans"/>
              </a:rPr>
              <a:t>Skewed to the left</a:t>
            </a:r>
            <a:endParaRPr lang="en-US" sz="1800" b="0" strike="noStrike" spc="-1">
              <a:latin typeface="Arial"/>
            </a:endParaRPr>
          </a:p>
          <a:p>
            <a:pPr algn="ctr">
              <a:lnSpc>
                <a:spcPct val="100000"/>
              </a:lnSpc>
              <a:buNone/>
            </a:pPr>
            <a:endParaRPr lang="en-US" sz="1800" b="0" strike="noStrike" spc="-1">
              <a:latin typeface="Arial"/>
            </a:endParaRPr>
          </a:p>
          <a:p>
            <a:pPr algn="ctr">
              <a:lnSpc>
                <a:spcPct val="100000"/>
              </a:lnSpc>
              <a:buNone/>
            </a:pPr>
            <a:r>
              <a:rPr lang="en-US" sz="1800" b="0" i="1" strike="noStrike" spc="-1">
                <a:solidFill>
                  <a:srgbClr val="800080"/>
                </a:solidFill>
                <a:latin typeface="Calibri"/>
                <a:ea typeface="DejaVu Sans"/>
              </a:rPr>
              <a:t>Mean</a:t>
            </a:r>
            <a:r>
              <a:rPr lang="en-US" sz="1800" b="0" i="1" strike="noStrike" spc="-1">
                <a:solidFill>
                  <a:srgbClr val="000000"/>
                </a:solidFill>
                <a:latin typeface="Calibri"/>
                <a:ea typeface="DejaVu Sans"/>
              </a:rPr>
              <a:t> &lt; </a:t>
            </a:r>
            <a:r>
              <a:rPr lang="en-US" sz="1800" b="0" i="1" strike="noStrike" spc="-1">
                <a:solidFill>
                  <a:srgbClr val="FF8000"/>
                </a:solidFill>
                <a:latin typeface="Calibri"/>
                <a:ea typeface="DejaVu Sans"/>
              </a:rPr>
              <a:t>Median</a:t>
            </a:r>
            <a:endParaRPr lang="en-US" sz="1800" b="0" strike="noStrike" spc="-1">
              <a:latin typeface="Arial"/>
            </a:endParaRPr>
          </a:p>
        </p:txBody>
      </p:sp>
      <p:sp>
        <p:nvSpPr>
          <p:cNvPr id="706" name="CustomShape 8"/>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71ACF0C5-4C6F-4753-99F4-1F3A32D90A38}" type="slidenum">
              <a:rPr lang="en-US" sz="1200" b="0" strike="noStrike" spc="-1">
                <a:solidFill>
                  <a:srgbClr val="8B8B8B"/>
                </a:solidFill>
                <a:latin typeface="Calibri"/>
                <a:ea typeface="DejaVu Sans"/>
              </a:rPr>
              <a:t>51</a:t>
            </a:fld>
            <a:endParaRPr lang="en-US" sz="1200" b="0" strike="noStrike" spc="-1">
              <a:latin typeface="Arial"/>
            </a:endParaRPr>
          </a:p>
        </p:txBody>
      </p:sp>
      <p:pic>
        <p:nvPicPr>
          <p:cNvPr id="707" name="Picture 706"/>
          <p:cNvPicPr/>
          <p:nvPr/>
        </p:nvPicPr>
        <p:blipFill>
          <a:blip r:embed="rId3"/>
          <a:stretch/>
        </p:blipFill>
        <p:spPr>
          <a:xfrm>
            <a:off x="7785000" y="1900800"/>
            <a:ext cx="4114080" cy="2742480"/>
          </a:xfrm>
          <a:prstGeom prst="rect">
            <a:avLst/>
          </a:prstGeom>
          <a:ln w="0">
            <a:noFill/>
          </a:ln>
        </p:spPr>
      </p:pic>
      <p:pic>
        <p:nvPicPr>
          <p:cNvPr id="708" name="Picture 707"/>
          <p:cNvPicPr/>
          <p:nvPr/>
        </p:nvPicPr>
        <p:blipFill>
          <a:blip r:embed="rId4"/>
          <a:stretch/>
        </p:blipFill>
        <p:spPr>
          <a:xfrm>
            <a:off x="117000" y="1900800"/>
            <a:ext cx="4114080" cy="2742480"/>
          </a:xfrm>
          <a:prstGeom prst="rect">
            <a:avLst/>
          </a:prstGeom>
          <a:ln w="0">
            <a:noFill/>
          </a:ln>
        </p:spPr>
      </p:pic>
      <p:pic>
        <p:nvPicPr>
          <p:cNvPr id="709" name="Picture 708"/>
          <p:cNvPicPr/>
          <p:nvPr/>
        </p:nvPicPr>
        <p:blipFill>
          <a:blip r:embed="rId5"/>
          <a:stretch/>
        </p:blipFill>
        <p:spPr>
          <a:xfrm>
            <a:off x="3933360" y="1901160"/>
            <a:ext cx="4114080" cy="2742480"/>
          </a:xfrm>
          <a:prstGeom prst="rect">
            <a:avLst/>
          </a:prstGeom>
          <a:ln w="0">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Why is that?</a:t>
            </a:r>
            <a:endParaRPr lang="en-US" sz="4400" b="0" strike="noStrike" spc="-1">
              <a:latin typeface="Arial"/>
            </a:endParaRPr>
          </a:p>
        </p:txBody>
      </p:sp>
      <p:sp>
        <p:nvSpPr>
          <p:cNvPr id="711" name="CustomShape 2"/>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0A2430A6-A3FB-43BC-8C2C-560C34860F7F}" type="slidenum">
              <a:rPr lang="en-US" sz="1200" b="0" strike="noStrike" spc="-1">
                <a:solidFill>
                  <a:srgbClr val="8B8B8B"/>
                </a:solidFill>
                <a:latin typeface="Calibri"/>
                <a:ea typeface="DejaVu Sans"/>
              </a:rPr>
              <a:t>52</a:t>
            </a:fld>
            <a:endParaRPr lang="en-US" sz="1200" b="0" strike="noStrike" spc="-1">
              <a:latin typeface="Arial"/>
            </a:endParaRPr>
          </a:p>
        </p:txBody>
      </p:sp>
      <p:sp>
        <p:nvSpPr>
          <p:cNvPr id="712" name="CustomShape 3"/>
          <p:cNvSpPr/>
          <p:nvPr/>
        </p:nvSpPr>
        <p:spPr>
          <a:xfrm>
            <a:off x="548640" y="2057760"/>
            <a:ext cx="10970280" cy="397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432000" indent="-322920">
              <a:lnSpc>
                <a:spcPct val="100000"/>
              </a:lnSpc>
              <a:spcBef>
                <a:spcPts val="1417"/>
              </a:spcBef>
              <a:buClr>
                <a:srgbClr val="000000"/>
              </a:buClr>
              <a:buSzPct val="45000"/>
              <a:buFont typeface="Wingdings" charset="2"/>
              <a:buChar char=""/>
            </a:pPr>
            <a:r>
              <a:rPr lang="en-US" sz="3200" b="0" strike="noStrike" spc="-1">
                <a:solidFill>
                  <a:srgbClr val="000000"/>
                </a:solidFill>
                <a:latin typeface="Arial"/>
                <a:ea typeface="DejaVu Sans"/>
              </a:rPr>
              <a:t>x = 3, 5, 4, 8, 10</a:t>
            </a:r>
            <a:endParaRPr lang="en-US" sz="3200" b="0" strike="noStrike" spc="-1">
              <a:latin typeface="Arial"/>
            </a:endParaRPr>
          </a:p>
          <a:p>
            <a:pPr marL="720000" indent="-322920">
              <a:lnSpc>
                <a:spcPct val="100000"/>
              </a:lnSpc>
              <a:spcBef>
                <a:spcPts val="1134"/>
              </a:spcBef>
              <a:buClr>
                <a:srgbClr val="000000"/>
              </a:buClr>
              <a:buSzPct val="45000"/>
              <a:buFont typeface="Wingdings" charset="2"/>
              <a:buChar char=""/>
            </a:pPr>
            <a:r>
              <a:rPr lang="en-US" sz="2800" b="0" strike="noStrike" spc="-1">
                <a:solidFill>
                  <a:srgbClr val="000000"/>
                </a:solidFill>
                <a:latin typeface="Arial"/>
                <a:ea typeface="DejaVu Sans"/>
              </a:rPr>
              <a:t>Mean: (3 + 5 + 4 + 8 + 10) / 5 = 6</a:t>
            </a:r>
            <a:endParaRPr lang="en-US" sz="2800" b="0" strike="noStrike" spc="-1">
              <a:latin typeface="Arial"/>
            </a:endParaRPr>
          </a:p>
          <a:p>
            <a:pPr marL="720000" indent="-322920">
              <a:lnSpc>
                <a:spcPct val="100000"/>
              </a:lnSpc>
              <a:spcBef>
                <a:spcPts val="1134"/>
              </a:spcBef>
              <a:buClr>
                <a:srgbClr val="000000"/>
              </a:buClr>
              <a:buSzPct val="45000"/>
              <a:buFont typeface="Wingdings" charset="2"/>
              <a:buChar char=""/>
            </a:pPr>
            <a:r>
              <a:rPr lang="en-US" sz="2800" b="0" strike="noStrike" spc="-1">
                <a:solidFill>
                  <a:srgbClr val="000000"/>
                </a:solidFill>
                <a:latin typeface="Arial"/>
                <a:ea typeface="DejaVu Sans"/>
              </a:rPr>
              <a:t>Median: n is odd, so middle number of sorted x → 5</a:t>
            </a:r>
            <a:endParaRPr lang="en-US" sz="2800" b="0" strike="noStrike" spc="-1">
              <a:latin typeface="Arial"/>
            </a:endParaRPr>
          </a:p>
          <a:p>
            <a:pPr marL="432000" indent="-322920">
              <a:lnSpc>
                <a:spcPct val="100000"/>
              </a:lnSpc>
              <a:spcBef>
                <a:spcPts val="1417"/>
              </a:spcBef>
              <a:buClr>
                <a:srgbClr val="000000"/>
              </a:buClr>
              <a:buSzPct val="45000"/>
              <a:buFont typeface="Wingdings" charset="2"/>
              <a:buChar char=""/>
            </a:pPr>
            <a:r>
              <a:rPr lang="en-US" sz="3200" b="0" strike="noStrike" spc="-1">
                <a:solidFill>
                  <a:srgbClr val="000000"/>
                </a:solidFill>
                <a:latin typeface="Arial"/>
                <a:ea typeface="DejaVu Sans"/>
              </a:rPr>
              <a:t>x = 3, 5, 4, 8, 9000</a:t>
            </a:r>
            <a:endParaRPr lang="en-US" sz="3200" b="0" strike="noStrike" spc="-1">
              <a:latin typeface="Arial"/>
            </a:endParaRPr>
          </a:p>
          <a:p>
            <a:pPr marL="720000" indent="-322920">
              <a:lnSpc>
                <a:spcPct val="100000"/>
              </a:lnSpc>
              <a:spcBef>
                <a:spcPts val="1134"/>
              </a:spcBef>
              <a:buClr>
                <a:srgbClr val="000000"/>
              </a:buClr>
              <a:buSzPct val="45000"/>
              <a:buFont typeface="Wingdings" charset="2"/>
              <a:buChar char=""/>
            </a:pPr>
            <a:r>
              <a:rPr lang="en-US" sz="2800" b="0" strike="noStrike" spc="-1">
                <a:solidFill>
                  <a:srgbClr val="000000"/>
                </a:solidFill>
                <a:latin typeface="Arial"/>
                <a:ea typeface="DejaVu Sans"/>
              </a:rPr>
              <a:t>Mean: (3 + 5 + 4 + 8 + 9000) / 5 = 1804</a:t>
            </a:r>
            <a:endParaRPr lang="en-US" sz="2800" b="0" strike="noStrike" spc="-1">
              <a:latin typeface="Arial"/>
            </a:endParaRPr>
          </a:p>
          <a:p>
            <a:pPr marL="720000" indent="-322920">
              <a:lnSpc>
                <a:spcPct val="100000"/>
              </a:lnSpc>
              <a:spcBef>
                <a:spcPts val="1134"/>
              </a:spcBef>
              <a:buClr>
                <a:srgbClr val="000000"/>
              </a:buClr>
              <a:buSzPct val="45000"/>
              <a:buFont typeface="Wingdings" charset="2"/>
              <a:buChar char=""/>
            </a:pPr>
            <a:r>
              <a:rPr lang="en-US" sz="2800" b="0" strike="noStrike" spc="-1">
                <a:solidFill>
                  <a:srgbClr val="000000"/>
                </a:solidFill>
                <a:latin typeface="Arial"/>
                <a:ea typeface="DejaVu Sans"/>
              </a:rPr>
              <a:t>Median: n is odd, so middle number of sorted x → 5</a:t>
            </a:r>
            <a:endParaRPr lang="en-US" sz="2800" b="0" strike="noStrike" spc="-1">
              <a:latin typeface="Arial"/>
            </a:endParaRPr>
          </a:p>
          <a:p>
            <a:pPr>
              <a:lnSpc>
                <a:spcPct val="100000"/>
              </a:lnSpc>
              <a:spcBef>
                <a:spcPts val="1134"/>
              </a:spcBef>
              <a:buNone/>
            </a:pPr>
            <a:endParaRPr lang="en-US" sz="2800" b="0" strike="noStrike" spc="-1">
              <a:latin typeface="Arial"/>
            </a:endParaRPr>
          </a:p>
        </p:txBody>
      </p:sp>
      <p:sp>
        <p:nvSpPr>
          <p:cNvPr id="713" name="CustomShape 115"/>
          <p:cNvSpPr/>
          <p:nvPr/>
        </p:nvSpPr>
        <p:spPr>
          <a:xfrm>
            <a:off x="2057400" y="5805000"/>
            <a:ext cx="7771680" cy="913680"/>
          </a:xfrm>
          <a:prstGeom prst="rect">
            <a:avLst/>
          </a:prstGeom>
          <a:solidFill>
            <a:srgbClr val="F7D1D5"/>
          </a:solidFill>
          <a:ln w="57240">
            <a:solidFill>
              <a:srgbClr val="77BC65"/>
            </a:solidFill>
            <a:round/>
          </a:ln>
        </p:spPr>
        <p:style>
          <a:lnRef idx="0">
            <a:scrgbClr r="0" g="0" b="0"/>
          </a:lnRef>
          <a:fillRef idx="0">
            <a:scrgbClr r="0" g="0" b="0"/>
          </a:fillRef>
          <a:effectRef idx="0">
            <a:scrgbClr r="0" g="0" b="0"/>
          </a:effectRef>
          <a:fontRef idx="minor"/>
        </p:style>
        <p:txBody>
          <a:bodyPr lIns="118440" tIns="73440" rIns="118440" bIns="73440" anchor="t">
            <a:noAutofit/>
          </a:bodyPr>
          <a:lstStyle/>
          <a:p>
            <a:pPr algn="ctr">
              <a:lnSpc>
                <a:spcPct val="100000"/>
              </a:lnSpc>
              <a:buNone/>
            </a:pPr>
            <a:r>
              <a:rPr lang="en-US" sz="2200" b="0" strike="noStrike" spc="-1">
                <a:solidFill>
                  <a:srgbClr val="000000"/>
                </a:solidFill>
                <a:latin typeface="Calibri"/>
                <a:ea typeface="DejaVu Sans"/>
              </a:rPr>
              <a:t>The median ignores extreme values, so is less affected by those (compared to the mean)</a:t>
            </a:r>
            <a:endParaRPr lang="en-US" sz="2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7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7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7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7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71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7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 name="CustomShape 1"/>
          <p:cNvSpPr/>
          <p:nvPr/>
        </p:nvSpPr>
        <p:spPr>
          <a:xfrm>
            <a:off x="838080" y="500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Overview of Today</a:t>
            </a:r>
            <a:endParaRPr lang="en-US" sz="4400" b="0" strike="noStrike" spc="-1">
              <a:latin typeface="Arial"/>
            </a:endParaRPr>
          </a:p>
        </p:txBody>
      </p:sp>
      <p:sp>
        <p:nvSpPr>
          <p:cNvPr id="715"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1500" lnSpcReduction="20000"/>
          </a:bodyPr>
          <a:lstStyle/>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Why are statistics needed?</a:t>
            </a:r>
            <a:endParaRPr lang="en-US" sz="2800" b="0" strike="noStrike" spc="-1" dirty="0">
              <a:latin typeface="Arial"/>
            </a:endParaRPr>
          </a:p>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A little bit about the course</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The book: </a:t>
            </a:r>
            <a:r>
              <a:rPr lang="en-US" sz="2400" b="0" strike="noStrike" spc="-1" dirty="0" err="1">
                <a:solidFill>
                  <a:srgbClr val="000000"/>
                </a:solidFill>
                <a:latin typeface="Calibri"/>
                <a:ea typeface="DejaVu Sans"/>
              </a:rPr>
              <a:t>Agresti</a:t>
            </a:r>
            <a:r>
              <a:rPr lang="en-US" sz="2400" b="0" strike="noStrike" spc="-1" dirty="0">
                <a:solidFill>
                  <a:srgbClr val="000000"/>
                </a:solidFill>
                <a:latin typeface="Calibri"/>
                <a:ea typeface="DejaVu Sans"/>
              </a:rPr>
              <a:t>  &amp; Franklin</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Comparison to high school math</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How to prepare</a:t>
            </a:r>
            <a:endParaRPr lang="en-US" sz="2400" b="0" strike="noStrike" spc="-1" dirty="0">
              <a:latin typeface="Arial"/>
            </a:endParaRPr>
          </a:p>
          <a:p>
            <a:pPr marL="514440" indent="-512640">
              <a:lnSpc>
                <a:spcPct val="90000"/>
              </a:lnSpc>
              <a:spcBef>
                <a:spcPts val="1001"/>
              </a:spcBef>
              <a:buClr>
                <a:srgbClr val="000000"/>
              </a:buClr>
              <a:buFont typeface="StarSymbol"/>
              <a:buAutoNum type="arabicPeriod"/>
            </a:pPr>
            <a:r>
              <a:rPr lang="en-US" sz="2800" b="0" strike="noStrike" spc="-1" dirty="0">
                <a:solidFill>
                  <a:srgbClr val="000000"/>
                </a:solidFill>
                <a:latin typeface="Calibri"/>
                <a:ea typeface="DejaVu Sans"/>
              </a:rPr>
              <a:t>How can you explore data?</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Types of data</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Displaying data</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Characteristics of a distribution</a:t>
            </a:r>
            <a:endParaRPr lang="en-US" sz="2400" b="0" strike="noStrike" spc="-1" dirty="0">
              <a:latin typeface="Arial"/>
            </a:endParaRPr>
          </a:p>
          <a:p>
            <a:pPr marL="514440" indent="-512640">
              <a:lnSpc>
                <a:spcPct val="90000"/>
              </a:lnSpc>
              <a:spcBef>
                <a:spcPts val="1001"/>
              </a:spcBef>
              <a:buClr>
                <a:srgbClr val="ED7D31"/>
              </a:buClr>
              <a:buFont typeface="StarSymbol"/>
              <a:buAutoNum type="arabicPeriod"/>
            </a:pPr>
            <a:r>
              <a:rPr lang="en-US" sz="2800" b="1" strike="noStrike" spc="-1" dirty="0">
                <a:solidFill>
                  <a:srgbClr val="ED7D31"/>
                </a:solidFill>
                <a:latin typeface="Calibri"/>
                <a:ea typeface="DejaVu Sans"/>
              </a:rPr>
              <a:t>Recap</a:t>
            </a:r>
            <a:endParaRPr lang="en-US" sz="28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Next time</a:t>
            </a:r>
            <a:endParaRPr lang="en-US" sz="2400" b="0" strike="noStrike" spc="-1" dirty="0">
              <a:latin typeface="Arial"/>
            </a:endParaRPr>
          </a:p>
          <a:p>
            <a:pPr marL="685800" lvl="1" indent="-226800">
              <a:lnSpc>
                <a:spcPct val="90000"/>
              </a:lnSpc>
              <a:spcBef>
                <a:spcPts val="499"/>
              </a:spcBef>
              <a:buClr>
                <a:srgbClr val="000000"/>
              </a:buClr>
              <a:buFont typeface="Arial"/>
              <a:buChar char="•"/>
            </a:pPr>
            <a:r>
              <a:rPr lang="en-US" sz="2400" b="0" strike="noStrike" spc="-1" dirty="0">
                <a:solidFill>
                  <a:srgbClr val="000000"/>
                </a:solidFill>
                <a:latin typeface="Calibri"/>
                <a:ea typeface="DejaVu Sans"/>
              </a:rPr>
              <a:t>Example exam question</a:t>
            </a:r>
            <a:endParaRPr lang="en-US" sz="2400" b="0" strike="noStrike" spc="-1" dirty="0">
              <a:latin typeface="Arial"/>
            </a:endParaRPr>
          </a:p>
        </p:txBody>
      </p:sp>
      <p:sp>
        <p:nvSpPr>
          <p:cNvPr id="716"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9C1EABB2-08D3-4C18-8176-9F1763F5F64B}" type="slidenum">
              <a:rPr lang="en-US" sz="1200" b="0" strike="noStrike" spc="-1">
                <a:solidFill>
                  <a:srgbClr val="8B8B8B"/>
                </a:solidFill>
                <a:latin typeface="Calibri"/>
                <a:ea typeface="DejaVu Sans"/>
              </a:rPr>
              <a:t>53</a:t>
            </a:fld>
            <a:endParaRPr lang="en-US" sz="1200" b="0" strike="noStrike" spc="-1">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Example question</a:t>
            </a:r>
            <a:endParaRPr lang="en-US" sz="4400" b="0" strike="noStrike" spc="-1">
              <a:latin typeface="Arial"/>
            </a:endParaRPr>
          </a:p>
        </p:txBody>
      </p:sp>
      <p:sp>
        <p:nvSpPr>
          <p:cNvPr id="718" name="CustomShape 2"/>
          <p:cNvSpPr/>
          <p:nvPr/>
        </p:nvSpPr>
        <p:spPr>
          <a:xfrm>
            <a:off x="838080" y="182556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8000"/>
          </a:bodyPr>
          <a:lstStyle/>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The figure displays a skewed distribution</a:t>
            </a:r>
            <a:endParaRPr lang="en-US" sz="2800" b="0" strike="noStrike" spc="-1">
              <a:latin typeface="Arial"/>
            </a:endParaRPr>
          </a:p>
          <a:p>
            <a:pPr>
              <a:lnSpc>
                <a:spcPct val="90000"/>
              </a:lnSpc>
              <a:spcBef>
                <a:spcPts val="1001"/>
              </a:spcBef>
              <a:buNone/>
            </a:pPr>
            <a:endParaRPr lang="en-US" sz="2800" b="0" strike="noStrike" spc="-1">
              <a:latin typeface="Arial"/>
            </a:endParaRPr>
          </a:p>
          <a:p>
            <a:pPr>
              <a:lnSpc>
                <a:spcPct val="90000"/>
              </a:lnSpc>
              <a:spcBef>
                <a:spcPts val="1001"/>
              </a:spcBef>
              <a:buNone/>
            </a:pPr>
            <a:endParaRPr lang="en-US" sz="2800" b="0" strike="noStrike" spc="-1">
              <a:latin typeface="Arial"/>
            </a:endParaRPr>
          </a:p>
          <a:p>
            <a:pPr>
              <a:lnSpc>
                <a:spcPct val="90000"/>
              </a:lnSpc>
              <a:spcBef>
                <a:spcPts val="1001"/>
              </a:spcBef>
              <a:buNone/>
            </a:pPr>
            <a:endParaRPr lang="en-US" sz="2800" b="0" strike="noStrike" spc="-1">
              <a:latin typeface="Arial"/>
            </a:endParaRPr>
          </a:p>
          <a:p>
            <a:pPr marL="228600" indent="-22680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Which statement about the mean and median of this distribution is true?</a:t>
            </a:r>
            <a:endParaRPr lang="en-US" sz="2800" b="0" strike="noStrike" spc="-1">
              <a:latin typeface="Arial"/>
            </a:endParaRPr>
          </a:p>
          <a:p>
            <a:pPr marL="514440" indent="-512640">
              <a:lnSpc>
                <a:spcPct val="90000"/>
              </a:lnSpc>
              <a:spcBef>
                <a:spcPts val="1001"/>
              </a:spcBef>
              <a:buClr>
                <a:srgbClr val="000000"/>
              </a:buClr>
              <a:buFont typeface="StarSymbol"/>
              <a:buAutoNum type="alphaLcPeriod"/>
            </a:pPr>
            <a:r>
              <a:rPr lang="en-US" sz="2800" b="0" strike="noStrike" spc="-1">
                <a:solidFill>
                  <a:srgbClr val="000000"/>
                </a:solidFill>
                <a:latin typeface="Calibri"/>
                <a:ea typeface="DejaVu Sans"/>
              </a:rPr>
              <a:t>median &lt; mean</a:t>
            </a:r>
            <a:endParaRPr lang="en-US" sz="2800" b="0" strike="noStrike" spc="-1">
              <a:latin typeface="Arial"/>
            </a:endParaRPr>
          </a:p>
          <a:p>
            <a:pPr marL="514440" indent="-512640">
              <a:lnSpc>
                <a:spcPct val="90000"/>
              </a:lnSpc>
              <a:spcBef>
                <a:spcPts val="1001"/>
              </a:spcBef>
              <a:buClr>
                <a:srgbClr val="000000"/>
              </a:buClr>
              <a:buFont typeface="StarSymbol"/>
              <a:buAutoNum type="alphaLcPeriod"/>
            </a:pPr>
            <a:r>
              <a:rPr lang="en-US" sz="2800" b="0" strike="noStrike" spc="-1">
                <a:solidFill>
                  <a:srgbClr val="000000"/>
                </a:solidFill>
                <a:latin typeface="Calibri"/>
                <a:ea typeface="DejaVu Sans"/>
              </a:rPr>
              <a:t>median = mean</a:t>
            </a:r>
            <a:endParaRPr lang="en-US" sz="2800" b="0" strike="noStrike" spc="-1">
              <a:latin typeface="Arial"/>
            </a:endParaRPr>
          </a:p>
          <a:p>
            <a:pPr marL="514440" indent="-512640">
              <a:lnSpc>
                <a:spcPct val="90000"/>
              </a:lnSpc>
              <a:spcBef>
                <a:spcPts val="1001"/>
              </a:spcBef>
              <a:buClr>
                <a:srgbClr val="000000"/>
              </a:buClr>
              <a:buFont typeface="StarSymbol"/>
              <a:buAutoNum type="alphaLcPeriod"/>
            </a:pPr>
            <a:r>
              <a:rPr lang="en-US" sz="2800" b="0" strike="noStrike" spc="-1">
                <a:solidFill>
                  <a:srgbClr val="000000"/>
                </a:solidFill>
                <a:latin typeface="Calibri"/>
                <a:ea typeface="DejaVu Sans"/>
              </a:rPr>
              <a:t>median &gt; mean</a:t>
            </a:r>
            <a:endParaRPr lang="en-US" sz="2800" b="0" strike="noStrike" spc="-1">
              <a:latin typeface="Arial"/>
            </a:endParaRPr>
          </a:p>
        </p:txBody>
      </p:sp>
      <p:pic>
        <p:nvPicPr>
          <p:cNvPr id="719" name="Picture 2"/>
          <p:cNvPicPr/>
          <p:nvPr/>
        </p:nvPicPr>
        <p:blipFill>
          <a:blip r:embed="rId3"/>
          <a:stretch/>
        </p:blipFill>
        <p:spPr>
          <a:xfrm>
            <a:off x="8229600" y="-299160"/>
            <a:ext cx="4213440" cy="4111920"/>
          </a:xfrm>
          <a:prstGeom prst="rect">
            <a:avLst/>
          </a:prstGeom>
          <a:ln w="0">
            <a:noFill/>
          </a:ln>
        </p:spPr>
      </p:pic>
      <p:sp>
        <p:nvSpPr>
          <p:cNvPr id="720"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543F4E57-8E7A-4B22-8502-73E7C1622257}" type="slidenum">
              <a:rPr lang="en-US" sz="1200" b="0" strike="noStrike" spc="-1">
                <a:solidFill>
                  <a:srgbClr val="8B8B8B"/>
                </a:solidFill>
                <a:latin typeface="Calibri"/>
                <a:ea typeface="DejaVu Sans"/>
              </a:rPr>
              <a:t>54</a:t>
            </a:fld>
            <a:endParaRPr lang="en-US" sz="1200" b="0" strike="noStrike" spc="-1">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CustomShape 1"/>
          <p:cNvSpPr/>
          <p:nvPr/>
        </p:nvSpPr>
        <p:spPr>
          <a:xfrm>
            <a:off x="838080" y="365040"/>
            <a:ext cx="10512720" cy="1322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Recap of Today</a:t>
            </a:r>
            <a:endParaRPr lang="en-US" sz="4400" b="0" strike="noStrike" spc="-1">
              <a:latin typeface="Arial"/>
            </a:endParaRPr>
          </a:p>
        </p:txBody>
      </p:sp>
      <p:sp>
        <p:nvSpPr>
          <p:cNvPr id="722" name="CustomShape 2"/>
          <p:cNvSpPr/>
          <p:nvPr/>
        </p:nvSpPr>
        <p:spPr>
          <a:xfrm>
            <a:off x="731880" y="1463040"/>
            <a:ext cx="10512720" cy="434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6800">
              <a:lnSpc>
                <a:spcPct val="90000"/>
              </a:lnSpc>
              <a:spcBef>
                <a:spcPts val="1001"/>
              </a:spcBef>
              <a:buClr>
                <a:srgbClr val="000000"/>
              </a:buClr>
              <a:buFont typeface="Arial"/>
              <a:buChar char="•"/>
            </a:pPr>
            <a:r>
              <a:rPr lang="en-US" sz="2600" b="0" strike="noStrike" spc="-1" dirty="0">
                <a:solidFill>
                  <a:srgbClr val="000000"/>
                </a:solidFill>
                <a:latin typeface="Calibri"/>
                <a:ea typeface="DejaVu Sans"/>
              </a:rPr>
              <a:t>We use statistics to:</a:t>
            </a:r>
            <a:endParaRPr lang="en-US" sz="2600" b="0" strike="noStrike" spc="-1" dirty="0">
              <a:latin typeface="Arial"/>
            </a:endParaRPr>
          </a:p>
          <a:p>
            <a:pPr marL="720000" indent="-226800">
              <a:lnSpc>
                <a:spcPct val="100000"/>
              </a:lnSpc>
              <a:spcBef>
                <a:spcPts val="1134"/>
              </a:spcBef>
              <a:buClr>
                <a:srgbClr val="000000"/>
              </a:buClr>
              <a:buFont typeface="Arial"/>
              <a:buChar char="•"/>
            </a:pPr>
            <a:r>
              <a:rPr lang="en-US" sz="2200" b="0" strike="noStrike" spc="-1" dirty="0">
                <a:solidFill>
                  <a:srgbClr val="000000"/>
                </a:solidFill>
                <a:latin typeface="Calibri"/>
                <a:ea typeface="DejaVu Sans"/>
              </a:rPr>
              <a:t>Get an overview of data, numerically or graphically</a:t>
            </a:r>
            <a:endParaRPr lang="en-US" sz="2200" b="0" strike="noStrike" spc="-1" dirty="0">
              <a:latin typeface="Arial"/>
            </a:endParaRPr>
          </a:p>
          <a:p>
            <a:pPr marL="720000" indent="-226800">
              <a:lnSpc>
                <a:spcPct val="100000"/>
              </a:lnSpc>
              <a:spcBef>
                <a:spcPts val="1134"/>
              </a:spcBef>
              <a:buClr>
                <a:srgbClr val="000000"/>
              </a:buClr>
              <a:buFont typeface="Arial"/>
              <a:buChar char="•"/>
            </a:pPr>
            <a:r>
              <a:rPr lang="en-US" sz="2200" b="0" strike="noStrike" spc="-1" dirty="0">
                <a:solidFill>
                  <a:srgbClr val="000000"/>
                </a:solidFill>
                <a:latin typeface="Calibri"/>
                <a:ea typeface="DejaVu Sans"/>
              </a:rPr>
              <a:t>Make statements about the whole population, based on a sample from the population</a:t>
            </a:r>
            <a:endParaRPr lang="en-US" sz="2200" b="0" strike="noStrike" spc="-1" dirty="0">
              <a:latin typeface="Arial"/>
            </a:endParaRPr>
          </a:p>
          <a:p>
            <a:pPr>
              <a:lnSpc>
                <a:spcPct val="100000"/>
              </a:lnSpc>
              <a:spcBef>
                <a:spcPts val="1134"/>
              </a:spcBef>
              <a:buNone/>
            </a:pPr>
            <a:endParaRPr lang="en-US" sz="2200" b="0" strike="noStrike" spc="-1" dirty="0">
              <a:latin typeface="Arial"/>
            </a:endParaRPr>
          </a:p>
          <a:p>
            <a:pPr marL="228600" indent="-226800">
              <a:lnSpc>
                <a:spcPct val="100000"/>
              </a:lnSpc>
              <a:spcBef>
                <a:spcPts val="1417"/>
              </a:spcBef>
              <a:buClr>
                <a:srgbClr val="000000"/>
              </a:buClr>
              <a:buFont typeface="Arial"/>
              <a:buChar char="•"/>
            </a:pPr>
            <a:r>
              <a:rPr lang="en-US" sz="2600" b="0" strike="noStrike" spc="-1" dirty="0">
                <a:solidFill>
                  <a:srgbClr val="000000"/>
                </a:solidFill>
                <a:latin typeface="Calibri"/>
                <a:ea typeface="DejaVu Sans"/>
              </a:rPr>
              <a:t>Different types of variables exist (e.g., discrete vs. continuous)</a:t>
            </a:r>
            <a:endParaRPr lang="en-US" sz="2600" b="0" strike="noStrike" spc="-1" dirty="0">
              <a:latin typeface="Arial"/>
            </a:endParaRPr>
          </a:p>
          <a:p>
            <a:pPr>
              <a:lnSpc>
                <a:spcPct val="100000"/>
              </a:lnSpc>
              <a:spcBef>
                <a:spcPts val="1417"/>
              </a:spcBef>
              <a:buNone/>
            </a:pPr>
            <a:endParaRPr lang="en-US" sz="2600" b="0" strike="noStrike" spc="-1" dirty="0">
              <a:latin typeface="Arial"/>
            </a:endParaRPr>
          </a:p>
          <a:p>
            <a:pPr marL="228600" indent="-226800">
              <a:lnSpc>
                <a:spcPct val="100000"/>
              </a:lnSpc>
              <a:spcBef>
                <a:spcPts val="1417"/>
              </a:spcBef>
              <a:buClr>
                <a:srgbClr val="000000"/>
              </a:buClr>
              <a:buFont typeface="Arial"/>
              <a:buChar char="•"/>
            </a:pPr>
            <a:r>
              <a:rPr lang="en-US" sz="2600" b="0" strike="noStrike" spc="-1" dirty="0">
                <a:solidFill>
                  <a:srgbClr val="000000"/>
                </a:solidFill>
                <a:latin typeface="Calibri"/>
                <a:ea typeface="Droid Sans Fallback"/>
              </a:rPr>
              <a:t>Science quality = methods + statistics </a:t>
            </a:r>
            <a:endParaRPr lang="en-US" sz="2600" b="0" strike="noStrike" spc="-1" dirty="0">
              <a:latin typeface="Arial"/>
            </a:endParaRPr>
          </a:p>
        </p:txBody>
      </p:sp>
      <p:sp>
        <p:nvSpPr>
          <p:cNvPr id="723"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5774B3AB-86B8-4359-B8BE-9F723F3FE90C}" type="slidenum">
              <a:rPr lang="en-US" sz="1200" b="0" strike="noStrike" spc="-1">
                <a:solidFill>
                  <a:srgbClr val="8B8B8B"/>
                </a:solidFill>
                <a:latin typeface="Calibri"/>
                <a:ea typeface="DejaVu Sans"/>
              </a:rPr>
              <a:t>55</a:t>
            </a:fld>
            <a:endParaRPr lang="en-US" sz="1200" b="0" strike="noStrike" spc="-1">
              <a:latin typeface="Arial"/>
            </a:endParaRPr>
          </a:p>
        </p:txBody>
      </p:sp>
      <p:sp>
        <p:nvSpPr>
          <p:cNvPr id="724" name="CustomShape 4"/>
          <p:cNvSpPr/>
          <p:nvPr/>
        </p:nvSpPr>
        <p:spPr>
          <a:xfrm>
            <a:off x="1223640" y="5852160"/>
            <a:ext cx="3651120" cy="82116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dirty="0">
                <a:solidFill>
                  <a:srgbClr val="ED7D31"/>
                </a:solidFill>
                <a:latin typeface="Calibri"/>
                <a:ea typeface="DejaVu Sans"/>
              </a:rPr>
              <a:t>Design experiments &amp; gather data</a:t>
            </a:r>
            <a:endParaRPr lang="en-US" sz="2400" b="0" strike="noStrike" spc="-1" dirty="0">
              <a:latin typeface="Arial"/>
            </a:endParaRPr>
          </a:p>
        </p:txBody>
      </p:sp>
      <p:sp>
        <p:nvSpPr>
          <p:cNvPr id="725" name="CustomShape 5"/>
          <p:cNvSpPr/>
          <p:nvPr/>
        </p:nvSpPr>
        <p:spPr>
          <a:xfrm>
            <a:off x="5079600" y="5852160"/>
            <a:ext cx="3651120" cy="82116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i="1" strike="noStrike" spc="-1">
                <a:solidFill>
                  <a:srgbClr val="ED7D31"/>
                </a:solidFill>
                <a:latin typeface="Calibri"/>
                <a:ea typeface="DejaVu Sans"/>
              </a:rPr>
              <a:t>Analyze the data and draw conclusions</a:t>
            </a:r>
            <a:endParaRPr lang="en-US" sz="2400" b="0" strike="noStrike" spc="-1">
              <a:latin typeface="Arial"/>
            </a:endParaRPr>
          </a:p>
        </p:txBody>
      </p:sp>
      <p:pic>
        <p:nvPicPr>
          <p:cNvPr id="726" name="Picture 725"/>
          <p:cNvPicPr/>
          <p:nvPr/>
        </p:nvPicPr>
        <p:blipFill>
          <a:blip r:embed="rId3"/>
          <a:stretch/>
        </p:blipFill>
        <p:spPr>
          <a:xfrm>
            <a:off x="6130080" y="5394960"/>
            <a:ext cx="303840" cy="546120"/>
          </a:xfrm>
          <a:prstGeom prst="rect">
            <a:avLst/>
          </a:prstGeom>
          <a:ln w="0">
            <a:noFill/>
          </a:ln>
        </p:spPr>
      </p:pic>
      <p:pic>
        <p:nvPicPr>
          <p:cNvPr id="727" name="Picture 726"/>
          <p:cNvPicPr/>
          <p:nvPr/>
        </p:nvPicPr>
        <p:blipFill>
          <a:blip r:embed="rId3"/>
          <a:stretch/>
        </p:blipFill>
        <p:spPr>
          <a:xfrm rot="149400" flipH="1">
            <a:off x="2987640" y="5395320"/>
            <a:ext cx="303840" cy="54576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722">
                                            <p:txEl>
                                              <p:pRg st="0" end="0"/>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72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72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72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fill="hold" nodeType="clickEffect">
                                  <p:stCondLst>
                                    <p:cond delay="0"/>
                                  </p:stCondLst>
                                  <p:childTnLst>
                                    <p:set>
                                      <p:cBhvr>
                                        <p:cTn id="20" dur="1" fill="hold">
                                          <p:stCondLst>
                                            <p:cond delay="0"/>
                                          </p:stCondLst>
                                        </p:cTn>
                                        <p:tgtEl>
                                          <p:spTgt spid="722">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fill="hold" nodeType="clickEffect">
                                  <p:stCondLst>
                                    <p:cond delay="0"/>
                                  </p:stCondLst>
                                  <p:childTnLst>
                                    <p:set>
                                      <p:cBhvr>
                                        <p:cTn id="24" dur="1" fill="hold">
                                          <p:stCondLst>
                                            <p:cond delay="0"/>
                                          </p:stCondLst>
                                        </p:cTn>
                                        <p:tgtEl>
                                          <p:spTgt spid="724"/>
                                        </p:tgtEl>
                                        <p:attrNameLst>
                                          <p:attrName>style.visibility</p:attrName>
                                        </p:attrNameLst>
                                      </p:cBhvr>
                                      <p:to>
                                        <p:strVal val="visible"/>
                                      </p:to>
                                    </p:set>
                                  </p:childTnLst>
                                </p:cTn>
                              </p:par>
                              <p:par>
                                <p:cTn id="25" presetID="1" presetClass="entr" fill="hold" nodeType="withEffect">
                                  <p:stCondLst>
                                    <p:cond delay="0"/>
                                  </p:stCondLst>
                                  <p:childTnLst>
                                    <p:set>
                                      <p:cBhvr>
                                        <p:cTn id="26" dur="1" fill="hold">
                                          <p:stCondLst>
                                            <p:cond delay="0"/>
                                          </p:stCondLst>
                                        </p:cTn>
                                        <p:tgtEl>
                                          <p:spTgt spid="7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725"/>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7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 name="CustomShape 1"/>
          <p:cNvSpPr/>
          <p:nvPr/>
        </p:nvSpPr>
        <p:spPr>
          <a:xfrm>
            <a:off x="838080" y="365040"/>
            <a:ext cx="10513080" cy="132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en-US" sz="4400" b="0" strike="noStrike" spc="-1">
                <a:solidFill>
                  <a:srgbClr val="000000"/>
                </a:solidFill>
                <a:latin typeface="Calibri Light"/>
                <a:ea typeface="DejaVu Sans"/>
              </a:rPr>
              <a:t>Next time</a:t>
            </a:r>
            <a:endParaRPr lang="en-US" sz="4400" b="0" strike="noStrike" spc="-1">
              <a:latin typeface="Arial"/>
            </a:endParaRPr>
          </a:p>
        </p:txBody>
      </p:sp>
      <p:sp>
        <p:nvSpPr>
          <p:cNvPr id="729" name="CustomShape 2"/>
          <p:cNvSpPr/>
          <p:nvPr/>
        </p:nvSpPr>
        <p:spPr>
          <a:xfrm>
            <a:off x="838080" y="1825560"/>
            <a:ext cx="10513080" cy="4348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7160">
              <a:lnSpc>
                <a:spcPct val="90000"/>
              </a:lnSpc>
              <a:spcBef>
                <a:spcPts val="1001"/>
              </a:spcBef>
              <a:buClr>
                <a:srgbClr val="000000"/>
              </a:buClr>
              <a:buFont typeface="Arial"/>
              <a:buChar char="•"/>
            </a:pPr>
            <a:r>
              <a:rPr lang="en-US" sz="2800" b="0" strike="noStrike" spc="-1">
                <a:solidFill>
                  <a:srgbClr val="000000"/>
                </a:solidFill>
                <a:latin typeface="Calibri"/>
                <a:ea typeface="DejaVu Sans"/>
              </a:rPr>
              <a:t>Variability in behavior</a:t>
            </a:r>
            <a:endParaRPr lang="en-US" sz="2800" b="0" strike="noStrike" spc="-1">
              <a:latin typeface="Arial"/>
            </a:endParaRPr>
          </a:p>
        </p:txBody>
      </p:sp>
      <p:sp>
        <p:nvSpPr>
          <p:cNvPr id="730" name="CustomShape 3"/>
          <p:cNvSpPr/>
          <p:nvPr/>
        </p:nvSpPr>
        <p:spPr>
          <a:xfrm>
            <a:off x="8610480" y="6356520"/>
            <a:ext cx="2740680" cy="36252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pic>
        <p:nvPicPr>
          <p:cNvPr id="731" name="Picture 730"/>
          <p:cNvPicPr/>
          <p:nvPr/>
        </p:nvPicPr>
        <p:blipFill>
          <a:blip r:embed="rId3"/>
          <a:stretch/>
        </p:blipFill>
        <p:spPr>
          <a:xfrm>
            <a:off x="2136240" y="2293560"/>
            <a:ext cx="7917840" cy="4529520"/>
          </a:xfrm>
          <a:prstGeom prst="rect">
            <a:avLst/>
          </a:prstGeom>
          <a:ln w="0">
            <a:noFill/>
          </a:ln>
        </p:spPr>
      </p:pic>
      <p:sp>
        <p:nvSpPr>
          <p:cNvPr id="732" name="CustomShape 4"/>
          <p:cNvSpPr/>
          <p:nvPr/>
        </p:nvSpPr>
        <p:spPr>
          <a:xfrm>
            <a:off x="9603000" y="4389120"/>
            <a:ext cx="8197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x̄ = 4</a:t>
            </a:r>
            <a:endParaRPr lang="en-US" sz="1800" b="0" strike="noStrike" spc="-1">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CustomShape 1"/>
          <p:cNvSpPr/>
          <p:nvPr/>
        </p:nvSpPr>
        <p:spPr>
          <a:xfrm>
            <a:off x="1464120" y="-18000"/>
            <a:ext cx="9141120" cy="1195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90000"/>
              </a:lnSpc>
              <a:buNone/>
            </a:pPr>
            <a:r>
              <a:rPr lang="en-US" sz="6000" b="1" strike="noStrike" spc="-1">
                <a:solidFill>
                  <a:srgbClr val="ED7D31"/>
                </a:solidFill>
                <a:latin typeface="Calibri Light"/>
                <a:ea typeface="DejaVu Sans"/>
              </a:rPr>
              <a:t>Questions?</a:t>
            </a:r>
            <a:endParaRPr lang="en-US" sz="6000" b="0" strike="noStrike" spc="-1">
              <a:latin typeface="Arial"/>
            </a:endParaRPr>
          </a:p>
        </p:txBody>
      </p:sp>
      <p:sp>
        <p:nvSpPr>
          <p:cNvPr id="734" name="CustomShape 2"/>
          <p:cNvSpPr/>
          <p:nvPr/>
        </p:nvSpPr>
        <p:spPr>
          <a:xfrm>
            <a:off x="1524600" y="1158840"/>
            <a:ext cx="9141120" cy="60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90000"/>
              </a:lnSpc>
              <a:spcBef>
                <a:spcPts val="1001"/>
              </a:spcBef>
              <a:buNone/>
            </a:pPr>
            <a:r>
              <a:rPr lang="en-US" sz="2400" b="0" strike="noStrike" spc="-1">
                <a:solidFill>
                  <a:srgbClr val="000000"/>
                </a:solidFill>
                <a:latin typeface="Calibri"/>
                <a:ea typeface="DejaVu Sans"/>
              </a:rPr>
              <a:t>Thank you for your attention</a:t>
            </a:r>
            <a:endParaRPr lang="en-US" sz="2400" b="0" strike="noStrike" spc="-1">
              <a:latin typeface="Arial"/>
            </a:endParaRPr>
          </a:p>
        </p:txBody>
      </p:sp>
      <p:sp>
        <p:nvSpPr>
          <p:cNvPr id="735"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05E99325-2B50-428A-8908-5E0A5A24283D}" type="slidenum">
              <a:rPr lang="en-US" sz="1200" b="0" strike="noStrike" spc="-1">
                <a:solidFill>
                  <a:srgbClr val="8B8B8B"/>
                </a:solidFill>
                <a:latin typeface="Calibri"/>
                <a:ea typeface="DejaVu Sans"/>
              </a:rPr>
              <a:t>57</a:t>
            </a:fld>
            <a:endParaRPr lang="en-US" sz="1200" b="0" strike="noStrike" spc="-1">
              <a:latin typeface="Arial"/>
            </a:endParaRPr>
          </a:p>
        </p:txBody>
      </p:sp>
      <p:pic>
        <p:nvPicPr>
          <p:cNvPr id="736" name="Picture 735"/>
          <p:cNvPicPr/>
          <p:nvPr/>
        </p:nvPicPr>
        <p:blipFill>
          <a:blip r:embed="rId3"/>
          <a:stretch/>
        </p:blipFill>
        <p:spPr>
          <a:xfrm>
            <a:off x="2834640" y="2150640"/>
            <a:ext cx="6464160" cy="4204440"/>
          </a:xfrm>
          <a:prstGeom prst="rect">
            <a:avLst/>
          </a:prstGeom>
          <a:ln w="0">
            <a:noFill/>
          </a:ln>
        </p:spPr>
      </p:pic>
      <p:sp>
        <p:nvSpPr>
          <p:cNvPr id="737" name="CustomShape 4"/>
          <p:cNvSpPr/>
          <p:nvPr/>
        </p:nvSpPr>
        <p:spPr>
          <a:xfrm>
            <a:off x="4480920" y="6492240"/>
            <a:ext cx="3198600" cy="30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400" b="0" strike="noStrike" spc="-1">
                <a:solidFill>
                  <a:srgbClr val="000000"/>
                </a:solidFill>
                <a:latin typeface="Arial"/>
                <a:ea typeface="DejaVu Sans"/>
              </a:rPr>
              <a:t>Source: https://www.xkcd.com/605/</a:t>
            </a:r>
            <a:endParaRPr lang="en-US" sz="1400" b="0" strike="noStrike" spc="-1">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CustomShape 1"/>
          <p:cNvSpPr/>
          <p:nvPr/>
        </p:nvSpPr>
        <p:spPr>
          <a:xfrm>
            <a:off x="1523880" y="1122480"/>
            <a:ext cx="9141120" cy="238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90000"/>
              </a:lnSpc>
              <a:buNone/>
            </a:pPr>
            <a:r>
              <a:rPr lang="en-US" sz="6000" b="1" u="sng" strike="noStrike" spc="-1" dirty="0">
                <a:solidFill>
                  <a:srgbClr val="0000FF"/>
                </a:solidFill>
                <a:uFillTx/>
                <a:latin typeface="Calibri Light"/>
                <a:ea typeface="DejaVu Sans"/>
                <a:hlinkClick r:id="rId3"/>
              </a:rPr>
              <a:t>Bonus Video</a:t>
            </a:r>
            <a:endParaRPr lang="en-US" sz="6000" b="0" strike="noStrike" spc="-1" dirty="0">
              <a:latin typeface="Arial"/>
            </a:endParaRPr>
          </a:p>
        </p:txBody>
      </p:sp>
      <p:sp>
        <p:nvSpPr>
          <p:cNvPr id="739" name="CustomShape 2"/>
          <p:cNvSpPr/>
          <p:nvPr/>
        </p:nvSpPr>
        <p:spPr>
          <a:xfrm>
            <a:off x="183240" y="4297680"/>
            <a:ext cx="11701440" cy="165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90000"/>
              </a:lnSpc>
              <a:spcBef>
                <a:spcPts val="1001"/>
              </a:spcBef>
              <a:buNone/>
            </a:pPr>
            <a:r>
              <a:rPr lang="en-US" sz="2400" b="0" strike="noStrike" spc="-1" dirty="0">
                <a:solidFill>
                  <a:srgbClr val="000000"/>
                </a:solidFill>
                <a:latin typeface="Calibri"/>
                <a:ea typeface="DejaVu Sans"/>
              </a:rPr>
              <a:t>Hans </a:t>
            </a:r>
            <a:r>
              <a:rPr lang="en-US" sz="2400" b="0" strike="noStrike" spc="-1" dirty="0" err="1">
                <a:solidFill>
                  <a:srgbClr val="000000"/>
                </a:solidFill>
                <a:latin typeface="Calibri"/>
                <a:ea typeface="DejaVu Sans"/>
              </a:rPr>
              <a:t>Rosling</a:t>
            </a:r>
            <a:r>
              <a:rPr lang="en-US" sz="2400" b="0" strike="noStrike" spc="-1" dirty="0">
                <a:solidFill>
                  <a:srgbClr val="000000"/>
                </a:solidFill>
                <a:latin typeface="Calibri"/>
                <a:ea typeface="DejaVu Sans"/>
              </a:rPr>
              <a:t> on Data Visualization</a:t>
            </a:r>
          </a:p>
          <a:p>
            <a:pPr algn="ctr">
              <a:lnSpc>
                <a:spcPct val="90000"/>
              </a:lnSpc>
              <a:spcBef>
                <a:spcPts val="1001"/>
              </a:spcBef>
              <a:buNone/>
            </a:pPr>
            <a:r>
              <a:rPr lang="en-US" sz="2400" b="0" u="sng" strike="noStrike" spc="-1" dirty="0">
                <a:solidFill>
                  <a:srgbClr val="0000FF"/>
                </a:solidFill>
                <a:uFillTx/>
                <a:latin typeface="Calibri"/>
                <a:ea typeface="DejaVu Sans"/>
                <a:hlinkClick r:id="rId4"/>
              </a:rPr>
              <a:t>https://www.youtube.com/watch?v=jbkSRLYSojo</a:t>
            </a:r>
            <a:endParaRPr lang="en-US" sz="2400" b="0" u="sng" strike="noStrike" spc="-1" dirty="0">
              <a:solidFill>
                <a:srgbClr val="0000FF"/>
              </a:solidFill>
              <a:uFillTx/>
              <a:latin typeface="Calibri"/>
              <a:ea typeface="DejaVu Sans"/>
            </a:endParaRPr>
          </a:p>
          <a:p>
            <a:pPr algn="ctr">
              <a:lnSpc>
                <a:spcPct val="90000"/>
              </a:lnSpc>
              <a:spcBef>
                <a:spcPts val="1001"/>
              </a:spcBef>
            </a:pPr>
            <a:br>
              <a:rPr lang="en-US" sz="2000" b="0" i="1" strike="noStrike" spc="-1" dirty="0">
                <a:latin typeface="Arial"/>
              </a:rPr>
            </a:br>
            <a:r>
              <a:rPr lang="en-US" sz="2000" b="0" i="1" strike="noStrike" spc="-1" dirty="0">
                <a:latin typeface="Arial"/>
              </a:rPr>
              <a:t>“Having the data is not enough – I have to show it in ways people enjoy and understand” </a:t>
            </a:r>
          </a:p>
          <a:p>
            <a:pPr algn="ctr">
              <a:lnSpc>
                <a:spcPct val="90000"/>
              </a:lnSpc>
              <a:spcBef>
                <a:spcPts val="1001"/>
              </a:spcBef>
              <a:buNone/>
            </a:pPr>
            <a:endParaRPr lang="en-US" sz="2400" b="0" u="sng" strike="noStrike" spc="-1" dirty="0">
              <a:solidFill>
                <a:srgbClr val="0000FF"/>
              </a:solidFill>
              <a:uFillTx/>
              <a:latin typeface="Calibri"/>
              <a:ea typeface="DejaVu Sans"/>
            </a:endParaRPr>
          </a:p>
        </p:txBody>
      </p:sp>
      <p:sp>
        <p:nvSpPr>
          <p:cNvPr id="740" name="CustomShape 3"/>
          <p:cNvSpPr/>
          <p:nvPr/>
        </p:nvSpPr>
        <p:spPr>
          <a:xfrm>
            <a:off x="8610480" y="6356520"/>
            <a:ext cx="2740320" cy="36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buNone/>
            </a:pPr>
            <a:fld id="{414889A9-DEE3-495D-A165-D1D814C50BA0}" type="slidenum">
              <a:rPr lang="en-US" sz="1200" b="0" strike="noStrike" spc="-1">
                <a:solidFill>
                  <a:srgbClr val="8B8B8B"/>
                </a:solidFill>
                <a:latin typeface="Calibri"/>
                <a:ea typeface="DejaVu Sans"/>
              </a:rPr>
              <a:t>58</a:t>
            </a:fld>
            <a:endParaRPr lang="en-US" sz="1200" b="0" strike="noStrike" spc="-1">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1" name="CustomShape 1"/>
          <p:cNvSpPr/>
          <p:nvPr/>
        </p:nvSpPr>
        <p:spPr>
          <a:xfrm>
            <a:off x="609480" y="273600"/>
            <a:ext cx="10967400" cy="11397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42" name="CustomShape 2"/>
          <p:cNvSpPr/>
          <p:nvPr/>
        </p:nvSpPr>
        <p:spPr>
          <a:xfrm>
            <a:off x="60948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43" name="CustomShape 3"/>
          <p:cNvSpPr/>
          <p:nvPr/>
        </p:nvSpPr>
        <p:spPr>
          <a:xfrm>
            <a:off x="623196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44" name="CustomShape 4"/>
          <p:cNvSpPr/>
          <p:nvPr/>
        </p:nvSpPr>
        <p:spPr>
          <a:xfrm>
            <a:off x="60948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45" name="CustomShape 5"/>
          <p:cNvSpPr/>
          <p:nvPr/>
        </p:nvSpPr>
        <p:spPr>
          <a:xfrm>
            <a:off x="623196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46" name="CustomShape 6"/>
          <p:cNvSpPr/>
          <p:nvPr/>
        </p:nvSpPr>
        <p:spPr>
          <a:xfrm>
            <a:off x="609480" y="510120"/>
            <a:ext cx="10967400" cy="66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US" sz="4400" b="0" strike="noStrike" spc="-1">
                <a:solidFill>
                  <a:srgbClr val="000000"/>
                </a:solidFill>
                <a:latin typeface="Arial"/>
                <a:ea typeface="DejaVu Sans"/>
              </a:rPr>
              <a:t>Highlighted exercises from the book </a:t>
            </a:r>
            <a:endParaRPr lang="en-US" sz="4400" b="0" strike="noStrike" spc="-1">
              <a:latin typeface="Arial"/>
            </a:endParaRPr>
          </a:p>
        </p:txBody>
      </p:sp>
      <p:sp>
        <p:nvSpPr>
          <p:cNvPr id="747" name="CustomShape 7"/>
          <p:cNvSpPr/>
          <p:nvPr/>
        </p:nvSpPr>
        <p:spPr>
          <a:xfrm>
            <a:off x="609480" y="2064600"/>
            <a:ext cx="7432560" cy="97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216000" indent="-214200">
              <a:lnSpc>
                <a:spcPct val="100000"/>
              </a:lnSpc>
              <a:buClr>
                <a:srgbClr val="000000"/>
              </a:buClr>
              <a:buSzPct val="45000"/>
              <a:buFont typeface="Wingdings" charset="2"/>
              <a:buChar char=""/>
            </a:pPr>
            <a:r>
              <a:rPr lang="en-US" sz="3200" b="0" strike="noStrike" spc="-1">
                <a:solidFill>
                  <a:srgbClr val="000000"/>
                </a:solidFill>
                <a:latin typeface="Arial"/>
                <a:ea typeface="DejaVu Sans"/>
              </a:rPr>
              <a:t>2.84  </a:t>
            </a:r>
            <a:endParaRPr lang="en-US" sz="3200" b="0" strike="noStrike" spc="-1">
              <a:latin typeface="Arial"/>
            </a:endParaRPr>
          </a:p>
          <a:p>
            <a:pPr marL="216000" indent="-214200">
              <a:lnSpc>
                <a:spcPct val="100000"/>
              </a:lnSpc>
              <a:buClr>
                <a:srgbClr val="000000"/>
              </a:buClr>
              <a:buSzPct val="45000"/>
              <a:buFont typeface="Wingdings" charset="2"/>
              <a:buChar char=""/>
            </a:pPr>
            <a:r>
              <a:rPr lang="en-US" sz="3200" b="0" strike="noStrike" spc="-1">
                <a:solidFill>
                  <a:srgbClr val="000000"/>
                </a:solidFill>
                <a:latin typeface="Arial"/>
                <a:ea typeface="DejaVu Sans"/>
              </a:rPr>
              <a:t>2.18</a:t>
            </a:r>
            <a:endParaRPr lang="en-US" sz="3200" b="0" strike="noStrike" spc="-1">
              <a:latin typeface="Arial"/>
            </a:endParaRPr>
          </a:p>
          <a:p>
            <a:pPr marL="216000" indent="-214200">
              <a:lnSpc>
                <a:spcPct val="100000"/>
              </a:lnSpc>
              <a:buClr>
                <a:srgbClr val="000000"/>
              </a:buClr>
              <a:buSzPct val="45000"/>
              <a:buFont typeface="Wingdings" charset="2"/>
              <a:buChar char=""/>
            </a:pPr>
            <a:r>
              <a:rPr lang="en-US" sz="3200" b="0" strike="noStrike" spc="-1">
                <a:solidFill>
                  <a:srgbClr val="000000"/>
                </a:solidFill>
                <a:latin typeface="Arial"/>
                <a:ea typeface="DejaVu Sans"/>
              </a:rPr>
              <a:t> </a:t>
            </a:r>
            <a:endParaRPr lang="en-US" sz="3200" b="0" strike="noStrike" spc="-1">
              <a:latin typeface="Arial"/>
            </a:endParaRPr>
          </a:p>
        </p:txBody>
      </p:sp>
      <p:sp>
        <p:nvSpPr>
          <p:cNvPr id="748" name="CustomShape 8"/>
          <p:cNvSpPr/>
          <p:nvPr/>
        </p:nvSpPr>
        <p:spPr>
          <a:xfrm>
            <a:off x="3566160" y="4480560"/>
            <a:ext cx="5666400" cy="191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3200" b="0" strike="noStrike" spc="-1">
                <a:solidFill>
                  <a:srgbClr val="000000"/>
                </a:solidFill>
                <a:latin typeface="Arial"/>
                <a:ea typeface="DejaVu Sans"/>
              </a:rPr>
              <a:t>→ try yourself first, then check next slides for answers</a:t>
            </a:r>
            <a:endParaRPr lang="en-US" sz="3200" b="0" strike="noStrike" spc="-1">
              <a:latin typeface="Arial"/>
            </a:endParaRPr>
          </a:p>
          <a:p>
            <a:pPr>
              <a:lnSpc>
                <a:spcPct val="100000"/>
              </a:lnSpc>
              <a:buNone/>
            </a:pPr>
            <a:endParaRPr lang="en-US" sz="3200" b="0" strike="noStrike" spc="-1">
              <a:latin typeface="Arial"/>
            </a:endParaRPr>
          </a:p>
          <a:p>
            <a:pPr>
              <a:lnSpc>
                <a:spcPct val="100000"/>
              </a:lnSpc>
              <a:buNone/>
            </a:pPr>
            <a:endParaRPr lang="en-US" sz="3200" b="0" strike="noStrike" spc="-1">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9" name="CustomShape 1"/>
          <p:cNvSpPr/>
          <p:nvPr/>
        </p:nvSpPr>
        <p:spPr>
          <a:xfrm>
            <a:off x="609480" y="273600"/>
            <a:ext cx="10967400" cy="11397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50" name="CustomShape 2"/>
          <p:cNvSpPr/>
          <p:nvPr/>
        </p:nvSpPr>
        <p:spPr>
          <a:xfrm>
            <a:off x="609480" y="1604520"/>
            <a:ext cx="352800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51" name="CustomShape 3"/>
          <p:cNvSpPr/>
          <p:nvPr/>
        </p:nvSpPr>
        <p:spPr>
          <a:xfrm>
            <a:off x="4319640" y="1604520"/>
            <a:ext cx="352800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52" name="CustomShape 4"/>
          <p:cNvSpPr/>
          <p:nvPr/>
        </p:nvSpPr>
        <p:spPr>
          <a:xfrm>
            <a:off x="8029800" y="1604520"/>
            <a:ext cx="352800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53" name="CustomShape 5"/>
          <p:cNvSpPr/>
          <p:nvPr/>
        </p:nvSpPr>
        <p:spPr>
          <a:xfrm>
            <a:off x="609480" y="3682080"/>
            <a:ext cx="352800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54" name="CustomShape 6"/>
          <p:cNvSpPr/>
          <p:nvPr/>
        </p:nvSpPr>
        <p:spPr>
          <a:xfrm>
            <a:off x="4319640" y="3682080"/>
            <a:ext cx="352800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55" name="CustomShape 7"/>
          <p:cNvSpPr/>
          <p:nvPr/>
        </p:nvSpPr>
        <p:spPr>
          <a:xfrm>
            <a:off x="8029800" y="3682080"/>
            <a:ext cx="352800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6" name="CustomShape 1"/>
          <p:cNvSpPr/>
          <p:nvPr/>
        </p:nvSpPr>
        <p:spPr>
          <a:xfrm>
            <a:off x="609480" y="273600"/>
            <a:ext cx="10967400" cy="11397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57" name="CustomShape 2"/>
          <p:cNvSpPr/>
          <p:nvPr/>
        </p:nvSpPr>
        <p:spPr>
          <a:xfrm>
            <a:off x="60948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58" name="CustomShape 3"/>
          <p:cNvSpPr/>
          <p:nvPr/>
        </p:nvSpPr>
        <p:spPr>
          <a:xfrm>
            <a:off x="623196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59" name="CustomShape 4"/>
          <p:cNvSpPr/>
          <p:nvPr/>
        </p:nvSpPr>
        <p:spPr>
          <a:xfrm>
            <a:off x="60948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60" name="CustomShape 5"/>
          <p:cNvSpPr/>
          <p:nvPr/>
        </p:nvSpPr>
        <p:spPr>
          <a:xfrm>
            <a:off x="623196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61" name="CustomShape 6"/>
          <p:cNvSpPr/>
          <p:nvPr/>
        </p:nvSpPr>
        <p:spPr>
          <a:xfrm>
            <a:off x="609480" y="510120"/>
            <a:ext cx="10967400" cy="66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US" sz="4400" b="0" strike="noStrike" spc="-1">
                <a:solidFill>
                  <a:srgbClr val="000000"/>
                </a:solidFill>
                <a:latin typeface="Arial"/>
                <a:ea typeface="DejaVu Sans"/>
              </a:rPr>
              <a:t>11.8</a:t>
            </a:r>
            <a:endParaRPr lang="en-US" sz="4400" b="0" strike="noStrike" spc="-1">
              <a:latin typeface="Arial"/>
            </a:endParaRPr>
          </a:p>
        </p:txBody>
      </p:sp>
      <p:sp>
        <p:nvSpPr>
          <p:cNvPr id="762" name="CustomShape 7"/>
          <p:cNvSpPr/>
          <p:nvPr/>
        </p:nvSpPr>
        <p:spPr>
          <a:xfrm>
            <a:off x="609480" y="1367640"/>
            <a:ext cx="10450080" cy="5357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pPr>
            <a:r>
              <a:rPr lang="en-US" sz="3200" b="0" strike="noStrike" spc="-1">
                <a:solidFill>
                  <a:srgbClr val="000000"/>
                </a:solidFill>
                <a:latin typeface="Arial"/>
                <a:ea typeface="DejaVu Sans"/>
              </a:rPr>
              <a:t>Df = (#rows) * (#columns-1)</a:t>
            </a:r>
            <a:endParaRPr lang="en-US" sz="3200" b="0" strike="noStrike" spc="-1">
              <a:latin typeface="Arial"/>
            </a:endParaRPr>
          </a:p>
          <a:p>
            <a:pPr>
              <a:lnSpc>
                <a:spcPct val="100000"/>
              </a:lnSpc>
              <a:buNone/>
            </a:pPr>
            <a:endParaRPr lang="en-US" sz="3200" b="0" strike="noStrike" spc="-1">
              <a:latin typeface="Arial"/>
            </a:endParaRPr>
          </a:p>
          <a:p>
            <a:pPr marL="216000" indent="-214200">
              <a:lnSpc>
                <a:spcPct val="100000"/>
              </a:lnSpc>
              <a:buClr>
                <a:srgbClr val="000000"/>
              </a:buClr>
              <a:buFont typeface="StarSymbol"/>
              <a:buAutoNum type="alphaLcParenR"/>
            </a:pPr>
            <a:r>
              <a:rPr lang="en-US" sz="3200" b="0" strike="noStrike" spc="-1">
                <a:solidFill>
                  <a:srgbClr val="000000"/>
                </a:solidFill>
                <a:latin typeface="Arial"/>
                <a:ea typeface="DejaVu Sans"/>
              </a:rPr>
              <a:t> Df = 1, X</a:t>
            </a:r>
            <a:r>
              <a:rPr lang="en-US" sz="3200" b="0" strike="noStrike" spc="-1" baseline="33000">
                <a:solidFill>
                  <a:srgbClr val="000000"/>
                </a:solidFill>
                <a:latin typeface="Arial"/>
                <a:ea typeface="DejaVu Sans"/>
              </a:rPr>
              <a:t>2</a:t>
            </a:r>
            <a:r>
              <a:rPr lang="en-US" sz="3200" b="0" strike="noStrike" spc="-1">
                <a:solidFill>
                  <a:srgbClr val="000000"/>
                </a:solidFill>
                <a:latin typeface="Arial"/>
                <a:ea typeface="DejaVu Sans"/>
              </a:rPr>
              <a:t> = 3.84</a:t>
            </a:r>
            <a:endParaRPr lang="en-US" sz="3200" b="0" strike="noStrike" spc="-1">
              <a:latin typeface="Arial"/>
            </a:endParaRPr>
          </a:p>
          <a:p>
            <a:pPr marL="216000" indent="-214200">
              <a:lnSpc>
                <a:spcPct val="100000"/>
              </a:lnSpc>
              <a:buClr>
                <a:srgbClr val="000000"/>
              </a:buClr>
              <a:buFont typeface="StarSymbol"/>
              <a:buAutoNum type="alphaLcParenR"/>
            </a:pPr>
            <a:r>
              <a:rPr lang="en-US" sz="3200" b="0" strike="noStrike" spc="-1">
                <a:solidFill>
                  <a:srgbClr val="000000"/>
                </a:solidFill>
                <a:latin typeface="Arial"/>
                <a:ea typeface="DejaVu Sans"/>
              </a:rPr>
              <a:t> Df = 2, X</a:t>
            </a:r>
            <a:r>
              <a:rPr lang="en-US" sz="3200" b="0" strike="noStrike" spc="-1" baseline="33000">
                <a:solidFill>
                  <a:srgbClr val="000000"/>
                </a:solidFill>
                <a:latin typeface="Arial"/>
                <a:ea typeface="DejaVu Sans"/>
              </a:rPr>
              <a:t>2</a:t>
            </a:r>
            <a:r>
              <a:rPr lang="en-US" sz="3200" b="0" strike="noStrike" spc="-1">
                <a:solidFill>
                  <a:srgbClr val="000000"/>
                </a:solidFill>
                <a:latin typeface="Arial"/>
                <a:ea typeface="DejaVu Sans"/>
              </a:rPr>
              <a:t> = 5.99</a:t>
            </a:r>
            <a:endParaRPr lang="en-US" sz="3200" b="0" strike="noStrike" spc="-1">
              <a:latin typeface="Arial"/>
            </a:endParaRPr>
          </a:p>
          <a:p>
            <a:pPr marL="216000" indent="-214200">
              <a:lnSpc>
                <a:spcPct val="100000"/>
              </a:lnSpc>
              <a:buClr>
                <a:srgbClr val="000000"/>
              </a:buClr>
              <a:buFont typeface="StarSymbol"/>
              <a:buAutoNum type="alphaLcParenR"/>
            </a:pPr>
            <a:r>
              <a:rPr lang="en-US" sz="3200" b="0" strike="noStrike" spc="-1">
                <a:solidFill>
                  <a:srgbClr val="000000"/>
                </a:solidFill>
                <a:latin typeface="Arial"/>
                <a:ea typeface="DejaVu Sans"/>
              </a:rPr>
              <a:t> Df = 4, X</a:t>
            </a:r>
            <a:r>
              <a:rPr lang="en-US" sz="3200" b="0" strike="noStrike" spc="-1" baseline="33000">
                <a:solidFill>
                  <a:srgbClr val="000000"/>
                </a:solidFill>
                <a:latin typeface="Arial"/>
                <a:ea typeface="DejaVu Sans"/>
              </a:rPr>
              <a:t>2</a:t>
            </a:r>
            <a:r>
              <a:rPr lang="en-US" sz="3200" b="0" strike="noStrike" spc="-1">
                <a:solidFill>
                  <a:srgbClr val="000000"/>
                </a:solidFill>
                <a:latin typeface="Arial"/>
                <a:ea typeface="DejaVu Sans"/>
              </a:rPr>
              <a:t> = 9.49</a:t>
            </a:r>
            <a:endParaRPr lang="en-US" sz="3200" b="0" strike="noStrike" spc="-1">
              <a:latin typeface="Arial"/>
            </a:endParaRPr>
          </a:p>
          <a:p>
            <a:pPr marL="216000" indent="-214200">
              <a:lnSpc>
                <a:spcPct val="100000"/>
              </a:lnSpc>
              <a:buClr>
                <a:srgbClr val="000000"/>
              </a:buClr>
              <a:buFont typeface="StarSymbol"/>
              <a:buAutoNum type="alphaLcParenR"/>
            </a:pPr>
            <a:r>
              <a:rPr lang="en-US" sz="3200" b="0" strike="noStrike" spc="-1">
                <a:solidFill>
                  <a:srgbClr val="000000"/>
                </a:solidFill>
                <a:latin typeface="Arial"/>
                <a:ea typeface="DejaVu Sans"/>
              </a:rPr>
              <a:t> Df = 16, </a:t>
            </a:r>
            <a:r>
              <a:rPr lang="en-US" sz="3200" b="0" strike="noStrike" spc="-1" baseline="33000">
                <a:solidFill>
                  <a:srgbClr val="000000"/>
                </a:solidFill>
                <a:latin typeface="Arial"/>
                <a:ea typeface="DejaVu Sans"/>
              </a:rPr>
              <a:t>X2</a:t>
            </a:r>
            <a:r>
              <a:rPr lang="en-US" sz="3200" b="0" strike="noStrike" spc="-1">
                <a:solidFill>
                  <a:srgbClr val="000000"/>
                </a:solidFill>
                <a:latin typeface="Arial"/>
                <a:ea typeface="DejaVu Sans"/>
              </a:rPr>
              <a:t>= 26.3</a:t>
            </a:r>
            <a:endParaRPr lang="en-US" sz="3200" b="0" strike="noStrike" spc="-1">
              <a:latin typeface="Arial"/>
            </a:endParaRPr>
          </a:p>
          <a:p>
            <a:pPr marL="216000" indent="-214200">
              <a:lnSpc>
                <a:spcPct val="100000"/>
              </a:lnSpc>
              <a:buClr>
                <a:srgbClr val="000000"/>
              </a:buClr>
              <a:buFont typeface="StarSymbol"/>
              <a:buAutoNum type="alphaLcParenR"/>
            </a:pPr>
            <a:r>
              <a:rPr lang="en-US" sz="3200" b="0" strike="noStrike" spc="-1">
                <a:solidFill>
                  <a:srgbClr val="000000"/>
                </a:solidFill>
                <a:latin typeface="Arial"/>
                <a:ea typeface="DejaVu Sans"/>
              </a:rPr>
              <a:t> Df = 16, X</a:t>
            </a:r>
            <a:r>
              <a:rPr lang="en-US" sz="3200" b="0" strike="noStrike" spc="-1" baseline="33000">
                <a:solidFill>
                  <a:srgbClr val="000000"/>
                </a:solidFill>
                <a:latin typeface="Arial"/>
                <a:ea typeface="DejaVu Sans"/>
              </a:rPr>
              <a:t>2 </a:t>
            </a:r>
            <a:r>
              <a:rPr lang="en-US" sz="3200" b="0" strike="noStrike" spc="-1">
                <a:solidFill>
                  <a:srgbClr val="000000"/>
                </a:solidFill>
                <a:latin typeface="Arial"/>
                <a:ea typeface="DejaVu Sans"/>
              </a:rPr>
              <a:t>= 26.3</a:t>
            </a:r>
            <a:endParaRPr lang="en-US" sz="3200" b="0" strike="noStrike" spc="-1">
              <a:latin typeface="Arial"/>
            </a:endParaRPr>
          </a:p>
          <a:p>
            <a:pPr>
              <a:lnSpc>
                <a:spcPct val="100000"/>
              </a:lnSpc>
              <a:buNone/>
            </a:pPr>
            <a:endParaRPr lang="en-US" sz="3200" b="0" strike="noStrike" spc="-1">
              <a:latin typeface="Arial"/>
            </a:endParaRPr>
          </a:p>
          <a:p>
            <a:pPr algn="ctr">
              <a:lnSpc>
                <a:spcPct val="100000"/>
              </a:lnSpc>
              <a:buNone/>
            </a:pPr>
            <a:endParaRPr lang="en-US" sz="3200" b="0" strike="noStrike" spc="-1">
              <a:latin typeface="Arial"/>
            </a:endParaRPr>
          </a:p>
        </p:txBody>
      </p:sp>
      <p:sp>
        <p:nvSpPr>
          <p:cNvPr id="763" name="CustomShape 8"/>
          <p:cNvSpPr/>
          <p:nvPr/>
        </p:nvSpPr>
        <p:spPr>
          <a:xfrm>
            <a:off x="6949440" y="2743920"/>
            <a:ext cx="4752000" cy="310536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2400" b="0" strike="noStrike" spc="-1">
                <a:solidFill>
                  <a:srgbClr val="000000"/>
                </a:solidFill>
                <a:latin typeface="Calibri"/>
                <a:ea typeface="DejaVu Sans"/>
              </a:rPr>
              <a:t>So, for instance, a X</a:t>
            </a:r>
            <a:r>
              <a:rPr lang="en-US" sz="2400" b="0" strike="noStrike" spc="-1" baseline="33000">
                <a:solidFill>
                  <a:srgbClr val="000000"/>
                </a:solidFill>
                <a:latin typeface="Calibri"/>
                <a:ea typeface="DejaVu Sans"/>
              </a:rPr>
              <a:t>2</a:t>
            </a:r>
            <a:r>
              <a:rPr lang="en-US" sz="2400" b="0" strike="noStrike" spc="-1">
                <a:solidFill>
                  <a:srgbClr val="000000"/>
                </a:solidFill>
                <a:latin typeface="Calibri"/>
                <a:ea typeface="DejaVu Sans"/>
              </a:rPr>
              <a:t> value of 4 would not lead to a significant effect if you have 2 df (e.g., 2 rows and 3 columns), but does lead to a significant effect when you have 4 df (e.g., 3 rows and 3 columns)!</a:t>
            </a:r>
            <a:endParaRPr lang="en-US" sz="2400" b="0" strike="noStrike" spc="-1">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4" name="CustomShape 1"/>
          <p:cNvSpPr/>
          <p:nvPr/>
        </p:nvSpPr>
        <p:spPr>
          <a:xfrm>
            <a:off x="609480" y="273600"/>
            <a:ext cx="10967400" cy="11397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65" name="CustomShape 2"/>
          <p:cNvSpPr/>
          <p:nvPr/>
        </p:nvSpPr>
        <p:spPr>
          <a:xfrm>
            <a:off x="60948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66" name="CustomShape 3"/>
          <p:cNvSpPr/>
          <p:nvPr/>
        </p:nvSpPr>
        <p:spPr>
          <a:xfrm>
            <a:off x="623196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67" name="CustomShape 4"/>
          <p:cNvSpPr/>
          <p:nvPr/>
        </p:nvSpPr>
        <p:spPr>
          <a:xfrm>
            <a:off x="60948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68" name="CustomShape 5"/>
          <p:cNvSpPr/>
          <p:nvPr/>
        </p:nvSpPr>
        <p:spPr>
          <a:xfrm>
            <a:off x="623196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69" name="CustomShape 6"/>
          <p:cNvSpPr/>
          <p:nvPr/>
        </p:nvSpPr>
        <p:spPr>
          <a:xfrm>
            <a:off x="609480" y="510120"/>
            <a:ext cx="10967400" cy="66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US" sz="4400" b="0" strike="noStrike" spc="-1">
                <a:solidFill>
                  <a:srgbClr val="000000"/>
                </a:solidFill>
                <a:latin typeface="Arial"/>
                <a:ea typeface="DejaVu Sans"/>
              </a:rPr>
              <a:t>11.18</a:t>
            </a:r>
            <a:endParaRPr lang="en-US" sz="4400" b="0" strike="noStrike" spc="-1">
              <a:latin typeface="Arial"/>
            </a:endParaRPr>
          </a:p>
        </p:txBody>
      </p:sp>
      <p:sp>
        <p:nvSpPr>
          <p:cNvPr id="770" name="CustomShape 7"/>
          <p:cNvSpPr/>
          <p:nvPr/>
        </p:nvSpPr>
        <p:spPr>
          <a:xfrm>
            <a:off x="609480" y="1367640"/>
            <a:ext cx="10450080" cy="5357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pPr>
            <a:r>
              <a:rPr lang="en-US" sz="1800" b="0" strike="noStrike" spc="-1">
                <a:solidFill>
                  <a:srgbClr val="000000"/>
                </a:solidFill>
                <a:latin typeface="Arial"/>
                <a:ea typeface="DejaVu Sans"/>
              </a:rPr>
              <a:t>Proportion of heart attacks in aspirin condition: 18/676 = 0.0266 = p</a:t>
            </a:r>
            <a:r>
              <a:rPr lang="en-US" sz="1800" b="0" strike="noStrike" spc="-1" baseline="-33000">
                <a:solidFill>
                  <a:srgbClr val="000000"/>
                </a:solidFill>
                <a:latin typeface="Arial"/>
                <a:ea typeface="DejaVu Sans"/>
              </a:rPr>
              <a:t>1</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Proportion of heart attacks in placebo condition: 28/684 = 0.0409  = p</a:t>
            </a:r>
            <a:r>
              <a:rPr lang="en-US" sz="1800" b="0" strike="noStrike" spc="-1" baseline="-33000">
                <a:solidFill>
                  <a:srgbClr val="000000"/>
                </a:solidFill>
                <a:latin typeface="Arial"/>
                <a:ea typeface="DejaVu Sans"/>
              </a:rPr>
              <a:t>2</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H</a:t>
            </a:r>
            <a:r>
              <a:rPr lang="en-US" sz="1800" b="0" strike="noStrike" spc="-1" baseline="-33000">
                <a:solidFill>
                  <a:srgbClr val="000000"/>
                </a:solidFill>
                <a:latin typeface="Arial"/>
                <a:ea typeface="DejaVu Sans"/>
              </a:rPr>
              <a:t>0</a:t>
            </a:r>
            <a:r>
              <a:rPr lang="en-US" sz="1800" b="0" strike="noStrike" spc="-1">
                <a:solidFill>
                  <a:srgbClr val="000000"/>
                </a:solidFill>
                <a:latin typeface="Arial"/>
                <a:ea typeface="DejaVu Sans"/>
              </a:rPr>
              <a:t>: p</a:t>
            </a:r>
            <a:r>
              <a:rPr lang="en-US" sz="1800" b="0" strike="noStrike" spc="-1" baseline="-33000">
                <a:solidFill>
                  <a:srgbClr val="000000"/>
                </a:solidFill>
                <a:latin typeface="Arial"/>
                <a:ea typeface="DejaVu Sans"/>
              </a:rPr>
              <a:t>1</a:t>
            </a:r>
            <a:r>
              <a:rPr lang="en-US" sz="1800" b="0" strike="noStrike" spc="-1">
                <a:solidFill>
                  <a:srgbClr val="000000"/>
                </a:solidFill>
                <a:latin typeface="Arial"/>
                <a:ea typeface="DejaVu Sans"/>
              </a:rPr>
              <a:t> = p</a:t>
            </a:r>
            <a:r>
              <a:rPr lang="en-US" sz="1800" b="0" strike="noStrike" spc="-1" baseline="-33000">
                <a:solidFill>
                  <a:srgbClr val="000000"/>
                </a:solidFill>
                <a:latin typeface="Arial"/>
                <a:ea typeface="DejaVu Sans"/>
              </a:rPr>
              <a:t>2</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H</a:t>
            </a:r>
            <a:r>
              <a:rPr lang="en-US" sz="1800" b="0" strike="noStrike" spc="-1" baseline="-33000">
                <a:solidFill>
                  <a:srgbClr val="000000"/>
                </a:solidFill>
                <a:latin typeface="Arial"/>
                <a:ea typeface="DejaVu Sans"/>
              </a:rPr>
              <a:t>A</a:t>
            </a:r>
            <a:r>
              <a:rPr lang="en-US" sz="1800" b="0" strike="noStrike" spc="-1">
                <a:solidFill>
                  <a:srgbClr val="000000"/>
                </a:solidFill>
                <a:latin typeface="Arial"/>
                <a:ea typeface="DejaVu Sans"/>
              </a:rPr>
              <a:t>: p</a:t>
            </a:r>
            <a:r>
              <a:rPr lang="en-US" sz="1800" b="0" strike="noStrike" spc="-1" baseline="-33000">
                <a:solidFill>
                  <a:srgbClr val="000000"/>
                </a:solidFill>
                <a:latin typeface="Arial"/>
                <a:ea typeface="DejaVu Sans"/>
              </a:rPr>
              <a:t>1 </a:t>
            </a:r>
            <a:r>
              <a:rPr lang="en-US" sz="1800" b="0" strike="noStrike" spc="-1">
                <a:solidFill>
                  <a:srgbClr val="000000"/>
                </a:solidFill>
                <a:latin typeface="Arial"/>
                <a:ea typeface="DejaVu Sans"/>
              </a:rPr>
              <a:t>=/= p</a:t>
            </a:r>
            <a:r>
              <a:rPr lang="en-US" sz="1800" b="0" strike="noStrike" spc="-1" baseline="-33000">
                <a:solidFill>
                  <a:srgbClr val="000000"/>
                </a:solidFill>
                <a:latin typeface="Arial"/>
                <a:ea typeface="DejaVu Sans"/>
              </a:rPr>
              <a:t>2</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The previous result was a p-value of 0.144 and X</a:t>
            </a:r>
            <a:r>
              <a:rPr lang="en-US" sz="1800" b="0" strike="noStrike" spc="-1" baseline="33000">
                <a:solidFill>
                  <a:srgbClr val="000000"/>
                </a:solidFill>
                <a:latin typeface="Arial"/>
                <a:ea typeface="DejaVu Sans"/>
              </a:rPr>
              <a:t>2</a:t>
            </a:r>
            <a:r>
              <a:rPr lang="en-US" sz="1800" b="0" strike="noStrike" spc="-1">
                <a:solidFill>
                  <a:srgbClr val="000000"/>
                </a:solidFill>
                <a:latin typeface="Arial"/>
                <a:ea typeface="DejaVu Sans"/>
              </a:rPr>
              <a:t> value of 2.1, </a:t>
            </a:r>
            <a:br>
              <a:rPr sz="1800"/>
            </a:br>
            <a:r>
              <a:rPr lang="en-US" sz="1800" b="0" strike="noStrike" spc="-1">
                <a:solidFill>
                  <a:srgbClr val="000000"/>
                </a:solidFill>
                <a:latin typeface="Arial"/>
                <a:ea typeface="DejaVu Sans"/>
              </a:rPr>
              <a:t>In the z-test, we can square the z value to get X</a:t>
            </a:r>
            <a:r>
              <a:rPr lang="en-US" sz="1800" b="0" strike="noStrike" spc="-1" baseline="33000">
                <a:solidFill>
                  <a:srgbClr val="000000"/>
                </a:solidFill>
                <a:latin typeface="Arial"/>
                <a:ea typeface="DejaVu Sans"/>
              </a:rPr>
              <a:t>2</a:t>
            </a:r>
            <a:r>
              <a:rPr lang="en-US" sz="1800" b="0" strike="noStrike" spc="-1">
                <a:solidFill>
                  <a:srgbClr val="000000"/>
                </a:solidFill>
                <a:latin typeface="Arial"/>
                <a:ea typeface="DejaVu Sans"/>
              </a:rPr>
              <a:t>: 1.46</a:t>
            </a:r>
            <a:r>
              <a:rPr lang="en-US" sz="1800" b="0" strike="noStrike" spc="-1" baseline="33000">
                <a:solidFill>
                  <a:srgbClr val="000000"/>
                </a:solidFill>
                <a:latin typeface="Arial"/>
                <a:ea typeface="DejaVu Sans"/>
              </a:rPr>
              <a:t>2</a:t>
            </a:r>
            <a:r>
              <a:rPr lang="en-US" sz="1800" b="0" strike="noStrike" spc="-1">
                <a:solidFill>
                  <a:srgbClr val="000000"/>
                </a:solidFill>
                <a:latin typeface="Arial"/>
                <a:ea typeface="DejaVu Sans"/>
              </a:rPr>
              <a:t> =  2.1 (rounded to 1 decimal). This is because of the connect between the z-test and the X</a:t>
            </a:r>
            <a:r>
              <a:rPr lang="en-US" sz="1800" b="0" strike="noStrike" spc="-1" baseline="33000">
                <a:solidFill>
                  <a:srgbClr val="000000"/>
                </a:solidFill>
                <a:latin typeface="Arial"/>
                <a:ea typeface="DejaVu Sans"/>
              </a:rPr>
              <a:t>2</a:t>
            </a:r>
            <a:r>
              <a:rPr lang="en-US" sz="1800" b="0" strike="noStrike" spc="-1">
                <a:solidFill>
                  <a:srgbClr val="000000"/>
                </a:solidFill>
                <a:latin typeface="Arial"/>
                <a:ea typeface="DejaVu Sans"/>
              </a:rPr>
              <a:t> test. We can transform one to the other, and they have exactly the same p-value (df = 1 for X</a:t>
            </a:r>
            <a:r>
              <a:rPr lang="en-US" sz="1800" b="0" strike="noStrike" spc="-1" baseline="33000">
                <a:solidFill>
                  <a:srgbClr val="000000"/>
                </a:solidFill>
                <a:latin typeface="Arial"/>
                <a:ea typeface="DejaVu Sans"/>
              </a:rPr>
              <a:t>2</a:t>
            </a:r>
            <a:r>
              <a:rPr lang="en-US" sz="1800" b="0" strike="noStrike" spc="-1">
                <a:solidFill>
                  <a:srgbClr val="000000"/>
                </a:solidFill>
                <a:latin typeface="Arial"/>
                <a:ea typeface="DejaVu Sans"/>
              </a:rPr>
              <a:t> test)! For the z-test this is the </a:t>
            </a:r>
            <a:r>
              <a:rPr lang="en-US" sz="1800" b="0" i="1" strike="noStrike" spc="-1">
                <a:solidFill>
                  <a:srgbClr val="000000"/>
                </a:solidFill>
                <a:latin typeface="Arial"/>
                <a:ea typeface="DejaVu Sans"/>
              </a:rPr>
              <a:t>two-sided</a:t>
            </a:r>
            <a:r>
              <a:rPr lang="en-US" sz="1800" b="0" strike="noStrike" spc="-1">
                <a:solidFill>
                  <a:srgbClr val="000000"/>
                </a:solidFill>
                <a:latin typeface="Arial"/>
                <a:ea typeface="DejaVu Sans"/>
              </a:rPr>
              <a:t> p-value.</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gn="ctr">
              <a:lnSpc>
                <a:spcPct val="100000"/>
              </a:lnSpc>
              <a:buNone/>
            </a:pPr>
            <a:endParaRPr lang="en-US" sz="1800" b="0" strike="noStrike" spc="-1">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1" name="CustomShape 1"/>
          <p:cNvSpPr/>
          <p:nvPr/>
        </p:nvSpPr>
        <p:spPr>
          <a:xfrm>
            <a:off x="609480" y="273600"/>
            <a:ext cx="10967400" cy="11397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72" name="CustomShape 2"/>
          <p:cNvSpPr/>
          <p:nvPr/>
        </p:nvSpPr>
        <p:spPr>
          <a:xfrm>
            <a:off x="60948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73" name="CustomShape 3"/>
          <p:cNvSpPr/>
          <p:nvPr/>
        </p:nvSpPr>
        <p:spPr>
          <a:xfrm>
            <a:off x="623196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74" name="CustomShape 4"/>
          <p:cNvSpPr/>
          <p:nvPr/>
        </p:nvSpPr>
        <p:spPr>
          <a:xfrm>
            <a:off x="60948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75" name="CustomShape 5"/>
          <p:cNvSpPr/>
          <p:nvPr/>
        </p:nvSpPr>
        <p:spPr>
          <a:xfrm>
            <a:off x="623196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76" name="CustomShape 6"/>
          <p:cNvSpPr/>
          <p:nvPr/>
        </p:nvSpPr>
        <p:spPr>
          <a:xfrm>
            <a:off x="609480" y="510120"/>
            <a:ext cx="10967400" cy="66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US" sz="4400" b="0" strike="noStrike" spc="-1">
                <a:solidFill>
                  <a:srgbClr val="000000"/>
                </a:solidFill>
                <a:latin typeface="Arial"/>
                <a:ea typeface="DejaVu Sans"/>
              </a:rPr>
              <a:t>11.28</a:t>
            </a:r>
            <a:endParaRPr lang="en-US" sz="4400" b="0" strike="noStrike" spc="-1">
              <a:latin typeface="Arial"/>
            </a:endParaRPr>
          </a:p>
        </p:txBody>
      </p:sp>
      <p:sp>
        <p:nvSpPr>
          <p:cNvPr id="777" name="CustomShape 7"/>
          <p:cNvSpPr/>
          <p:nvPr/>
        </p:nvSpPr>
        <p:spPr>
          <a:xfrm>
            <a:off x="6829200" y="1828800"/>
            <a:ext cx="4752000" cy="155160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600" b="0" strike="noStrike" spc="-1">
                <a:solidFill>
                  <a:srgbClr val="000000"/>
                </a:solidFill>
                <a:latin typeface="Calibri"/>
                <a:ea typeface="DejaVu Sans"/>
              </a:rPr>
              <a:t>Ratio of the conditional proportions: </a:t>
            </a:r>
            <a:endParaRPr lang="en-US" sz="1600" b="0" strike="noStrike" spc="-1">
              <a:latin typeface="Arial"/>
            </a:endParaRPr>
          </a:p>
          <a:p>
            <a:pPr>
              <a:lnSpc>
                <a:spcPct val="100000"/>
              </a:lnSpc>
              <a:buNone/>
            </a:pPr>
            <a:r>
              <a:rPr lang="en-US" sz="1600" b="0" strike="noStrike" spc="-1">
                <a:solidFill>
                  <a:srgbClr val="000000"/>
                </a:solidFill>
                <a:latin typeface="Calibri"/>
                <a:ea typeface="DejaVu Sans"/>
              </a:rPr>
              <a:t>0.2965 / 0.2733 = 1.0845</a:t>
            </a:r>
            <a:endParaRPr lang="en-US" sz="1600" b="0" strike="noStrike" spc="-1">
              <a:latin typeface="Arial"/>
            </a:endParaRPr>
          </a:p>
          <a:p>
            <a:pPr>
              <a:lnSpc>
                <a:spcPct val="100000"/>
              </a:lnSpc>
              <a:buNone/>
            </a:pPr>
            <a:endParaRPr lang="en-US" sz="1600" b="0" strike="noStrike" spc="-1">
              <a:latin typeface="Arial"/>
            </a:endParaRPr>
          </a:p>
          <a:p>
            <a:pPr>
              <a:lnSpc>
                <a:spcPct val="100000"/>
              </a:lnSpc>
              <a:buNone/>
            </a:pPr>
            <a:r>
              <a:rPr lang="en-US" sz="1600" b="0" strike="noStrike" spc="-1">
                <a:solidFill>
                  <a:srgbClr val="000000"/>
                </a:solidFill>
                <a:latin typeface="Calibri"/>
                <a:ea typeface="DejaVu Sans"/>
              </a:rPr>
              <a:t>This ratio is close to one, which means that the proportions do not differ much (1 indicates that they are exactly the same)</a:t>
            </a:r>
            <a:endParaRPr lang="en-US" sz="1600" b="0" strike="noStrike" spc="-1">
              <a:latin typeface="Arial"/>
            </a:endParaRPr>
          </a:p>
        </p:txBody>
      </p:sp>
      <p:sp>
        <p:nvSpPr>
          <p:cNvPr id="778" name="CustomShape 8"/>
          <p:cNvSpPr/>
          <p:nvPr/>
        </p:nvSpPr>
        <p:spPr>
          <a:xfrm>
            <a:off x="1737360" y="1371600"/>
            <a:ext cx="4386240" cy="855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Conditional proportion of female victims when the offender is male: </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1719 / (1719+4078) = 0.2965</a:t>
            </a:r>
            <a:endParaRPr lang="en-US" sz="1800" b="0" strike="noStrike" spc="-1">
              <a:latin typeface="Arial"/>
            </a:endParaRPr>
          </a:p>
        </p:txBody>
      </p:sp>
      <p:sp>
        <p:nvSpPr>
          <p:cNvPr id="779" name="CustomShape 9"/>
          <p:cNvSpPr/>
          <p:nvPr/>
        </p:nvSpPr>
        <p:spPr>
          <a:xfrm>
            <a:off x="1737360" y="3622320"/>
            <a:ext cx="4386240" cy="855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Conditional proportion of female victims when the offender is female: </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182 / (182+484) = 0.2733</a:t>
            </a:r>
            <a:endParaRPr lang="en-US" sz="1800" b="0" strike="noStrike" spc="-1">
              <a:latin typeface="Arial"/>
            </a:endParaRPr>
          </a:p>
        </p:txBody>
      </p:sp>
      <p:sp>
        <p:nvSpPr>
          <p:cNvPr id="780" name="CustomShape 10"/>
          <p:cNvSpPr/>
          <p:nvPr/>
        </p:nvSpPr>
        <p:spPr>
          <a:xfrm>
            <a:off x="6858000" y="3840480"/>
            <a:ext cx="4752000" cy="155160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600" b="0" strike="noStrike" spc="-1">
                <a:solidFill>
                  <a:srgbClr val="000000"/>
                </a:solidFill>
                <a:latin typeface="Calibri"/>
                <a:ea typeface="DejaVu Sans"/>
              </a:rPr>
              <a:t>Difference of the conditional proportions: </a:t>
            </a:r>
            <a:endParaRPr lang="en-US" sz="1600" b="0" strike="noStrike" spc="-1">
              <a:latin typeface="Arial"/>
            </a:endParaRPr>
          </a:p>
          <a:p>
            <a:pPr>
              <a:lnSpc>
                <a:spcPct val="100000"/>
              </a:lnSpc>
              <a:buNone/>
            </a:pPr>
            <a:r>
              <a:rPr lang="en-US" sz="1600" b="0" strike="noStrike" spc="-1">
                <a:solidFill>
                  <a:srgbClr val="000000"/>
                </a:solidFill>
                <a:latin typeface="Calibri"/>
                <a:ea typeface="DejaVu Sans"/>
              </a:rPr>
              <a:t>0.2965 - 0.2733 = 0.0232</a:t>
            </a:r>
            <a:endParaRPr lang="en-US" sz="1600" b="0" strike="noStrike" spc="-1">
              <a:latin typeface="Arial"/>
            </a:endParaRPr>
          </a:p>
          <a:p>
            <a:pPr>
              <a:lnSpc>
                <a:spcPct val="100000"/>
              </a:lnSpc>
              <a:buNone/>
            </a:pPr>
            <a:endParaRPr lang="en-US" sz="1600" b="0" strike="noStrike" spc="-1">
              <a:latin typeface="Arial"/>
            </a:endParaRPr>
          </a:p>
          <a:p>
            <a:pPr>
              <a:lnSpc>
                <a:spcPct val="100000"/>
              </a:lnSpc>
              <a:buNone/>
            </a:pPr>
            <a:r>
              <a:rPr lang="en-US" sz="1600" b="0" strike="noStrike" spc="-1">
                <a:solidFill>
                  <a:srgbClr val="000000"/>
                </a:solidFill>
                <a:latin typeface="Calibri"/>
                <a:ea typeface="DejaVu Sans"/>
              </a:rPr>
              <a:t>This difference is close to zero, which means that the proportions do not differ much (0 indicates that they are exactly the same)</a:t>
            </a:r>
            <a:endParaRPr lang="en-US" sz="1600" b="0" strike="noStrike" spc="-1">
              <a:latin typeface="Arial"/>
            </a:endParaRPr>
          </a:p>
        </p:txBody>
      </p:sp>
      <p:sp>
        <p:nvSpPr>
          <p:cNvPr id="781" name="CustomShape 11"/>
          <p:cNvSpPr/>
          <p:nvPr/>
        </p:nvSpPr>
        <p:spPr>
          <a:xfrm>
            <a:off x="7315200" y="5760720"/>
            <a:ext cx="3654720" cy="91152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600" b="0" strike="noStrike" spc="-1">
                <a:solidFill>
                  <a:srgbClr val="000000"/>
                </a:solidFill>
                <a:latin typeface="Calibri"/>
                <a:ea typeface="DejaVu Sans"/>
              </a:rPr>
              <a:t>For completeness’ sake, see next slide for the X2 result, if you want to practice it yourself first</a:t>
            </a:r>
            <a:endParaRPr lang="en-US" sz="1600" b="0" strike="noStrike" spc="-1">
              <a:latin typeface="Arial"/>
            </a:endParaRPr>
          </a:p>
        </p:txBody>
      </p:sp>
      <p:sp>
        <p:nvSpPr>
          <p:cNvPr id="782" name="CustomShape 12"/>
          <p:cNvSpPr/>
          <p:nvPr/>
        </p:nvSpPr>
        <p:spPr>
          <a:xfrm>
            <a:off x="1737360" y="2342160"/>
            <a:ext cx="4386240" cy="855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Conditional proportion of female victims when the offender is male: </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1719 / (1719+4078) = 0.2965</a:t>
            </a:r>
            <a:endParaRPr lang="en-US" sz="1800" b="0" strike="noStrike" spc="-1">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3" name="CustomShape 1"/>
          <p:cNvSpPr/>
          <p:nvPr/>
        </p:nvSpPr>
        <p:spPr>
          <a:xfrm>
            <a:off x="609480" y="273600"/>
            <a:ext cx="10967400" cy="11397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84" name="CustomShape 2"/>
          <p:cNvSpPr/>
          <p:nvPr/>
        </p:nvSpPr>
        <p:spPr>
          <a:xfrm>
            <a:off x="60948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85" name="CustomShape 3"/>
          <p:cNvSpPr/>
          <p:nvPr/>
        </p:nvSpPr>
        <p:spPr>
          <a:xfrm>
            <a:off x="6231960" y="160452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86" name="CustomShape 4"/>
          <p:cNvSpPr/>
          <p:nvPr/>
        </p:nvSpPr>
        <p:spPr>
          <a:xfrm>
            <a:off x="60948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87" name="CustomShape 5"/>
          <p:cNvSpPr/>
          <p:nvPr/>
        </p:nvSpPr>
        <p:spPr>
          <a:xfrm>
            <a:off x="6231960" y="3682080"/>
            <a:ext cx="5349240" cy="18918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NL"/>
          </a:p>
        </p:txBody>
      </p:sp>
      <p:sp>
        <p:nvSpPr>
          <p:cNvPr id="788" name="CustomShape 6"/>
          <p:cNvSpPr/>
          <p:nvPr/>
        </p:nvSpPr>
        <p:spPr>
          <a:xfrm>
            <a:off x="609480" y="510120"/>
            <a:ext cx="10967400" cy="66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pPr>
            <a:r>
              <a:rPr lang="en-US" sz="4400" b="0" strike="noStrike" spc="-1">
                <a:solidFill>
                  <a:srgbClr val="000000"/>
                </a:solidFill>
                <a:latin typeface="Arial"/>
                <a:ea typeface="DejaVu Sans"/>
              </a:rPr>
              <a:t>11.28</a:t>
            </a:r>
            <a:endParaRPr lang="en-US" sz="4400" b="0" strike="noStrike" spc="-1">
              <a:latin typeface="Arial"/>
            </a:endParaRPr>
          </a:p>
        </p:txBody>
      </p:sp>
      <p:sp>
        <p:nvSpPr>
          <p:cNvPr id="789" name="CustomShape 7"/>
          <p:cNvSpPr/>
          <p:nvPr/>
        </p:nvSpPr>
        <p:spPr>
          <a:xfrm>
            <a:off x="6829200" y="1828800"/>
            <a:ext cx="4752000" cy="2831760"/>
          </a:xfrm>
          <a:prstGeom prst="rect">
            <a:avLst/>
          </a:prstGeom>
          <a:solidFill>
            <a:srgbClr val="ED7D31">
              <a:alpha val="19000"/>
            </a:srgbClr>
          </a:solidFill>
          <a:ln w="12600">
            <a:solidFill>
              <a:srgbClr val="ED7D31"/>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600" b="0" strike="noStrike" spc="-1">
                <a:solidFill>
                  <a:srgbClr val="000000"/>
                </a:solidFill>
                <a:latin typeface="Calibri"/>
                <a:ea typeface="DejaVu Sans"/>
              </a:rPr>
              <a:t>The p-value is not significant (at any level below 0.2), indicating that the null hypothesis, which states there is no difference, fits the data OK (i.e., not so terribly that we reject it)</a:t>
            </a:r>
            <a:endParaRPr lang="en-US" sz="1600" b="0" strike="noStrike" spc="-1">
              <a:latin typeface="Arial"/>
            </a:endParaRPr>
          </a:p>
          <a:p>
            <a:pPr>
              <a:lnSpc>
                <a:spcPct val="100000"/>
              </a:lnSpc>
              <a:buNone/>
            </a:pPr>
            <a:endParaRPr lang="en-US" sz="1600" b="0" strike="noStrike" spc="-1">
              <a:latin typeface="Arial"/>
            </a:endParaRPr>
          </a:p>
          <a:p>
            <a:pPr>
              <a:lnSpc>
                <a:spcPct val="100000"/>
              </a:lnSpc>
              <a:buNone/>
            </a:pPr>
            <a:r>
              <a:rPr lang="en-US" sz="1600" b="0" strike="noStrike" spc="-1">
                <a:solidFill>
                  <a:srgbClr val="000000"/>
                </a:solidFill>
                <a:latin typeface="Calibri"/>
                <a:ea typeface="DejaVu Sans"/>
              </a:rPr>
              <a:t>This corroborates the results of the difference and ratio of the conditional proportions: there is probably no association between the gender of the victim and the gender of the offender</a:t>
            </a:r>
            <a:endParaRPr lang="en-US" sz="1600" b="0" strike="noStrike" spc="-1">
              <a:latin typeface="Arial"/>
            </a:endParaRPr>
          </a:p>
        </p:txBody>
      </p:sp>
      <p:sp>
        <p:nvSpPr>
          <p:cNvPr id="790" name="CustomShape 8"/>
          <p:cNvSpPr/>
          <p:nvPr/>
        </p:nvSpPr>
        <p:spPr>
          <a:xfrm>
            <a:off x="1737360" y="2286000"/>
            <a:ext cx="4386240" cy="855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strike="noStrike" spc="-1">
                <a:solidFill>
                  <a:srgbClr val="000000"/>
                </a:solidFill>
                <a:latin typeface="Arial"/>
                <a:ea typeface="DejaVu Sans"/>
              </a:rPr>
              <a:t>X</a:t>
            </a:r>
            <a:r>
              <a:rPr lang="en-US" sz="1800" b="0" strike="noStrike" spc="-1" baseline="33000">
                <a:solidFill>
                  <a:srgbClr val="000000"/>
                </a:solidFill>
                <a:latin typeface="Arial"/>
                <a:ea typeface="DejaVu Sans"/>
              </a:rPr>
              <a:t>2</a:t>
            </a:r>
            <a:r>
              <a:rPr lang="en-US" sz="1800" b="0" strike="noStrike" spc="-1">
                <a:solidFill>
                  <a:srgbClr val="000000"/>
                </a:solidFill>
                <a:latin typeface="Arial"/>
                <a:ea typeface="DejaVu Sans"/>
              </a:rPr>
              <a:t> = 1.5566</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Df = 1</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P-value = 0.2122</a:t>
            </a:r>
            <a:endParaRPr lang="en-US" sz="18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20890</TotalTime>
  <Words>3873</Words>
  <Application>Microsoft Macintosh PowerPoint</Application>
  <PresentationFormat>Widescreen</PresentationFormat>
  <Paragraphs>1142</Paragraphs>
  <Slides>64</Slides>
  <Notes>51</Notes>
  <HiddenSlides>6</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.AppleSystemUIFont</vt:lpstr>
      <vt:lpstr>Arial</vt:lpstr>
      <vt:lpstr>Calibri</vt:lpstr>
      <vt:lpstr>Calibri Light</vt:lpstr>
      <vt:lpstr>Cantarell</vt:lpstr>
      <vt:lpstr>StarSymbol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Methods and Statistics</dc:title>
  <dc:subject/>
  <dc:creator>lvmaanen@gmail.com</dc:creator>
  <dc:description/>
  <cp:lastModifiedBy>Johnny van Doorn</cp:lastModifiedBy>
  <cp:revision>128</cp:revision>
  <cp:lastPrinted>2018-09-11T13:33:45Z</cp:lastPrinted>
  <dcterms:created xsi:type="dcterms:W3CDTF">2018-08-27T08:05:56Z</dcterms:created>
  <dcterms:modified xsi:type="dcterms:W3CDTF">2024-09-09T21:06:28Z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false</vt:bool>
  </property>
  <property fmtid="{D5CDD505-2E9C-101B-9397-08002B2CF9AE}" pid="4" name="LinksUpToDate">
    <vt:bool>false</vt:bool>
  </property>
  <property fmtid="{D5CDD505-2E9C-101B-9397-08002B2CF9AE}" pid="5" name="MMClips">
    <vt:i4>1</vt:i4>
  </property>
  <property fmtid="{D5CDD505-2E9C-101B-9397-08002B2CF9AE}" pid="6" name="Notes">
    <vt:i4>38</vt:i4>
  </property>
  <property fmtid="{D5CDD505-2E9C-101B-9397-08002B2CF9AE}" pid="7" name="PresentationFormat">
    <vt:lpwstr>Widescreen</vt:lpwstr>
  </property>
  <property fmtid="{D5CDD505-2E9C-101B-9397-08002B2CF9AE}" pid="8" name="ScaleCrop">
    <vt:bool>false</vt:bool>
  </property>
  <property fmtid="{D5CDD505-2E9C-101B-9397-08002B2CF9AE}" pid="9" name="ShareDoc">
    <vt:bool>false</vt:bool>
  </property>
  <property fmtid="{D5CDD505-2E9C-101B-9397-08002B2CF9AE}" pid="10" name="Slides">
    <vt:i4>48</vt:i4>
  </property>
</Properties>
</file>