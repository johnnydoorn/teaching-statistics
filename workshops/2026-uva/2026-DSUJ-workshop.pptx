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Lst>
  <p:notesMasterIdLst>
    <p:notesMasterId r:id="rId69"/>
  </p:notesMasterIdLst>
  <p:handoutMasterIdLst>
    <p:handoutMasterId r:id="rId70"/>
  </p:handoutMasterIdLst>
  <p:sldIdLst>
    <p:sldId id="288" r:id="rId2"/>
    <p:sldId id="257" r:id="rId3"/>
    <p:sldId id="378" r:id="rId4"/>
    <p:sldId id="379" r:id="rId5"/>
    <p:sldId id="263" r:id="rId6"/>
    <p:sldId id="258" r:id="rId7"/>
    <p:sldId id="380" r:id="rId8"/>
    <p:sldId id="381" r:id="rId9"/>
    <p:sldId id="382" r:id="rId10"/>
    <p:sldId id="262" r:id="rId11"/>
    <p:sldId id="383" r:id="rId12"/>
    <p:sldId id="287" r:id="rId13"/>
    <p:sldId id="259" r:id="rId14"/>
    <p:sldId id="260" r:id="rId15"/>
    <p:sldId id="261" r:id="rId16"/>
    <p:sldId id="264" r:id="rId17"/>
    <p:sldId id="347" r:id="rId18"/>
    <p:sldId id="348" r:id="rId19"/>
    <p:sldId id="265" r:id="rId20"/>
    <p:sldId id="344" r:id="rId21"/>
    <p:sldId id="297" r:id="rId22"/>
    <p:sldId id="292" r:id="rId23"/>
    <p:sldId id="368" r:id="rId24"/>
    <p:sldId id="384" r:id="rId25"/>
    <p:sldId id="271" r:id="rId26"/>
    <p:sldId id="367" r:id="rId27"/>
    <p:sldId id="365" r:id="rId28"/>
    <p:sldId id="272" r:id="rId29"/>
    <p:sldId id="281" r:id="rId30"/>
    <p:sldId id="280" r:id="rId31"/>
    <p:sldId id="349" r:id="rId32"/>
    <p:sldId id="321" r:id="rId33"/>
    <p:sldId id="303" r:id="rId34"/>
    <p:sldId id="304" r:id="rId35"/>
    <p:sldId id="351" r:id="rId36"/>
    <p:sldId id="298" r:id="rId37"/>
    <p:sldId id="369" r:id="rId38"/>
    <p:sldId id="350" r:id="rId39"/>
    <p:sldId id="353" r:id="rId40"/>
    <p:sldId id="354" r:id="rId41"/>
    <p:sldId id="268" r:id="rId42"/>
    <p:sldId id="355" r:id="rId43"/>
    <p:sldId id="357" r:id="rId44"/>
    <p:sldId id="356" r:id="rId45"/>
    <p:sldId id="358" r:id="rId46"/>
    <p:sldId id="359" r:id="rId47"/>
    <p:sldId id="352" r:id="rId48"/>
    <p:sldId id="385" r:id="rId49"/>
    <p:sldId id="317" r:id="rId50"/>
    <p:sldId id="360" r:id="rId51"/>
    <p:sldId id="361" r:id="rId52"/>
    <p:sldId id="362" r:id="rId53"/>
    <p:sldId id="306" r:id="rId54"/>
    <p:sldId id="307" r:id="rId55"/>
    <p:sldId id="363" r:id="rId56"/>
    <p:sldId id="295" r:id="rId57"/>
    <p:sldId id="364" r:id="rId58"/>
    <p:sldId id="370" r:id="rId59"/>
    <p:sldId id="373" r:id="rId60"/>
    <p:sldId id="296" r:id="rId61"/>
    <p:sldId id="374" r:id="rId62"/>
    <p:sldId id="290" r:id="rId63"/>
    <p:sldId id="375" r:id="rId64"/>
    <p:sldId id="371" r:id="rId65"/>
    <p:sldId id="285" r:id="rId66"/>
    <p:sldId id="366" r:id="rId67"/>
    <p:sldId id="377" r:id="rId68"/>
  </p:sldIdLst>
  <p:sldSz cx="12192000" cy="6858000"/>
  <p:notesSz cx="6858000" cy="9144000"/>
  <p:defaultTextStyle>
    <a:defPPr>
      <a:defRPr lang="en-GB"/>
    </a:defPPr>
    <a:lvl1pPr algn="l" defTabSz="457200" rtl="0" fontAlgn="base">
      <a:spcBef>
        <a:spcPct val="0"/>
      </a:spcBef>
      <a:spcAft>
        <a:spcPct val="0"/>
      </a:spcAft>
      <a:buClr>
        <a:srgbClr val="000000"/>
      </a:buClr>
      <a:buSzPct val="100000"/>
      <a:buFont typeface="Times New Roman" charset="0"/>
      <a:defRPr sz="2400" kern="1200">
        <a:solidFill>
          <a:schemeClr val="bg1"/>
        </a:solidFill>
        <a:latin typeface="Times New Roman" charset="0"/>
        <a:ea typeface="+mn-ea"/>
        <a:cs typeface="+mn-cs"/>
      </a:defRPr>
    </a:lvl1pPr>
    <a:lvl2pPr marL="742950" indent="-285750" algn="l" defTabSz="457200" rtl="0" fontAlgn="base">
      <a:spcBef>
        <a:spcPct val="0"/>
      </a:spcBef>
      <a:spcAft>
        <a:spcPct val="0"/>
      </a:spcAft>
      <a:buClr>
        <a:srgbClr val="000000"/>
      </a:buClr>
      <a:buSzPct val="100000"/>
      <a:buFont typeface="Times New Roman" charset="0"/>
      <a:defRPr sz="2400" kern="1200">
        <a:solidFill>
          <a:schemeClr val="bg1"/>
        </a:solidFill>
        <a:latin typeface="Times New Roman" charset="0"/>
        <a:ea typeface="+mn-ea"/>
        <a:cs typeface="+mn-cs"/>
      </a:defRPr>
    </a:lvl2pPr>
    <a:lvl3pPr marL="1143000" indent="-228600" algn="l" defTabSz="457200" rtl="0" fontAlgn="base">
      <a:spcBef>
        <a:spcPct val="0"/>
      </a:spcBef>
      <a:spcAft>
        <a:spcPct val="0"/>
      </a:spcAft>
      <a:buClr>
        <a:srgbClr val="000000"/>
      </a:buClr>
      <a:buSzPct val="100000"/>
      <a:buFont typeface="Times New Roman" charset="0"/>
      <a:defRPr sz="2400" kern="1200">
        <a:solidFill>
          <a:schemeClr val="bg1"/>
        </a:solidFill>
        <a:latin typeface="Times New Roman" charset="0"/>
        <a:ea typeface="+mn-ea"/>
        <a:cs typeface="+mn-cs"/>
      </a:defRPr>
    </a:lvl3pPr>
    <a:lvl4pPr marL="1600200" indent="-228600" algn="l" defTabSz="457200" rtl="0" fontAlgn="base">
      <a:spcBef>
        <a:spcPct val="0"/>
      </a:spcBef>
      <a:spcAft>
        <a:spcPct val="0"/>
      </a:spcAft>
      <a:buClr>
        <a:srgbClr val="000000"/>
      </a:buClr>
      <a:buSzPct val="100000"/>
      <a:buFont typeface="Times New Roman" charset="0"/>
      <a:defRPr sz="2400" kern="1200">
        <a:solidFill>
          <a:schemeClr val="bg1"/>
        </a:solidFill>
        <a:latin typeface="Times New Roman" charset="0"/>
        <a:ea typeface="+mn-ea"/>
        <a:cs typeface="+mn-cs"/>
      </a:defRPr>
    </a:lvl4pPr>
    <a:lvl5pPr marL="2057400" indent="-228600" algn="l" defTabSz="457200" rtl="0" fontAlgn="base">
      <a:spcBef>
        <a:spcPct val="0"/>
      </a:spcBef>
      <a:spcAft>
        <a:spcPct val="0"/>
      </a:spcAft>
      <a:buClr>
        <a:srgbClr val="000000"/>
      </a:buClr>
      <a:buSzPct val="100000"/>
      <a:buFont typeface="Times New Roman" charset="0"/>
      <a:defRPr sz="2400" kern="1200">
        <a:solidFill>
          <a:schemeClr val="bg1"/>
        </a:solidFill>
        <a:latin typeface="Times New Roman" charset="0"/>
        <a:ea typeface="+mn-ea"/>
        <a:cs typeface="+mn-cs"/>
      </a:defRPr>
    </a:lvl5pPr>
    <a:lvl6pPr marL="2286000" algn="l" defTabSz="914400" rtl="0" eaLnBrk="1" latinLnBrk="0" hangingPunct="1">
      <a:defRPr sz="2400" kern="1200">
        <a:solidFill>
          <a:schemeClr val="bg1"/>
        </a:solidFill>
        <a:latin typeface="Times New Roman" charset="0"/>
        <a:ea typeface="+mn-ea"/>
        <a:cs typeface="+mn-cs"/>
      </a:defRPr>
    </a:lvl6pPr>
    <a:lvl7pPr marL="2743200" algn="l" defTabSz="914400" rtl="0" eaLnBrk="1" latinLnBrk="0" hangingPunct="1">
      <a:defRPr sz="2400" kern="1200">
        <a:solidFill>
          <a:schemeClr val="bg1"/>
        </a:solidFill>
        <a:latin typeface="Times New Roman" charset="0"/>
        <a:ea typeface="+mn-ea"/>
        <a:cs typeface="+mn-cs"/>
      </a:defRPr>
    </a:lvl7pPr>
    <a:lvl8pPr marL="3200400" algn="l" defTabSz="914400" rtl="0" eaLnBrk="1" latinLnBrk="0" hangingPunct="1">
      <a:defRPr sz="2400" kern="1200">
        <a:solidFill>
          <a:schemeClr val="bg1"/>
        </a:solidFill>
        <a:latin typeface="Times New Roman" charset="0"/>
        <a:ea typeface="+mn-ea"/>
        <a:cs typeface="+mn-cs"/>
      </a:defRPr>
    </a:lvl8pPr>
    <a:lvl9pPr marL="3657600" algn="l" defTabSz="914400" rtl="0" eaLnBrk="1" latinLnBrk="0" hangingPunct="1">
      <a:defRPr sz="2400" kern="1200">
        <a:solidFill>
          <a:schemeClr val="bg1"/>
        </a:solidFill>
        <a:latin typeface="Times New Roman"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20A6E0"/>
    <a:srgbClr val="8CC63E"/>
    <a:srgbClr val="F8981C"/>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97"/>
    <p:restoredTop sz="94658"/>
  </p:normalViewPr>
  <p:slideViewPr>
    <p:cSldViewPr>
      <p:cViewPr varScale="1">
        <p:scale>
          <a:sx n="120" d="100"/>
          <a:sy n="120" d="100"/>
        </p:scale>
        <p:origin x="896" y="184"/>
      </p:cViewPr>
      <p:guideLst>
        <p:guide orient="horz" pos="2160"/>
        <p:guide pos="384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150" d="100"/>
          <a:sy n="150" d="100"/>
        </p:scale>
        <p:origin x="2704" y="17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F104C6-1FF3-CA47-98A2-931169230253}" type="datetimeFigureOut">
              <a:rPr lang="en-US" smtClean="0"/>
              <a:t>8/24/26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315849-E79B-174F-8623-11B0814F2208}" type="slidenum">
              <a:rPr lang="en-US" smtClean="0"/>
              <a:t>‹#›</a:t>
            </a:fld>
            <a:endParaRPr lang="en-US"/>
          </a:p>
        </p:txBody>
      </p:sp>
    </p:spTree>
    <p:extLst>
      <p:ext uri="{BB962C8B-B14F-4D97-AF65-F5344CB8AC3E}">
        <p14:creationId xmlns:p14="http://schemas.microsoft.com/office/powerpoint/2010/main" val="195522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1" name="AutoShape 1"/>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360" cap="sq">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2" name="AutoShape 2"/>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3" name="AutoShape 3"/>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4" name="AutoShape 4"/>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5" name="AutoShape 5"/>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6" name="AutoShape 6"/>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7" name="AutoShape 7"/>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8" name="AutoShape 8"/>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9" name="AutoShape 9"/>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30" name="AutoShape 10"/>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31" name="Text Box 11"/>
          <p:cNvSpPr txBox="1">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32" name="Text Box 12"/>
          <p:cNvSpPr txBox="1">
            <a:spLocks noChangeArrowheads="1"/>
          </p:cNvSpPr>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33" name="Rectangle 13"/>
          <p:cNvSpPr>
            <a:spLocks noGrp="1" noRot="1" noChangeAspect="1" noChangeArrowheads="1"/>
          </p:cNvSpPr>
          <p:nvPr>
            <p:ph type="sldImg"/>
          </p:nvPr>
        </p:nvSpPr>
        <p:spPr bwMode="auto">
          <a:xfrm>
            <a:off x="387350" y="685800"/>
            <a:ext cx="6067425" cy="3413125"/>
          </a:xfrm>
          <a:prstGeom prst="rect">
            <a:avLst/>
          </a:prstGeom>
          <a:noFill/>
          <a:ln w="936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sp>
      <p:sp>
        <p:nvSpPr>
          <p:cNvPr id="5134" name="Rectangle 14"/>
          <p:cNvSpPr>
            <a:spLocks noGrp="1" noChangeArrowheads="1"/>
          </p:cNvSpPr>
          <p:nvPr>
            <p:ph type="body"/>
          </p:nvPr>
        </p:nvSpPr>
        <p:spPr bwMode="auto">
          <a:xfrm>
            <a:off x="685800" y="4343400"/>
            <a:ext cx="5470525" cy="409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000" tIns="46800" rIns="90000" bIns="46800" numCol="1" anchor="t" anchorCtr="0" compatLnSpc="1">
            <a:prstTxWarp prst="textNoShape">
              <a:avLst/>
            </a:prstTxWarp>
          </a:bodyPr>
          <a:lstStyle/>
          <a:p>
            <a:pPr lvl="0"/>
            <a:endParaRPr lang="x-none" altLang="x-none"/>
          </a:p>
        </p:txBody>
      </p:sp>
      <p:sp>
        <p:nvSpPr>
          <p:cNvPr id="5135" name="Text Box 15"/>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36" name="Rectangle 16"/>
          <p:cNvSpPr>
            <a:spLocks noGrp="1" noChangeArrowheads="1"/>
          </p:cNvSpPr>
          <p:nvPr>
            <p:ph type="sldNum"/>
          </p:nvPr>
        </p:nvSpPr>
        <p:spPr bwMode="auto">
          <a:xfrm>
            <a:off x="3884613" y="8685213"/>
            <a:ext cx="2955925"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000" tIns="46800" rIns="90000" bIns="46800" numCol="1" anchor="b" anchorCtr="0" compatLnSpc="1">
            <a:prstTxWarp prst="textNoShape">
              <a:avLst/>
            </a:prstTxWarp>
          </a:bodyPr>
          <a:lstStyle>
            <a:lvl1pPr marL="215900" indent="-201613" algn="r">
              <a:buClrTx/>
              <a:buSzPct val="45000"/>
              <a:buFontTx/>
              <a:buNone/>
              <a:tabLst>
                <a:tab pos="457200" algn="l"/>
                <a:tab pos="914400" algn="l"/>
                <a:tab pos="1371600" algn="l"/>
                <a:tab pos="1828800" algn="l"/>
                <a:tab pos="2286000" algn="l"/>
                <a:tab pos="2743200" algn="l"/>
              </a:tabLst>
              <a:defRPr sz="1200">
                <a:solidFill>
                  <a:srgbClr val="000000"/>
                </a:solidFill>
                <a:ea typeface="Lucida Sans Unicode" charset="0"/>
                <a:cs typeface="Lucida Sans Unicode" charset="0"/>
              </a:defRPr>
            </a:lvl1pPr>
          </a:lstStyle>
          <a:p>
            <a:fld id="{A9FB070D-45BF-9548-B34E-86F0882A0494}" type="slidenum">
              <a:rPr lang="en-US" altLang="x-none"/>
              <a:pPr/>
              <a:t>‹#›</a:t>
            </a:fld>
            <a:endParaRPr lang="en-US" altLang="x-none"/>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16"/>
          <p:cNvSpPr>
            <a:spLocks noGrp="1" noChangeArrowheads="1"/>
          </p:cNvSpPr>
          <p:nvPr>
            <p:ph type="sldNum"/>
          </p:nvPr>
        </p:nvSpPr>
        <p:spPr>
          <a:ln/>
        </p:spPr>
        <p:txBody>
          <a:bodyPr/>
          <a:lstStyle/>
          <a:p>
            <a:fld id="{FFFE07E6-F7DF-F041-B3B3-3EB7343C5727}" type="slidenum">
              <a:rPr lang="en-US" altLang="x-none"/>
              <a:pPr/>
              <a:t>2</a:t>
            </a:fld>
            <a:endParaRPr lang="en-US" altLang="x-none"/>
          </a:p>
        </p:txBody>
      </p:sp>
      <p:sp>
        <p:nvSpPr>
          <p:cNvPr id="35841" name="Text Box 1"/>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5pPr>
            <a:lvl6pPr marL="25146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6pPr>
            <a:lvl7pPr marL="29718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7pPr>
            <a:lvl8pPr marL="34290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8pPr>
            <a:lvl9pPr marL="38862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9pPr>
          </a:lstStyle>
          <a:p>
            <a:pPr algn="r">
              <a:buClrTx/>
              <a:buFontTx/>
              <a:buNone/>
            </a:pPr>
            <a:fld id="{40142976-BB9A-7941-B133-AF32D41AF86D}" type="slidenum">
              <a:rPr lang="en-US" altLang="x-none" sz="1200"/>
              <a:pPr algn="r">
                <a:buClrTx/>
                <a:buFontTx/>
                <a:buNone/>
              </a:pPr>
              <a:t>2</a:t>
            </a:fld>
            <a:endParaRPr lang="en-US" altLang="x-none" sz="1200"/>
          </a:p>
        </p:txBody>
      </p:sp>
      <p:sp>
        <p:nvSpPr>
          <p:cNvPr id="35842" name="Text Box 2"/>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35843" name="Text Box 3"/>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3EDF126-AFB5-A16E-AB73-CC202AA7CD17}"/>
            </a:ext>
          </a:extLst>
        </p:cNvPr>
        <p:cNvGrpSpPr/>
        <p:nvPr/>
      </p:nvGrpSpPr>
      <p:grpSpPr>
        <a:xfrm>
          <a:off x="0" y="0"/>
          <a:ext cx="0" cy="0"/>
          <a:chOff x="0" y="0"/>
          <a:chExt cx="0" cy="0"/>
        </a:xfrm>
      </p:grpSpPr>
      <p:sp>
        <p:nvSpPr>
          <p:cNvPr id="5" name="Rectangle 16">
            <a:extLst>
              <a:ext uri="{FF2B5EF4-FFF2-40B4-BE49-F238E27FC236}">
                <a16:creationId xmlns:a16="http://schemas.microsoft.com/office/drawing/2014/main" id="{AFB27494-0B8B-1606-D432-3B3D164248AC}"/>
              </a:ext>
            </a:extLst>
          </p:cNvPr>
          <p:cNvSpPr>
            <a:spLocks noGrp="1" noChangeArrowheads="1"/>
          </p:cNvSpPr>
          <p:nvPr>
            <p:ph type="sldNum"/>
          </p:nvPr>
        </p:nvSpPr>
        <p:spPr>
          <a:ln/>
        </p:spPr>
        <p:txBody>
          <a:bodyPr/>
          <a:lstStyle/>
          <a:p>
            <a:fld id="{FFFE07E6-F7DF-F041-B3B3-3EB7343C5727}" type="slidenum">
              <a:rPr lang="en-US" altLang="x-none"/>
              <a:pPr/>
              <a:t>3</a:t>
            </a:fld>
            <a:endParaRPr lang="en-US" altLang="x-none"/>
          </a:p>
        </p:txBody>
      </p:sp>
      <p:sp>
        <p:nvSpPr>
          <p:cNvPr id="35841" name="Text Box 1">
            <a:extLst>
              <a:ext uri="{FF2B5EF4-FFF2-40B4-BE49-F238E27FC236}">
                <a16:creationId xmlns:a16="http://schemas.microsoft.com/office/drawing/2014/main" id="{6CA13516-B854-F5D1-6E8E-76C947C20D73}"/>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5pPr>
            <a:lvl6pPr marL="25146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6pPr>
            <a:lvl7pPr marL="29718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7pPr>
            <a:lvl8pPr marL="34290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8pPr>
            <a:lvl9pPr marL="38862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9pPr>
          </a:lstStyle>
          <a:p>
            <a:pPr algn="r">
              <a:buClrTx/>
              <a:buFontTx/>
              <a:buNone/>
            </a:pPr>
            <a:fld id="{40142976-BB9A-7941-B133-AF32D41AF86D}" type="slidenum">
              <a:rPr lang="en-US" altLang="x-none" sz="1200"/>
              <a:pPr algn="r">
                <a:buClrTx/>
                <a:buFontTx/>
                <a:buNone/>
              </a:pPr>
              <a:t>3</a:t>
            </a:fld>
            <a:endParaRPr lang="en-US" altLang="x-none" sz="1200"/>
          </a:p>
        </p:txBody>
      </p:sp>
      <p:sp>
        <p:nvSpPr>
          <p:cNvPr id="35842" name="Text Box 2">
            <a:extLst>
              <a:ext uri="{FF2B5EF4-FFF2-40B4-BE49-F238E27FC236}">
                <a16:creationId xmlns:a16="http://schemas.microsoft.com/office/drawing/2014/main" id="{8EF2320C-935A-3970-1BC4-5DD63D471E3F}"/>
              </a:ext>
            </a:extLst>
          </p:cNvPr>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35843" name="Text Box 3">
            <a:extLst>
              <a:ext uri="{FF2B5EF4-FFF2-40B4-BE49-F238E27FC236}">
                <a16:creationId xmlns:a16="http://schemas.microsoft.com/office/drawing/2014/main" id="{79FB6992-637D-65D5-E98B-A0E5754A7A23}"/>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134990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02043BD-673C-51D7-EFF9-BD5162C0AB14}"/>
              </a:ext>
            </a:extLst>
          </p:cNvPr>
          <p:cNvSpPr txBox="1">
            <a:spLocks noGrp="1"/>
          </p:cNvSpPr>
          <p:nvPr>
            <p:ph type="sldNum" sz="quarter" idx="5"/>
          </p:nvPr>
        </p:nvSpPr>
        <p:spPr>
          <a:ln/>
        </p:spPr>
        <p:txBody>
          <a:bodyPr vert="horz" lIns="0" tIns="0" rIns="0" bIns="0" anchor="b" anchorCtr="0">
            <a:noAutofit/>
          </a:bodyPr>
          <a:lstStyle/>
          <a:p>
            <a:pPr lvl="0"/>
            <a:fld id="{F4230EE4-473C-A040-B1A8-DA7965415EAC}" type="slidenum">
              <a:t>9</a:t>
            </a:fld>
            <a:endParaRPr lang="en-none"/>
          </a:p>
        </p:txBody>
      </p:sp>
      <p:sp>
        <p:nvSpPr>
          <p:cNvPr id="2" name="Slide Image Placeholder 1">
            <a:extLst>
              <a:ext uri="{FF2B5EF4-FFF2-40B4-BE49-F238E27FC236}">
                <a16:creationId xmlns:a16="http://schemas.microsoft.com/office/drawing/2014/main" id="{EBEC40D8-9B2E-5759-6214-81C607BB6A48}"/>
              </a:ext>
            </a:extLst>
          </p:cNvPr>
          <p:cNvSpPr>
            <a:spLocks noGrp="1" noRot="1" noChangeAspect="1" noResize="1"/>
          </p:cNvSpPr>
          <p:nvPr>
            <p:ph type="sldImg"/>
          </p:nvPr>
        </p:nvSpPr>
        <p:spPr>
          <a:xfrm>
            <a:off x="382588" y="695325"/>
            <a:ext cx="6092825" cy="3427413"/>
          </a:xfrm>
          <a:solidFill>
            <a:srgbClr val="CFE7F5"/>
          </a:solidFill>
          <a:ln w="25400">
            <a:solidFill>
              <a:srgbClr val="808080"/>
            </a:solidFill>
            <a:prstDash val="solid"/>
          </a:ln>
        </p:spPr>
      </p:sp>
      <p:sp>
        <p:nvSpPr>
          <p:cNvPr id="3" name="Notes Placeholder 2">
            <a:extLst>
              <a:ext uri="{FF2B5EF4-FFF2-40B4-BE49-F238E27FC236}">
                <a16:creationId xmlns:a16="http://schemas.microsoft.com/office/drawing/2014/main" id="{3674723D-7691-4784-8D4F-1923517E4B81}"/>
              </a:ext>
            </a:extLst>
          </p:cNvPr>
          <p:cNvSpPr txBox="1">
            <a:spLocks noGrp="1"/>
          </p:cNvSpPr>
          <p:nvPr>
            <p:ph type="body" sz="quarter" idx="1"/>
          </p:nvPr>
        </p:nvSpPr>
        <p:spPr>
          <a:xfrm>
            <a:off x="685800" y="4343400"/>
            <a:ext cx="5486040" cy="4114440"/>
          </a:xfrm>
        </p:spPr>
        <p:txBody>
          <a:bodyPr vert="horz"/>
          <a:lstStyle/>
          <a:p>
            <a:endParaRPr lang="en-none"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85516-5D1F-C45D-2453-C0DD5D7B8AD3}"/>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E0CD9777-06A6-4055-2539-9E3BD5F25691}"/>
              </a:ext>
            </a:extLst>
          </p:cNvPr>
          <p:cNvSpPr>
            <a:spLocks noGrp="1" noChangeArrowheads="1"/>
          </p:cNvSpPr>
          <p:nvPr>
            <p:ph type="sldNum" sz="quarter" idx="5"/>
          </p:nvPr>
        </p:nvSpPr>
        <p:spPr>
          <a:ln/>
        </p:spPr>
        <p:txBody>
          <a:bodyPr/>
          <a:lstStyle/>
          <a:p>
            <a:fld id="{7593C708-9895-461D-887B-1EB92B8E4AF2}" type="slidenum">
              <a:rPr lang="en-US"/>
              <a:pPr/>
              <a:t>26</a:t>
            </a:fld>
            <a:endParaRPr lang="en-US"/>
          </a:p>
        </p:txBody>
      </p:sp>
      <p:sp>
        <p:nvSpPr>
          <p:cNvPr id="218114" name="Rectangle 2">
            <a:extLst>
              <a:ext uri="{FF2B5EF4-FFF2-40B4-BE49-F238E27FC236}">
                <a16:creationId xmlns:a16="http://schemas.microsoft.com/office/drawing/2014/main" id="{5E5C0437-B5B1-D66A-7188-2D5C3B7EBC89}"/>
              </a:ext>
            </a:extLst>
          </p:cNvPr>
          <p:cNvSpPr>
            <a:spLocks noGrp="1" noRot="1" noChangeAspect="1" noChangeArrowheads="1" noTextEdit="1"/>
          </p:cNvSpPr>
          <p:nvPr>
            <p:ph type="sldImg"/>
          </p:nvPr>
        </p:nvSpPr>
        <p:spPr>
          <a:xfrm>
            <a:off x="381000" y="685800"/>
            <a:ext cx="6096000" cy="3429000"/>
          </a:xfrm>
          <a:ln/>
        </p:spPr>
      </p:sp>
      <p:sp>
        <p:nvSpPr>
          <p:cNvPr id="218115" name="Rectangle 3">
            <a:extLst>
              <a:ext uri="{FF2B5EF4-FFF2-40B4-BE49-F238E27FC236}">
                <a16:creationId xmlns:a16="http://schemas.microsoft.com/office/drawing/2014/main" id="{A13365A6-3AC5-06B0-2756-A5AF0ADD385A}"/>
              </a:ext>
            </a:extLst>
          </p:cNvPr>
          <p:cNvSpPr>
            <a:spLocks noGrp="1" noChangeArrowheads="1"/>
          </p:cNvSpPr>
          <p:nvPr>
            <p:ph type="body" idx="1"/>
          </p:nvPr>
        </p:nvSpPr>
        <p:spPr>
          <a:xfrm>
            <a:off x="914400" y="4343400"/>
            <a:ext cx="5029200" cy="4114800"/>
          </a:xfrm>
        </p:spPr>
        <p:txBody>
          <a:bodyPr/>
          <a:lstStyle/>
          <a:p>
            <a:r>
              <a:rPr lang="en-GB" dirty="0"/>
              <a:t>A similar equation can be derived in which each predictor variable has its own coefficient, and the outcome variable is predicted from a combination of all the variables multiplied by their respective coefficients plus a residual term (see equation above).</a:t>
            </a:r>
          </a:p>
          <a:p>
            <a:r>
              <a:rPr lang="en-GB" i="1" dirty="0"/>
              <a:t>Y</a:t>
            </a:r>
            <a:r>
              <a:rPr lang="en-GB" dirty="0"/>
              <a:t> is the outcome variable, </a:t>
            </a:r>
            <a:r>
              <a:rPr lang="en-GB" i="1" dirty="0">
                <a:sym typeface="Symbol" pitchFamily="18" charset="2"/>
              </a:rPr>
              <a:t></a:t>
            </a:r>
            <a:r>
              <a:rPr lang="en-GB" i="1" baseline="-25000" dirty="0"/>
              <a:t>1</a:t>
            </a:r>
            <a:r>
              <a:rPr lang="en-GB" i="1" dirty="0"/>
              <a:t> </a:t>
            </a:r>
            <a:r>
              <a:rPr lang="en-GB" dirty="0"/>
              <a:t>is the coefficient of the first predictor (</a:t>
            </a:r>
            <a:r>
              <a:rPr lang="en-GB" i="1" dirty="0"/>
              <a:t>X</a:t>
            </a:r>
            <a:r>
              <a:rPr lang="en-GB" i="1" baseline="-25000" dirty="0"/>
              <a:t>1</a:t>
            </a:r>
            <a:r>
              <a:rPr lang="en-GB" dirty="0"/>
              <a:t>), </a:t>
            </a:r>
            <a:r>
              <a:rPr lang="en-GB" i="1" dirty="0">
                <a:sym typeface="Symbol" pitchFamily="18" charset="2"/>
              </a:rPr>
              <a:t></a:t>
            </a:r>
            <a:r>
              <a:rPr lang="en-GB" i="1" baseline="-25000" dirty="0"/>
              <a:t>2</a:t>
            </a:r>
            <a:r>
              <a:rPr lang="en-GB" dirty="0"/>
              <a:t> is the coefficient of the second predictor (</a:t>
            </a:r>
            <a:r>
              <a:rPr lang="en-GB" i="1" dirty="0"/>
              <a:t>X</a:t>
            </a:r>
            <a:r>
              <a:rPr lang="en-GB" i="1" baseline="-25000" dirty="0"/>
              <a:t>2</a:t>
            </a:r>
            <a:r>
              <a:rPr lang="en-GB" dirty="0"/>
              <a:t>), </a:t>
            </a:r>
            <a:r>
              <a:rPr lang="en-GB" i="1" dirty="0">
                <a:sym typeface="Symbol" pitchFamily="18" charset="2"/>
              </a:rPr>
              <a:t></a:t>
            </a:r>
            <a:r>
              <a:rPr lang="en-GB" i="1" baseline="-25000" dirty="0"/>
              <a:t>n</a:t>
            </a:r>
            <a:r>
              <a:rPr lang="en-GB" dirty="0"/>
              <a:t> is the coefficient of the </a:t>
            </a:r>
            <a:r>
              <a:rPr lang="en-GB" i="1" dirty="0"/>
              <a:t>n</a:t>
            </a:r>
            <a:r>
              <a:rPr lang="en-GB" baseline="30000" dirty="0"/>
              <a:t>th</a:t>
            </a:r>
            <a:r>
              <a:rPr lang="en-GB" dirty="0"/>
              <a:t> predictor (</a:t>
            </a:r>
            <a:r>
              <a:rPr lang="en-GB" i="1" dirty="0" err="1"/>
              <a:t>X</a:t>
            </a:r>
            <a:r>
              <a:rPr lang="en-GB" i="1" baseline="-25000" dirty="0" err="1"/>
              <a:t>n</a:t>
            </a:r>
            <a:r>
              <a:rPr lang="en-GB" dirty="0"/>
              <a:t>), and </a:t>
            </a:r>
            <a:r>
              <a:rPr lang="en-GB" i="1" dirty="0">
                <a:sym typeface="Symbol" pitchFamily="18" charset="2"/>
              </a:rPr>
              <a:t></a:t>
            </a:r>
            <a:r>
              <a:rPr lang="en-GB" i="1" baseline="-25000" dirty="0" err="1"/>
              <a:t>i</a:t>
            </a:r>
            <a:r>
              <a:rPr lang="en-GB" dirty="0"/>
              <a:t> is the difference between the predicted and the observed value of </a:t>
            </a:r>
            <a:r>
              <a:rPr lang="en-GB" i="1" dirty="0"/>
              <a:t>Y</a:t>
            </a:r>
            <a:r>
              <a:rPr lang="en-GB" dirty="0"/>
              <a:t> for the </a:t>
            </a:r>
            <a:r>
              <a:rPr lang="en-GB" i="1" dirty="0" err="1"/>
              <a:t>i</a:t>
            </a:r>
            <a:r>
              <a:rPr lang="en-GB" baseline="30000" dirty="0" err="1"/>
              <a:t>th</a:t>
            </a:r>
            <a:r>
              <a:rPr lang="en-GB" dirty="0"/>
              <a:t> subject. In this case, the model fitted is more complicated, but the basic principle is the same as simple regression. That is, we seek to find the linear combination of predictors that correlate maximally with the outcome variable.</a:t>
            </a:r>
          </a:p>
        </p:txBody>
      </p:sp>
    </p:spTree>
    <p:extLst>
      <p:ext uri="{BB962C8B-B14F-4D97-AF65-F5344CB8AC3E}">
        <p14:creationId xmlns:p14="http://schemas.microsoft.com/office/powerpoint/2010/main" val="17051528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93C708-9895-461D-887B-1EB92B8E4AF2}" type="slidenum">
              <a:rPr lang="en-US"/>
              <a:pPr/>
              <a:t>29</a:t>
            </a:fld>
            <a:endParaRPr lang="en-US"/>
          </a:p>
        </p:txBody>
      </p:sp>
      <p:sp>
        <p:nvSpPr>
          <p:cNvPr id="218114" name="Rectangle 2"/>
          <p:cNvSpPr>
            <a:spLocks noGrp="1" noRot="1" noChangeAspect="1" noChangeArrowheads="1" noTextEdit="1"/>
          </p:cNvSpPr>
          <p:nvPr>
            <p:ph type="sldImg"/>
          </p:nvPr>
        </p:nvSpPr>
        <p:spPr>
          <a:xfrm>
            <a:off x="381000" y="685800"/>
            <a:ext cx="6096000" cy="3429000"/>
          </a:xfrm>
          <a:ln/>
        </p:spPr>
      </p:sp>
      <p:sp>
        <p:nvSpPr>
          <p:cNvPr id="218115" name="Rectangle 3"/>
          <p:cNvSpPr>
            <a:spLocks noGrp="1" noChangeArrowheads="1"/>
          </p:cNvSpPr>
          <p:nvPr>
            <p:ph type="body" idx="1"/>
          </p:nvPr>
        </p:nvSpPr>
        <p:spPr>
          <a:xfrm>
            <a:off x="914400" y="4343400"/>
            <a:ext cx="5029200" cy="4114800"/>
          </a:xfrm>
        </p:spPr>
        <p:txBody>
          <a:bodyPr/>
          <a:lstStyle/>
          <a:p>
            <a:r>
              <a:rPr lang="en-GB" dirty="0"/>
              <a:t>A similar equation can be derived in which each predictor variable has its own coefficient, and the outcome variable is predicted from a combination of all the variables multiplied by their respective coefficients plus a residual term (see equation above).</a:t>
            </a:r>
          </a:p>
          <a:p>
            <a:r>
              <a:rPr lang="en-GB" i="1" dirty="0"/>
              <a:t>Y</a:t>
            </a:r>
            <a:r>
              <a:rPr lang="en-GB" dirty="0"/>
              <a:t> is the outcome variable, </a:t>
            </a:r>
            <a:r>
              <a:rPr lang="en-GB" i="1" dirty="0">
                <a:sym typeface="Symbol" pitchFamily="18" charset="2"/>
              </a:rPr>
              <a:t></a:t>
            </a:r>
            <a:r>
              <a:rPr lang="en-GB" i="1" baseline="-25000" dirty="0"/>
              <a:t>1</a:t>
            </a:r>
            <a:r>
              <a:rPr lang="en-GB" i="1" dirty="0"/>
              <a:t> </a:t>
            </a:r>
            <a:r>
              <a:rPr lang="en-GB" dirty="0"/>
              <a:t>is the coefficient of the first predictor (</a:t>
            </a:r>
            <a:r>
              <a:rPr lang="en-GB" i="1" dirty="0"/>
              <a:t>X</a:t>
            </a:r>
            <a:r>
              <a:rPr lang="en-GB" i="1" baseline="-25000" dirty="0"/>
              <a:t>1</a:t>
            </a:r>
            <a:r>
              <a:rPr lang="en-GB" dirty="0"/>
              <a:t>), </a:t>
            </a:r>
            <a:r>
              <a:rPr lang="en-GB" i="1" dirty="0">
                <a:sym typeface="Symbol" pitchFamily="18" charset="2"/>
              </a:rPr>
              <a:t></a:t>
            </a:r>
            <a:r>
              <a:rPr lang="en-GB" i="1" baseline="-25000" dirty="0"/>
              <a:t>2</a:t>
            </a:r>
            <a:r>
              <a:rPr lang="en-GB" dirty="0"/>
              <a:t> is the coefficient of the second predictor (</a:t>
            </a:r>
            <a:r>
              <a:rPr lang="en-GB" i="1" dirty="0"/>
              <a:t>X</a:t>
            </a:r>
            <a:r>
              <a:rPr lang="en-GB" i="1" baseline="-25000" dirty="0"/>
              <a:t>2</a:t>
            </a:r>
            <a:r>
              <a:rPr lang="en-GB" dirty="0"/>
              <a:t>), </a:t>
            </a:r>
            <a:r>
              <a:rPr lang="en-GB" i="1" dirty="0">
                <a:sym typeface="Symbol" pitchFamily="18" charset="2"/>
              </a:rPr>
              <a:t></a:t>
            </a:r>
            <a:r>
              <a:rPr lang="en-GB" i="1" baseline="-25000" dirty="0"/>
              <a:t>n</a:t>
            </a:r>
            <a:r>
              <a:rPr lang="en-GB" dirty="0"/>
              <a:t> is the coefficient of the </a:t>
            </a:r>
            <a:r>
              <a:rPr lang="en-GB" i="1" dirty="0"/>
              <a:t>n</a:t>
            </a:r>
            <a:r>
              <a:rPr lang="en-GB" baseline="30000" dirty="0"/>
              <a:t>th</a:t>
            </a:r>
            <a:r>
              <a:rPr lang="en-GB" dirty="0"/>
              <a:t> predictor (</a:t>
            </a:r>
            <a:r>
              <a:rPr lang="en-GB" i="1" dirty="0" err="1"/>
              <a:t>X</a:t>
            </a:r>
            <a:r>
              <a:rPr lang="en-GB" i="1" baseline="-25000" dirty="0" err="1"/>
              <a:t>n</a:t>
            </a:r>
            <a:r>
              <a:rPr lang="en-GB" dirty="0"/>
              <a:t>), and </a:t>
            </a:r>
            <a:r>
              <a:rPr lang="en-GB" i="1" dirty="0">
                <a:sym typeface="Symbol" pitchFamily="18" charset="2"/>
              </a:rPr>
              <a:t></a:t>
            </a:r>
            <a:r>
              <a:rPr lang="en-GB" i="1" baseline="-25000" dirty="0" err="1"/>
              <a:t>i</a:t>
            </a:r>
            <a:r>
              <a:rPr lang="en-GB" dirty="0"/>
              <a:t> is the difference between the predicted and the observed value of </a:t>
            </a:r>
            <a:r>
              <a:rPr lang="en-GB" i="1" dirty="0"/>
              <a:t>Y</a:t>
            </a:r>
            <a:r>
              <a:rPr lang="en-GB" dirty="0"/>
              <a:t> for the </a:t>
            </a:r>
            <a:r>
              <a:rPr lang="en-GB" i="1" dirty="0" err="1"/>
              <a:t>i</a:t>
            </a:r>
            <a:r>
              <a:rPr lang="en-GB" baseline="30000" dirty="0" err="1"/>
              <a:t>th</a:t>
            </a:r>
            <a:r>
              <a:rPr lang="en-GB" dirty="0"/>
              <a:t> subject. In this case, the model fitted is more complicated, but the basic principle is the same as simple regression. That is, we seek to find the linear combination of predictors that correlate maximally with the outcome variable.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A4B389-542D-4E9B-A49E-4883D6953B7B}" type="slidenum">
              <a:rPr lang="en-US"/>
              <a:pPr/>
              <a:t>31</a:t>
            </a:fld>
            <a:endParaRPr lang="en-US"/>
          </a:p>
        </p:txBody>
      </p:sp>
      <p:sp>
        <p:nvSpPr>
          <p:cNvPr id="257026" name="Rectangle 2"/>
          <p:cNvSpPr>
            <a:spLocks noGrp="1" noRot="1" noChangeAspect="1" noChangeArrowheads="1" noTextEdit="1"/>
          </p:cNvSpPr>
          <p:nvPr>
            <p:ph type="sldImg"/>
          </p:nvPr>
        </p:nvSpPr>
        <p:spPr>
          <a:xfrm>
            <a:off x="381000" y="685800"/>
            <a:ext cx="6096000" cy="3429000"/>
          </a:xfrm>
          <a:ln/>
        </p:spPr>
      </p:sp>
      <p:sp>
        <p:nvSpPr>
          <p:cNvPr id="257027" name="Rectangle 3"/>
          <p:cNvSpPr>
            <a:spLocks noGrp="1" noChangeArrowheads="1"/>
          </p:cNvSpPr>
          <p:nvPr>
            <p:ph type="body" idx="1"/>
          </p:nvPr>
        </p:nvSpPr>
        <p:spPr>
          <a:xfrm>
            <a:off x="914400" y="4343400"/>
            <a:ext cx="5029200" cy="4114800"/>
          </a:xfrm>
        </p:spPr>
        <p:txBody>
          <a:bodyPr/>
          <a:lstStyle/>
          <a:p>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637CA57-62E4-4DB6-A556-D8FD67AE638E}" type="slidenum">
              <a:rPr lang="en-US"/>
              <a:pPr/>
              <a:t>53</a:t>
            </a:fld>
            <a:endParaRPr lang="en-US"/>
          </a:p>
        </p:txBody>
      </p:sp>
      <p:sp>
        <p:nvSpPr>
          <p:cNvPr id="145410" name="Rectangle 2"/>
          <p:cNvSpPr>
            <a:spLocks noGrp="1" noRot="1" noChangeAspect="1" noChangeArrowheads="1" noTextEdit="1"/>
          </p:cNvSpPr>
          <p:nvPr>
            <p:ph type="sldImg"/>
          </p:nvPr>
        </p:nvSpPr>
        <p:spPr>
          <a:xfrm>
            <a:off x="381000" y="685800"/>
            <a:ext cx="6096000" cy="3429000"/>
          </a:xfrm>
          <a:ln/>
        </p:spPr>
      </p:sp>
      <p:sp>
        <p:nvSpPr>
          <p:cNvPr id="145411" name="Rectangle 3"/>
          <p:cNvSpPr>
            <a:spLocks noGrp="1" noChangeArrowheads="1"/>
          </p:cNvSpPr>
          <p:nvPr>
            <p:ph type="body" idx="1"/>
          </p:nvPr>
        </p:nvSpPr>
        <p:spPr>
          <a:xfrm>
            <a:off x="914400" y="4343400"/>
            <a:ext cx="5029200" cy="4114800"/>
          </a:xfrm>
        </p:spPr>
        <p:txBody>
          <a:bodyPr/>
          <a:lstStyle/>
          <a:p>
            <a:endParaRPr lang="en-GB" b="1"/>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3FC0B4-A397-4094-A7D0-8EA04BDCF476}" type="slidenum">
              <a:rPr lang="en-US"/>
              <a:pPr/>
              <a:t>54</a:t>
            </a:fld>
            <a:endParaRPr lang="en-US"/>
          </a:p>
        </p:txBody>
      </p:sp>
      <p:sp>
        <p:nvSpPr>
          <p:cNvPr id="147458" name="Rectangle 2"/>
          <p:cNvSpPr>
            <a:spLocks noGrp="1" noRot="1" noChangeAspect="1" noChangeArrowheads="1" noTextEdit="1"/>
          </p:cNvSpPr>
          <p:nvPr>
            <p:ph type="sldImg"/>
          </p:nvPr>
        </p:nvSpPr>
        <p:spPr>
          <a:xfrm>
            <a:off x="381000" y="685800"/>
            <a:ext cx="6096000" cy="3429000"/>
          </a:xfrm>
          <a:ln/>
        </p:spPr>
      </p:sp>
      <p:sp>
        <p:nvSpPr>
          <p:cNvPr id="147459" name="Rectangle 3"/>
          <p:cNvSpPr>
            <a:spLocks noGrp="1" noChangeArrowheads="1"/>
          </p:cNvSpPr>
          <p:nvPr>
            <p:ph type="body" idx="1"/>
          </p:nvPr>
        </p:nvSpPr>
        <p:spPr>
          <a:xfrm>
            <a:off x="914400" y="4343400"/>
            <a:ext cx="5029200" cy="4114800"/>
          </a:xfrm>
        </p:spPr>
        <p:txBody>
          <a:bodyPr/>
          <a:lstStyle/>
          <a:p>
            <a:endParaRPr lang="en-GB" b="1" dirty="0">
              <a:cs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CC7F36-C296-47D2-AA70-4C600A0A033D}" type="slidenum">
              <a:rPr lang="en-US"/>
              <a:pPr/>
              <a:t>62</a:t>
            </a:fld>
            <a:endParaRPr lang="en-US"/>
          </a:p>
        </p:txBody>
      </p:sp>
      <p:sp>
        <p:nvSpPr>
          <p:cNvPr id="204802" name="Rectangle 2"/>
          <p:cNvSpPr>
            <a:spLocks noGrp="1" noRot="1" noChangeAspect="1" noChangeArrowheads="1" noTextEdit="1"/>
          </p:cNvSpPr>
          <p:nvPr>
            <p:ph type="sldImg"/>
          </p:nvPr>
        </p:nvSpPr>
        <p:spPr>
          <a:xfrm>
            <a:off x="381000" y="685800"/>
            <a:ext cx="6096000" cy="3429000"/>
          </a:xfrm>
          <a:ln/>
        </p:spPr>
      </p:sp>
      <p:sp>
        <p:nvSpPr>
          <p:cNvPr id="204803" name="Rectangle 3"/>
          <p:cNvSpPr>
            <a:spLocks noGrp="1" noChangeArrowheads="1"/>
          </p:cNvSpPr>
          <p:nvPr>
            <p:ph type="body" idx="1"/>
          </p:nvPr>
        </p:nvSpPr>
        <p:spPr>
          <a:xfrm>
            <a:off x="914400" y="4343400"/>
            <a:ext cx="5029200" cy="4114800"/>
          </a:xfrm>
        </p:spPr>
        <p:txBody>
          <a:bodyPr/>
          <a:lstStyle/>
          <a:p>
            <a:endParaRPr lang="en-GB" dirty="0">
              <a:latin typeface="Verdana" pitchFamily="34" charset="0"/>
            </a:endParaRPr>
          </a:p>
        </p:txBody>
      </p:sp>
    </p:spTree>
    <p:extLst>
      <p:ext uri="{BB962C8B-B14F-4D97-AF65-F5344CB8AC3E}">
        <p14:creationId xmlns:p14="http://schemas.microsoft.com/office/powerpoint/2010/main" val="397817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EBF78E-C608-4686-8DEF-B56CA20443D0}" type="slidenum">
              <a:rPr lang="en-US"/>
              <a:pPr/>
              <a:t>63</a:t>
            </a:fld>
            <a:endParaRPr lang="en-US"/>
          </a:p>
        </p:txBody>
      </p:sp>
      <p:sp>
        <p:nvSpPr>
          <p:cNvPr id="225282" name="Rectangle 2"/>
          <p:cNvSpPr>
            <a:spLocks noGrp="1" noRot="1" noChangeAspect="1" noChangeArrowheads="1" noTextEdit="1"/>
          </p:cNvSpPr>
          <p:nvPr>
            <p:ph type="sldImg"/>
          </p:nvPr>
        </p:nvSpPr>
        <p:spPr>
          <a:xfrm>
            <a:off x="381000" y="685800"/>
            <a:ext cx="6096000" cy="3429000"/>
          </a:xfrm>
          <a:ln/>
        </p:spPr>
      </p:sp>
      <p:sp>
        <p:nvSpPr>
          <p:cNvPr id="225283" name="Rectangle 3"/>
          <p:cNvSpPr>
            <a:spLocks noGrp="1" noChangeArrowheads="1"/>
          </p:cNvSpPr>
          <p:nvPr>
            <p:ph type="body" idx="1"/>
          </p:nvPr>
        </p:nvSpPr>
        <p:spPr>
          <a:xfrm>
            <a:off x="914400" y="4343400"/>
            <a:ext cx="5029200" cy="4114800"/>
          </a:xfrm>
        </p:spPr>
        <p:txBody>
          <a:bodyPr/>
          <a:lstStyle/>
          <a:p>
            <a:r>
              <a:rPr lang="en-GB" dirty="0">
                <a:cs typeface="Times New Roman" pitchFamily="18" charset="0"/>
              </a:rPr>
              <a:t>variances.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A97B9C-F94F-4C9E-8F2E-AAF36DFD00CE}" type="slidenum">
              <a:rPr lang="en-US"/>
              <a:pPr/>
              <a:t>64</a:t>
            </a:fld>
            <a:endParaRPr lang="en-US"/>
          </a:p>
        </p:txBody>
      </p:sp>
      <p:sp>
        <p:nvSpPr>
          <p:cNvPr id="234498" name="Rectangle 2"/>
          <p:cNvSpPr>
            <a:spLocks noGrp="1" noRot="1" noChangeAspect="1" noChangeArrowheads="1" noTextEdit="1"/>
          </p:cNvSpPr>
          <p:nvPr>
            <p:ph type="sldImg"/>
          </p:nvPr>
        </p:nvSpPr>
        <p:spPr>
          <a:xfrm>
            <a:off x="381000" y="685800"/>
            <a:ext cx="6096000" cy="3429000"/>
          </a:xfrm>
          <a:ln/>
        </p:spPr>
      </p:sp>
      <p:sp>
        <p:nvSpPr>
          <p:cNvPr id="234499" name="Rectangle 3"/>
          <p:cNvSpPr>
            <a:spLocks noGrp="1" noChangeArrowheads="1"/>
          </p:cNvSpPr>
          <p:nvPr>
            <p:ph type="body" idx="1"/>
          </p:nvPr>
        </p:nvSpPr>
        <p:spPr>
          <a:xfrm>
            <a:off x="915054" y="4343400"/>
            <a:ext cx="5027893" cy="4114800"/>
          </a:xfrm>
        </p:spPr>
        <p:txBody>
          <a:bodyPr/>
          <a:lstStyle/>
          <a:p>
            <a:pPr algn="just"/>
            <a:endParaRPr lang="en-GB" dirty="0">
              <a:latin typeface="Chantilly" pitchFamily="2" charset="0"/>
              <a:cs typeface="Times New Roman" pitchFamily="18" charset="0"/>
            </a:endParaRPr>
          </a:p>
        </p:txBody>
      </p:sp>
    </p:spTree>
    <p:extLst>
      <p:ext uri="{BB962C8B-B14F-4D97-AF65-F5344CB8AC3E}">
        <p14:creationId xmlns:p14="http://schemas.microsoft.com/office/powerpoint/2010/main" val="3788510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Master" Target="../slideMasters/slideMaster1.xml"/><Relationship Id="rId4" Type="http://schemas.openxmlformats.org/officeDocument/2006/relationships/image" Target="../media/image4.tif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8018" y="116632"/>
            <a:ext cx="9312505" cy="1170487"/>
          </a:xfrm>
          <a:effectLst/>
        </p:spPr>
        <p:txBody>
          <a:bodyPr/>
          <a:lstStyle>
            <a:lvl1pPr>
              <a:defRPr>
                <a:solidFill>
                  <a:srgbClr val="003366"/>
                </a:solidFill>
                <a:effectLst/>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0" indent="0">
              <a:buFont typeface="LucidaGrande" charset="0"/>
              <a:buNone/>
              <a:tabLst/>
              <a:defRPr sz="2600"/>
            </a:lvl1pPr>
            <a:lvl2pPr>
              <a:buFont typeface=".AppleSystemUIFont" charset="-120"/>
              <a:buChar char="•"/>
              <a:defRPr sz="1800"/>
            </a:lvl2pPr>
            <a:lvl3pPr marL="1200150" indent="-285750">
              <a:buFont typeface=".AppleSystemUIFont" charset="-120"/>
              <a:buChar char="•"/>
              <a:defRPr sz="1600"/>
            </a:lvl3pPr>
            <a:lvl4pPr marL="1657350" indent="-285750">
              <a:buFont typeface=".AppleSystemUIFont" charset="-120"/>
              <a:buChar char="•"/>
              <a:defRPr sz="1400"/>
            </a:lvl4pPr>
            <a:lvl5pPr marL="2114550" indent="-285750">
              <a:buFont typeface=".AppleSystemUIFont" charset="-120"/>
              <a:buChar char="•"/>
              <a:defRPr sz="1400"/>
            </a:lvl5pPr>
          </a:lstStyle>
          <a:p>
            <a:pPr lvl="0"/>
            <a:r>
              <a:rPr lang="en-US"/>
              <a:t>Click to edit Master text styles</a:t>
            </a:r>
          </a:p>
        </p:txBody>
      </p:sp>
      <p:sp>
        <p:nvSpPr>
          <p:cNvPr id="4" name="Slide Number Placeholder 3"/>
          <p:cNvSpPr>
            <a:spLocks noGrp="1"/>
          </p:cNvSpPr>
          <p:nvPr>
            <p:ph type="sldNum" idx="10"/>
          </p:nvPr>
        </p:nvSpPr>
        <p:spPr/>
        <p:txBody>
          <a:bodyPr/>
          <a:lstStyle>
            <a:lvl1pPr>
              <a:defRPr/>
            </a:lvl1pPr>
          </a:lstStyle>
          <a:p>
            <a:fld id="{572D0100-ED53-084E-9A92-E1D3DB0CC9B6}" type="slidenum">
              <a:rPr lang="en-GB" altLang="x-none"/>
              <a:pPr/>
              <a:t>‹#›</a:t>
            </a:fld>
            <a:endParaRPr lang="en-GB" altLang="x-none"/>
          </a:p>
        </p:txBody>
      </p:sp>
      <p:sp>
        <p:nvSpPr>
          <p:cNvPr id="6" name="Rectangle 105"/>
          <p:cNvSpPr>
            <a:spLocks noChangeArrowheads="1"/>
          </p:cNvSpPr>
          <p:nvPr userDrawn="1"/>
        </p:nvSpPr>
        <p:spPr bwMode="auto">
          <a:xfrm>
            <a:off x="1488016" y="1268413"/>
            <a:ext cx="10176000" cy="36512"/>
          </a:xfrm>
          <a:prstGeom prst="rect">
            <a:avLst/>
          </a:prstGeom>
          <a:solidFill>
            <a:srgbClr val="20A6E0"/>
          </a:solidFill>
          <a:ln>
            <a:noFill/>
          </a:ln>
          <a:effectLst/>
        </p:spPr>
        <p:txBody>
          <a:bodyPr wrap="none" anchor="ctr"/>
          <a:lstStyle/>
          <a:p>
            <a:pPr eaLnBrk="1" hangingPunct="1">
              <a:buClr>
                <a:srgbClr val="000000"/>
              </a:buClr>
              <a:buSzPct val="100000"/>
              <a:buFont typeface="Times New Roman" charset="0"/>
              <a:buNone/>
              <a:defRPr/>
            </a:pPr>
            <a:endParaRPr lang="en-US" sz="2400">
              <a:latin typeface="Helvetica" charset="0"/>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ing Slide">
    <p:spTree>
      <p:nvGrpSpPr>
        <p:cNvPr id="1" name=""/>
        <p:cNvGrpSpPr/>
        <p:nvPr/>
      </p:nvGrpSpPr>
      <p:grpSpPr>
        <a:xfrm>
          <a:off x="0" y="0"/>
          <a:ext cx="0" cy="0"/>
          <a:chOff x="0" y="0"/>
          <a:chExt cx="0" cy="0"/>
        </a:xfrm>
      </p:grpSpPr>
      <p:sp>
        <p:nvSpPr>
          <p:cNvPr id="2" name="Title 1"/>
          <p:cNvSpPr>
            <a:spLocks noGrp="1"/>
          </p:cNvSpPr>
          <p:nvPr>
            <p:ph type="title"/>
          </p:nvPr>
        </p:nvSpPr>
        <p:spPr>
          <a:xfrm>
            <a:off x="1488018" y="116632"/>
            <a:ext cx="9312505" cy="1170487"/>
          </a:xfrm>
          <a:effectLst/>
        </p:spPr>
        <p:txBody>
          <a:bodyPr/>
          <a:lstStyle>
            <a:lvl1pPr>
              <a:defRPr sz="4000">
                <a:solidFill>
                  <a:srgbClr val="003366"/>
                </a:solidFill>
                <a:effectLst/>
              </a:defRPr>
            </a:lvl1pPr>
          </a:lstStyle>
          <a:p>
            <a:r>
              <a:rPr lang="en-US"/>
              <a:t>Click to edit Master title style</a:t>
            </a:r>
            <a:endParaRPr lang="en-US" dirty="0"/>
          </a:p>
        </p:txBody>
      </p:sp>
      <p:sp>
        <p:nvSpPr>
          <p:cNvPr id="4" name="Slide Number Placeholder 3"/>
          <p:cNvSpPr>
            <a:spLocks noGrp="1"/>
          </p:cNvSpPr>
          <p:nvPr>
            <p:ph type="sldNum" idx="10"/>
          </p:nvPr>
        </p:nvSpPr>
        <p:spPr>
          <a:xfrm>
            <a:off x="11373288" y="6394450"/>
            <a:ext cx="2859616" cy="463550"/>
          </a:xfrm>
        </p:spPr>
        <p:txBody>
          <a:bodyPr/>
          <a:lstStyle>
            <a:lvl1pPr>
              <a:defRPr/>
            </a:lvl1pPr>
          </a:lstStyle>
          <a:p>
            <a:fld id="{572D0100-ED53-084E-9A92-E1D3DB0CC9B6}" type="slidenum">
              <a:rPr lang="en-GB" altLang="x-none"/>
              <a:pPr/>
              <a:t>‹#›</a:t>
            </a:fld>
            <a:endParaRPr lang="en-GB" altLang="x-none"/>
          </a:p>
        </p:txBody>
      </p:sp>
      <p:graphicFrame>
        <p:nvGraphicFramePr>
          <p:cNvPr id="8" name="Object 4"/>
          <p:cNvGraphicFramePr>
            <a:graphicFrameLocks noChangeAspect="1"/>
          </p:cNvGraphicFramePr>
          <p:nvPr userDrawn="1">
            <p:extLst>
              <p:ext uri="{D42A27DB-BD31-4B8C-83A1-F6EECF244321}">
                <p14:modId xmlns:p14="http://schemas.microsoft.com/office/powerpoint/2010/main" val="1010908342"/>
              </p:ext>
            </p:extLst>
          </p:nvPr>
        </p:nvGraphicFramePr>
        <p:xfrm>
          <a:off x="4269540" y="5836528"/>
          <a:ext cx="3648405" cy="976848"/>
        </p:xfrm>
        <a:graphic>
          <a:graphicData uri="http://schemas.openxmlformats.org/presentationml/2006/ole">
            <mc:AlternateContent xmlns:mc="http://schemas.openxmlformats.org/markup-compatibility/2006">
              <mc:Choice xmlns:v="urn:schemas-microsoft-com:vml" Requires="v">
                <p:oleObj r:id="rId2" imgW="10631384" imgH="2914286" progId="">
                  <p:embed/>
                </p:oleObj>
              </mc:Choice>
              <mc:Fallback>
                <p:oleObj r:id="rId2" imgW="10631384" imgH="2914286"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9540" y="5836528"/>
                        <a:ext cx="3648405" cy="976848"/>
                      </a:xfrm>
                      <a:prstGeom prst="rect">
                        <a:avLst/>
                      </a:prstGeom>
                      <a:noFill/>
                      <a:effectLst/>
                    </p:spPr>
                  </p:pic>
                </p:oleObj>
              </mc:Fallback>
            </mc:AlternateContent>
          </a:graphicData>
        </a:graphic>
      </p:graphicFrame>
      <p:grpSp>
        <p:nvGrpSpPr>
          <p:cNvPr id="10" name="Group 9"/>
          <p:cNvGrpSpPr/>
          <p:nvPr userDrawn="1"/>
        </p:nvGrpSpPr>
        <p:grpSpPr>
          <a:xfrm>
            <a:off x="4271796" y="2003068"/>
            <a:ext cx="3646149" cy="1224136"/>
            <a:chOff x="3335486" y="2677568"/>
            <a:chExt cx="2930938" cy="936104"/>
          </a:xfrm>
        </p:grpSpPr>
        <p:pic>
          <p:nvPicPr>
            <p:cNvPr id="11" name="Picture 10"/>
            <p:cNvPicPr>
              <a:picLocks noChangeAspect="1"/>
            </p:cNvPicPr>
            <p:nvPr/>
          </p:nvPicPr>
          <p:blipFill>
            <a:blip r:embed="rId4"/>
            <a:stretch>
              <a:fillRect/>
            </a:stretch>
          </p:blipFill>
          <p:spPr>
            <a:xfrm>
              <a:off x="3335486" y="2805650"/>
              <a:ext cx="588442" cy="594636"/>
            </a:xfrm>
            <a:prstGeom prst="rect">
              <a:avLst/>
            </a:prstGeom>
          </p:spPr>
        </p:pic>
        <p:sp>
          <p:nvSpPr>
            <p:cNvPr id="12" name="Text Box 1"/>
            <p:cNvSpPr txBox="1">
              <a:spLocks noChangeArrowheads="1"/>
            </p:cNvSpPr>
            <p:nvPr/>
          </p:nvSpPr>
          <p:spPr bwMode="auto">
            <a:xfrm>
              <a:off x="3851920" y="2677568"/>
              <a:ext cx="2414504" cy="936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5pPr>
              <a:lvl6pPr marL="25146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6pPr>
              <a:lvl7pPr marL="29718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7pPr>
              <a:lvl8pPr marL="34290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8pPr>
              <a:lvl9pPr marL="38862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9pPr>
            </a:lstStyle>
            <a:p>
              <a:pPr algn="ctr">
                <a:lnSpc>
                  <a:spcPct val="85000"/>
                </a:lnSpc>
                <a:buClrTx/>
                <a:buFontTx/>
                <a:buNone/>
              </a:pPr>
              <a:r>
                <a:rPr lang="en-US" altLang="x-none" sz="5200" b="1" dirty="0">
                  <a:solidFill>
                    <a:srgbClr val="8CC63E"/>
                  </a:solidFill>
                  <a:latin typeface="Helvetica" charset="0"/>
                  <a:ea typeface="Helvetica" charset="0"/>
                  <a:cs typeface="Helvetica" charset="0"/>
                </a:rPr>
                <a:t>JASP</a:t>
              </a:r>
            </a:p>
          </p:txBody>
        </p:sp>
        <p:sp>
          <p:nvSpPr>
            <p:cNvPr id="13" name="Rectangle 12"/>
            <p:cNvSpPr/>
            <p:nvPr/>
          </p:nvSpPr>
          <p:spPr bwMode="auto">
            <a:xfrm>
              <a:off x="4067944" y="2805650"/>
              <a:ext cx="28800" cy="594636"/>
            </a:xfrm>
            <a:prstGeom prst="rect">
              <a:avLst/>
            </a:prstGeom>
            <a:solidFill>
              <a:schemeClr val="tx1">
                <a:lumMod val="50000"/>
                <a:lumOff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charset="0"/>
                <a:buNone/>
                <a:tabLst/>
              </a:pPr>
              <a:endParaRPr kumimoji="0" lang="en-US" sz="2400" b="0" i="0" u="none" strike="noStrike" cap="none" normalizeH="0" baseline="0">
                <a:ln>
                  <a:noFill/>
                </a:ln>
                <a:solidFill>
                  <a:schemeClr val="bg1"/>
                </a:solidFill>
                <a:effectLst/>
                <a:latin typeface="Times New Roman" charset="0"/>
              </a:endParaRPr>
            </a:p>
          </p:txBody>
        </p:sp>
      </p:grpSp>
      <p:sp>
        <p:nvSpPr>
          <p:cNvPr id="20" name="Text Placeholder 19"/>
          <p:cNvSpPr>
            <a:spLocks noGrp="1"/>
          </p:cNvSpPr>
          <p:nvPr>
            <p:ph type="body" sz="quarter" idx="11"/>
          </p:nvPr>
        </p:nvSpPr>
        <p:spPr>
          <a:xfrm>
            <a:off x="3743738" y="3354846"/>
            <a:ext cx="4704523" cy="719137"/>
          </a:xfrm>
        </p:spPr>
        <p:txBody>
          <a:bodyPr/>
          <a:lstStyle>
            <a:lvl1pPr marL="0" indent="0" algn="ctr">
              <a:buNone/>
              <a:defRPr sz="2000"/>
            </a:lvl1pPr>
          </a:lstStyle>
          <a:p>
            <a:pPr lvl="0"/>
            <a:r>
              <a:rPr lang="en-US"/>
              <a:t>Click to edit Master text styles</a:t>
            </a:r>
          </a:p>
        </p:txBody>
      </p:sp>
      <p:sp>
        <p:nvSpPr>
          <p:cNvPr id="15" name="Rectangle 105"/>
          <p:cNvSpPr>
            <a:spLocks noChangeArrowheads="1"/>
          </p:cNvSpPr>
          <p:nvPr userDrawn="1"/>
        </p:nvSpPr>
        <p:spPr bwMode="auto">
          <a:xfrm>
            <a:off x="1488016" y="1268413"/>
            <a:ext cx="10176000" cy="36512"/>
          </a:xfrm>
          <a:prstGeom prst="rect">
            <a:avLst/>
          </a:prstGeom>
          <a:solidFill>
            <a:srgbClr val="20A6E0"/>
          </a:solidFill>
          <a:ln>
            <a:noFill/>
          </a:ln>
          <a:effectLst/>
        </p:spPr>
        <p:txBody>
          <a:bodyPr wrap="none" anchor="ctr"/>
          <a:lstStyle/>
          <a:p>
            <a:pPr eaLnBrk="1" hangingPunct="1">
              <a:buClr>
                <a:srgbClr val="000000"/>
              </a:buClr>
              <a:buSzPct val="100000"/>
              <a:buFont typeface="Times New Roman" charset="0"/>
              <a:buNone/>
              <a:defRPr/>
            </a:pPr>
            <a:endParaRPr lang="en-US" sz="2400">
              <a:latin typeface="Helvetica" charset="0"/>
              <a:ea typeface="+mn-ea"/>
              <a:cs typeface="+mn-cs"/>
            </a:endParaRPr>
          </a:p>
        </p:txBody>
      </p:sp>
      <p:sp>
        <p:nvSpPr>
          <p:cNvPr id="3" name="Rectangle 2">
            <a:extLst>
              <a:ext uri="{FF2B5EF4-FFF2-40B4-BE49-F238E27FC236}">
                <a16:creationId xmlns:a16="http://schemas.microsoft.com/office/drawing/2014/main" id="{3102073C-0B54-D5F3-E561-97FE0A24CB24}"/>
              </a:ext>
            </a:extLst>
          </p:cNvPr>
          <p:cNvSpPr/>
          <p:nvPr userDrawn="1"/>
        </p:nvSpPr>
        <p:spPr bwMode="auto">
          <a:xfrm>
            <a:off x="10639960" y="163265"/>
            <a:ext cx="1466655" cy="108734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charset="0"/>
              <a:buNone/>
              <a:tabLst/>
            </a:pPr>
            <a:endParaRPr kumimoji="0" lang="en-US" sz="2400" b="0" i="0" u="none" strike="noStrike" cap="none" normalizeH="0" baseline="0">
              <a:ln>
                <a:noFill/>
              </a:ln>
              <a:solidFill>
                <a:schemeClr val="bg1"/>
              </a:solidFill>
              <a:effectLst/>
              <a:latin typeface="Times New Roman"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with Bullets">
    <p:spTree>
      <p:nvGrpSpPr>
        <p:cNvPr id="1" name=""/>
        <p:cNvGrpSpPr/>
        <p:nvPr/>
      </p:nvGrpSpPr>
      <p:grpSpPr>
        <a:xfrm>
          <a:off x="0" y="0"/>
          <a:ext cx="0" cy="0"/>
          <a:chOff x="0" y="0"/>
          <a:chExt cx="0" cy="0"/>
        </a:xfrm>
      </p:grpSpPr>
      <p:sp>
        <p:nvSpPr>
          <p:cNvPr id="2" name="Title 1"/>
          <p:cNvSpPr>
            <a:spLocks noGrp="1"/>
          </p:cNvSpPr>
          <p:nvPr>
            <p:ph type="title"/>
          </p:nvPr>
        </p:nvSpPr>
        <p:spPr>
          <a:xfrm>
            <a:off x="1488018" y="116632"/>
            <a:ext cx="9216495" cy="1170487"/>
          </a:xfrm>
          <a:effectLst/>
        </p:spPr>
        <p:txBody>
          <a:bodyPr/>
          <a:lstStyle>
            <a:lvl1pPr>
              <a:defRPr>
                <a:solidFill>
                  <a:srgbClr val="003366"/>
                </a:solidFill>
                <a:effectLst/>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222250" indent="-222250">
              <a:buSzPct val="90000"/>
              <a:buFont typeface="LucidaGrande" charset="0"/>
              <a:buChar char="•"/>
              <a:tabLst/>
              <a:defRPr sz="2600"/>
            </a:lvl1pPr>
            <a:lvl2pPr>
              <a:buSzPct val="90000"/>
              <a:buFont typeface=".AppleSystemUIFont" charset="-120"/>
              <a:buChar char="•"/>
              <a:defRPr sz="2200"/>
            </a:lvl2pPr>
            <a:lvl3pPr marL="1200150" indent="-285750">
              <a:buSzPct val="90000"/>
              <a:buFont typeface=".AppleSystemUIFont" charset="-120"/>
              <a:buChar char="•"/>
              <a:defRPr sz="2000"/>
            </a:lvl3pPr>
            <a:lvl4pPr marL="1657350" indent="-285750">
              <a:buSzPct val="90000"/>
              <a:buFont typeface=".AppleSystemUIFont" charset="-120"/>
              <a:buChar char="•"/>
              <a:defRPr sz="1600"/>
            </a:lvl4pPr>
            <a:lvl5pPr marL="2114550" indent="-285750">
              <a:buSzPct val="90000"/>
              <a:buFont typeface=".AppleSystemUIFont" charset="-12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p:cNvSpPr>
            <a:spLocks noGrp="1"/>
          </p:cNvSpPr>
          <p:nvPr>
            <p:ph type="sldNum" idx="10"/>
          </p:nvPr>
        </p:nvSpPr>
        <p:spPr/>
        <p:txBody>
          <a:bodyPr/>
          <a:lstStyle>
            <a:lvl1pPr>
              <a:defRPr/>
            </a:lvl1pPr>
          </a:lstStyle>
          <a:p>
            <a:fld id="{572D0100-ED53-084E-9A92-E1D3DB0CC9B6}" type="slidenum">
              <a:rPr lang="en-GB" altLang="x-none"/>
              <a:pPr/>
              <a:t>‹#›</a:t>
            </a:fld>
            <a:endParaRPr lang="en-GB" altLang="x-none"/>
          </a:p>
        </p:txBody>
      </p:sp>
      <p:sp>
        <p:nvSpPr>
          <p:cNvPr id="7" name="Rectangle 105"/>
          <p:cNvSpPr>
            <a:spLocks noChangeArrowheads="1"/>
          </p:cNvSpPr>
          <p:nvPr userDrawn="1"/>
        </p:nvSpPr>
        <p:spPr bwMode="auto">
          <a:xfrm>
            <a:off x="1488016" y="1268413"/>
            <a:ext cx="10176000" cy="36512"/>
          </a:xfrm>
          <a:prstGeom prst="rect">
            <a:avLst/>
          </a:prstGeom>
          <a:solidFill>
            <a:srgbClr val="20A6E0"/>
          </a:solidFill>
          <a:ln>
            <a:noFill/>
          </a:ln>
          <a:effectLst/>
        </p:spPr>
        <p:txBody>
          <a:bodyPr wrap="none" anchor="ctr"/>
          <a:lstStyle/>
          <a:p>
            <a:pPr eaLnBrk="1" hangingPunct="1">
              <a:buClr>
                <a:srgbClr val="000000"/>
              </a:buClr>
              <a:buSzPct val="100000"/>
              <a:buFont typeface="Times New Roman" charset="0"/>
              <a:buNone/>
              <a:defRPr/>
            </a:pPr>
            <a:endParaRPr lang="en-US" sz="2400">
              <a:latin typeface="Helvetica" charset="0"/>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488017" y="2214563"/>
            <a:ext cx="4783667" cy="3865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883569" y="2214563"/>
            <a:ext cx="4762332" cy="3865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idx="10"/>
          </p:nvPr>
        </p:nvSpPr>
        <p:spPr/>
        <p:txBody>
          <a:bodyPr/>
          <a:lstStyle>
            <a:lvl1pPr>
              <a:defRPr/>
            </a:lvl1pPr>
          </a:lstStyle>
          <a:p>
            <a:fld id="{E52E7258-7451-134A-A9CE-ECE6C10647CC}" type="slidenum">
              <a:rPr lang="en-GB" altLang="x-none"/>
              <a:pPr/>
              <a:t>‹#›</a:t>
            </a:fld>
            <a:endParaRPr lang="en-GB" altLang="x-none"/>
          </a:p>
        </p:txBody>
      </p:sp>
      <p:sp>
        <p:nvSpPr>
          <p:cNvPr id="11" name="Title 1"/>
          <p:cNvSpPr>
            <a:spLocks noGrp="1"/>
          </p:cNvSpPr>
          <p:nvPr>
            <p:ph type="title"/>
          </p:nvPr>
        </p:nvSpPr>
        <p:spPr>
          <a:xfrm>
            <a:off x="1488017" y="134439"/>
            <a:ext cx="9216496" cy="1170487"/>
          </a:xfrm>
          <a:effectLst/>
        </p:spPr>
        <p:txBody>
          <a:bodyPr/>
          <a:lstStyle>
            <a:lvl1pPr>
              <a:defRPr>
                <a:solidFill>
                  <a:srgbClr val="003366"/>
                </a:solidFill>
                <a:effectLst/>
              </a:defRPr>
            </a:lvl1pPr>
          </a:lstStyle>
          <a:p>
            <a:r>
              <a:rPr lang="en-US"/>
              <a:t>Click to edit Master title style</a:t>
            </a:r>
            <a:endParaRPr lang="en-US" dirty="0"/>
          </a:p>
        </p:txBody>
      </p:sp>
      <p:sp>
        <p:nvSpPr>
          <p:cNvPr id="7" name="Rectangle 105"/>
          <p:cNvSpPr>
            <a:spLocks noChangeArrowheads="1"/>
          </p:cNvSpPr>
          <p:nvPr userDrawn="1"/>
        </p:nvSpPr>
        <p:spPr bwMode="auto">
          <a:xfrm>
            <a:off x="1488016" y="1268413"/>
            <a:ext cx="10176000" cy="36512"/>
          </a:xfrm>
          <a:prstGeom prst="rect">
            <a:avLst/>
          </a:prstGeom>
          <a:solidFill>
            <a:srgbClr val="20A6E0"/>
          </a:solidFill>
          <a:ln>
            <a:noFill/>
          </a:ln>
          <a:effectLst/>
        </p:spPr>
        <p:txBody>
          <a:bodyPr wrap="none" anchor="ctr"/>
          <a:lstStyle/>
          <a:p>
            <a:pPr eaLnBrk="1" hangingPunct="1">
              <a:buClr>
                <a:srgbClr val="000000"/>
              </a:buClr>
              <a:buSzPct val="100000"/>
              <a:buFont typeface="Times New Roman" charset="0"/>
              <a:buNone/>
              <a:defRPr/>
            </a:pPr>
            <a:endParaRPr lang="en-US" sz="2400">
              <a:latin typeface="Helvetica" charset="0"/>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Picture">
    <p:spTree>
      <p:nvGrpSpPr>
        <p:cNvPr id="1" name=""/>
        <p:cNvGrpSpPr/>
        <p:nvPr/>
      </p:nvGrpSpPr>
      <p:grpSpPr>
        <a:xfrm>
          <a:off x="0" y="0"/>
          <a:ext cx="0" cy="0"/>
          <a:chOff x="0" y="0"/>
          <a:chExt cx="0" cy="0"/>
        </a:xfrm>
      </p:grpSpPr>
      <p:sp>
        <p:nvSpPr>
          <p:cNvPr id="3" name="Slide Number Placeholder 2"/>
          <p:cNvSpPr>
            <a:spLocks noGrp="1"/>
          </p:cNvSpPr>
          <p:nvPr>
            <p:ph type="sldNum" idx="10"/>
          </p:nvPr>
        </p:nvSpPr>
        <p:spPr/>
        <p:txBody>
          <a:bodyPr/>
          <a:lstStyle>
            <a:lvl1pPr>
              <a:defRPr/>
            </a:lvl1pPr>
          </a:lstStyle>
          <a:p>
            <a:fld id="{F4C2E574-A05B-6C4A-A51C-8EEDE89A69BD}" type="slidenum">
              <a:rPr lang="en-GB" altLang="x-none"/>
              <a:pPr/>
              <a:t>‹#›</a:t>
            </a:fld>
            <a:endParaRPr lang="en-GB" altLang="x-none"/>
          </a:p>
        </p:txBody>
      </p:sp>
      <p:sp>
        <p:nvSpPr>
          <p:cNvPr id="8" name="Title 1"/>
          <p:cNvSpPr>
            <a:spLocks noGrp="1"/>
          </p:cNvSpPr>
          <p:nvPr>
            <p:ph type="title"/>
          </p:nvPr>
        </p:nvSpPr>
        <p:spPr>
          <a:xfrm>
            <a:off x="1488018" y="116632"/>
            <a:ext cx="9216495" cy="1170487"/>
          </a:xfrm>
          <a:effectLst/>
        </p:spPr>
        <p:txBody>
          <a:bodyPr/>
          <a:lstStyle>
            <a:lvl1pPr>
              <a:defRPr>
                <a:solidFill>
                  <a:srgbClr val="003366"/>
                </a:solidFill>
                <a:effectLst/>
              </a:defRPr>
            </a:lvl1pPr>
          </a:lstStyle>
          <a:p>
            <a:r>
              <a:rPr lang="en-US"/>
              <a:t>Click to edit Master title style</a:t>
            </a:r>
            <a:endParaRPr lang="en-US" dirty="0"/>
          </a:p>
        </p:txBody>
      </p:sp>
      <p:sp>
        <p:nvSpPr>
          <p:cNvPr id="4" name="Picture Placeholder 3"/>
          <p:cNvSpPr>
            <a:spLocks noGrp="1"/>
          </p:cNvSpPr>
          <p:nvPr>
            <p:ph type="pic" sz="quarter" idx="11"/>
          </p:nvPr>
        </p:nvSpPr>
        <p:spPr>
          <a:xfrm>
            <a:off x="2975809" y="2028002"/>
            <a:ext cx="6720416" cy="3889375"/>
          </a:xfrm>
        </p:spPr>
        <p:txBody>
          <a:bodyPr/>
          <a:lstStyle>
            <a:lvl1pPr marL="0" indent="0">
              <a:buNone/>
              <a:defRPr/>
            </a:lvl1pPr>
          </a:lstStyle>
          <a:p>
            <a:r>
              <a:rPr lang="en-US"/>
              <a:t>Drag picture to placeholder or click icon to add</a:t>
            </a:r>
          </a:p>
        </p:txBody>
      </p:sp>
      <p:sp>
        <p:nvSpPr>
          <p:cNvPr id="7" name="Rectangle 105"/>
          <p:cNvSpPr>
            <a:spLocks noChangeArrowheads="1"/>
          </p:cNvSpPr>
          <p:nvPr userDrawn="1"/>
        </p:nvSpPr>
        <p:spPr bwMode="auto">
          <a:xfrm>
            <a:off x="1488016" y="1268413"/>
            <a:ext cx="10176000" cy="36512"/>
          </a:xfrm>
          <a:prstGeom prst="rect">
            <a:avLst/>
          </a:prstGeom>
          <a:solidFill>
            <a:srgbClr val="20A6E0"/>
          </a:solidFill>
          <a:ln>
            <a:noFill/>
          </a:ln>
          <a:effectLst/>
        </p:spPr>
        <p:txBody>
          <a:bodyPr wrap="none" anchor="ctr"/>
          <a:lstStyle/>
          <a:p>
            <a:pPr eaLnBrk="1" hangingPunct="1">
              <a:buClr>
                <a:srgbClr val="000000"/>
              </a:buClr>
              <a:buSzPct val="100000"/>
              <a:buFont typeface="Times New Roman" charset="0"/>
              <a:buNone/>
              <a:defRPr/>
            </a:pPr>
            <a:endParaRPr lang="en-US" sz="2400">
              <a:latin typeface="Helvetica" charset="0"/>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lstStyle>
            <a:lvl1pPr>
              <a:defRPr/>
            </a:lvl1pPr>
          </a:lstStyle>
          <a:p>
            <a:fld id="{381DBBFC-C007-8D4F-9EB5-1CF747BBABFE}" type="slidenum">
              <a:rPr lang="en-GB" altLang="x-none"/>
              <a:pPr/>
              <a:t>‹#›</a:t>
            </a:fld>
            <a:endParaRPr lang="en-GB" alt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no logo">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lstStyle>
            <a:lvl1pPr>
              <a:defRPr/>
            </a:lvl1pPr>
          </a:lstStyle>
          <a:p>
            <a:fld id="{381DBBFC-C007-8D4F-9EB5-1CF747BBABFE}" type="slidenum">
              <a:rPr lang="en-GB" altLang="x-none"/>
              <a:pPr/>
              <a:t>‹#›</a:t>
            </a:fld>
            <a:endParaRPr lang="en-GB" altLang="x-none"/>
          </a:p>
        </p:txBody>
      </p:sp>
      <p:sp>
        <p:nvSpPr>
          <p:cNvPr id="3" name="Rectangle 2"/>
          <p:cNvSpPr/>
          <p:nvPr userDrawn="1"/>
        </p:nvSpPr>
        <p:spPr bwMode="auto">
          <a:xfrm>
            <a:off x="10678017" y="188640"/>
            <a:ext cx="1466655" cy="136815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charset="0"/>
              <a:buNone/>
              <a:tabLst/>
            </a:pPr>
            <a:endParaRPr kumimoji="0" lang="en-US" sz="2400" b="0" i="0" u="none" strike="noStrike" cap="none" normalizeH="0" baseline="0">
              <a:ln>
                <a:noFill/>
              </a:ln>
              <a:solidFill>
                <a:schemeClr val="bg1"/>
              </a:solidFill>
              <a:effectLst/>
              <a:latin typeface="Times New Roman"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emf"/><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130" name="Rectangle 106"/>
          <p:cNvSpPr>
            <a:spLocks noGrp="1" noChangeArrowheads="1"/>
          </p:cNvSpPr>
          <p:nvPr>
            <p:ph type="body" idx="1"/>
          </p:nvPr>
        </p:nvSpPr>
        <p:spPr bwMode="auto">
          <a:xfrm>
            <a:off x="1488017" y="1773239"/>
            <a:ext cx="9696451" cy="417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000" tIns="46800" rIns="90000" bIns="4680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31" name="Text Box 107"/>
          <p:cNvSpPr txBox="1">
            <a:spLocks noChangeArrowheads="1"/>
          </p:cNvSpPr>
          <p:nvPr/>
        </p:nvSpPr>
        <p:spPr bwMode="auto">
          <a:xfrm>
            <a:off x="1079500" y="6373813"/>
            <a:ext cx="2540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sz="2400" baseline="0">
              <a:latin typeface="Helvetica" charset="0"/>
            </a:endParaRPr>
          </a:p>
        </p:txBody>
      </p:sp>
      <p:sp>
        <p:nvSpPr>
          <p:cNvPr id="1132" name="Text Box 108"/>
          <p:cNvSpPr txBox="1">
            <a:spLocks noChangeArrowheads="1"/>
          </p:cNvSpPr>
          <p:nvPr/>
        </p:nvSpPr>
        <p:spPr bwMode="auto">
          <a:xfrm>
            <a:off x="4176184" y="6376988"/>
            <a:ext cx="7008284"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sz="2400" baseline="0">
              <a:latin typeface="Helvetica" charset="0"/>
            </a:endParaRPr>
          </a:p>
        </p:txBody>
      </p:sp>
      <p:sp>
        <p:nvSpPr>
          <p:cNvPr id="1133" name="Rectangle 109"/>
          <p:cNvSpPr>
            <a:spLocks noGrp="1" noChangeArrowheads="1"/>
          </p:cNvSpPr>
          <p:nvPr>
            <p:ph type="sldNum"/>
          </p:nvPr>
        </p:nvSpPr>
        <p:spPr bwMode="auto">
          <a:xfrm>
            <a:off x="11352584" y="6394448"/>
            <a:ext cx="2859616"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000" tIns="46800" rIns="90000" bIns="46800" numCol="1" anchor="b" anchorCtr="0" compatLnSpc="1">
            <a:prstTxWarp prst="textNoShape">
              <a:avLst/>
            </a:prstTxWarp>
          </a:bodyPr>
          <a:lstStyle>
            <a:lvl1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baseline="0">
                <a:solidFill>
                  <a:srgbClr val="003366"/>
                </a:solidFill>
                <a:latin typeface="Helvetica" charset="0"/>
                <a:ea typeface="+mn-ea"/>
                <a:cs typeface="+mn-cs"/>
              </a:defRPr>
            </a:lvl1pPr>
          </a:lstStyle>
          <a:p>
            <a:fld id="{E31EA9C0-D3DB-0C47-9675-5A7E813DE13E}" type="slidenum">
              <a:rPr lang="en-GB" altLang="x-none" smtClean="0"/>
              <a:pPr/>
              <a:t>‹#›</a:t>
            </a:fld>
            <a:endParaRPr lang="en-GB" altLang="x-none"/>
          </a:p>
        </p:txBody>
      </p:sp>
      <p:sp>
        <p:nvSpPr>
          <p:cNvPr id="1134" name="Rectangle 110"/>
          <p:cNvSpPr>
            <a:spLocks noGrp="1" noChangeArrowheads="1"/>
          </p:cNvSpPr>
          <p:nvPr>
            <p:ph type="title"/>
          </p:nvPr>
        </p:nvSpPr>
        <p:spPr bwMode="auto">
          <a:xfrm>
            <a:off x="1488019" y="116633"/>
            <a:ext cx="9216493" cy="11725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FAA26D3D-D897-4be2-8F04-BA451C77F1D7}">
              <ma14:placeholderFlag xmlns:ma14="http://schemas.microsoft.com/office/mac/drawingml/2011/main" xmlns="" val="1"/>
            </a:ext>
          </a:extLst>
        </p:spPr>
        <p:txBody>
          <a:bodyPr vert="horz" wrap="square" lIns="90000" tIns="46800" rIns="90000" bIns="46800" numCol="1" anchor="ctr" anchorCtr="0" compatLnSpc="1">
            <a:prstTxWarp prst="textNoShape">
              <a:avLst/>
            </a:prstTxWarp>
          </a:bodyPr>
          <a:lstStyle/>
          <a:p>
            <a:pPr lvl="0"/>
            <a:r>
              <a:rPr lang="en-GB" altLang="x-none" dirty="0" err="1"/>
              <a:t>Klik</a:t>
            </a:r>
            <a:r>
              <a:rPr lang="en-GB" altLang="x-none" dirty="0"/>
              <a:t> om de </a:t>
            </a:r>
            <a:r>
              <a:rPr lang="en-GB" altLang="x-none" dirty="0" err="1"/>
              <a:t>opmaak</a:t>
            </a:r>
            <a:r>
              <a:rPr lang="en-GB" altLang="x-none" dirty="0"/>
              <a:t> van de </a:t>
            </a:r>
            <a:r>
              <a:rPr lang="en-GB" altLang="x-none" dirty="0" err="1"/>
              <a:t>titeltekst</a:t>
            </a:r>
            <a:r>
              <a:rPr lang="en-GB" altLang="x-none" dirty="0"/>
              <a:t> </a:t>
            </a:r>
            <a:r>
              <a:rPr lang="en-GB" altLang="x-none" dirty="0" err="1"/>
              <a:t>te</a:t>
            </a:r>
            <a:r>
              <a:rPr lang="en-GB" altLang="x-none" dirty="0"/>
              <a:t> </a:t>
            </a:r>
            <a:r>
              <a:rPr lang="en-GB" altLang="x-none" dirty="0" err="1"/>
              <a:t>bewerken</a:t>
            </a:r>
            <a:endParaRPr lang="en-GB" altLang="x-none" dirty="0"/>
          </a:p>
        </p:txBody>
      </p:sp>
      <p:sp>
        <p:nvSpPr>
          <p:cNvPr id="2" name="Footer Placeholder 1"/>
          <p:cNvSpPr>
            <a:spLocks noGrp="1"/>
          </p:cNvSpPr>
          <p:nvPr>
            <p:ph type="ftr" sz="quarter" idx="3"/>
          </p:nvPr>
        </p:nvSpPr>
        <p:spPr>
          <a:xfrm>
            <a:off x="4038600" y="6356351"/>
            <a:ext cx="7145868" cy="365125"/>
          </a:xfrm>
          <a:prstGeom prst="rect">
            <a:avLst/>
          </a:prstGeom>
        </p:spPr>
        <p:txBody>
          <a:bodyPr vert="horz" lIns="91440" tIns="45720" rIns="91440" bIns="45720" rtlCol="0" anchor="ctr"/>
          <a:lstStyle>
            <a:lvl1pPr algn="ctr">
              <a:defRPr sz="1200" baseline="0">
                <a:solidFill>
                  <a:schemeClr val="tx1">
                    <a:tint val="75000"/>
                  </a:schemeClr>
                </a:solidFill>
                <a:latin typeface="Helvetica" charset="0"/>
              </a:defRPr>
            </a:lvl1pPr>
          </a:lstStyle>
          <a:p>
            <a:endParaRPr lang="en-US" dirty="0"/>
          </a:p>
        </p:txBody>
      </p:sp>
      <p:sp>
        <p:nvSpPr>
          <p:cNvPr id="3" name="Date Placeholder 2"/>
          <p:cNvSpPr>
            <a:spLocks noGrp="1"/>
          </p:cNvSpPr>
          <p:nvPr>
            <p:ph type="dt" sz="half" idx="2"/>
          </p:nvPr>
        </p:nvSpPr>
        <p:spPr>
          <a:xfrm>
            <a:off x="1488017" y="6356351"/>
            <a:ext cx="2192868" cy="365125"/>
          </a:xfrm>
          <a:prstGeom prst="rect">
            <a:avLst/>
          </a:prstGeom>
        </p:spPr>
        <p:txBody>
          <a:bodyPr vert="horz" lIns="91440" tIns="45720" rIns="91440" bIns="45720" rtlCol="0" anchor="ctr"/>
          <a:lstStyle>
            <a:lvl1pPr algn="l">
              <a:defRPr sz="1200" baseline="0">
                <a:solidFill>
                  <a:schemeClr val="tx1">
                    <a:tint val="75000"/>
                  </a:schemeClr>
                </a:solidFill>
                <a:latin typeface="Helvetica" charset="0"/>
              </a:defRPr>
            </a:lvl1pPr>
          </a:lstStyle>
          <a:p>
            <a:fld id="{4BF70BAC-16C9-8A47-9972-E3EC1435681F}" type="datetimeFigureOut">
              <a:rPr lang="en-US" smtClean="0"/>
              <a:pPr/>
              <a:t>8/24/26</a:t>
            </a:fld>
            <a:endParaRPr lang="en-US" dirty="0"/>
          </a:p>
        </p:txBody>
      </p:sp>
      <p:pic>
        <p:nvPicPr>
          <p:cNvPr id="4" name="Picture 3"/>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rot="10800000" flipH="1" flipV="1">
            <a:off x="0" y="0"/>
            <a:ext cx="1275907" cy="6857998"/>
          </a:xfrm>
          <a:prstGeom prst="rect">
            <a:avLst/>
          </a:prstGeom>
        </p:spPr>
      </p:pic>
      <p:pic>
        <p:nvPicPr>
          <p:cNvPr id="12" name="Picture 3"/>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rot="10800000" flipH="1" flipV="1">
            <a:off x="10824526" y="188640"/>
            <a:ext cx="1056116" cy="102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9894091"/>
      </p:ext>
    </p:extLst>
  </p:cSld>
  <p:clrMap bg1="lt1" tx1="dk1" bg2="lt2" tx2="dk2" accent1="accent1" accent2="accent2" accent3="accent3" accent4="accent4" accent5="accent5" accent6="accent6" hlink="hlink" folHlink="folHlink"/>
  <p:sldLayoutIdLst>
    <p:sldLayoutId id="2147483676" r:id="rId1"/>
    <p:sldLayoutId id="2147483665" r:id="rId2"/>
    <p:sldLayoutId id="2147483677" r:id="rId3"/>
    <p:sldLayoutId id="2147483667" r:id="rId4"/>
    <p:sldLayoutId id="2147483669" r:id="rId5"/>
    <p:sldLayoutId id="2147483670" r:id="rId6"/>
    <p:sldLayoutId id="2147483675" r:id="rId7"/>
  </p:sldLayoutIdLst>
  <p:txStyles>
    <p:titleStyle>
      <a:lvl1pPr algn="ctr" defTabSz="457200" rtl="0" eaLnBrk="1" fontAlgn="base" hangingPunct="1">
        <a:lnSpc>
          <a:spcPct val="85000"/>
        </a:lnSpc>
        <a:spcBef>
          <a:spcPct val="0"/>
        </a:spcBef>
        <a:spcAft>
          <a:spcPct val="0"/>
        </a:spcAft>
        <a:buClr>
          <a:srgbClr val="000000"/>
        </a:buClr>
        <a:buSzPct val="100000"/>
        <a:buFont typeface="Times New Roman" charset="0"/>
        <a:defRPr sz="4000" b="0" kern="1200" cap="none" spc="0" baseline="0">
          <a:ln w="0"/>
          <a:solidFill>
            <a:srgbClr val="003366"/>
          </a:solidFill>
          <a:effectLst/>
          <a:latin typeface="Helvetica" charset="0"/>
          <a:ea typeface="+mj-ea"/>
          <a:cs typeface="+mj-cs"/>
        </a:defRPr>
      </a:lvl1pPr>
      <a:lvl2pPr marL="742950" indent="-28575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2pPr>
      <a:lvl3pPr marL="1143000" indent="-22860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3pPr>
      <a:lvl4pPr marL="1600200" indent="-22860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4pPr>
      <a:lvl5pPr marL="2057400" indent="-22860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5pPr>
      <a:lvl6pPr marL="2514600" indent="-22860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6pPr>
      <a:lvl7pPr marL="2971800" indent="-22860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7pPr>
      <a:lvl8pPr marL="3429000" indent="-22860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8pPr>
      <a:lvl9pPr marL="3886200" indent="-22860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9pPr>
    </p:titleStyle>
    <p:bodyStyle>
      <a:lvl1pPr marL="219075" indent="-219075" algn="l" defTabSz="457200" rtl="0" eaLnBrk="1" fontAlgn="base" hangingPunct="1">
        <a:spcBef>
          <a:spcPts val="800"/>
        </a:spcBef>
        <a:spcAft>
          <a:spcPct val="0"/>
        </a:spcAft>
        <a:buClr>
          <a:srgbClr val="000000"/>
        </a:buClr>
        <a:buSzPct val="104000"/>
        <a:buFont typeface=".AppleSystemUIFont" charset="-120"/>
        <a:buChar char="•"/>
        <a:tabLst/>
        <a:defRPr sz="2600" kern="1200" baseline="0">
          <a:solidFill>
            <a:srgbClr val="003366"/>
          </a:solidFill>
          <a:latin typeface="Helvetica" charset="0"/>
          <a:ea typeface="+mn-ea"/>
          <a:cs typeface="+mn-cs"/>
        </a:defRPr>
      </a:lvl1pPr>
      <a:lvl2pPr marL="800100" indent="-342900" algn="l" defTabSz="457200" rtl="0" eaLnBrk="1" fontAlgn="base" hangingPunct="1">
        <a:spcBef>
          <a:spcPts val="700"/>
        </a:spcBef>
        <a:spcAft>
          <a:spcPct val="0"/>
        </a:spcAft>
        <a:buClr>
          <a:srgbClr val="000000"/>
        </a:buClr>
        <a:buSzPct val="100000"/>
        <a:buFont typeface=".AppleSystemUIFont" charset="-120"/>
        <a:buChar char="•"/>
        <a:defRPr sz="2200" kern="1200" baseline="0">
          <a:solidFill>
            <a:srgbClr val="003366"/>
          </a:solidFill>
          <a:latin typeface="Helvetica" charset="0"/>
          <a:ea typeface="+mn-ea"/>
          <a:cs typeface="+mn-cs"/>
        </a:defRPr>
      </a:lvl2pPr>
      <a:lvl3pPr marL="1257300" indent="-342900" algn="l" defTabSz="457200" rtl="0" eaLnBrk="1" fontAlgn="base" hangingPunct="1">
        <a:spcBef>
          <a:spcPts val="600"/>
        </a:spcBef>
        <a:spcAft>
          <a:spcPct val="0"/>
        </a:spcAft>
        <a:buClr>
          <a:srgbClr val="000000"/>
        </a:buClr>
        <a:buSzPct val="100000"/>
        <a:buFont typeface=".AppleSystemUIFont" charset="-120"/>
        <a:buChar char="•"/>
        <a:defRPr sz="2000" kern="1200" baseline="0">
          <a:solidFill>
            <a:srgbClr val="003366"/>
          </a:solidFill>
          <a:latin typeface="Helvetica" charset="0"/>
          <a:ea typeface="+mn-ea"/>
          <a:cs typeface="+mn-cs"/>
        </a:defRPr>
      </a:lvl3pPr>
      <a:lvl4pPr marL="1714500" indent="-342900" algn="l" defTabSz="457200" rtl="0" eaLnBrk="1" fontAlgn="base" hangingPunct="1">
        <a:spcBef>
          <a:spcPts val="500"/>
        </a:spcBef>
        <a:spcAft>
          <a:spcPct val="0"/>
        </a:spcAft>
        <a:buClr>
          <a:srgbClr val="000000"/>
        </a:buClr>
        <a:buSzPct val="100000"/>
        <a:buFont typeface=".AppleSystemUIFont" charset="-120"/>
        <a:buChar char="•"/>
        <a:defRPr sz="1600" kern="1200" baseline="0">
          <a:solidFill>
            <a:srgbClr val="003366"/>
          </a:solidFill>
          <a:latin typeface="Helvetica" charset="0"/>
          <a:ea typeface="+mn-ea"/>
          <a:cs typeface="+mn-cs"/>
        </a:defRPr>
      </a:lvl4pPr>
      <a:lvl5pPr marL="2114550" indent="-285750" algn="l" defTabSz="457200" rtl="0" eaLnBrk="1" fontAlgn="base" hangingPunct="1">
        <a:spcBef>
          <a:spcPts val="450"/>
        </a:spcBef>
        <a:spcAft>
          <a:spcPct val="0"/>
        </a:spcAft>
        <a:buClr>
          <a:srgbClr val="000000"/>
        </a:buClr>
        <a:buSzPct val="100000"/>
        <a:buFont typeface=".AppleSystemUIFont" charset="-120"/>
        <a:buChar char="•"/>
        <a:defRPr sz="1400" kern="1200" baseline="0">
          <a:solidFill>
            <a:srgbClr val="003366"/>
          </a:solidFill>
          <a:latin typeface="Helvetica"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17" userDrawn="1">
          <p15:clr>
            <a:srgbClr val="F26B43"/>
          </p15:clr>
        </p15:guide>
        <p15:guide id="2" pos="937" userDrawn="1">
          <p15:clr>
            <a:srgbClr val="F26B43"/>
          </p15:clr>
        </p15:guide>
        <p15:guide id="3" orient="horz" pos="375" userDrawn="1">
          <p15:clr>
            <a:srgbClr val="F26B43"/>
          </p15:clr>
        </p15:guide>
        <p15:guide id="4" pos="7045" userDrawn="1">
          <p15:clr>
            <a:srgbClr val="F26B43"/>
          </p15:clr>
        </p15:guide>
        <p15:guide id="7" pos="3961" userDrawn="1">
          <p15:clr>
            <a:srgbClr val="F26B43"/>
          </p15:clr>
        </p15:guide>
        <p15:guide id="9" orient="horz" pos="3748" userDrawn="1">
          <p15:clr>
            <a:srgbClr val="F26B43"/>
          </p15:clr>
        </p15:guide>
        <p15:guide id="10" orient="horz" pos="4003" userDrawn="1">
          <p15:clr>
            <a:srgbClr val="F26B43"/>
          </p15:clr>
        </p15:guide>
        <p15:guide id="11" orient="horz" pos="1390" userDrawn="1">
          <p15:clr>
            <a:srgbClr val="F26B43"/>
          </p15:clr>
        </p15:guide>
        <p15:guide id="12" orient="horz" pos="1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jasp-stats.org/"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jasp-stats.org/teaching-with-jasp/#worldmap"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docs.google.com/spreadsheets/d/1lQ7Pt8vFfSrHxQ9Kh3rjY6Ttx2Yx5b1sVKEGLYU9v4Y" TargetMode="External"/><Relationship Id="rId2" Type="http://schemas.openxmlformats.org/officeDocument/2006/relationships/hyperlink" Target="https://jasp-stats.org/features/"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jasp-stats.org/2023/03/06/r-syntax-mode-in-jasp-the-first-button/"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hyperlink" Target="https://bsky.app/profile/jaspstats.bsky.social" TargetMode="External"/><Relationship Id="rId3" Type="http://schemas.openxmlformats.org/officeDocument/2006/relationships/hyperlink" Target="https://jasp-stats.org/how-to-use-jasp/" TargetMode="External"/><Relationship Id="rId7" Type="http://schemas.openxmlformats.org/officeDocument/2006/relationships/hyperlink" Target="https://www.youtube.com/playlist?list=PLNQGIbpnx726tVnQw6QyntYkuRECXbPHo" TargetMode="External"/><Relationship Id="rId12" Type="http://schemas.openxmlformats.org/officeDocument/2006/relationships/hyperlink" Target="https://jasp-stats.org/workshop/"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hyperlink" Target="https://www.youtube.com/watch?v=R2ya6YvavfY" TargetMode="External"/><Relationship Id="rId11" Type="http://schemas.openxmlformats.org/officeDocument/2006/relationships/hyperlink" Target="https://github.com/jasp-stats/jasp-issues/issues" TargetMode="External"/><Relationship Id="rId5" Type="http://schemas.openxmlformats.org/officeDocument/2006/relationships/hyperlink" Target="https://jasp-stats.github.io/jasp-video-library/" TargetMode="External"/><Relationship Id="rId10" Type="http://schemas.openxmlformats.org/officeDocument/2006/relationships/hyperlink" Target="https://jasp-stats.github.io/jasp-verification-project/" TargetMode="External"/><Relationship Id="rId4" Type="http://schemas.openxmlformats.org/officeDocument/2006/relationships/hyperlink" Target="https://www.youtube.com/@JASPStatistics" TargetMode="External"/><Relationship Id="rId9" Type="http://schemas.openxmlformats.org/officeDocument/2006/relationships/hyperlink" Target="https://forum.cogsci.nl/index.php?p=/categories/jasp-bayesfactor"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www.amazon.com/dp/1660228182" TargetMode="External"/><Relationship Id="rId3" Type="http://schemas.openxmlformats.org/officeDocument/2006/relationships/hyperlink" Target="https://discoverjasp.com/" TargetMode="External"/><Relationship Id="rId7" Type="http://schemas.openxmlformats.org/officeDocument/2006/relationships/hyperlink" Target="https://jasp-stats.org/wp-content/uploads/2020/11/Statistical-Analysis-in-JASP-A-Students-Guide-v14-Nov2020.pdf" TargetMode="External"/><Relationship Id="rId2" Type="http://schemas.openxmlformats.org/officeDocument/2006/relationships/hyperlink" Target="https://jasp-stats.github.io/jasp-data-library/" TargetMode="External"/><Relationship Id="rId1" Type="http://schemas.openxmlformats.org/officeDocument/2006/relationships/slideLayout" Target="../slideLayouts/slideLayout1.xml"/><Relationship Id="rId6" Type="http://schemas.openxmlformats.org/officeDocument/2006/relationships/hyperlink" Target="https://statisticsofdoom.com/page/basic-statistics/" TargetMode="External"/><Relationship Id="rId5" Type="http://schemas.openxmlformats.org/officeDocument/2006/relationships/hyperlink" Target="https://learnstatswithjasp.com/" TargetMode="External"/><Relationship Id="rId4" Type="http://schemas.openxmlformats.org/officeDocument/2006/relationships/hyperlink" Target="https://jasp-stats.org/2024/09/02/discovering-statistics-using-jasp-the-andy-field-classic-textbook-now-adapted-for-jasp-available-early-2025/"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osf.io/u2e9d/files/osfstorage" TargetMode="External"/><Relationship Id="rId2" Type="http://schemas.openxmlformats.org/officeDocument/2006/relationships/hyperlink" Target="https://johnnydoorn.github.io/IntroductionBayesianInference/06-exercises.html" TargetMode="External"/><Relationship Id="rId1" Type="http://schemas.openxmlformats.org/officeDocument/2006/relationships/slideLayout" Target="../slideLayouts/slideLayout1.xml"/><Relationship Id="rId5" Type="http://schemas.openxmlformats.org/officeDocument/2006/relationships/hyperlink" Target="https://discoverjasp.com/" TargetMode="External"/><Relationship Id="rId4" Type="http://schemas.openxmlformats.org/officeDocument/2006/relationships/hyperlink" Target="https://johnnydoorn.github.io/discoverjasp/"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5.tif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hyperlink" Target="https://johnnydoorn.github.io/teaching-statistics/workshops/smart-alex.pdf" TargetMode="External"/><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journals.sagepub.com/doi/full/10.1177/25152459221095827" TargetMode="Externa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5.tiff"/><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hyperlink" Target="https://johnnydoorn.github.io/teaching-statistics/workshops/smart-alex.pdf" TargetMode="External"/><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link.springer.com/article/10.3758/s13423-015-0913-5" TargetMode="Externa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hyperlink" Target="https://johnnydoorn.github.io/teaching-statistics/workshops/smart-alex.pdf" TargetMode="External"/><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6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hyperlink" Target="https://johnnydoorn.github.io/teaching-statistics/workshops/smart-alex.pdf" TargetMode="External"/><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x-none" dirty="0"/>
              <a:t>Discovering Statistics Using JASP</a:t>
            </a:r>
            <a:endParaRPr lang="en-US" dirty="0"/>
          </a:p>
        </p:txBody>
      </p:sp>
      <p:sp>
        <p:nvSpPr>
          <p:cNvPr id="10" name="Text Placeholder 9">
            <a:extLst>
              <a:ext uri="{FF2B5EF4-FFF2-40B4-BE49-F238E27FC236}">
                <a16:creationId xmlns:a16="http://schemas.microsoft.com/office/drawing/2014/main" id="{D13DE70D-8B9B-E0E7-B80B-97A090CB15F4}"/>
              </a:ext>
            </a:extLst>
          </p:cNvPr>
          <p:cNvSpPr>
            <a:spLocks noGrp="1"/>
          </p:cNvSpPr>
          <p:nvPr>
            <p:ph type="body" sz="quarter" idx="11"/>
          </p:nvPr>
        </p:nvSpPr>
        <p:spPr/>
        <p:txBody>
          <a:bodyPr/>
          <a:lstStyle/>
          <a:p>
            <a:r>
              <a:rPr lang="en-NL"/>
              <a:t>2026 </a:t>
            </a:r>
            <a:r>
              <a:rPr lang="en-NL" dirty="0"/>
              <a:t>Workshop</a:t>
            </a:r>
          </a:p>
        </p:txBody>
      </p:sp>
    </p:spTree>
    <p:extLst>
      <p:ext uri="{BB962C8B-B14F-4D97-AF65-F5344CB8AC3E}">
        <p14:creationId xmlns:p14="http://schemas.microsoft.com/office/powerpoint/2010/main" val="1698011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Outline</a:t>
            </a:r>
            <a:endParaRPr lang="en-US" dirty="0"/>
          </a:p>
        </p:txBody>
      </p:sp>
      <p:sp>
        <p:nvSpPr>
          <p:cNvPr id="26" name="Content Placeholder 25"/>
          <p:cNvSpPr>
            <a:spLocks noGrp="1"/>
          </p:cNvSpPr>
          <p:nvPr>
            <p:ph idx="1"/>
          </p:nvPr>
        </p:nvSpPr>
        <p:spPr/>
        <p:txBody>
          <a:bodyPr/>
          <a:lstStyle/>
          <a:p>
            <a:r>
              <a:rPr lang="en-US" dirty="0"/>
              <a:t>JASP Intro</a:t>
            </a:r>
          </a:p>
          <a:p>
            <a:r>
              <a:rPr lang="en-US" dirty="0"/>
              <a:t>Correlation</a:t>
            </a:r>
          </a:p>
          <a:p>
            <a:r>
              <a:rPr lang="en-US" dirty="0"/>
              <a:t>Regression</a:t>
            </a:r>
          </a:p>
          <a:p>
            <a:r>
              <a:rPr lang="en-US" dirty="0"/>
              <a:t>PROCESS</a:t>
            </a:r>
          </a:p>
          <a:p>
            <a:r>
              <a:rPr lang="en-US" dirty="0"/>
              <a:t>T-test</a:t>
            </a:r>
          </a:p>
          <a:p>
            <a:r>
              <a:rPr lang="en-US" dirty="0"/>
              <a:t>ANOVA’s</a:t>
            </a:r>
          </a:p>
          <a:p>
            <a:r>
              <a:rPr lang="en-US" dirty="0"/>
              <a:t>Free-for-all</a:t>
            </a:r>
          </a:p>
          <a:p>
            <a:endParaRPr lang="en-US" dirty="0"/>
          </a:p>
        </p:txBody>
      </p:sp>
      <p:sp>
        <p:nvSpPr>
          <p:cNvPr id="7" name="TextBox 6">
            <a:extLst>
              <a:ext uri="{FF2B5EF4-FFF2-40B4-BE49-F238E27FC236}">
                <a16:creationId xmlns:a16="http://schemas.microsoft.com/office/drawing/2014/main" id="{C7BCBDA5-BAB9-CA1C-F751-49592167C0D2}"/>
              </a:ext>
            </a:extLst>
          </p:cNvPr>
          <p:cNvSpPr txBox="1"/>
          <p:nvPr/>
        </p:nvSpPr>
        <p:spPr bwMode="auto">
          <a:xfrm>
            <a:off x="6168008" y="5908076"/>
            <a:ext cx="736759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FAA26D3D-D897-4be2-8F04-BA451C77F1D7}">
              <ma14:placeholderFlag xmlns="" xmlns:ma14="http://schemas.microsoft.com/office/mac/drawingml/2011/main" val="1"/>
            </a:ext>
          </a:extLst>
        </p:spPr>
        <p:txBody>
          <a:bodyPr wrap="square">
            <a:spAutoFit/>
          </a:bodyPr>
          <a:lstStyle/>
          <a:p>
            <a:pPr algn="ctr"/>
            <a:r>
              <a:rPr lang="en-GB" dirty="0">
                <a:solidFill>
                  <a:schemeClr val="accent2"/>
                </a:solidFill>
                <a:latin typeface="Arial" panose="020B0604020202020204" pitchFamily="34" charset="0"/>
                <a:cs typeface="Arial" panose="020B0604020202020204" pitchFamily="34" charset="0"/>
              </a:rPr>
              <a:t>https://</a:t>
            </a:r>
            <a:r>
              <a:rPr lang="en-GB" dirty="0" err="1">
                <a:solidFill>
                  <a:schemeClr val="accent2"/>
                </a:solidFill>
                <a:latin typeface="Arial" panose="020B0604020202020204" pitchFamily="34" charset="0"/>
                <a:cs typeface="Arial" panose="020B0604020202020204" pitchFamily="34" charset="0"/>
              </a:rPr>
              <a:t>maglit.me</a:t>
            </a:r>
            <a:r>
              <a:rPr lang="en-GB" dirty="0">
                <a:solidFill>
                  <a:schemeClr val="accent2"/>
                </a:solidFill>
                <a:latin typeface="Arial" panose="020B0604020202020204" pitchFamily="34" charset="0"/>
                <a:cs typeface="Arial" panose="020B0604020202020204" pitchFamily="34" charset="0"/>
              </a:rPr>
              <a:t>/dsuj-2026</a:t>
            </a:r>
            <a:endParaRPr lang="en-NL" dirty="0">
              <a:solidFill>
                <a:schemeClr val="accent2"/>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53779D71-A311-98ED-271C-6F9CBE759CCF}"/>
              </a:ext>
            </a:extLst>
          </p:cNvPr>
          <p:cNvPicPr>
            <a:picLocks noChangeAspect="1"/>
          </p:cNvPicPr>
          <p:nvPr/>
        </p:nvPicPr>
        <p:blipFill>
          <a:blip r:embed="rId3"/>
          <a:stretch>
            <a:fillRect/>
          </a:stretch>
        </p:blipFill>
        <p:spPr>
          <a:xfrm>
            <a:off x="7608168" y="1628800"/>
            <a:ext cx="4320480" cy="4320480"/>
          </a:xfrm>
          <a:prstGeom prst="rect">
            <a:avLst/>
          </a:prstGeom>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01DFB-3FA9-8321-1372-C65F42013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6C4E8D-07D0-32C1-3C99-D310CD366412}"/>
              </a:ext>
            </a:extLst>
          </p:cNvPr>
          <p:cNvSpPr>
            <a:spLocks noGrp="1"/>
          </p:cNvSpPr>
          <p:nvPr>
            <p:ph type="title"/>
          </p:nvPr>
        </p:nvSpPr>
        <p:spPr/>
        <p:txBody>
          <a:bodyPr/>
          <a:lstStyle/>
          <a:p>
            <a:r>
              <a:rPr lang="en-US" altLang="x-none" dirty="0"/>
              <a:t>Goals of this Workshop</a:t>
            </a:r>
            <a:endParaRPr lang="en-US" dirty="0"/>
          </a:p>
        </p:txBody>
      </p:sp>
      <p:sp>
        <p:nvSpPr>
          <p:cNvPr id="26" name="Content Placeholder 25">
            <a:extLst>
              <a:ext uri="{FF2B5EF4-FFF2-40B4-BE49-F238E27FC236}">
                <a16:creationId xmlns:a16="http://schemas.microsoft.com/office/drawing/2014/main" id="{0BAEC885-9BFD-984A-7FCC-F223F2CE2A61}"/>
              </a:ext>
            </a:extLst>
          </p:cNvPr>
          <p:cNvSpPr>
            <a:spLocks noGrp="1"/>
          </p:cNvSpPr>
          <p:nvPr>
            <p:ph idx="1"/>
          </p:nvPr>
        </p:nvSpPr>
        <p:spPr/>
        <p:txBody>
          <a:bodyPr/>
          <a:lstStyle/>
          <a:p>
            <a:r>
              <a:rPr lang="en-US" dirty="0"/>
              <a:t>Get you familiar with JASP</a:t>
            </a:r>
          </a:p>
          <a:p>
            <a:endParaRPr lang="en-US" dirty="0"/>
          </a:p>
          <a:p>
            <a:r>
              <a:rPr lang="en-US" dirty="0"/>
              <a:t>Show JASP workflow</a:t>
            </a:r>
          </a:p>
          <a:p>
            <a:endParaRPr lang="en-US" dirty="0"/>
          </a:p>
          <a:p>
            <a:r>
              <a:rPr lang="en-US" dirty="0"/>
              <a:t>Know how to get in touch</a:t>
            </a:r>
          </a:p>
          <a:p>
            <a:endParaRPr lang="en-US" dirty="0"/>
          </a:p>
          <a:p>
            <a:r>
              <a:rPr lang="en-US" dirty="0"/>
              <a:t>Have ran your favorite analysis in JASP</a:t>
            </a:r>
          </a:p>
          <a:p>
            <a:endParaRPr lang="en-US" dirty="0"/>
          </a:p>
        </p:txBody>
      </p:sp>
    </p:spTree>
    <p:extLst>
      <p:ext uri="{BB962C8B-B14F-4D97-AF65-F5344CB8AC3E}">
        <p14:creationId xmlns:p14="http://schemas.microsoft.com/office/powerpoint/2010/main" val="109773105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FBEBA-5FE0-2788-747C-94C7514039B5}"/>
              </a:ext>
            </a:extLst>
          </p:cNvPr>
          <p:cNvSpPr>
            <a:spLocks noGrp="1"/>
          </p:cNvSpPr>
          <p:nvPr>
            <p:ph type="title"/>
          </p:nvPr>
        </p:nvSpPr>
        <p:spPr>
          <a:xfrm>
            <a:off x="839416" y="157708"/>
            <a:ext cx="6031984" cy="1013450"/>
          </a:xfrm>
        </p:spPr>
        <p:txBody>
          <a:bodyPr anchor="b">
            <a:normAutofit/>
          </a:bodyPr>
          <a:lstStyle/>
          <a:p>
            <a:r>
              <a:rPr lang="en-GB" sz="5400" dirty="0">
                <a:latin typeface="Cantarell" panose="02000603000000000000" pitchFamily="2" charset="0"/>
              </a:rPr>
              <a:t>What is JASP?</a:t>
            </a:r>
            <a:endParaRPr lang="en-NL" sz="5400" dirty="0">
              <a:latin typeface="Cantarell" panose="02000603000000000000" pitchFamily="2" charset="0"/>
            </a:endParaRPr>
          </a:p>
        </p:txBody>
      </p:sp>
      <p:sp>
        <p:nvSpPr>
          <p:cNvPr id="3" name="Content Placeholder 2">
            <a:extLst>
              <a:ext uri="{FF2B5EF4-FFF2-40B4-BE49-F238E27FC236}">
                <a16:creationId xmlns:a16="http://schemas.microsoft.com/office/drawing/2014/main" id="{864147FE-59FC-81D4-39B0-6C969C858476}"/>
              </a:ext>
            </a:extLst>
          </p:cNvPr>
          <p:cNvSpPr>
            <a:spLocks noGrp="1"/>
          </p:cNvSpPr>
          <p:nvPr>
            <p:ph idx="1"/>
          </p:nvPr>
        </p:nvSpPr>
        <p:spPr>
          <a:xfrm>
            <a:off x="1127448" y="2060848"/>
            <a:ext cx="4243589" cy="3320668"/>
          </a:xfrm>
        </p:spPr>
        <p:txBody>
          <a:bodyPr>
            <a:normAutofit/>
          </a:bodyPr>
          <a:lstStyle/>
          <a:p>
            <a:pPr marL="457200" indent="-457200"/>
            <a:r>
              <a:rPr lang="en-GB" sz="2200" dirty="0">
                <a:latin typeface="Cantarell" panose="02000603000000000000" pitchFamily="2" charset="0"/>
              </a:rPr>
              <a:t>Developed at </a:t>
            </a:r>
            <a:r>
              <a:rPr lang="en-GB" sz="2200" dirty="0" err="1">
                <a:latin typeface="Cantarell" panose="02000603000000000000" pitchFamily="2" charset="0"/>
              </a:rPr>
              <a:t>UvA</a:t>
            </a:r>
            <a:r>
              <a:rPr lang="en-GB" sz="2200" dirty="0">
                <a:latin typeface="Cantarell" panose="02000603000000000000" pitchFamily="2" charset="0"/>
              </a:rPr>
              <a:t> over the past 10+ years, funded by research grants (NWO/EU)</a:t>
            </a:r>
          </a:p>
          <a:p>
            <a:pPr marL="457200" indent="-457200"/>
            <a:r>
              <a:rPr lang="en-GB" sz="2200" dirty="0">
                <a:latin typeface="Cantarell" panose="02000603000000000000" pitchFamily="2" charset="0"/>
              </a:rPr>
              <a:t>Graphical user interface for conducting frequentist and Bayesian statistics</a:t>
            </a:r>
          </a:p>
          <a:p>
            <a:pPr marL="457200" indent="-457200"/>
            <a:r>
              <a:rPr lang="en-GB" sz="2200" dirty="0">
                <a:latin typeface="Cantarell" panose="02000603000000000000" pitchFamily="2" charset="0"/>
                <a:hlinkClick r:id="rId2"/>
              </a:rPr>
              <a:t>https://jasp-stats.org/</a:t>
            </a:r>
            <a:r>
              <a:rPr lang="en-GB" sz="2200" dirty="0">
                <a:latin typeface="Cantarell" panose="02000603000000000000" pitchFamily="2" charset="0"/>
              </a:rPr>
              <a:t> </a:t>
            </a:r>
          </a:p>
        </p:txBody>
      </p:sp>
      <p:pic>
        <p:nvPicPr>
          <p:cNvPr id="4" name="Picture 3">
            <a:extLst>
              <a:ext uri="{FF2B5EF4-FFF2-40B4-BE49-F238E27FC236}">
                <a16:creationId xmlns:a16="http://schemas.microsoft.com/office/drawing/2014/main" id="{2DE565F0-5AEC-88C2-AA7E-6D32EE5DB0E0}"/>
              </a:ext>
            </a:extLst>
          </p:cNvPr>
          <p:cNvPicPr>
            <a:picLocks noChangeAspect="1"/>
          </p:cNvPicPr>
          <p:nvPr/>
        </p:nvPicPr>
        <p:blipFill rotWithShape="1">
          <a:blip r:embed="rId3"/>
          <a:srcRect l="24835" r="4200" b="-1"/>
          <a:stretch/>
        </p:blipFill>
        <p:spPr>
          <a:xfrm>
            <a:off x="6312024" y="1268760"/>
            <a:ext cx="5878453" cy="558924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p:spPr>
      </p:pic>
    </p:spTree>
    <p:extLst>
      <p:ext uri="{BB962C8B-B14F-4D97-AF65-F5344CB8AC3E}">
        <p14:creationId xmlns:p14="http://schemas.microsoft.com/office/powerpoint/2010/main" val="4038094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F7AC525-DCFA-1084-0CF3-226864904E94}"/>
              </a:ext>
            </a:extLst>
          </p:cNvPr>
          <p:cNvSpPr txBox="1">
            <a:spLocks/>
          </p:cNvSpPr>
          <p:nvPr/>
        </p:nvSpPr>
        <p:spPr>
          <a:xfrm>
            <a:off x="316806" y="-25443"/>
            <a:ext cx="9019553" cy="90823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latin typeface="Cantarell" panose="02000603000000000000" pitchFamily="2" charset="0"/>
              </a:rPr>
              <a:t>What is JASP?</a:t>
            </a:r>
            <a:endParaRPr lang="en-NL" dirty="0">
              <a:latin typeface="Cantarell" panose="02000603000000000000" pitchFamily="2" charset="0"/>
            </a:endParaRPr>
          </a:p>
        </p:txBody>
      </p:sp>
      <p:pic>
        <p:nvPicPr>
          <p:cNvPr id="17" name="Picture 16">
            <a:extLst>
              <a:ext uri="{FF2B5EF4-FFF2-40B4-BE49-F238E27FC236}">
                <a16:creationId xmlns:a16="http://schemas.microsoft.com/office/drawing/2014/main" id="{25CE16BE-46E3-0C4A-7D7E-593794103432}"/>
              </a:ext>
            </a:extLst>
          </p:cNvPr>
          <p:cNvPicPr>
            <a:picLocks noChangeAspect="1"/>
          </p:cNvPicPr>
          <p:nvPr/>
        </p:nvPicPr>
        <p:blipFill>
          <a:blip r:embed="rId2"/>
          <a:stretch>
            <a:fillRect/>
          </a:stretch>
        </p:blipFill>
        <p:spPr>
          <a:xfrm>
            <a:off x="994064" y="882795"/>
            <a:ext cx="10203871" cy="5739678"/>
          </a:xfrm>
          <a:prstGeom prst="rect">
            <a:avLst/>
          </a:prstGeom>
        </p:spPr>
      </p:pic>
    </p:spTree>
    <p:extLst>
      <p:ext uri="{BB962C8B-B14F-4D97-AF65-F5344CB8AC3E}">
        <p14:creationId xmlns:p14="http://schemas.microsoft.com/office/powerpoint/2010/main" val="367883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1A2FC8-6C67-E3BE-CC14-EFC10F135791}"/>
              </a:ext>
            </a:extLst>
          </p:cNvPr>
          <p:cNvSpPr>
            <a:spLocks noGrp="1"/>
          </p:cNvSpPr>
          <p:nvPr>
            <p:ph idx="1"/>
          </p:nvPr>
        </p:nvSpPr>
        <p:spPr>
          <a:xfrm>
            <a:off x="918639" y="2437876"/>
            <a:ext cx="3429000" cy="3410712"/>
          </a:xfrm>
        </p:spPr>
        <p:txBody>
          <a:bodyPr anchor="t">
            <a:normAutofit/>
          </a:bodyPr>
          <a:lstStyle/>
          <a:p>
            <a:pPr lvl="0"/>
            <a:r>
              <a:rPr lang="en-GB" sz="2200" dirty="0">
                <a:latin typeface="Cantarell" panose="02000603000000000000" pitchFamily="2" charset="0"/>
              </a:rPr>
              <a:t>Used at 389 universities across 77 countries</a:t>
            </a:r>
            <a:endParaRPr lang="en-GB" sz="2200" dirty="0">
              <a:latin typeface="Cantarell" panose="02000603000000000000" pitchFamily="2" charset="0"/>
              <a:hlinkClick r:id="rId2"/>
            </a:endParaRPr>
          </a:p>
          <a:p>
            <a:pPr lvl="0"/>
            <a:r>
              <a:rPr lang="en-GB" sz="2200" dirty="0">
                <a:latin typeface="Cantarell" panose="02000603000000000000" pitchFamily="2" charset="0"/>
              </a:rPr>
              <a:t>100,000 monthly downloads</a:t>
            </a:r>
          </a:p>
          <a:p>
            <a:endParaRPr lang="en-NL" sz="2200" b="1" dirty="0">
              <a:latin typeface="Cantarell" panose="02000603000000000000" pitchFamily="2" charset="0"/>
            </a:endParaRPr>
          </a:p>
        </p:txBody>
      </p:sp>
      <p:sp>
        <p:nvSpPr>
          <p:cNvPr id="7" name="Title 1">
            <a:extLst>
              <a:ext uri="{FF2B5EF4-FFF2-40B4-BE49-F238E27FC236}">
                <a16:creationId xmlns:a16="http://schemas.microsoft.com/office/drawing/2014/main" id="{2F7AC525-DCFA-1084-0CF3-226864904E94}"/>
              </a:ext>
            </a:extLst>
          </p:cNvPr>
          <p:cNvSpPr txBox="1">
            <a:spLocks/>
          </p:cNvSpPr>
          <p:nvPr/>
        </p:nvSpPr>
        <p:spPr>
          <a:xfrm>
            <a:off x="1766243" y="179087"/>
            <a:ext cx="8659513" cy="9219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800" dirty="0">
                <a:latin typeface="Cantarell" panose="02000603000000000000" pitchFamily="2" charset="0"/>
              </a:rPr>
              <a:t>What is JASP?</a:t>
            </a:r>
            <a:endParaRPr lang="en-NL" sz="4800" dirty="0">
              <a:latin typeface="Cantarell" panose="02000603000000000000" pitchFamily="2" charset="0"/>
            </a:endParaRPr>
          </a:p>
        </p:txBody>
      </p:sp>
      <p:sp>
        <p:nvSpPr>
          <p:cNvPr id="10" name="TextBox 9">
            <a:extLst>
              <a:ext uri="{FF2B5EF4-FFF2-40B4-BE49-F238E27FC236}">
                <a16:creationId xmlns:a16="http://schemas.microsoft.com/office/drawing/2014/main" id="{A229FDB9-EDFE-D79D-529B-B1021A4E7B81}"/>
              </a:ext>
            </a:extLst>
          </p:cNvPr>
          <p:cNvSpPr txBox="1"/>
          <p:nvPr/>
        </p:nvSpPr>
        <p:spPr>
          <a:xfrm>
            <a:off x="5465064" y="5848588"/>
            <a:ext cx="6096000" cy="369332"/>
          </a:xfrm>
          <a:prstGeom prst="rect">
            <a:avLst/>
          </a:prstGeom>
          <a:noFill/>
        </p:spPr>
        <p:txBody>
          <a:bodyPr wrap="square">
            <a:spAutoFit/>
          </a:bodyPr>
          <a:lstStyle/>
          <a:p>
            <a:pPr lvl="0"/>
            <a:r>
              <a:rPr lang="en-GB" sz="1800" dirty="0">
                <a:hlinkClick r:id="rId2"/>
              </a:rPr>
              <a:t>https://jasp-stats.org/teaching-with-jasp/#worldmap</a:t>
            </a:r>
          </a:p>
        </p:txBody>
      </p:sp>
      <p:pic>
        <p:nvPicPr>
          <p:cNvPr id="2" name="Picture 1">
            <a:extLst>
              <a:ext uri="{FF2B5EF4-FFF2-40B4-BE49-F238E27FC236}">
                <a16:creationId xmlns:a16="http://schemas.microsoft.com/office/drawing/2014/main" id="{690B2BC4-AF77-A9A6-E3A1-8EC169A21403}"/>
              </a:ext>
            </a:extLst>
          </p:cNvPr>
          <p:cNvPicPr>
            <a:picLocks noChangeAspect="1"/>
          </p:cNvPicPr>
          <p:nvPr/>
        </p:nvPicPr>
        <p:blipFill>
          <a:blip r:embed="rId3"/>
          <a:stretch>
            <a:fillRect/>
          </a:stretch>
        </p:blipFill>
        <p:spPr>
          <a:xfrm>
            <a:off x="4347639" y="1700808"/>
            <a:ext cx="7772400" cy="3972985"/>
          </a:xfrm>
          <a:prstGeom prst="rect">
            <a:avLst/>
          </a:prstGeom>
        </p:spPr>
      </p:pic>
    </p:spTree>
    <p:extLst>
      <p:ext uri="{BB962C8B-B14F-4D97-AF65-F5344CB8AC3E}">
        <p14:creationId xmlns:p14="http://schemas.microsoft.com/office/powerpoint/2010/main" val="478194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33C3D-0646-924F-1222-622F24C49C12}"/>
              </a:ext>
            </a:extLst>
          </p:cNvPr>
          <p:cNvSpPr>
            <a:spLocks noGrp="1"/>
          </p:cNvSpPr>
          <p:nvPr>
            <p:ph type="title"/>
          </p:nvPr>
        </p:nvSpPr>
        <p:spPr/>
        <p:txBody>
          <a:bodyPr/>
          <a:lstStyle/>
          <a:p>
            <a:r>
              <a:rPr lang="en-NL" dirty="0">
                <a:latin typeface="Cantarell" panose="02000603000000000000" pitchFamily="2" charset="0"/>
              </a:rPr>
              <a:t>Features</a:t>
            </a:r>
          </a:p>
        </p:txBody>
      </p:sp>
      <p:sp>
        <p:nvSpPr>
          <p:cNvPr id="3" name="Content Placeholder 2">
            <a:extLst>
              <a:ext uri="{FF2B5EF4-FFF2-40B4-BE49-F238E27FC236}">
                <a16:creationId xmlns:a16="http://schemas.microsoft.com/office/drawing/2014/main" id="{07156D9B-E1CB-5865-40B1-FF8714728CF2}"/>
              </a:ext>
            </a:extLst>
          </p:cNvPr>
          <p:cNvSpPr>
            <a:spLocks noGrp="1"/>
          </p:cNvSpPr>
          <p:nvPr>
            <p:ph idx="1"/>
          </p:nvPr>
        </p:nvSpPr>
        <p:spPr/>
        <p:txBody>
          <a:bodyPr>
            <a:normAutofit lnSpcReduction="10000"/>
          </a:bodyPr>
          <a:lstStyle/>
          <a:p>
            <a:pPr marL="457200" indent="-457200">
              <a:buFont typeface="Arial" panose="020B0604020202020204" pitchFamily="34" charset="0"/>
              <a:buChar char="•"/>
            </a:pPr>
            <a:r>
              <a:rPr lang="en-NL" dirty="0">
                <a:latin typeface="Cantarell" panose="02000603000000000000" pitchFamily="2" charset="0"/>
                <a:hlinkClick r:id="rId2"/>
              </a:rPr>
              <a:t>Website overview</a:t>
            </a:r>
            <a:endParaRPr lang="en-GB" dirty="0">
              <a:latin typeface="Cantarell" panose="02000603000000000000" pitchFamily="2" charset="0"/>
            </a:endParaRPr>
          </a:p>
          <a:p>
            <a:pPr marL="457200" indent="-457200">
              <a:buFont typeface="Arial" panose="020B0604020202020204" pitchFamily="34" charset="0"/>
              <a:buChar char="•"/>
            </a:pPr>
            <a:r>
              <a:rPr lang="en-GB" dirty="0">
                <a:latin typeface="Cantarell" panose="02000603000000000000" pitchFamily="2" charset="0"/>
                <a:hlinkClick r:id="rId3"/>
              </a:rPr>
              <a:t>JASP vs. SPSS feature comparison</a:t>
            </a:r>
            <a:endParaRPr lang="en-GB" dirty="0">
              <a:latin typeface="Cantarell" panose="02000603000000000000" pitchFamily="2" charset="0"/>
            </a:endParaRPr>
          </a:p>
          <a:p>
            <a:pPr marL="457200" indent="-457200">
              <a:buFont typeface="Arial" panose="020B0604020202020204" pitchFamily="34" charset="0"/>
              <a:buChar char="•"/>
            </a:pPr>
            <a:r>
              <a:rPr lang="en-GB" dirty="0">
                <a:latin typeface="Cantarell" panose="02000603000000000000" pitchFamily="2" charset="0"/>
              </a:rPr>
              <a:t>Data formats: .sav, .</a:t>
            </a:r>
            <a:r>
              <a:rPr lang="en-GB" dirty="0" err="1">
                <a:latin typeface="Cantarell" panose="02000603000000000000" pitchFamily="2" charset="0"/>
              </a:rPr>
              <a:t>xls</a:t>
            </a:r>
            <a:r>
              <a:rPr lang="en-GB" dirty="0">
                <a:latin typeface="Cantarell" panose="02000603000000000000" pitchFamily="2" charset="0"/>
              </a:rPr>
              <a:t>, .txt, .csv, .</a:t>
            </a:r>
            <a:r>
              <a:rPr lang="en-GB" dirty="0" err="1">
                <a:latin typeface="Cantarell" panose="02000603000000000000" pitchFamily="2" charset="0"/>
              </a:rPr>
              <a:t>ods</a:t>
            </a:r>
            <a:r>
              <a:rPr lang="en-GB" dirty="0">
                <a:latin typeface="Cantarell" panose="02000603000000000000" pitchFamily="2" charset="0"/>
              </a:rPr>
              <a:t>, .</a:t>
            </a:r>
            <a:r>
              <a:rPr lang="en-GB" dirty="0" err="1">
                <a:latin typeface="Cantarell" panose="02000603000000000000" pitchFamily="2" charset="0"/>
              </a:rPr>
              <a:t>tsv</a:t>
            </a:r>
            <a:r>
              <a:rPr lang="en-GB" dirty="0">
                <a:latin typeface="Cantarell" panose="02000603000000000000" pitchFamily="2" charset="0"/>
              </a:rPr>
              <a:t>, .</a:t>
            </a:r>
            <a:r>
              <a:rPr lang="en-GB" dirty="0" err="1">
                <a:latin typeface="Cantarell" panose="02000603000000000000" pitchFamily="2" charset="0"/>
              </a:rPr>
              <a:t>dta</a:t>
            </a:r>
            <a:r>
              <a:rPr lang="en-GB" dirty="0">
                <a:latin typeface="Cantarell" panose="02000603000000000000" pitchFamily="2" charset="0"/>
              </a:rPr>
              <a:t>, .</a:t>
            </a:r>
            <a:r>
              <a:rPr lang="en-GB" dirty="0" err="1">
                <a:latin typeface="Cantarell" panose="02000603000000000000" pitchFamily="2" charset="0"/>
              </a:rPr>
              <a:t>por</a:t>
            </a:r>
            <a:r>
              <a:rPr lang="en-GB" dirty="0">
                <a:latin typeface="Cantarell" panose="02000603000000000000" pitchFamily="2" charset="0"/>
              </a:rPr>
              <a:t>, .sas7bdat, .sas7bcat, and the .</a:t>
            </a:r>
            <a:r>
              <a:rPr lang="en-GB" dirty="0" err="1">
                <a:latin typeface="Cantarell" panose="02000603000000000000" pitchFamily="2" charset="0"/>
              </a:rPr>
              <a:t>jasp</a:t>
            </a:r>
            <a:r>
              <a:rPr lang="en-GB" dirty="0">
                <a:latin typeface="Cantarell" panose="02000603000000000000" pitchFamily="2" charset="0"/>
              </a:rPr>
              <a:t> format</a:t>
            </a:r>
          </a:p>
          <a:p>
            <a:pPr marL="457200" indent="-457200">
              <a:buFont typeface="Arial" panose="020B0604020202020204" pitchFamily="34" charset="0"/>
              <a:buChar char="•"/>
            </a:pPr>
            <a:r>
              <a:rPr lang="en-GB" dirty="0">
                <a:latin typeface="Cantarell" panose="02000603000000000000" pitchFamily="2" charset="0"/>
              </a:rPr>
              <a:t>APA tables</a:t>
            </a:r>
          </a:p>
          <a:p>
            <a:pPr marL="457200" indent="-457200">
              <a:buFont typeface="Arial" panose="020B0604020202020204" pitchFamily="34" charset="0"/>
              <a:buChar char="•"/>
            </a:pPr>
            <a:r>
              <a:rPr lang="en-GB" dirty="0">
                <a:latin typeface="Cantarell" panose="02000603000000000000" pitchFamily="2" charset="0"/>
              </a:rPr>
              <a:t>OSF integration</a:t>
            </a:r>
          </a:p>
          <a:p>
            <a:pPr marL="457200" indent="-457200">
              <a:buFont typeface="Arial" panose="020B0604020202020204" pitchFamily="34" charset="0"/>
              <a:buChar char="•"/>
            </a:pPr>
            <a:r>
              <a:rPr lang="en-GB" dirty="0">
                <a:latin typeface="Cantarell" panose="02000603000000000000" pitchFamily="2" charset="0"/>
              </a:rPr>
              <a:t>R console</a:t>
            </a:r>
          </a:p>
          <a:p>
            <a:pPr marL="457200" indent="-457200">
              <a:buFont typeface="Arial" panose="020B0604020202020204" pitchFamily="34" charset="0"/>
              <a:buChar char="•"/>
            </a:pPr>
            <a:r>
              <a:rPr lang="en-GB" dirty="0">
                <a:latin typeface="Cantarell" panose="02000603000000000000" pitchFamily="2" charset="0"/>
              </a:rPr>
              <a:t>Compute columns</a:t>
            </a:r>
          </a:p>
          <a:p>
            <a:pPr marL="457200" indent="-457200">
              <a:buFont typeface="Arial" panose="020B0604020202020204" pitchFamily="34" charset="0"/>
              <a:buChar char="•"/>
            </a:pPr>
            <a:r>
              <a:rPr lang="en-GB" dirty="0">
                <a:latin typeface="Cantarell" panose="02000603000000000000" pitchFamily="2" charset="0"/>
              </a:rPr>
              <a:t>Filtering</a:t>
            </a:r>
            <a:endParaRPr lang="en-NL" dirty="0">
              <a:latin typeface="Cantarell" panose="02000603000000000000" pitchFamily="2" charset="0"/>
            </a:endParaRPr>
          </a:p>
        </p:txBody>
      </p:sp>
    </p:spTree>
    <p:extLst>
      <p:ext uri="{BB962C8B-B14F-4D97-AF65-F5344CB8AC3E}">
        <p14:creationId xmlns:p14="http://schemas.microsoft.com/office/powerpoint/2010/main" val="1824964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33C3D-0646-924F-1222-622F24C49C12}"/>
              </a:ext>
            </a:extLst>
          </p:cNvPr>
          <p:cNvSpPr>
            <a:spLocks noGrp="1"/>
          </p:cNvSpPr>
          <p:nvPr>
            <p:ph type="title"/>
          </p:nvPr>
        </p:nvSpPr>
        <p:spPr/>
        <p:txBody>
          <a:bodyPr/>
          <a:lstStyle/>
          <a:p>
            <a:r>
              <a:rPr lang="en-NL" dirty="0">
                <a:latin typeface="Cantarell" panose="02000603000000000000" pitchFamily="2" charset="0"/>
              </a:rPr>
              <a:t>Feature Roadmap</a:t>
            </a:r>
          </a:p>
        </p:txBody>
      </p:sp>
      <p:sp>
        <p:nvSpPr>
          <p:cNvPr id="3" name="Content Placeholder 2">
            <a:extLst>
              <a:ext uri="{FF2B5EF4-FFF2-40B4-BE49-F238E27FC236}">
                <a16:creationId xmlns:a16="http://schemas.microsoft.com/office/drawing/2014/main" id="{07156D9B-E1CB-5865-40B1-FF8714728CF2}"/>
              </a:ext>
            </a:extLst>
          </p:cNvPr>
          <p:cNvSpPr>
            <a:spLocks noGrp="1"/>
          </p:cNvSpPr>
          <p:nvPr>
            <p:ph idx="1"/>
          </p:nvPr>
        </p:nvSpPr>
        <p:spPr/>
        <p:txBody>
          <a:bodyPr/>
          <a:lstStyle/>
          <a:p>
            <a:pPr marL="457200" indent="-457200">
              <a:buFont typeface="Arial" panose="020B0604020202020204" pitchFamily="34" charset="0"/>
              <a:buChar char="•"/>
            </a:pPr>
            <a:r>
              <a:rPr lang="en-GB" sz="2800" dirty="0">
                <a:latin typeface="Cantarell" panose="02000603000000000000" pitchFamily="2" charset="0"/>
              </a:rPr>
              <a:t>Full syntax mode (</a:t>
            </a:r>
            <a:r>
              <a:rPr lang="en-GB" sz="2800" dirty="0">
                <a:latin typeface="Cantarell" panose="02000603000000000000" pitchFamily="2" charset="0"/>
                <a:hlinkClick r:id="rId2"/>
              </a:rPr>
              <a:t>blog about the first implementation</a:t>
            </a:r>
            <a:r>
              <a:rPr lang="en-GB" sz="2800" dirty="0">
                <a:latin typeface="Cantarell" panose="02000603000000000000" pitchFamily="2" charset="0"/>
              </a:rPr>
              <a:t>)</a:t>
            </a:r>
          </a:p>
          <a:p>
            <a:pPr marL="457200" indent="-457200">
              <a:buFont typeface="Arial" panose="020B0604020202020204" pitchFamily="34" charset="0"/>
              <a:buChar char="•"/>
            </a:pPr>
            <a:r>
              <a:rPr lang="en-GB" sz="2800" dirty="0">
                <a:latin typeface="Cantarell" panose="02000603000000000000" pitchFamily="2" charset="0"/>
              </a:rPr>
              <a:t>More data manipulation</a:t>
            </a:r>
          </a:p>
          <a:p>
            <a:pPr marL="457200" indent="-457200">
              <a:buFont typeface="Arial" panose="020B0604020202020204" pitchFamily="34" charset="0"/>
              <a:buChar char="•"/>
            </a:pPr>
            <a:r>
              <a:rPr lang="en-GB" dirty="0">
                <a:latin typeface="Cantarell" panose="02000603000000000000" pitchFamily="2" charset="0"/>
              </a:rPr>
              <a:t>Select filters</a:t>
            </a:r>
          </a:p>
          <a:p>
            <a:pPr marL="0" indent="0">
              <a:buNone/>
            </a:pPr>
            <a:endParaRPr lang="en-GB" dirty="0">
              <a:latin typeface="Cantarell" panose="02000603000000000000" pitchFamily="2" charset="0"/>
            </a:endParaRPr>
          </a:p>
          <a:p>
            <a:endParaRPr lang="en-NL" dirty="0">
              <a:latin typeface="Cantarell" panose="02000603000000000000" pitchFamily="2" charset="0"/>
            </a:endParaRPr>
          </a:p>
        </p:txBody>
      </p:sp>
      <p:pic>
        <p:nvPicPr>
          <p:cNvPr id="4" name="Picture 3">
            <a:extLst>
              <a:ext uri="{FF2B5EF4-FFF2-40B4-BE49-F238E27FC236}">
                <a16:creationId xmlns:a16="http://schemas.microsoft.com/office/drawing/2014/main" id="{0E9FF4D2-A115-47A7-0CE0-F22EBA6DB578}"/>
              </a:ext>
            </a:extLst>
          </p:cNvPr>
          <p:cNvPicPr>
            <a:picLocks noChangeAspect="1"/>
          </p:cNvPicPr>
          <p:nvPr/>
        </p:nvPicPr>
        <p:blipFill rotWithShape="1">
          <a:blip r:embed="rId3">
            <a:lum/>
            <a:alphaModFix/>
          </a:blip>
          <a:srcRect t="3935" r="849" b="6064"/>
          <a:stretch/>
        </p:blipFill>
        <p:spPr>
          <a:xfrm>
            <a:off x="5510676" y="2976422"/>
            <a:ext cx="6681324" cy="3881577"/>
          </a:xfrm>
          <a:prstGeom prst="rect">
            <a:avLst/>
          </a:prstGeom>
          <a:noFill/>
          <a:ln>
            <a:noFill/>
          </a:ln>
        </p:spPr>
      </p:pic>
    </p:spTree>
    <p:extLst>
      <p:ext uri="{BB962C8B-B14F-4D97-AF65-F5344CB8AC3E}">
        <p14:creationId xmlns:p14="http://schemas.microsoft.com/office/powerpoint/2010/main" val="2135781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AA0F5-A203-457D-E9B0-304F6E5F4361}"/>
              </a:ext>
            </a:extLst>
          </p:cNvPr>
          <p:cNvSpPr txBox="1">
            <a:spLocks noGrp="1"/>
          </p:cNvSpPr>
          <p:nvPr>
            <p:ph type="title" idx="4294967295"/>
          </p:nvPr>
        </p:nvSpPr>
        <p:spPr>
          <a:xfrm>
            <a:off x="838200" y="748343"/>
            <a:ext cx="10515600" cy="559127"/>
          </a:xfrm>
        </p:spPr>
        <p:txBody>
          <a:bodyPr lIns="0" tIns="0" rIns="0" bIns="0" anchor="ctr">
            <a:spAutoFit/>
          </a:bodyPr>
          <a:lstStyle/>
          <a:p>
            <a:pPr lvl="0"/>
            <a:r>
              <a:rPr lang="en-GB" sz="4200" dirty="0">
                <a:solidFill>
                  <a:srgbClr val="000000"/>
                </a:solidFill>
                <a:latin typeface="Cantarell" panose="02000603000000000000" pitchFamily="2" charset="0"/>
              </a:rPr>
              <a:t>Other Handy Resources</a:t>
            </a:r>
          </a:p>
        </p:txBody>
      </p:sp>
      <p:sp>
        <p:nvSpPr>
          <p:cNvPr id="3" name="Text Placeholder 2">
            <a:extLst>
              <a:ext uri="{FF2B5EF4-FFF2-40B4-BE49-F238E27FC236}">
                <a16:creationId xmlns:a16="http://schemas.microsoft.com/office/drawing/2014/main" id="{22001420-A20F-C7F6-5B36-6EB44D95CBDD}"/>
              </a:ext>
            </a:extLst>
          </p:cNvPr>
          <p:cNvSpPr txBox="1">
            <a:spLocks noGrp="1"/>
          </p:cNvSpPr>
          <p:nvPr>
            <p:ph type="body" idx="4294967295"/>
          </p:nvPr>
        </p:nvSpPr>
        <p:spPr>
          <a:xfrm>
            <a:off x="1092896" y="1988840"/>
            <a:ext cx="11099104" cy="4351338"/>
          </a:xfrm>
        </p:spPr>
        <p:txBody>
          <a:bodyPr>
            <a:noAutofit/>
          </a:bodyPr>
          <a:lstStyle/>
          <a:p>
            <a:pPr lvl="0"/>
            <a:r>
              <a:rPr lang="en-GB" sz="2000" dirty="0">
                <a:latin typeface="Cantarell" panose="02000603000000000000" pitchFamily="2" charset="0"/>
                <a:hlinkClick r:id="rId3"/>
              </a:rPr>
              <a:t>How to Use JASP – Inventory of blogs/videos/gifs for frequentist and Bayesian analyses</a:t>
            </a:r>
          </a:p>
          <a:p>
            <a:pPr lvl="0"/>
            <a:r>
              <a:rPr lang="en-GB" sz="2000" dirty="0">
                <a:latin typeface="Cantarell" panose="02000603000000000000" pitchFamily="2" charset="0"/>
                <a:hlinkClick r:id="rId4"/>
              </a:rPr>
              <a:t>JASP YouTube page</a:t>
            </a:r>
          </a:p>
          <a:p>
            <a:r>
              <a:rPr lang="en-GB" sz="2000" dirty="0">
                <a:latin typeface="Cantarell" panose="02000603000000000000" pitchFamily="2" charset="0"/>
                <a:hlinkClick r:id="rId5"/>
              </a:rPr>
              <a:t>The JASP Video Library</a:t>
            </a:r>
            <a:endParaRPr lang="en-GB" sz="2000" dirty="0">
              <a:latin typeface="Cantarell" panose="02000603000000000000" pitchFamily="2" charset="0"/>
              <a:hlinkClick r:id="rId4"/>
            </a:endParaRPr>
          </a:p>
          <a:p>
            <a:pPr lvl="0"/>
            <a:r>
              <a:rPr lang="en-GB" sz="2000" dirty="0">
                <a:latin typeface="Cantarell" panose="02000603000000000000" pitchFamily="2" charset="0"/>
                <a:hlinkClick r:id="rId6"/>
              </a:rPr>
              <a:t>Step By Step Guide: 1. Bayesian One-Way ANOVA</a:t>
            </a:r>
            <a:r>
              <a:rPr lang="en-GB" sz="2000" dirty="0">
                <a:latin typeface="Cantarell" panose="02000603000000000000" pitchFamily="2" charset="0"/>
              </a:rPr>
              <a:t> and the </a:t>
            </a:r>
            <a:r>
              <a:rPr lang="en-GB" sz="2000" dirty="0">
                <a:latin typeface="Cantarell" panose="02000603000000000000" pitchFamily="2" charset="0"/>
                <a:hlinkClick r:id="rId7"/>
              </a:rPr>
              <a:t>full playlist</a:t>
            </a:r>
          </a:p>
          <a:p>
            <a:pPr lvl="0"/>
            <a:r>
              <a:rPr lang="en-GB" sz="2000" dirty="0">
                <a:latin typeface="Cantarell" panose="02000603000000000000" pitchFamily="2" charset="0"/>
              </a:rPr>
              <a:t>JASP on Bluesky - </a:t>
            </a:r>
            <a:r>
              <a:rPr lang="en-GB" sz="2000" dirty="0">
                <a:latin typeface="Cantarell" panose="02000603000000000000" pitchFamily="2" charset="0"/>
                <a:hlinkClick r:id="rId8"/>
              </a:rPr>
              <a:t>https://bsky.app/profile/jaspstats.bsky.social</a:t>
            </a:r>
            <a:endParaRPr lang="en-GB" sz="2000" dirty="0">
              <a:latin typeface="Cantarell" panose="02000603000000000000" pitchFamily="2" charset="0"/>
            </a:endParaRPr>
          </a:p>
          <a:p>
            <a:pPr lvl="0"/>
            <a:r>
              <a:rPr lang="en-GB" sz="2000" dirty="0">
                <a:latin typeface="Cantarell" panose="02000603000000000000" pitchFamily="2" charset="0"/>
              </a:rPr>
              <a:t>JASP forum - </a:t>
            </a:r>
            <a:r>
              <a:rPr lang="en-GB" sz="2000" dirty="0">
                <a:latin typeface="Cantarell" panose="02000603000000000000" pitchFamily="2" charset="0"/>
                <a:hlinkClick r:id="rId9"/>
              </a:rPr>
              <a:t>https://forum.cogsci.nl/index.php?p=/categories/jasp-bayesfactor</a:t>
            </a:r>
            <a:r>
              <a:rPr lang="en-GB" sz="2000" dirty="0">
                <a:latin typeface="Cantarell" panose="02000603000000000000" pitchFamily="2" charset="0"/>
              </a:rPr>
              <a:t> </a:t>
            </a:r>
          </a:p>
          <a:p>
            <a:pPr lvl="0"/>
            <a:r>
              <a:rPr lang="en-GB" sz="2000" dirty="0">
                <a:latin typeface="Cantarell" panose="02000603000000000000" pitchFamily="2" charset="0"/>
              </a:rPr>
              <a:t>Found a bug? Please report on </a:t>
            </a:r>
            <a:r>
              <a:rPr lang="en-GB" sz="2000" dirty="0" err="1">
                <a:latin typeface="Cantarell" panose="02000603000000000000" pitchFamily="2" charset="0"/>
              </a:rPr>
              <a:t>Github</a:t>
            </a:r>
            <a:r>
              <a:rPr lang="en-GB" sz="2000" dirty="0">
                <a:latin typeface="Cantarell" panose="02000603000000000000" pitchFamily="2" charset="0"/>
              </a:rPr>
              <a:t>: </a:t>
            </a:r>
            <a:r>
              <a:rPr lang="en-GB" sz="2000" dirty="0">
                <a:latin typeface="Cantarell" panose="02000603000000000000" pitchFamily="2" charset="0"/>
                <a:hlinkClick r:id="rId10"/>
              </a:rPr>
              <a:t>https://github.com/jasp-stats/jasp-issues/issues</a:t>
            </a:r>
          </a:p>
          <a:p>
            <a:pPr lvl="0"/>
            <a:r>
              <a:rPr lang="en-GB" sz="2000" dirty="0">
                <a:latin typeface="Cantarell" panose="02000603000000000000" pitchFamily="2" charset="0"/>
                <a:hlinkClick r:id="rId10"/>
              </a:rPr>
              <a:t>JASP Verification Project</a:t>
            </a:r>
            <a:endParaRPr lang="en-GB" sz="2000" dirty="0">
              <a:latin typeface="Cantarell" panose="02000603000000000000" pitchFamily="2" charset="0"/>
              <a:hlinkClick r:id="rId11"/>
            </a:endParaRPr>
          </a:p>
          <a:p>
            <a:pPr lvl="0"/>
            <a:r>
              <a:rPr lang="en-GB" sz="2000" dirty="0">
                <a:latin typeface="Cantarell" panose="02000603000000000000" pitchFamily="2" charset="0"/>
              </a:rPr>
              <a:t>More JASP workshops: </a:t>
            </a:r>
            <a:r>
              <a:rPr lang="en-GB" sz="2000" dirty="0">
                <a:latin typeface="Cantarell" panose="02000603000000000000" pitchFamily="2" charset="0"/>
                <a:hlinkClick r:id="rId12"/>
              </a:rPr>
              <a:t>https://jasp-stats.org/workshop/</a:t>
            </a:r>
            <a:r>
              <a:rPr lang="en-GB" sz="2000" dirty="0">
                <a:latin typeface="Cantarell" panose="02000603000000000000" pitchFamily="2" charset="0"/>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78DDE-C650-F79E-7F3F-4C3B40A01E0C}"/>
              </a:ext>
            </a:extLst>
          </p:cNvPr>
          <p:cNvSpPr>
            <a:spLocks noGrp="1"/>
          </p:cNvSpPr>
          <p:nvPr>
            <p:ph type="title"/>
          </p:nvPr>
        </p:nvSpPr>
        <p:spPr/>
        <p:txBody>
          <a:bodyPr/>
          <a:lstStyle/>
          <a:p>
            <a:r>
              <a:rPr lang="en-NL" dirty="0"/>
              <a:t>JASP Literature</a:t>
            </a:r>
          </a:p>
        </p:txBody>
      </p:sp>
      <p:sp>
        <p:nvSpPr>
          <p:cNvPr id="3" name="Content Placeholder 2">
            <a:extLst>
              <a:ext uri="{FF2B5EF4-FFF2-40B4-BE49-F238E27FC236}">
                <a16:creationId xmlns:a16="http://schemas.microsoft.com/office/drawing/2014/main" id="{D48F187D-AD89-B934-BA0C-D662B8FD20AA}"/>
              </a:ext>
            </a:extLst>
          </p:cNvPr>
          <p:cNvSpPr>
            <a:spLocks noGrp="1"/>
          </p:cNvSpPr>
          <p:nvPr>
            <p:ph idx="1"/>
          </p:nvPr>
        </p:nvSpPr>
        <p:spPr/>
        <p:txBody>
          <a:bodyPr>
            <a:normAutofit fontScale="77500" lnSpcReduction="20000"/>
          </a:bodyPr>
          <a:lstStyle/>
          <a:p>
            <a:pPr marL="342900" indent="-342900">
              <a:buFont typeface="Arial" panose="020B0604020202020204" pitchFamily="34" charset="0"/>
              <a:buChar char="•"/>
            </a:pPr>
            <a:r>
              <a:rPr lang="en-GB" sz="2400" dirty="0">
                <a:latin typeface="Cantarell" panose="02000603000000000000" pitchFamily="2" charset="0"/>
                <a:hlinkClick r:id="rId2"/>
              </a:rPr>
              <a:t>The JASP Data Library</a:t>
            </a:r>
            <a:endParaRPr lang="en-GB" sz="2400" dirty="0">
              <a:latin typeface="Cantarell" panose="02000603000000000000" pitchFamily="2" charset="0"/>
            </a:endParaRPr>
          </a:p>
          <a:p>
            <a:endParaRPr lang="en-GB" sz="2400" dirty="0">
              <a:latin typeface="Cantarell" panose="02000603000000000000" pitchFamily="2" charset="0"/>
            </a:endParaRPr>
          </a:p>
          <a:p>
            <a:pPr marL="342900" indent="-342900">
              <a:buFont typeface="Arial" panose="020B0604020202020204" pitchFamily="34" charset="0"/>
              <a:buChar char="•"/>
            </a:pPr>
            <a:r>
              <a:rPr lang="en-GB" sz="2400" dirty="0">
                <a:latin typeface="Cantarell" panose="02000603000000000000" pitchFamily="2" charset="0"/>
                <a:hlinkClick r:id="rId3"/>
              </a:rPr>
              <a:t>Discovering</a:t>
            </a:r>
            <a:r>
              <a:rPr lang="en-GB" sz="2400" dirty="0">
                <a:latin typeface="Cantarell" panose="02000603000000000000" pitchFamily="2" charset="0"/>
                <a:hlinkClick r:id="rId4"/>
              </a:rPr>
              <a:t> Statistics Using JASP</a:t>
            </a:r>
            <a:endParaRPr lang="en-GB" sz="2400" dirty="0">
              <a:latin typeface="Cantarell" panose="02000603000000000000" pitchFamily="2" charset="0"/>
              <a:hlinkClick r:id="rId5"/>
            </a:endParaRPr>
          </a:p>
          <a:p>
            <a:pPr marL="342900" indent="-342900">
              <a:buFont typeface="Arial" panose="020B0604020202020204" pitchFamily="34" charset="0"/>
              <a:buChar char="•"/>
            </a:pPr>
            <a:endParaRPr lang="en-GB" sz="2400" dirty="0">
              <a:latin typeface="Cantarell" panose="02000603000000000000" pitchFamily="2" charset="0"/>
              <a:hlinkClick r:id="rId5"/>
            </a:endParaRPr>
          </a:p>
          <a:p>
            <a:pPr marL="342900" lvl="0" indent="-342900">
              <a:buFont typeface="Arial" panose="020B0604020202020204" pitchFamily="34" charset="0"/>
              <a:buChar char="•"/>
            </a:pPr>
            <a:r>
              <a:rPr lang="en-GB" sz="2400" dirty="0">
                <a:latin typeface="Cantarell" panose="02000603000000000000" pitchFamily="2" charset="0"/>
                <a:hlinkClick r:id="rId5"/>
              </a:rPr>
              <a:t>Learning Statistics with JASP: A Tutorial for Psychology Students and Other Beginners by Danielle J. Navarro, David R. Foxcroft, and Thomas J. Faulkenberry</a:t>
            </a:r>
          </a:p>
          <a:p>
            <a:pPr marL="342900" lvl="0" indent="-342900">
              <a:buFont typeface="Arial" panose="020B0604020202020204" pitchFamily="34" charset="0"/>
              <a:buChar char="•"/>
            </a:pPr>
            <a:r>
              <a:rPr lang="en-GB" sz="2400" dirty="0">
                <a:latin typeface="Cantarell" panose="02000603000000000000" pitchFamily="2" charset="0"/>
                <a:hlinkClick r:id="rId6"/>
              </a:rPr>
              <a:t>Statistics of Doom by Erin Buchanan</a:t>
            </a:r>
            <a:endParaRPr lang="en-GB" sz="2400" dirty="0">
              <a:latin typeface="Cantarell" panose="02000603000000000000" pitchFamily="2" charset="0"/>
            </a:endParaRPr>
          </a:p>
          <a:p>
            <a:pPr marL="342900" lvl="0" indent="-342900">
              <a:buFont typeface="Arial" panose="020B0604020202020204" pitchFamily="34" charset="0"/>
              <a:buChar char="•"/>
            </a:pPr>
            <a:endParaRPr lang="en-GB" sz="2400" dirty="0">
              <a:latin typeface="Cantarell" panose="02000603000000000000" pitchFamily="2" charset="0"/>
            </a:endParaRPr>
          </a:p>
          <a:p>
            <a:pPr marL="342900" lvl="0" indent="-342900">
              <a:buFont typeface="Arial" panose="020B0604020202020204" pitchFamily="34" charset="0"/>
              <a:buChar char="•"/>
            </a:pPr>
            <a:r>
              <a:rPr lang="en-GB" sz="2400" dirty="0">
                <a:latin typeface="Cantarell" panose="02000603000000000000" pitchFamily="2" charset="0"/>
                <a:hlinkClick r:id="rId7"/>
              </a:rPr>
              <a:t>Statistical Analysis in JASP. A Guide for Students by Mark Goss-Sampson</a:t>
            </a:r>
          </a:p>
          <a:p>
            <a:pPr marL="342900" lvl="0" indent="-342900">
              <a:buFont typeface="Arial" panose="020B0604020202020204" pitchFamily="34" charset="0"/>
              <a:buChar char="•"/>
            </a:pPr>
            <a:endParaRPr lang="en-GB" sz="2400" dirty="0">
              <a:latin typeface="Cantarell" panose="02000603000000000000" pitchFamily="2" charset="0"/>
              <a:hlinkClick r:id="rId7"/>
            </a:endParaRPr>
          </a:p>
          <a:p>
            <a:pPr marL="342900" lvl="0" indent="-342900">
              <a:buFont typeface="Arial" panose="020B0604020202020204" pitchFamily="34" charset="0"/>
              <a:buChar char="•"/>
            </a:pPr>
            <a:r>
              <a:rPr lang="en-GB" sz="2400" dirty="0">
                <a:latin typeface="Cantarell" panose="02000603000000000000" pitchFamily="2" charset="0"/>
                <a:hlinkClick r:id="rId8"/>
              </a:rPr>
              <a:t>Quantitative Analysis with JASP open-source software by Chris Halter</a:t>
            </a:r>
            <a:r>
              <a:rPr lang="en-GB" sz="2400" dirty="0">
                <a:latin typeface="Cantarell" panose="02000603000000000000" pitchFamily="2" charset="0"/>
              </a:rPr>
              <a:t> (amazon)</a:t>
            </a:r>
          </a:p>
        </p:txBody>
      </p:sp>
    </p:spTree>
    <p:extLst>
      <p:ext uri="{BB962C8B-B14F-4D97-AF65-F5344CB8AC3E}">
        <p14:creationId xmlns:p14="http://schemas.microsoft.com/office/powerpoint/2010/main" val="919445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07E05-6E4E-3F93-9F10-C29C03ECE19A}"/>
              </a:ext>
            </a:extLst>
          </p:cNvPr>
          <p:cNvSpPr>
            <a:spLocks noGrp="1"/>
          </p:cNvSpPr>
          <p:nvPr>
            <p:ph type="title"/>
          </p:nvPr>
        </p:nvSpPr>
        <p:spPr/>
        <p:txBody>
          <a:bodyPr/>
          <a:lstStyle/>
          <a:p>
            <a:r>
              <a:rPr lang="en-NL" dirty="0">
                <a:latin typeface="Cantarell" panose="02000603000000000000" pitchFamily="2" charset="0"/>
              </a:rPr>
              <a:t>Some Examples/Demos</a:t>
            </a:r>
          </a:p>
        </p:txBody>
      </p:sp>
      <p:sp>
        <p:nvSpPr>
          <p:cNvPr id="3" name="Content Placeholder 2">
            <a:extLst>
              <a:ext uri="{FF2B5EF4-FFF2-40B4-BE49-F238E27FC236}">
                <a16:creationId xmlns:a16="http://schemas.microsoft.com/office/drawing/2014/main" id="{0F4D4696-9270-47C9-1388-B0BA73C1EA3F}"/>
              </a:ext>
            </a:extLst>
          </p:cNvPr>
          <p:cNvSpPr>
            <a:spLocks noGrp="1"/>
          </p:cNvSpPr>
          <p:nvPr>
            <p:ph idx="1"/>
          </p:nvPr>
        </p:nvSpPr>
        <p:spPr/>
        <p:txBody>
          <a:bodyPr>
            <a:normAutofit/>
          </a:bodyPr>
          <a:lstStyle/>
          <a:p>
            <a:r>
              <a:rPr lang="en-NL" dirty="0"/>
              <a:t>From my own course (Research Methods &amp; Statistics)</a:t>
            </a:r>
          </a:p>
          <a:p>
            <a:pPr lvl="1"/>
            <a:r>
              <a:rPr lang="en-GB" dirty="0">
                <a:hlinkClick r:id="rId2"/>
              </a:rPr>
              <a:t>https://johnnydoorn.github.io/IntroductionBayesianInference/06-exercises.html</a:t>
            </a:r>
            <a:endParaRPr lang="en-GB" dirty="0"/>
          </a:p>
          <a:p>
            <a:endParaRPr lang="en-GB" dirty="0"/>
          </a:p>
          <a:p>
            <a:r>
              <a:rPr lang="en-GB" dirty="0"/>
              <a:t>OSF integration</a:t>
            </a:r>
          </a:p>
          <a:p>
            <a:pPr lvl="1"/>
            <a:r>
              <a:rPr lang="en-GB" dirty="0">
                <a:hlinkClick r:id="rId3"/>
              </a:rPr>
              <a:t>https://osf.io/u2e9d/files/osfstorage</a:t>
            </a:r>
            <a:r>
              <a:rPr lang="en-GB" dirty="0"/>
              <a:t> </a:t>
            </a:r>
          </a:p>
          <a:p>
            <a:pPr marL="0" indent="0">
              <a:buNone/>
            </a:pPr>
            <a:endParaRPr lang="en-GB" dirty="0">
              <a:hlinkClick r:id="rId4"/>
            </a:endParaRPr>
          </a:p>
          <a:p>
            <a:r>
              <a:rPr lang="en-GB" dirty="0"/>
              <a:t>Discover JASP</a:t>
            </a:r>
          </a:p>
          <a:p>
            <a:pPr lvl="1"/>
            <a:r>
              <a:rPr lang="en-GB" dirty="0">
                <a:hlinkClick r:id="rId5"/>
              </a:rPr>
              <a:t>https://discoverjasp.com/</a:t>
            </a:r>
            <a:r>
              <a:rPr lang="en-GB" dirty="0"/>
              <a:t> </a:t>
            </a:r>
          </a:p>
          <a:p>
            <a:endParaRPr lang="en-GB" dirty="0"/>
          </a:p>
          <a:p>
            <a:pPr lvl="1"/>
            <a:endParaRPr lang="en-GB" dirty="0"/>
          </a:p>
          <a:p>
            <a:pPr lvl="1"/>
            <a:endParaRPr lang="en-NL" dirty="0"/>
          </a:p>
        </p:txBody>
      </p:sp>
    </p:spTree>
    <p:extLst>
      <p:ext uri="{BB962C8B-B14F-4D97-AF65-F5344CB8AC3E}">
        <p14:creationId xmlns:p14="http://schemas.microsoft.com/office/powerpoint/2010/main" val="1267311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4810712" y="2636912"/>
            <a:ext cx="2930938" cy="936104"/>
            <a:chOff x="3335486" y="2677568"/>
            <a:chExt cx="2930938" cy="936104"/>
          </a:xfrm>
        </p:grpSpPr>
        <p:pic>
          <p:nvPicPr>
            <p:cNvPr id="13" name="Picture 12"/>
            <p:cNvPicPr>
              <a:picLocks noChangeAspect="1"/>
            </p:cNvPicPr>
            <p:nvPr/>
          </p:nvPicPr>
          <p:blipFill>
            <a:blip r:embed="rId2"/>
            <a:stretch>
              <a:fillRect/>
            </a:stretch>
          </p:blipFill>
          <p:spPr>
            <a:xfrm>
              <a:off x="3335486" y="2805650"/>
              <a:ext cx="588442" cy="594636"/>
            </a:xfrm>
            <a:prstGeom prst="rect">
              <a:avLst/>
            </a:prstGeom>
          </p:spPr>
        </p:pic>
        <p:sp>
          <p:nvSpPr>
            <p:cNvPr id="14" name="Text Box 1"/>
            <p:cNvSpPr txBox="1">
              <a:spLocks noChangeArrowheads="1"/>
            </p:cNvSpPr>
            <p:nvPr/>
          </p:nvSpPr>
          <p:spPr bwMode="auto">
            <a:xfrm>
              <a:off x="3851920" y="2677568"/>
              <a:ext cx="2414504" cy="936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5pPr>
              <a:lvl6pPr marL="25146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6pPr>
              <a:lvl7pPr marL="29718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7pPr>
              <a:lvl8pPr marL="34290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8pPr>
              <a:lvl9pPr marL="38862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9pPr>
            </a:lstStyle>
            <a:p>
              <a:pPr algn="ctr">
                <a:lnSpc>
                  <a:spcPct val="85000"/>
                </a:lnSpc>
                <a:buClrTx/>
                <a:buFontTx/>
                <a:buNone/>
              </a:pPr>
              <a:r>
                <a:rPr lang="en-US" altLang="x-none" sz="5200" b="1" dirty="0">
                  <a:solidFill>
                    <a:srgbClr val="8CC63E"/>
                  </a:solidFill>
                  <a:latin typeface="Helvetica" charset="0"/>
                  <a:ea typeface="Helvetica" charset="0"/>
                  <a:cs typeface="Helvetica" charset="0"/>
                </a:rPr>
                <a:t>JASP</a:t>
              </a:r>
            </a:p>
          </p:txBody>
        </p:sp>
        <p:sp>
          <p:nvSpPr>
            <p:cNvPr id="15" name="Rectangle 14"/>
            <p:cNvSpPr/>
            <p:nvPr/>
          </p:nvSpPr>
          <p:spPr bwMode="auto">
            <a:xfrm>
              <a:off x="4067944" y="2805650"/>
              <a:ext cx="28800" cy="594636"/>
            </a:xfrm>
            <a:prstGeom prst="rect">
              <a:avLst/>
            </a:prstGeom>
            <a:solidFill>
              <a:schemeClr val="tx1">
                <a:lumMod val="50000"/>
                <a:lumOff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grpSp>
    </p:spTree>
    <p:extLst>
      <p:ext uri="{BB962C8B-B14F-4D97-AF65-F5344CB8AC3E}">
        <p14:creationId xmlns:p14="http://schemas.microsoft.com/office/powerpoint/2010/main" val="689743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Management</a:t>
            </a:r>
          </a:p>
        </p:txBody>
      </p:sp>
      <p:sp>
        <p:nvSpPr>
          <p:cNvPr id="11" name="Content Placeholder 10">
            <a:extLst>
              <a:ext uri="{FF2B5EF4-FFF2-40B4-BE49-F238E27FC236}">
                <a16:creationId xmlns:a16="http://schemas.microsoft.com/office/drawing/2014/main" id="{1508BB00-E58F-47C8-9E9D-1ABA6DCBB6E4}"/>
              </a:ext>
            </a:extLst>
          </p:cNvPr>
          <p:cNvSpPr>
            <a:spLocks noGrp="1"/>
          </p:cNvSpPr>
          <p:nvPr>
            <p:ph idx="1"/>
          </p:nvPr>
        </p:nvSpPr>
        <p:spPr>
          <a:xfrm>
            <a:off x="2152650" y="2020389"/>
            <a:ext cx="7886700" cy="792249"/>
          </a:xfrm>
        </p:spPr>
        <p:txBody>
          <a:bodyPr/>
          <a:lstStyle/>
          <a:p>
            <a:pPr algn="ctr"/>
            <a:r>
              <a:rPr lang="en-US" dirty="0"/>
              <a:t>The JASP data editor for the Metallica data</a:t>
            </a:r>
          </a:p>
        </p:txBody>
      </p:sp>
      <p:pic>
        <p:nvPicPr>
          <p:cNvPr id="5" name="Picture 4" descr="A screenshot of a music tab&#10;&#10;AI-generated content may be incorrect.">
            <a:extLst>
              <a:ext uri="{FF2B5EF4-FFF2-40B4-BE49-F238E27FC236}">
                <a16:creationId xmlns:a16="http://schemas.microsoft.com/office/drawing/2014/main" id="{8FBC0EC6-2CA4-1F28-D015-203DFA75B322}"/>
              </a:ext>
            </a:extLst>
          </p:cNvPr>
          <p:cNvPicPr>
            <a:picLocks noChangeAspect="1"/>
          </p:cNvPicPr>
          <p:nvPr/>
        </p:nvPicPr>
        <p:blipFill>
          <a:blip r:embed="rId2"/>
          <a:stretch>
            <a:fillRect/>
          </a:stretch>
        </p:blipFill>
        <p:spPr>
          <a:xfrm>
            <a:off x="2571750" y="2708920"/>
            <a:ext cx="7772400" cy="338885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Variable View</a:t>
            </a:r>
          </a:p>
        </p:txBody>
      </p:sp>
      <p:sp>
        <p:nvSpPr>
          <p:cNvPr id="11" name="Content Placeholder 10">
            <a:extLst>
              <a:ext uri="{FF2B5EF4-FFF2-40B4-BE49-F238E27FC236}">
                <a16:creationId xmlns:a16="http://schemas.microsoft.com/office/drawing/2014/main" id="{8CB91E0F-EA1B-4C5B-9EA3-5A6E24D646E4}"/>
              </a:ext>
            </a:extLst>
          </p:cNvPr>
          <p:cNvSpPr>
            <a:spLocks noGrp="1"/>
          </p:cNvSpPr>
          <p:nvPr>
            <p:ph idx="1"/>
          </p:nvPr>
        </p:nvSpPr>
        <p:spPr>
          <a:xfrm>
            <a:off x="2152650" y="2020389"/>
            <a:ext cx="7886700" cy="731201"/>
          </a:xfrm>
        </p:spPr>
        <p:txBody>
          <a:bodyPr/>
          <a:lstStyle/>
          <a:p>
            <a:pPr algn="ctr"/>
            <a:r>
              <a:rPr lang="en-US" dirty="0"/>
              <a:t>Figure 4.6 The variable settings for ‘Name’</a:t>
            </a:r>
          </a:p>
        </p:txBody>
      </p:sp>
      <p:sp>
        <p:nvSpPr>
          <p:cNvPr id="7" name="Slide Number Placeholder 6">
            <a:extLst>
              <a:ext uri="{FF2B5EF4-FFF2-40B4-BE49-F238E27FC236}">
                <a16:creationId xmlns:a16="http://schemas.microsoft.com/office/drawing/2014/main" id="{C3707CB0-185D-4F06-9880-07BE369F36E3}"/>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14</a:t>
            </a:fld>
            <a:endParaRPr lang="en-US" dirty="0"/>
          </a:p>
        </p:txBody>
      </p:sp>
      <p:pic>
        <p:nvPicPr>
          <p:cNvPr id="4" name="Picture 3" descr="Variable settings for the Name variable in the Metallica data set. First box is for entering the name of the variable, below you can select the type of variable (set to nominal here), below that you can choose how the variable is defined (computed or not). The box in the top right has room for a long variable name, which can be more descriptive. &#10;&#10;In the box below, the labels of the variable are given, which in this case are the names of the metallica band members. ">
            <a:extLst>
              <a:ext uri="{FF2B5EF4-FFF2-40B4-BE49-F238E27FC236}">
                <a16:creationId xmlns:a16="http://schemas.microsoft.com/office/drawing/2014/main" id="{A6A81A09-54D7-530D-9C98-D3D1ECB30633}"/>
              </a:ext>
            </a:extLst>
          </p:cNvPr>
          <p:cNvPicPr>
            <a:picLocks noChangeAspect="1"/>
          </p:cNvPicPr>
          <p:nvPr/>
        </p:nvPicPr>
        <p:blipFill rotWithShape="1">
          <a:blip r:embed="rId2">
            <a:extLst>
              <a:ext uri="{28A0092B-C50C-407E-A947-70E740481C1C}">
                <a14:useLocalDpi xmlns:a14="http://schemas.microsoft.com/office/drawing/2010/main" val="0"/>
              </a:ext>
            </a:extLst>
          </a:blip>
          <a:srcRect b="16039"/>
          <a:stretch/>
        </p:blipFill>
        <p:spPr>
          <a:xfrm>
            <a:off x="2209800" y="2508116"/>
            <a:ext cx="7772400" cy="40917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Variable Types</a:t>
            </a:r>
          </a:p>
        </p:txBody>
      </p:sp>
      <p:sp>
        <p:nvSpPr>
          <p:cNvPr id="3" name="Content Placeholder 2"/>
          <p:cNvSpPr>
            <a:spLocks noGrp="1"/>
          </p:cNvSpPr>
          <p:nvPr>
            <p:ph idx="1"/>
          </p:nvPr>
        </p:nvSpPr>
        <p:spPr/>
        <p:txBody>
          <a:bodyPr/>
          <a:lstStyle/>
          <a:p>
            <a:r>
              <a:rPr lang="en-GB" dirty="0"/>
              <a:t>Scale</a:t>
            </a:r>
          </a:p>
          <a:p>
            <a:pPr lvl="1"/>
            <a:r>
              <a:rPr lang="en-GB" dirty="0"/>
              <a:t>Numbers (e.g., 7, 0, 120, 8.5)</a:t>
            </a:r>
          </a:p>
          <a:p>
            <a:r>
              <a:rPr lang="en-GB" dirty="0"/>
              <a:t>Nominal </a:t>
            </a:r>
          </a:p>
          <a:p>
            <a:pPr lvl="1"/>
            <a:r>
              <a:rPr lang="en-GB" dirty="0"/>
              <a:t>Categories (e.g., ‘Control group’, ‘Experimental group’)</a:t>
            </a:r>
          </a:p>
          <a:p>
            <a:r>
              <a:rPr lang="en-GB" dirty="0"/>
              <a:t>Ordinal</a:t>
            </a:r>
          </a:p>
          <a:p>
            <a:pPr lvl="1"/>
            <a:r>
              <a:rPr lang="en-GB" dirty="0"/>
              <a:t>Ordered values (e.g., ‘Dislike’, ‘Neutral’, ‘Like’)</a:t>
            </a:r>
          </a:p>
        </p:txBody>
      </p:sp>
      <p:pic>
        <p:nvPicPr>
          <p:cNvPr id="4" name="Picture 3">
            <a:extLst>
              <a:ext uri="{FF2B5EF4-FFF2-40B4-BE49-F238E27FC236}">
                <a16:creationId xmlns:a16="http://schemas.microsoft.com/office/drawing/2014/main" id="{44145263-46FF-2897-98C7-3BCABD49BB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81995" y="2652162"/>
            <a:ext cx="381000" cy="381000"/>
          </a:xfrm>
          <a:prstGeom prst="rect">
            <a:avLst/>
          </a:prstGeom>
        </p:spPr>
      </p:pic>
      <p:pic>
        <p:nvPicPr>
          <p:cNvPr id="5" name="Picture 4">
            <a:extLst>
              <a:ext uri="{FF2B5EF4-FFF2-40B4-BE49-F238E27FC236}">
                <a16:creationId xmlns:a16="http://schemas.microsoft.com/office/drawing/2014/main" id="{F5263BFC-95EA-2D28-5032-702268DE24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83632" y="3499569"/>
            <a:ext cx="381000" cy="381000"/>
          </a:xfrm>
          <a:prstGeom prst="rect">
            <a:avLst/>
          </a:prstGeom>
        </p:spPr>
      </p:pic>
      <p:pic>
        <p:nvPicPr>
          <p:cNvPr id="6" name="Picture 5">
            <a:extLst>
              <a:ext uri="{FF2B5EF4-FFF2-40B4-BE49-F238E27FC236}">
                <a16:creationId xmlns:a16="http://schemas.microsoft.com/office/drawing/2014/main" id="{5BC90BEC-8B85-5355-EBCB-F489D38C207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2556505" y="1797818"/>
            <a:ext cx="380999" cy="381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Variable Settings</a:t>
            </a:r>
          </a:p>
        </p:txBody>
      </p:sp>
      <p:sp>
        <p:nvSpPr>
          <p:cNvPr id="9" name="Content Placeholder 8">
            <a:extLst>
              <a:ext uri="{FF2B5EF4-FFF2-40B4-BE49-F238E27FC236}">
                <a16:creationId xmlns:a16="http://schemas.microsoft.com/office/drawing/2014/main" id="{C61607E4-68CF-4DB2-B4C0-4145D5259A35}"/>
              </a:ext>
            </a:extLst>
          </p:cNvPr>
          <p:cNvSpPr>
            <a:spLocks noGrp="1"/>
          </p:cNvSpPr>
          <p:nvPr>
            <p:ph idx="1"/>
          </p:nvPr>
        </p:nvSpPr>
        <p:spPr>
          <a:xfrm>
            <a:off x="2152650" y="2020388"/>
            <a:ext cx="8263830" cy="840258"/>
          </a:xfrm>
        </p:spPr>
        <p:txBody>
          <a:bodyPr/>
          <a:lstStyle/>
          <a:p>
            <a:pPr algn="ctr"/>
            <a:r>
              <a:rPr lang="en-US" dirty="0"/>
              <a:t>Figure 4.7 Specifying the values for an ordinal variable</a:t>
            </a:r>
          </a:p>
        </p:txBody>
      </p:sp>
      <p:pic>
        <p:nvPicPr>
          <p:cNvPr id="3" name="Picture 2" descr="Variable settings for an ordinal variable, similar to the settings for a nominal variable. Here, the levels have an intrinsic meaning (light, moderate, heavy) and we make sure that they have corresponding values, 1,2,3.">
            <a:extLst>
              <a:ext uri="{FF2B5EF4-FFF2-40B4-BE49-F238E27FC236}">
                <a16:creationId xmlns:a16="http://schemas.microsoft.com/office/drawing/2014/main" id="{D9038588-C827-210D-C081-CD5DD9F54EC2}"/>
              </a:ext>
            </a:extLst>
          </p:cNvPr>
          <p:cNvPicPr>
            <a:picLocks noChangeAspect="1"/>
          </p:cNvPicPr>
          <p:nvPr/>
        </p:nvPicPr>
        <p:blipFill>
          <a:blip r:embed="rId2"/>
          <a:stretch>
            <a:fillRect/>
          </a:stretch>
        </p:blipFill>
        <p:spPr>
          <a:xfrm>
            <a:off x="4266301" y="2598016"/>
            <a:ext cx="3659399" cy="38328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Computing a New Variable</a:t>
            </a:r>
          </a:p>
        </p:txBody>
      </p:sp>
      <p:sp>
        <p:nvSpPr>
          <p:cNvPr id="9" name="Content Placeholder 8">
            <a:extLst>
              <a:ext uri="{FF2B5EF4-FFF2-40B4-BE49-F238E27FC236}">
                <a16:creationId xmlns:a16="http://schemas.microsoft.com/office/drawing/2014/main" id="{C61607E4-68CF-4DB2-B4C0-4145D5259A35}"/>
              </a:ext>
            </a:extLst>
          </p:cNvPr>
          <p:cNvSpPr>
            <a:spLocks noGrp="1"/>
          </p:cNvSpPr>
          <p:nvPr>
            <p:ph idx="1"/>
          </p:nvPr>
        </p:nvSpPr>
        <p:spPr>
          <a:xfrm>
            <a:off x="2152650" y="2020388"/>
            <a:ext cx="7886700" cy="840258"/>
          </a:xfrm>
        </p:spPr>
        <p:txBody>
          <a:bodyPr/>
          <a:lstStyle/>
          <a:p>
            <a:pPr algn="ctr"/>
            <a:r>
              <a:rPr lang="en-US" dirty="0"/>
              <a:t>Figure 4.8 The drag and drop interface for computing a new variable</a:t>
            </a:r>
          </a:p>
        </p:txBody>
      </p:sp>
      <p:pic>
        <p:nvPicPr>
          <p:cNvPr id="4" name="Picture 3" descr="The compute column interface, used for computing a new variable. On the left, available variables are listed. In the middle you specify the operation for creating a new variable - here that is taking the variable Net worth and dividing it by the variable Songs. At the top, various operators are provided, such as addition, minus, and division. On the right, more operators are provided, such as taking the absolute value and standard deviation.">
            <a:extLst>
              <a:ext uri="{FF2B5EF4-FFF2-40B4-BE49-F238E27FC236}">
                <a16:creationId xmlns:a16="http://schemas.microsoft.com/office/drawing/2014/main" id="{BD9AC83C-7F41-1F2B-C4D9-97AC8531629A}"/>
              </a:ext>
            </a:extLst>
          </p:cNvPr>
          <p:cNvPicPr>
            <a:picLocks noChangeAspect="1"/>
          </p:cNvPicPr>
          <p:nvPr/>
        </p:nvPicPr>
        <p:blipFill>
          <a:blip r:embed="rId2"/>
          <a:stretch>
            <a:fillRect/>
          </a:stretch>
        </p:blipFill>
        <p:spPr>
          <a:xfrm>
            <a:off x="1781849" y="2860646"/>
            <a:ext cx="8628302" cy="1888278"/>
          </a:xfrm>
          <a:prstGeom prst="rect">
            <a:avLst/>
          </a:prstGeom>
        </p:spPr>
      </p:pic>
      <p:pic>
        <p:nvPicPr>
          <p:cNvPr id="3" name="Picture 2" descr="A blue circle with a letter i in it&#10;&#10;AI-generated content may be incorrect.">
            <a:extLst>
              <a:ext uri="{FF2B5EF4-FFF2-40B4-BE49-F238E27FC236}">
                <a16:creationId xmlns:a16="http://schemas.microsoft.com/office/drawing/2014/main" id="{0E5C77C4-AE20-4819-DA6F-51F6DE742268}"/>
              </a:ext>
            </a:extLst>
          </p:cNvPr>
          <p:cNvPicPr>
            <a:picLocks noChangeAspect="1"/>
          </p:cNvPicPr>
          <p:nvPr/>
        </p:nvPicPr>
        <p:blipFill>
          <a:blip r:embed="rId3"/>
          <a:stretch>
            <a:fillRect/>
          </a:stretch>
        </p:blipFill>
        <p:spPr>
          <a:xfrm>
            <a:off x="10920536" y="5589240"/>
            <a:ext cx="1170487" cy="1170487"/>
          </a:xfrm>
          <a:prstGeom prst="rect">
            <a:avLst/>
          </a:prstGeom>
        </p:spPr>
      </p:pic>
    </p:spTree>
    <p:extLst>
      <p:ext uri="{BB962C8B-B14F-4D97-AF65-F5344CB8AC3E}">
        <p14:creationId xmlns:p14="http://schemas.microsoft.com/office/powerpoint/2010/main" val="235652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17E43E-ED54-ABF4-25B9-B353B688E7ED}"/>
              </a:ext>
            </a:extLst>
          </p:cNvPr>
          <p:cNvSpPr>
            <a:spLocks noGrp="1"/>
          </p:cNvSpPr>
          <p:nvPr>
            <p:ph type="title"/>
          </p:nvPr>
        </p:nvSpPr>
        <p:spPr/>
        <p:txBody>
          <a:bodyPr/>
          <a:lstStyle/>
          <a:p>
            <a:r>
              <a:rPr lang="en-NL" dirty="0"/>
              <a:t>Filtering Data</a:t>
            </a:r>
          </a:p>
        </p:txBody>
      </p:sp>
      <p:sp>
        <p:nvSpPr>
          <p:cNvPr id="5" name="Content Placeholder 4">
            <a:extLst>
              <a:ext uri="{FF2B5EF4-FFF2-40B4-BE49-F238E27FC236}">
                <a16:creationId xmlns:a16="http://schemas.microsoft.com/office/drawing/2014/main" id="{85BF594D-F4C7-08B2-0BAA-B12F5F55EAA4}"/>
              </a:ext>
            </a:extLst>
          </p:cNvPr>
          <p:cNvSpPr>
            <a:spLocks noGrp="1"/>
          </p:cNvSpPr>
          <p:nvPr>
            <p:ph idx="1"/>
          </p:nvPr>
        </p:nvSpPr>
        <p:spPr/>
        <p:txBody>
          <a:bodyPr/>
          <a:lstStyle/>
          <a:p>
            <a:pPr marL="457200" indent="-457200">
              <a:buFont typeface="Arial" panose="020B0604020202020204" pitchFamily="34" charset="0"/>
              <a:buChar char="•"/>
            </a:pPr>
            <a:r>
              <a:rPr lang="en-NL" dirty="0"/>
              <a:t>Using Variable Settings</a:t>
            </a:r>
          </a:p>
          <a:p>
            <a:pPr marL="457200" indent="-457200">
              <a:buFont typeface="Arial" panose="020B0604020202020204" pitchFamily="34" charset="0"/>
              <a:buChar char="•"/>
            </a:pPr>
            <a:r>
              <a:rPr lang="en-NL" dirty="0"/>
              <a:t>Using the Filter functionality</a:t>
            </a:r>
          </a:p>
          <a:p>
            <a:pPr marL="1257300" lvl="1" indent="-457200">
              <a:buFont typeface="Arial" panose="020B0604020202020204" pitchFamily="34" charset="0"/>
              <a:buChar char="•"/>
            </a:pPr>
            <a:r>
              <a:rPr lang="en-NL" dirty="0"/>
              <a:t>Drag and drop</a:t>
            </a:r>
          </a:p>
          <a:p>
            <a:pPr marL="1257300" lvl="1" indent="-457200">
              <a:buFont typeface="Arial" panose="020B0604020202020204" pitchFamily="34" charset="0"/>
              <a:buChar char="•"/>
            </a:pPr>
            <a:endParaRPr lang="en-NL" dirty="0"/>
          </a:p>
          <a:p>
            <a:pPr marL="1257300" lvl="1" indent="-457200">
              <a:buFont typeface="Arial" panose="020B0604020202020204" pitchFamily="34" charset="0"/>
              <a:buChar char="•"/>
            </a:pPr>
            <a:endParaRPr lang="en-NL" dirty="0"/>
          </a:p>
          <a:p>
            <a:pPr marL="1257300" lvl="1" indent="-457200">
              <a:buFont typeface="Arial" panose="020B0604020202020204" pitchFamily="34" charset="0"/>
              <a:buChar char="•"/>
            </a:pPr>
            <a:endParaRPr lang="en-NL" dirty="0"/>
          </a:p>
          <a:p>
            <a:pPr marL="1257300" lvl="1" indent="-457200">
              <a:buFont typeface="Arial" panose="020B0604020202020204" pitchFamily="34" charset="0"/>
              <a:buChar char="•"/>
            </a:pPr>
            <a:r>
              <a:rPr lang="en-NL" dirty="0"/>
              <a:t>R-mode</a:t>
            </a:r>
          </a:p>
        </p:txBody>
      </p:sp>
      <p:pic>
        <p:nvPicPr>
          <p:cNvPr id="7" name="Picture 6" descr="A black and white image of a funnel&#10;&#10;AI-generated content may be incorrect.">
            <a:extLst>
              <a:ext uri="{FF2B5EF4-FFF2-40B4-BE49-F238E27FC236}">
                <a16:creationId xmlns:a16="http://schemas.microsoft.com/office/drawing/2014/main" id="{03A97449-07D6-52AA-84C7-85FA45328853}"/>
              </a:ext>
            </a:extLst>
          </p:cNvPr>
          <p:cNvPicPr>
            <a:picLocks noChangeAspect="1"/>
          </p:cNvPicPr>
          <p:nvPr/>
        </p:nvPicPr>
        <p:blipFill>
          <a:blip r:embed="rId2"/>
          <a:stretch>
            <a:fillRect/>
          </a:stretch>
        </p:blipFill>
        <p:spPr>
          <a:xfrm>
            <a:off x="6168008" y="2204864"/>
            <a:ext cx="631258" cy="631258"/>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A072AD9C-7AF4-5C1B-AF54-F6C379CAA325}"/>
              </a:ext>
            </a:extLst>
          </p:cNvPr>
          <p:cNvPicPr>
            <a:picLocks noChangeAspect="1"/>
          </p:cNvPicPr>
          <p:nvPr/>
        </p:nvPicPr>
        <p:blipFill>
          <a:blip r:embed="rId3"/>
          <a:stretch>
            <a:fillRect/>
          </a:stretch>
        </p:blipFill>
        <p:spPr>
          <a:xfrm>
            <a:off x="2281808" y="3239766"/>
            <a:ext cx="7772400" cy="1017439"/>
          </a:xfrm>
          <a:prstGeom prst="rect">
            <a:avLst/>
          </a:prstGeom>
        </p:spPr>
      </p:pic>
      <p:pic>
        <p:nvPicPr>
          <p:cNvPr id="13" name="Picture 12">
            <a:extLst>
              <a:ext uri="{FF2B5EF4-FFF2-40B4-BE49-F238E27FC236}">
                <a16:creationId xmlns:a16="http://schemas.microsoft.com/office/drawing/2014/main" id="{E616FD56-957E-0A23-28C0-DAC3BBB1ED1F}"/>
              </a:ext>
            </a:extLst>
          </p:cNvPr>
          <p:cNvPicPr>
            <a:picLocks noChangeAspect="1"/>
          </p:cNvPicPr>
          <p:nvPr/>
        </p:nvPicPr>
        <p:blipFill>
          <a:blip r:embed="rId4"/>
          <a:stretch>
            <a:fillRect/>
          </a:stretch>
        </p:blipFill>
        <p:spPr>
          <a:xfrm>
            <a:off x="2281808" y="5157192"/>
            <a:ext cx="7772400" cy="508719"/>
          </a:xfrm>
          <a:prstGeom prst="rect">
            <a:avLst/>
          </a:prstGeom>
        </p:spPr>
      </p:pic>
    </p:spTree>
    <p:extLst>
      <p:ext uri="{BB962C8B-B14F-4D97-AF65-F5344CB8AC3E}">
        <p14:creationId xmlns:p14="http://schemas.microsoft.com/office/powerpoint/2010/main" val="3500344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Descriptives</a:t>
            </a:r>
          </a:p>
        </p:txBody>
      </p:sp>
      <p:sp>
        <p:nvSpPr>
          <p:cNvPr id="11" name="Content Placeholder 10">
            <a:extLst>
              <a:ext uri="{FF2B5EF4-FFF2-40B4-BE49-F238E27FC236}">
                <a16:creationId xmlns:a16="http://schemas.microsoft.com/office/drawing/2014/main" id="{AC5133D2-9063-4FAD-8BB4-9D883DB78044}"/>
              </a:ext>
            </a:extLst>
          </p:cNvPr>
          <p:cNvSpPr>
            <a:spLocks noGrp="1"/>
          </p:cNvSpPr>
          <p:nvPr>
            <p:ph idx="1"/>
          </p:nvPr>
        </p:nvSpPr>
        <p:spPr>
          <a:xfrm>
            <a:off x="2152650" y="2020389"/>
            <a:ext cx="8191822" cy="848647"/>
          </a:xfrm>
        </p:spPr>
        <p:txBody>
          <a:bodyPr/>
          <a:lstStyle/>
          <a:p>
            <a:pPr algn="ctr"/>
            <a:r>
              <a:rPr lang="en-US" dirty="0"/>
              <a:t>Figure 4.10 Input window for the Descriptives module</a:t>
            </a:r>
          </a:p>
        </p:txBody>
      </p:sp>
      <p:pic>
        <p:nvPicPr>
          <p:cNvPr id="5" name="Picture 4" descr="Example of input window in JASP, for descriptive statistics. On the left, the box with available variables is provided, on the right there are the variables for which we want to compute descriptive statistics. Here, Songs and Headbanging intensity are specified. The split variable box is left empty. ">
            <a:extLst>
              <a:ext uri="{FF2B5EF4-FFF2-40B4-BE49-F238E27FC236}">
                <a16:creationId xmlns:a16="http://schemas.microsoft.com/office/drawing/2014/main" id="{1E49D4DF-6732-8134-7D1E-5B58F513E8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289" y="2655123"/>
            <a:ext cx="5079423" cy="388379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Output Window in JASP</a:t>
            </a:r>
          </a:p>
        </p:txBody>
      </p:sp>
      <p:sp>
        <p:nvSpPr>
          <p:cNvPr id="11" name="Content Placeholder 10">
            <a:extLst>
              <a:ext uri="{FF2B5EF4-FFF2-40B4-BE49-F238E27FC236}">
                <a16:creationId xmlns:a16="http://schemas.microsoft.com/office/drawing/2014/main" id="{AC5133D2-9063-4FAD-8BB4-9D883DB78044}"/>
              </a:ext>
            </a:extLst>
          </p:cNvPr>
          <p:cNvSpPr>
            <a:spLocks noGrp="1"/>
          </p:cNvSpPr>
          <p:nvPr>
            <p:ph idx="1"/>
          </p:nvPr>
        </p:nvSpPr>
        <p:spPr>
          <a:xfrm>
            <a:off x="2152650" y="2020389"/>
            <a:ext cx="7886700" cy="848647"/>
          </a:xfrm>
        </p:spPr>
        <p:txBody>
          <a:bodyPr/>
          <a:lstStyle/>
          <a:p>
            <a:pPr algn="ctr"/>
            <a:r>
              <a:rPr lang="en-US" dirty="0"/>
              <a:t>Figure 4.11 Example of annotated output</a:t>
            </a:r>
          </a:p>
        </p:txBody>
      </p:sp>
      <p:pic>
        <p:nvPicPr>
          <p:cNvPr id="4" name="Picture 3" descr="Example of JASP output for the descriptives module. Two distribution plots are provided, one for Instrument (1 drums, 3 guitar, 3 bass) and one for Current member (4 yes, 3 no). The output is annotated to highlight the possibilities - what is included here is latex input, a hyperlink to a youtube video, and an image of a drumkit.">
            <a:extLst>
              <a:ext uri="{FF2B5EF4-FFF2-40B4-BE49-F238E27FC236}">
                <a16:creationId xmlns:a16="http://schemas.microsoft.com/office/drawing/2014/main" id="{ABADE9D9-0F7B-3E1B-8D77-EB28DAD878D5}"/>
              </a:ext>
            </a:extLst>
          </p:cNvPr>
          <p:cNvPicPr>
            <a:picLocks noChangeAspect="1"/>
          </p:cNvPicPr>
          <p:nvPr/>
        </p:nvPicPr>
        <p:blipFill>
          <a:blip r:embed="rId2"/>
          <a:stretch>
            <a:fillRect/>
          </a:stretch>
        </p:blipFill>
        <p:spPr>
          <a:xfrm>
            <a:off x="2650014" y="2543747"/>
            <a:ext cx="6891972" cy="3995168"/>
          </a:xfrm>
          <a:prstGeom prst="rect">
            <a:avLst/>
          </a:prstGeom>
        </p:spPr>
      </p:pic>
    </p:spTree>
    <p:extLst>
      <p:ext uri="{BB962C8B-B14F-4D97-AF65-F5344CB8AC3E}">
        <p14:creationId xmlns:p14="http://schemas.microsoft.com/office/powerpoint/2010/main" val="2107835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8018C22-1D7C-27B2-8E05-06184EE4C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9EBB3B-686D-1027-BF74-AE0A547E6FBD}"/>
              </a:ext>
            </a:extLst>
          </p:cNvPr>
          <p:cNvSpPr>
            <a:spLocks noGrp="1"/>
          </p:cNvSpPr>
          <p:nvPr>
            <p:ph type="title"/>
          </p:nvPr>
        </p:nvSpPr>
        <p:spPr>
          <a:xfrm>
            <a:off x="2640014" y="116633"/>
            <a:ext cx="6803987" cy="1170487"/>
          </a:xfrm>
        </p:spPr>
        <p:txBody>
          <a:bodyPr/>
          <a:lstStyle/>
          <a:p>
            <a:r>
              <a:rPr lang="en-US" altLang="x-none" dirty="0"/>
              <a:t>Visualization</a:t>
            </a:r>
            <a:endParaRPr lang="en-US" dirty="0"/>
          </a:p>
        </p:txBody>
      </p:sp>
      <p:sp>
        <p:nvSpPr>
          <p:cNvPr id="3" name="Content Placeholder 2">
            <a:extLst>
              <a:ext uri="{FF2B5EF4-FFF2-40B4-BE49-F238E27FC236}">
                <a16:creationId xmlns:a16="http://schemas.microsoft.com/office/drawing/2014/main" id="{EBB9B09B-5477-A4F7-5353-F23794399BD6}"/>
              </a:ext>
            </a:extLst>
          </p:cNvPr>
          <p:cNvSpPr>
            <a:spLocks noGrp="1"/>
          </p:cNvSpPr>
          <p:nvPr>
            <p:ph idx="1"/>
          </p:nvPr>
        </p:nvSpPr>
        <p:spPr/>
        <p:txBody>
          <a:bodyPr/>
          <a:lstStyle/>
          <a:p>
            <a:endParaRPr lang="en-US" altLang="x-none" dirty="0"/>
          </a:p>
        </p:txBody>
      </p:sp>
    </p:spTree>
    <p:extLst>
      <p:ext uri="{BB962C8B-B14F-4D97-AF65-F5344CB8AC3E}">
        <p14:creationId xmlns:p14="http://schemas.microsoft.com/office/powerpoint/2010/main" val="2427116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B10949D-2D6B-88C2-BD65-10F332C28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3B3C9-0238-486F-38A0-9DD3A9A9F50E}"/>
              </a:ext>
            </a:extLst>
          </p:cNvPr>
          <p:cNvSpPr>
            <a:spLocks noGrp="1"/>
          </p:cNvSpPr>
          <p:nvPr>
            <p:ph type="title"/>
          </p:nvPr>
        </p:nvSpPr>
        <p:spPr>
          <a:xfrm>
            <a:off x="2640014" y="116633"/>
            <a:ext cx="6803987" cy="1170487"/>
          </a:xfrm>
        </p:spPr>
        <p:txBody>
          <a:bodyPr/>
          <a:lstStyle/>
          <a:p>
            <a:r>
              <a:rPr lang="en-US" altLang="x-none" dirty="0"/>
              <a:t>Correlation</a:t>
            </a:r>
            <a:endParaRPr lang="en-US" dirty="0"/>
          </a:p>
        </p:txBody>
      </p:sp>
      <p:sp>
        <p:nvSpPr>
          <p:cNvPr id="3" name="Content Placeholder 2">
            <a:extLst>
              <a:ext uri="{FF2B5EF4-FFF2-40B4-BE49-F238E27FC236}">
                <a16:creationId xmlns:a16="http://schemas.microsoft.com/office/drawing/2014/main" id="{4387AD73-D988-8B5C-1523-89D4A8EC1550}"/>
              </a:ext>
            </a:extLst>
          </p:cNvPr>
          <p:cNvSpPr>
            <a:spLocks noGrp="1"/>
          </p:cNvSpPr>
          <p:nvPr>
            <p:ph idx="1"/>
          </p:nvPr>
        </p:nvSpPr>
        <p:spPr/>
        <p:txBody>
          <a:bodyPr/>
          <a:lstStyle/>
          <a:p>
            <a:endParaRPr lang="en-US" altLang="x-none" dirty="0"/>
          </a:p>
        </p:txBody>
      </p:sp>
    </p:spTree>
    <p:extLst>
      <p:ext uri="{BB962C8B-B14F-4D97-AF65-F5344CB8AC3E}">
        <p14:creationId xmlns:p14="http://schemas.microsoft.com/office/powerpoint/2010/main" val="3286761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C77648-EFAF-6863-C382-41359CD67458}"/>
              </a:ext>
            </a:extLst>
          </p:cNvPr>
          <p:cNvSpPr>
            <a:spLocks noGrp="1"/>
          </p:cNvSpPr>
          <p:nvPr>
            <p:ph type="title"/>
          </p:nvPr>
        </p:nvSpPr>
        <p:spPr/>
        <p:txBody>
          <a:bodyPr/>
          <a:lstStyle/>
          <a:p>
            <a:r>
              <a:rPr lang="en-NL" dirty="0"/>
              <a:t>Basic Flow of Data Analysis in JASP</a:t>
            </a:r>
          </a:p>
        </p:txBody>
      </p:sp>
      <p:sp>
        <p:nvSpPr>
          <p:cNvPr id="5" name="Content Placeholder 4">
            <a:extLst>
              <a:ext uri="{FF2B5EF4-FFF2-40B4-BE49-F238E27FC236}">
                <a16:creationId xmlns:a16="http://schemas.microsoft.com/office/drawing/2014/main" id="{6C4060BD-F0C9-2791-869A-4E77A51F3D84}"/>
              </a:ext>
            </a:extLst>
          </p:cNvPr>
          <p:cNvSpPr>
            <a:spLocks noGrp="1"/>
          </p:cNvSpPr>
          <p:nvPr>
            <p:ph idx="1"/>
          </p:nvPr>
        </p:nvSpPr>
        <p:spPr/>
        <p:txBody>
          <a:bodyPr/>
          <a:lstStyle/>
          <a:p>
            <a:pPr>
              <a:lnSpc>
                <a:spcPct val="150000"/>
              </a:lnSpc>
            </a:pPr>
            <a:r>
              <a:rPr lang="en-NL" dirty="0"/>
              <a:t>Describe/visualize data</a:t>
            </a:r>
          </a:p>
          <a:p>
            <a:pPr>
              <a:lnSpc>
                <a:spcPct val="150000"/>
              </a:lnSpc>
            </a:pPr>
            <a:r>
              <a:rPr lang="en-NL" dirty="0"/>
              <a:t>Specify the analysis in JASP</a:t>
            </a:r>
          </a:p>
          <a:p>
            <a:pPr>
              <a:lnSpc>
                <a:spcPct val="150000"/>
              </a:lnSpc>
            </a:pPr>
            <a:r>
              <a:rPr lang="en-NL" dirty="0"/>
              <a:t>Assess the assumptions (tip: see the help-files)</a:t>
            </a:r>
          </a:p>
          <a:p>
            <a:pPr>
              <a:lnSpc>
                <a:spcPct val="150000"/>
              </a:lnSpc>
            </a:pPr>
            <a:r>
              <a:rPr lang="en-NL" dirty="0"/>
              <a:t>Interpret the main analysis table</a:t>
            </a:r>
          </a:p>
          <a:p>
            <a:pPr>
              <a:lnSpc>
                <a:spcPct val="150000"/>
              </a:lnSpc>
            </a:pPr>
            <a:r>
              <a:rPr lang="en-NL" dirty="0"/>
              <a:t>Consider follow-up analyses</a:t>
            </a:r>
          </a:p>
        </p:txBody>
      </p:sp>
    </p:spTree>
    <p:extLst>
      <p:ext uri="{BB962C8B-B14F-4D97-AF65-F5344CB8AC3E}">
        <p14:creationId xmlns:p14="http://schemas.microsoft.com/office/powerpoint/2010/main" val="2096926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50F9E-FCBC-1D6C-AE22-AFDB0548DC23}"/>
              </a:ext>
            </a:extLst>
          </p:cNvPr>
          <p:cNvSpPr>
            <a:spLocks noGrp="1"/>
          </p:cNvSpPr>
          <p:nvPr>
            <p:ph type="title"/>
          </p:nvPr>
        </p:nvSpPr>
        <p:spPr/>
        <p:txBody>
          <a:bodyPr/>
          <a:lstStyle/>
          <a:p>
            <a:r>
              <a:rPr lang="en-NL" dirty="0"/>
              <a:t>Regression</a:t>
            </a:r>
          </a:p>
        </p:txBody>
      </p:sp>
      <p:sp>
        <p:nvSpPr>
          <p:cNvPr id="3" name="Content Placeholder 2">
            <a:extLst>
              <a:ext uri="{FF2B5EF4-FFF2-40B4-BE49-F238E27FC236}">
                <a16:creationId xmlns:a16="http://schemas.microsoft.com/office/drawing/2014/main" id="{60A917AF-E67B-3EC1-5783-5993BCAE4C03}"/>
              </a:ext>
            </a:extLst>
          </p:cNvPr>
          <p:cNvSpPr>
            <a:spLocks noGrp="1"/>
          </p:cNvSpPr>
          <p:nvPr>
            <p:ph idx="1"/>
          </p:nvPr>
        </p:nvSpPr>
        <p:spPr>
          <a:xfrm>
            <a:off x="1488018" y="1628800"/>
            <a:ext cx="9696451" cy="4176712"/>
          </a:xfrm>
        </p:spPr>
        <p:txBody>
          <a:bodyPr/>
          <a:lstStyle/>
          <a:p>
            <a:endParaRPr lang="en-NL"/>
          </a:p>
        </p:txBody>
      </p:sp>
    </p:spTree>
    <p:extLst>
      <p:ext uri="{BB962C8B-B14F-4D97-AF65-F5344CB8AC3E}">
        <p14:creationId xmlns:p14="http://schemas.microsoft.com/office/powerpoint/2010/main" val="133921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42ACFEA-2329-4A15-B38F-9ABFD985A72E}"/>
              </a:ext>
            </a:extLst>
          </p:cNvPr>
          <p:cNvSpPr>
            <a:spLocks noGrp="1"/>
          </p:cNvSpPr>
          <p:nvPr>
            <p:ph type="title"/>
          </p:nvPr>
        </p:nvSpPr>
        <p:spPr/>
        <p:txBody>
          <a:bodyPr/>
          <a:lstStyle/>
          <a:p>
            <a:r>
              <a:rPr lang="en-US" altLang="x-none" dirty="0"/>
              <a:t>Regression</a:t>
            </a:r>
            <a:r>
              <a:rPr lang="en-GB" dirty="0"/>
              <a:t> with One Predictor</a:t>
            </a:r>
            <a:endParaRPr lang="en-US" dirty="0"/>
          </a:p>
        </p:txBody>
      </p:sp>
      <p:pic>
        <p:nvPicPr>
          <p:cNvPr id="4" name="Picture 3" descr="A graph showing a line between two different sizes&#10;&#10;AI-generated content may be incorrect.">
            <a:extLst>
              <a:ext uri="{FF2B5EF4-FFF2-40B4-BE49-F238E27FC236}">
                <a16:creationId xmlns:a16="http://schemas.microsoft.com/office/drawing/2014/main" id="{00A1F1F5-8ED2-1DE1-64AB-C7B6E33ECE2D}"/>
              </a:ext>
            </a:extLst>
          </p:cNvPr>
          <p:cNvPicPr>
            <a:picLocks noChangeAspect="1"/>
          </p:cNvPicPr>
          <p:nvPr/>
        </p:nvPicPr>
        <p:blipFill>
          <a:blip r:embed="rId2"/>
          <a:stretch>
            <a:fillRect/>
          </a:stretch>
        </p:blipFill>
        <p:spPr>
          <a:xfrm>
            <a:off x="6937598" y="2465962"/>
            <a:ext cx="5254402" cy="4392038"/>
          </a:xfrm>
          <a:prstGeom prst="rect">
            <a:avLst/>
          </a:prstGeom>
        </p:spPr>
      </p:pic>
      <p:sp>
        <p:nvSpPr>
          <p:cNvPr id="5" name="Content Placeholder 2">
            <a:extLst>
              <a:ext uri="{FF2B5EF4-FFF2-40B4-BE49-F238E27FC236}">
                <a16:creationId xmlns:a16="http://schemas.microsoft.com/office/drawing/2014/main" id="{977B4141-705B-7BE4-D002-D39A5594A70A}"/>
              </a:ext>
            </a:extLst>
          </p:cNvPr>
          <p:cNvSpPr>
            <a:spLocks noGrp="1"/>
          </p:cNvSpPr>
          <p:nvPr>
            <p:ph idx="1"/>
          </p:nvPr>
        </p:nvSpPr>
        <p:spPr>
          <a:xfrm>
            <a:off x="1488017" y="1773239"/>
            <a:ext cx="9696451" cy="4176712"/>
          </a:xfrm>
        </p:spPr>
        <p:txBody>
          <a:bodyPr>
            <a:normAutofit lnSpcReduction="10000"/>
          </a:bodyPr>
          <a:lstStyle/>
          <a:p>
            <a:r>
              <a:rPr lang="en-GB" dirty="0"/>
              <a:t>A record company boss was interested in predicting album sales from advertising.</a:t>
            </a:r>
          </a:p>
          <a:p>
            <a:r>
              <a:rPr lang="en-GB" dirty="0"/>
              <a:t>Data</a:t>
            </a:r>
          </a:p>
          <a:p>
            <a:pPr lvl="1"/>
            <a:r>
              <a:rPr lang="en-GB" dirty="0"/>
              <a:t>200 different album releases</a:t>
            </a:r>
          </a:p>
          <a:p>
            <a:r>
              <a:rPr lang="en-GB" dirty="0"/>
              <a:t>Outcome variable:</a:t>
            </a:r>
          </a:p>
          <a:p>
            <a:pPr lvl="1"/>
            <a:r>
              <a:rPr lang="en-GB" dirty="0"/>
              <a:t>Album sales in the week after release (x1000)</a:t>
            </a:r>
          </a:p>
          <a:p>
            <a:r>
              <a:rPr lang="en-GB" dirty="0"/>
              <a:t>Predictor variables</a:t>
            </a:r>
          </a:p>
          <a:p>
            <a:pPr lvl="1"/>
            <a:r>
              <a:rPr lang="en-GB" dirty="0"/>
              <a:t>Advertisement budget (in </a:t>
            </a:r>
            <a:r>
              <a:rPr lang="en-US" dirty="0"/>
              <a:t>£</a:t>
            </a:r>
            <a:r>
              <a:rPr lang="en-GB" dirty="0"/>
              <a:t>1000)</a:t>
            </a:r>
          </a:p>
          <a:p>
            <a:pPr lvl="1"/>
            <a:r>
              <a:rPr lang="en-GB" dirty="0"/>
              <a:t>Number of plays on the radio</a:t>
            </a:r>
          </a:p>
          <a:p>
            <a:pPr lvl="1"/>
            <a:r>
              <a:rPr lang="en-GB" dirty="0"/>
              <a:t>Image of the band.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EFFED83-2F16-7692-8D67-2AC271FBAD7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8D98CC30-C992-CD44-A93C-6ABBBD3D8D77}"/>
              </a:ext>
            </a:extLst>
          </p:cNvPr>
          <p:cNvSpPr>
            <a:spLocks noGrp="1"/>
          </p:cNvSpPr>
          <p:nvPr>
            <p:ph type="title"/>
          </p:nvPr>
        </p:nvSpPr>
        <p:spPr/>
        <p:txBody>
          <a:bodyPr/>
          <a:lstStyle/>
          <a:p>
            <a:r>
              <a:rPr lang="en-US" dirty="0"/>
              <a:t>The Model as an Equation</a:t>
            </a:r>
          </a:p>
        </p:txBody>
      </p:sp>
      <p:sp>
        <p:nvSpPr>
          <p:cNvPr id="10" name="Content Placeholder 9">
            <a:extLst>
              <a:ext uri="{FF2B5EF4-FFF2-40B4-BE49-F238E27FC236}">
                <a16:creationId xmlns:a16="http://schemas.microsoft.com/office/drawing/2014/main" id="{99BB46D3-70BA-2D41-27A2-B883336913E9}"/>
              </a:ext>
            </a:extLst>
          </p:cNvPr>
          <p:cNvSpPr>
            <a:spLocks noGrp="1"/>
          </p:cNvSpPr>
          <p:nvPr>
            <p:ph idx="1"/>
          </p:nvPr>
        </p:nvSpPr>
        <p:spPr/>
        <p:txBody>
          <a:bodyPr/>
          <a:lstStyle/>
          <a:p>
            <a:r>
              <a:rPr lang="en-GB" dirty="0"/>
              <a:t>The model contains two regression weights:</a:t>
            </a:r>
          </a:p>
          <a:p>
            <a:endParaRPr lang="en-GB" dirty="0"/>
          </a:p>
          <a:p>
            <a:pPr marL="0" indent="0">
              <a:buNone/>
            </a:pPr>
            <a:endParaRPr lang="en-GB" dirty="0"/>
          </a:p>
          <a:p>
            <a:endParaRPr lang="en-GB" i="1" dirty="0">
              <a:sym typeface="Symbol" pitchFamily="18" charset="2"/>
            </a:endParaRPr>
          </a:p>
          <a:p>
            <a:r>
              <a:rPr lang="en-GB" i="1" dirty="0">
                <a:sym typeface="Symbol" pitchFamily="18" charset="2"/>
              </a:rPr>
              <a:t>b</a:t>
            </a:r>
            <a:r>
              <a:rPr lang="en-GB" baseline="-25000" dirty="0"/>
              <a:t>0</a:t>
            </a:r>
            <a:r>
              <a:rPr lang="en-GB" dirty="0"/>
              <a:t> is the intercept</a:t>
            </a:r>
          </a:p>
          <a:p>
            <a:pPr lvl="1"/>
            <a:r>
              <a:rPr lang="en-GB" dirty="0"/>
              <a:t>The intercept is the value of the </a:t>
            </a:r>
            <a:r>
              <a:rPr lang="en-GB" i="1" dirty="0"/>
              <a:t>Y</a:t>
            </a:r>
            <a:r>
              <a:rPr lang="en-GB" dirty="0"/>
              <a:t> variable when all </a:t>
            </a:r>
            <a:r>
              <a:rPr lang="en-GB" i="1" dirty="0" err="1"/>
              <a:t>Xs</a:t>
            </a:r>
            <a:r>
              <a:rPr lang="en-GB" dirty="0"/>
              <a:t> = 0</a:t>
            </a:r>
          </a:p>
          <a:p>
            <a:pPr lvl="1"/>
            <a:r>
              <a:rPr lang="nl-NL" dirty="0"/>
              <a:t>E.g., </a:t>
            </a:r>
            <a:r>
              <a:rPr lang="nl-NL" dirty="0" err="1"/>
              <a:t>how</a:t>
            </a:r>
            <a:r>
              <a:rPr lang="nl-NL" dirty="0"/>
              <a:t> </a:t>
            </a:r>
            <a:r>
              <a:rPr lang="nl-NL" dirty="0" err="1"/>
              <a:t>many</a:t>
            </a:r>
            <a:r>
              <a:rPr lang="nl-NL" dirty="0"/>
              <a:t> albums are </a:t>
            </a:r>
            <a:r>
              <a:rPr lang="nl-NL" dirty="0" err="1"/>
              <a:t>sold</a:t>
            </a:r>
            <a:r>
              <a:rPr lang="nl-NL" dirty="0"/>
              <a:t> </a:t>
            </a:r>
            <a:r>
              <a:rPr lang="nl-NL" dirty="0" err="1"/>
              <a:t>for</a:t>
            </a:r>
            <a:r>
              <a:rPr lang="nl-NL" dirty="0"/>
              <a:t> 0</a:t>
            </a:r>
            <a:r>
              <a:rPr lang="en-US" dirty="0"/>
              <a:t>£</a:t>
            </a:r>
            <a:r>
              <a:rPr lang="nl-NL" dirty="0"/>
              <a:t> advertisement budget</a:t>
            </a:r>
            <a:endParaRPr lang="en-US" dirty="0"/>
          </a:p>
          <a:p>
            <a:r>
              <a:rPr lang="en-US" i="1" dirty="0"/>
              <a:t>b</a:t>
            </a:r>
            <a:r>
              <a:rPr lang="en-US" i="1" baseline="-25000" dirty="0"/>
              <a:t>1</a:t>
            </a:r>
            <a:r>
              <a:rPr lang="en-US" dirty="0"/>
              <a:t> is the coefficient for Adverts.</a:t>
            </a:r>
          </a:p>
        </p:txBody>
      </p:sp>
      <p:sp>
        <p:nvSpPr>
          <p:cNvPr id="5" name="Slide Number Placeholder 4">
            <a:extLst>
              <a:ext uri="{FF2B5EF4-FFF2-40B4-BE49-F238E27FC236}">
                <a16:creationId xmlns:a16="http://schemas.microsoft.com/office/drawing/2014/main" id="{68100B4C-C150-C9C8-CE14-A96272881F30}"/>
              </a:ext>
            </a:extLst>
          </p:cNvPr>
          <p:cNvSpPr>
            <a:spLocks noGrp="1"/>
          </p:cNvSpPr>
          <p:nvPr>
            <p:ph type="sldNum" idx="10"/>
          </p:nvPr>
        </p:nvSpPr>
        <p:spPr>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26</a:t>
            </a:fld>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06B7983-2C92-229F-9094-84BD502B8BC3}"/>
                  </a:ext>
                  <a:ext uri="{C183D7F6-B498-43B3-948B-1728B52AA6E4}">
                    <adec:decorative xmlns:adec="http://schemas.microsoft.com/office/drawing/2017/decorative" val="0"/>
                  </a:ext>
                </a:extLst>
              </p:cNvPr>
              <p:cNvSpPr txBox="1"/>
              <p:nvPr/>
            </p:nvSpPr>
            <p:spPr>
              <a:xfrm>
                <a:off x="2923617" y="2890690"/>
                <a:ext cx="5505036" cy="457200"/>
              </a:xfrm>
              <a:prstGeom prst="rect">
                <a:avLst/>
              </a:prstGeom>
            </p:spPr>
            <p:txBody>
              <a:bodyPr>
                <a:noAutofit/>
              </a:bodyPr>
              <a:lstStyle/>
              <a:p>
                <a:pPr/>
                <a14:m>
                  <m:oMathPara xmlns:m="http://schemas.openxmlformats.org/officeDocument/2006/math">
                    <m:oMathParaPr>
                      <m:jc m:val="left"/>
                    </m:oMathParaPr>
                    <m:o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𝑌</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𝑖</m:t>
                              </m:r>
                            </m:sub>
                          </m:sSub>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𝜀</m:t>
                          </m:r>
                        </m:e>
                        <m:sub>
                          <m:r>
                            <a:rPr lang="en-US" i="1">
                              <a:solidFill>
                                <a:srgbClr val="000000"/>
                              </a:solidFill>
                              <a:latin typeface="Cambria Math" panose="02040503050406030204" pitchFamily="18" charset="0"/>
                            </a:rPr>
                            <m:t>𝑖</m:t>
                          </m:r>
                        </m:sub>
                      </m:sSub>
                    </m:oMath>
                  </m:oMathPara>
                </a14:m>
                <a:endParaRPr lang="en-US" dirty="0"/>
              </a:p>
            </p:txBody>
          </p:sp>
        </mc:Choice>
        <mc:Fallback xmlns="">
          <p:sp>
            <p:nvSpPr>
              <p:cNvPr id="11" name="TextBox 10">
                <a:extLst>
                  <a:ext uri="{FF2B5EF4-FFF2-40B4-BE49-F238E27FC236}">
                    <a16:creationId xmlns:a16="http://schemas.microsoft.com/office/drawing/2014/main" id="{206B7983-2C92-229F-9094-84BD502B8BC3}"/>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2923617" y="2890690"/>
                <a:ext cx="5505036" cy="457200"/>
              </a:xfrm>
              <a:prstGeom prst="rect">
                <a:avLst/>
              </a:prstGeom>
              <a:blipFill>
                <a:blip r:embed="rId3"/>
                <a:stretch>
                  <a:fillRect l="-461" b="-5405"/>
                </a:stretch>
              </a:blipFill>
            </p:spPr>
            <p:txBody>
              <a:bodyPr/>
              <a:lstStyle/>
              <a:p>
                <a:r>
                  <a:rPr lang="en-NL">
                    <a:noFill/>
                  </a:rPr>
                  <a:t> </a:t>
                </a:r>
              </a:p>
            </p:txBody>
          </p:sp>
        </mc:Fallback>
      </mc:AlternateContent>
    </p:spTree>
    <p:extLst>
      <p:ext uri="{BB962C8B-B14F-4D97-AF65-F5344CB8AC3E}">
        <p14:creationId xmlns:p14="http://schemas.microsoft.com/office/powerpoint/2010/main" val="20976174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F695B-AE53-F867-279B-00CA8D6B4D0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FAE96ED9-0416-557F-EA2A-C33B17F1E956}"/>
              </a:ext>
            </a:extLst>
          </p:cNvPr>
          <p:cNvSpPr>
            <a:spLocks noGrp="1"/>
          </p:cNvSpPr>
          <p:nvPr>
            <p:ph type="title"/>
          </p:nvPr>
        </p:nvSpPr>
        <p:spPr/>
        <p:txBody>
          <a:bodyPr/>
          <a:lstStyle/>
          <a:p>
            <a:r>
              <a:rPr lang="en-US" altLang="x-none" dirty="0"/>
              <a:t>Regression</a:t>
            </a:r>
            <a:r>
              <a:rPr lang="en-GB" dirty="0"/>
              <a:t> with One Predictor</a:t>
            </a:r>
            <a:endParaRPr lang="en-US" dirty="0"/>
          </a:p>
        </p:txBody>
      </p:sp>
      <p:sp>
        <p:nvSpPr>
          <p:cNvPr id="11" name="Content Placeholder 10">
            <a:extLst>
              <a:ext uri="{FF2B5EF4-FFF2-40B4-BE49-F238E27FC236}">
                <a16:creationId xmlns:a16="http://schemas.microsoft.com/office/drawing/2014/main" id="{AA234740-1616-2B55-5291-5E1D8A6B7CF6}"/>
              </a:ext>
            </a:extLst>
          </p:cNvPr>
          <p:cNvSpPr>
            <a:spLocks noGrp="1"/>
          </p:cNvSpPr>
          <p:nvPr>
            <p:ph idx="1"/>
          </p:nvPr>
        </p:nvSpPr>
        <p:spPr>
          <a:xfrm>
            <a:off x="2152650" y="2020388"/>
            <a:ext cx="7886700" cy="722814"/>
          </a:xfrm>
        </p:spPr>
        <p:txBody>
          <a:bodyPr/>
          <a:lstStyle/>
          <a:p>
            <a:pPr algn="ctr"/>
            <a:r>
              <a:rPr lang="fr-FR" dirty="0"/>
              <a:t>Figure 8.10 Main menu for </a:t>
            </a:r>
            <a:r>
              <a:rPr lang="fr-FR" dirty="0" err="1"/>
              <a:t>regression</a:t>
            </a:r>
            <a:endParaRPr lang="en-US" dirty="0"/>
          </a:p>
        </p:txBody>
      </p:sp>
      <p:pic>
        <p:nvPicPr>
          <p:cNvPr id="3" name="Picture 2" descr="Main menu for regression in JASP. Available variables are shown in the left box (AlbumID, Airplay, Image). The boxes on the right have the predictors. Sales is the dependent variable and Adverts is in the Covariates box. There is also a box for Factor predictors but that is empty. There are various tabs available at the bottom (Model, Statistics, Method specification, Plots). ">
            <a:extLst>
              <a:ext uri="{FF2B5EF4-FFF2-40B4-BE49-F238E27FC236}">
                <a16:creationId xmlns:a16="http://schemas.microsoft.com/office/drawing/2014/main" id="{0FAEC302-B604-9850-1C02-B431A2E06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2823" y="2671482"/>
            <a:ext cx="4526354" cy="3998041"/>
          </a:xfrm>
          <a:prstGeom prst="rect">
            <a:avLst/>
          </a:prstGeom>
        </p:spPr>
      </p:pic>
    </p:spTree>
    <p:extLst>
      <p:ext uri="{BB962C8B-B14F-4D97-AF65-F5344CB8AC3E}">
        <p14:creationId xmlns:p14="http://schemas.microsoft.com/office/powerpoint/2010/main" val="21345301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455E9E99-B193-4C6D-88E1-589073A209E3}"/>
              </a:ext>
            </a:extLst>
          </p:cNvPr>
          <p:cNvSpPr>
            <a:spLocks noGrp="1"/>
          </p:cNvSpPr>
          <p:nvPr>
            <p:ph type="title"/>
          </p:nvPr>
        </p:nvSpPr>
        <p:spPr/>
        <p:txBody>
          <a:bodyPr/>
          <a:lstStyle/>
          <a:p>
            <a:r>
              <a:rPr lang="en-GB" dirty="0"/>
              <a:t>Model Summary </a:t>
            </a:r>
            <a:endParaRPr lang="en-US" dirty="0"/>
          </a:p>
        </p:txBody>
      </p:sp>
      <p:sp>
        <p:nvSpPr>
          <p:cNvPr id="10" name="Content Placeholder 9">
            <a:extLst>
              <a:ext uri="{FF2B5EF4-FFF2-40B4-BE49-F238E27FC236}">
                <a16:creationId xmlns:a16="http://schemas.microsoft.com/office/drawing/2014/main" id="{D11BAE27-CD7F-440E-91D3-16E28F67590F}"/>
              </a:ext>
            </a:extLst>
          </p:cNvPr>
          <p:cNvSpPr>
            <a:spLocks noGrp="1"/>
          </p:cNvSpPr>
          <p:nvPr>
            <p:ph idx="1"/>
          </p:nvPr>
        </p:nvSpPr>
        <p:spPr>
          <a:xfrm>
            <a:off x="2152650" y="2020388"/>
            <a:ext cx="7886700" cy="605366"/>
          </a:xfrm>
        </p:spPr>
        <p:txBody>
          <a:bodyPr/>
          <a:lstStyle/>
          <a:p>
            <a:r>
              <a:rPr lang="en-US" dirty="0"/>
              <a:t>Output 8.2</a:t>
            </a:r>
          </a:p>
        </p:txBody>
      </p:sp>
      <p:graphicFrame>
        <p:nvGraphicFramePr>
          <p:cNvPr id="2" name="Table 1">
            <a:extLst>
              <a:ext uri="{FF2B5EF4-FFF2-40B4-BE49-F238E27FC236}">
                <a16:creationId xmlns:a16="http://schemas.microsoft.com/office/drawing/2014/main" id="{859A1C97-8E34-027C-C024-D4B69831CC89}"/>
              </a:ext>
            </a:extLst>
          </p:cNvPr>
          <p:cNvGraphicFramePr>
            <a:graphicFrameLocks noGrp="1"/>
          </p:cNvGraphicFramePr>
          <p:nvPr/>
        </p:nvGraphicFramePr>
        <p:xfrm>
          <a:off x="1798479" y="3118374"/>
          <a:ext cx="8595042" cy="1986915"/>
        </p:xfrm>
        <a:graphic>
          <a:graphicData uri="http://schemas.openxmlformats.org/drawingml/2006/table">
            <a:tbl>
              <a:tblPr/>
              <a:tblGrid>
                <a:gridCol w="788670">
                  <a:extLst>
                    <a:ext uri="{9D8B030D-6E8A-4147-A177-3AD203B41FA5}">
                      <a16:colId xmlns:a16="http://schemas.microsoft.com/office/drawing/2014/main" val="1740601251"/>
                    </a:ext>
                  </a:extLst>
                </a:gridCol>
                <a:gridCol w="788670">
                  <a:extLst>
                    <a:ext uri="{9D8B030D-6E8A-4147-A177-3AD203B41FA5}">
                      <a16:colId xmlns:a16="http://schemas.microsoft.com/office/drawing/2014/main" val="3357690292"/>
                    </a:ext>
                  </a:extLst>
                </a:gridCol>
                <a:gridCol w="929640">
                  <a:extLst>
                    <a:ext uri="{9D8B030D-6E8A-4147-A177-3AD203B41FA5}">
                      <a16:colId xmlns:a16="http://schemas.microsoft.com/office/drawing/2014/main" val="896310387"/>
                    </a:ext>
                  </a:extLst>
                </a:gridCol>
                <a:gridCol w="788670">
                  <a:extLst>
                    <a:ext uri="{9D8B030D-6E8A-4147-A177-3AD203B41FA5}">
                      <a16:colId xmlns:a16="http://schemas.microsoft.com/office/drawing/2014/main" val="2606400700"/>
                    </a:ext>
                  </a:extLst>
                </a:gridCol>
                <a:gridCol w="929640">
                  <a:extLst>
                    <a:ext uri="{9D8B030D-6E8A-4147-A177-3AD203B41FA5}">
                      <a16:colId xmlns:a16="http://schemas.microsoft.com/office/drawing/2014/main" val="1060070549"/>
                    </a:ext>
                  </a:extLst>
                </a:gridCol>
                <a:gridCol w="788670">
                  <a:extLst>
                    <a:ext uri="{9D8B030D-6E8A-4147-A177-3AD203B41FA5}">
                      <a16:colId xmlns:a16="http://schemas.microsoft.com/office/drawing/2014/main" val="2061798315"/>
                    </a:ext>
                  </a:extLst>
                </a:gridCol>
                <a:gridCol w="929640">
                  <a:extLst>
                    <a:ext uri="{9D8B030D-6E8A-4147-A177-3AD203B41FA5}">
                      <a16:colId xmlns:a16="http://schemas.microsoft.com/office/drawing/2014/main" val="313025237"/>
                    </a:ext>
                  </a:extLst>
                </a:gridCol>
                <a:gridCol w="788670">
                  <a:extLst>
                    <a:ext uri="{9D8B030D-6E8A-4147-A177-3AD203B41FA5}">
                      <a16:colId xmlns:a16="http://schemas.microsoft.com/office/drawing/2014/main" val="279864642"/>
                    </a:ext>
                  </a:extLst>
                </a:gridCol>
                <a:gridCol w="1074102">
                  <a:extLst>
                    <a:ext uri="{9D8B030D-6E8A-4147-A177-3AD203B41FA5}">
                      <a16:colId xmlns:a16="http://schemas.microsoft.com/office/drawing/2014/main" val="181910912"/>
                    </a:ext>
                  </a:extLst>
                </a:gridCol>
                <a:gridCol w="788670">
                  <a:extLst>
                    <a:ext uri="{9D8B030D-6E8A-4147-A177-3AD203B41FA5}">
                      <a16:colId xmlns:a16="http://schemas.microsoft.com/office/drawing/2014/main" val="1789131248"/>
                    </a:ext>
                  </a:extLst>
                </a:gridCol>
              </a:tblGrid>
              <a:tr h="0">
                <a:tc gridSpan="10">
                  <a:txBody>
                    <a:bodyPr/>
                    <a:lstStyle/>
                    <a:p>
                      <a:pPr algn="l"/>
                      <a:r>
                        <a:rPr lang="en-GB" b="0" i="1" dirty="0">
                          <a:solidFill>
                            <a:srgbClr val="000000"/>
                          </a:solidFill>
                          <a:effectLst/>
                          <a:latin typeface="Lucida Grande" panose="020B0600040502020204" pitchFamily="34" charset="0"/>
                        </a:rPr>
                        <a:t>Model Summary - Sales</a:t>
                      </a:r>
                      <a:r>
                        <a:rPr lang="en-GB" b="0" dirty="0">
                          <a:solidFill>
                            <a:srgbClr val="000000"/>
                          </a:solidFill>
                          <a:effectLst/>
                          <a:latin typeface="Lucida Grande" panose="020B0600040502020204" pitchFamily="34" charset="0"/>
                        </a:rPr>
                        <a:t> </a:t>
                      </a:r>
                    </a:p>
                  </a:txBody>
                  <a:tcPr marR="95250" marT="57150" marB="57150" anchor="ctr">
                    <a:lnL>
                      <a:noFill/>
                    </a:lnL>
                    <a:lnR>
                      <a:noFill/>
                    </a:lnR>
                    <a:lnT>
                      <a:noFill/>
                    </a:lnT>
                    <a:lnB w="9525" cap="flat" cmpd="sng" algn="ctr">
                      <a:solidFill>
                        <a:srgbClr val="000000"/>
                      </a:solidFill>
                      <a:prstDash val="solid"/>
                      <a:round/>
                      <a:headEnd type="none" w="med" len="med"/>
                      <a:tailEnd type="none" w="med" len="med"/>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4292357668"/>
                  </a:ext>
                </a:extLst>
              </a:tr>
              <a:tr h="0">
                <a:tc gridSpan="2">
                  <a:txBody>
                    <a:bodyPr/>
                    <a:lstStyle/>
                    <a:p>
                      <a:pPr algn="ctr"/>
                      <a:r>
                        <a:rPr lang="en-GB" b="0">
                          <a:solidFill>
                            <a:srgbClr val="000000"/>
                          </a:solidFill>
                          <a:effectLst/>
                          <a:latin typeface="Lucida Grande" panose="020B0600040502020204" pitchFamily="34" charset="0"/>
                        </a:rPr>
                        <a:t>Model</a:t>
                      </a:r>
                    </a:p>
                  </a:txBody>
                  <a:tcPr marL="114300" marR="114300" marT="28575" marB="28575"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lang="en-NL"/>
                    </a:p>
                  </a:txBody>
                  <a:tcPr/>
                </a:tc>
                <a:tc gridSpan="2">
                  <a:txBody>
                    <a:bodyPr/>
                    <a:lstStyle/>
                    <a:p>
                      <a:pPr algn="ctr"/>
                      <a:r>
                        <a:rPr lang="en-GB" b="0">
                          <a:solidFill>
                            <a:srgbClr val="000000"/>
                          </a:solidFill>
                          <a:effectLst/>
                          <a:latin typeface="Lucida Grande" panose="020B0600040502020204" pitchFamily="34" charset="0"/>
                        </a:rPr>
                        <a:t>R</a:t>
                      </a:r>
                    </a:p>
                  </a:txBody>
                  <a:tcPr marL="114300" marR="114300" marT="28575" marB="28575"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lang="en-NL"/>
                    </a:p>
                  </a:txBody>
                  <a:tcPr/>
                </a:tc>
                <a:tc gridSpan="2">
                  <a:txBody>
                    <a:bodyPr/>
                    <a:lstStyle/>
                    <a:p>
                      <a:pPr algn="ctr"/>
                      <a:r>
                        <a:rPr lang="en-GB" b="0">
                          <a:solidFill>
                            <a:srgbClr val="000000"/>
                          </a:solidFill>
                          <a:effectLst/>
                          <a:latin typeface="Lucida Grande" panose="020B0600040502020204" pitchFamily="34" charset="0"/>
                        </a:rPr>
                        <a:t>R²</a:t>
                      </a:r>
                    </a:p>
                  </a:txBody>
                  <a:tcPr marL="114300" marR="114300" marT="28575" marB="28575"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lang="en-NL"/>
                    </a:p>
                  </a:txBody>
                  <a:tcPr/>
                </a:tc>
                <a:tc gridSpan="2">
                  <a:txBody>
                    <a:bodyPr/>
                    <a:lstStyle/>
                    <a:p>
                      <a:pPr algn="ctr"/>
                      <a:r>
                        <a:rPr lang="en-GB" b="0">
                          <a:solidFill>
                            <a:srgbClr val="000000"/>
                          </a:solidFill>
                          <a:effectLst/>
                          <a:latin typeface="Lucida Grande" panose="020B0600040502020204" pitchFamily="34" charset="0"/>
                        </a:rPr>
                        <a:t>Adjusted R²</a:t>
                      </a:r>
                    </a:p>
                  </a:txBody>
                  <a:tcPr marL="114300" marR="114300" marT="28575" marB="28575"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lang="en-NL"/>
                    </a:p>
                  </a:txBody>
                  <a:tcPr/>
                </a:tc>
                <a:tc gridSpan="2">
                  <a:txBody>
                    <a:bodyPr/>
                    <a:lstStyle/>
                    <a:p>
                      <a:pPr algn="ctr"/>
                      <a:r>
                        <a:rPr lang="en-GB" b="0">
                          <a:solidFill>
                            <a:srgbClr val="000000"/>
                          </a:solidFill>
                          <a:effectLst/>
                          <a:latin typeface="Lucida Grande" panose="020B0600040502020204" pitchFamily="34" charset="0"/>
                        </a:rPr>
                        <a:t>RMSE</a:t>
                      </a:r>
                    </a:p>
                  </a:txBody>
                  <a:tcPr marL="114300" marR="114300" marT="28575" marB="28575"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lang="en-NL"/>
                    </a:p>
                  </a:txBody>
                  <a:tcPr/>
                </a:tc>
                <a:extLst>
                  <a:ext uri="{0D108BD9-81ED-4DB2-BD59-A6C34878D82A}">
                    <a16:rowId xmlns:a16="http://schemas.microsoft.com/office/drawing/2014/main" val="807314701"/>
                  </a:ext>
                </a:extLst>
              </a:tr>
              <a:tr h="0">
                <a:tc>
                  <a:txBody>
                    <a:bodyPr/>
                    <a:lstStyle/>
                    <a:p>
                      <a:pPr algn="l"/>
                      <a:r>
                        <a:rPr lang="en-GB" b="0">
                          <a:solidFill>
                            <a:srgbClr val="000000"/>
                          </a:solidFill>
                          <a:effectLst/>
                          <a:latin typeface="Lucida Grande" panose="020B0600040502020204" pitchFamily="34" charset="0"/>
                        </a:rPr>
                        <a:t>M₀</a:t>
                      </a:r>
                    </a:p>
                  </a:txBody>
                  <a:tcPr marL="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r"/>
                      <a:r>
                        <a:rPr lang="en-NL" b="0" dirty="0">
                          <a:solidFill>
                            <a:srgbClr val="000000"/>
                          </a:solidFill>
                          <a:effectLst/>
                          <a:latin typeface="Lucida Grande" panose="020B0600040502020204" pitchFamily="34" charset="0"/>
                        </a:rPr>
                        <a:t>0.000</a:t>
                      </a:r>
                    </a:p>
                  </a:txBody>
                  <a:tcPr marL="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r"/>
                      <a:r>
                        <a:rPr lang="en-NL" b="0" dirty="0">
                          <a:solidFill>
                            <a:srgbClr val="000000"/>
                          </a:solidFill>
                          <a:effectLst/>
                          <a:latin typeface="Lucida Grande" panose="020B0600040502020204" pitchFamily="34" charset="0"/>
                        </a:rPr>
                        <a:t>0.000</a:t>
                      </a:r>
                    </a:p>
                  </a:txBody>
                  <a:tcPr marL="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r"/>
                      <a:r>
                        <a:rPr lang="en-NL" b="0">
                          <a:solidFill>
                            <a:srgbClr val="000000"/>
                          </a:solidFill>
                          <a:effectLst/>
                          <a:latin typeface="Lucida Grande" panose="020B0600040502020204" pitchFamily="34" charset="0"/>
                        </a:rPr>
                        <a:t>0.000</a:t>
                      </a:r>
                    </a:p>
                  </a:txBody>
                  <a:tcPr marL="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r"/>
                      <a:r>
                        <a:rPr lang="en-NL" b="0">
                          <a:solidFill>
                            <a:srgbClr val="000000"/>
                          </a:solidFill>
                          <a:effectLst/>
                          <a:latin typeface="Lucida Grande" panose="020B0600040502020204" pitchFamily="34" charset="0"/>
                        </a:rPr>
                        <a:t>80.699</a:t>
                      </a:r>
                    </a:p>
                  </a:txBody>
                  <a:tcPr marL="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l"/>
                      <a:endParaRPr lang="en-NL" b="0" dirty="0">
                        <a:solidFill>
                          <a:srgbClr val="000000"/>
                        </a:solidFill>
                        <a:effectLst/>
                        <a:latin typeface="Lucida Grande" panose="020B0600040502020204" pitchFamily="34" charset="0"/>
                      </a:endParaRPr>
                    </a:p>
                  </a:txBody>
                  <a:tcPr marR="114300" marT="102870" marB="9525" anchor="ctr">
                    <a:lnL>
                      <a:noFill/>
                    </a:lnL>
                    <a:lnR>
                      <a:noFill/>
                    </a:lnR>
                    <a:lnT w="9525"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12805951"/>
                  </a:ext>
                </a:extLst>
              </a:tr>
              <a:tr h="0">
                <a:tc>
                  <a:txBody>
                    <a:bodyPr/>
                    <a:lstStyle/>
                    <a:p>
                      <a:pPr algn="l"/>
                      <a:r>
                        <a:rPr lang="en-GB" b="0">
                          <a:solidFill>
                            <a:srgbClr val="000000"/>
                          </a:solidFill>
                          <a:effectLst/>
                          <a:latin typeface="Lucida Grande" panose="020B0600040502020204" pitchFamily="34" charset="0"/>
                        </a:rPr>
                        <a:t>M₁</a:t>
                      </a:r>
                    </a:p>
                  </a:txBody>
                  <a:tcPr marL="114300" marT="9525" marB="9525" anchor="ctr">
                    <a:lnL>
                      <a:noFill/>
                    </a:lnL>
                    <a:lnR>
                      <a:noFill/>
                    </a:lnR>
                    <a:lnT>
                      <a:noFill/>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9525" marB="9525" anchor="ctr">
                    <a:lnL>
                      <a:noFill/>
                    </a:lnL>
                    <a:lnR>
                      <a:noFill/>
                    </a:lnR>
                    <a:lnT>
                      <a:noFill/>
                    </a:lnT>
                    <a:lnB>
                      <a:noFill/>
                    </a:lnB>
                    <a:noFill/>
                  </a:tcPr>
                </a:tc>
                <a:tc>
                  <a:txBody>
                    <a:bodyPr/>
                    <a:lstStyle/>
                    <a:p>
                      <a:pPr algn="r"/>
                      <a:r>
                        <a:rPr lang="en-NL" b="0">
                          <a:solidFill>
                            <a:srgbClr val="000000"/>
                          </a:solidFill>
                          <a:effectLst/>
                          <a:latin typeface="Lucida Grande" panose="020B0600040502020204" pitchFamily="34" charset="0"/>
                        </a:rPr>
                        <a:t>0.578</a:t>
                      </a:r>
                    </a:p>
                  </a:txBody>
                  <a:tcPr marL="114300" marT="9525" marB="9525" anchor="ctr">
                    <a:lnL>
                      <a:noFill/>
                    </a:lnL>
                    <a:lnR>
                      <a:noFill/>
                    </a:lnR>
                    <a:lnT>
                      <a:noFill/>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9525" marB="9525" anchor="ctr">
                    <a:lnL>
                      <a:noFill/>
                    </a:lnL>
                    <a:lnR>
                      <a:noFill/>
                    </a:lnR>
                    <a:lnT>
                      <a:noFill/>
                    </a:lnT>
                    <a:lnB>
                      <a:noFill/>
                    </a:lnB>
                    <a:noFill/>
                  </a:tcPr>
                </a:tc>
                <a:tc>
                  <a:txBody>
                    <a:bodyPr/>
                    <a:lstStyle/>
                    <a:p>
                      <a:pPr algn="r"/>
                      <a:r>
                        <a:rPr lang="en-NL" b="0">
                          <a:solidFill>
                            <a:srgbClr val="000000"/>
                          </a:solidFill>
                          <a:effectLst/>
                          <a:latin typeface="Lucida Grande" panose="020B0600040502020204" pitchFamily="34" charset="0"/>
                        </a:rPr>
                        <a:t>0.335</a:t>
                      </a:r>
                    </a:p>
                  </a:txBody>
                  <a:tcPr marL="114300" marT="9525" marB="9525" anchor="ctr">
                    <a:lnL>
                      <a:noFill/>
                    </a:lnL>
                    <a:lnR>
                      <a:noFill/>
                    </a:lnR>
                    <a:lnT>
                      <a:noFill/>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9525" marB="9525" anchor="ctr">
                    <a:lnL>
                      <a:noFill/>
                    </a:lnL>
                    <a:lnR>
                      <a:noFill/>
                    </a:lnR>
                    <a:lnT>
                      <a:noFill/>
                    </a:lnT>
                    <a:lnB>
                      <a:noFill/>
                    </a:lnB>
                    <a:noFill/>
                  </a:tcPr>
                </a:tc>
                <a:tc>
                  <a:txBody>
                    <a:bodyPr/>
                    <a:lstStyle/>
                    <a:p>
                      <a:pPr algn="r"/>
                      <a:r>
                        <a:rPr lang="en-NL" b="0">
                          <a:solidFill>
                            <a:srgbClr val="000000"/>
                          </a:solidFill>
                          <a:effectLst/>
                          <a:latin typeface="Lucida Grande" panose="020B0600040502020204" pitchFamily="34" charset="0"/>
                        </a:rPr>
                        <a:t>0.331</a:t>
                      </a:r>
                    </a:p>
                  </a:txBody>
                  <a:tcPr marL="114300" marT="9525" marB="9525" anchor="ctr">
                    <a:lnL>
                      <a:noFill/>
                    </a:lnL>
                    <a:lnR>
                      <a:noFill/>
                    </a:lnR>
                    <a:lnT>
                      <a:noFill/>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9525" marB="9525" anchor="ctr">
                    <a:lnL>
                      <a:noFill/>
                    </a:lnL>
                    <a:lnR>
                      <a:noFill/>
                    </a:lnR>
                    <a:lnT>
                      <a:noFill/>
                    </a:lnT>
                    <a:lnB>
                      <a:noFill/>
                    </a:lnB>
                    <a:noFill/>
                  </a:tcPr>
                </a:tc>
                <a:tc>
                  <a:txBody>
                    <a:bodyPr/>
                    <a:lstStyle/>
                    <a:p>
                      <a:pPr algn="r"/>
                      <a:r>
                        <a:rPr lang="en-NL" b="0">
                          <a:solidFill>
                            <a:srgbClr val="000000"/>
                          </a:solidFill>
                          <a:effectLst/>
                          <a:latin typeface="Lucida Grande" panose="020B0600040502020204" pitchFamily="34" charset="0"/>
                        </a:rPr>
                        <a:t>65.991</a:t>
                      </a:r>
                    </a:p>
                  </a:txBody>
                  <a:tcPr marL="114300" marT="9525" marB="9525" anchor="ctr">
                    <a:lnL>
                      <a:noFill/>
                    </a:lnL>
                    <a:lnR>
                      <a:noFill/>
                    </a:lnR>
                    <a:lnT>
                      <a:noFill/>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9525" marB="9525" anchor="ctr">
                    <a:lnL>
                      <a:noFill/>
                    </a:lnL>
                    <a:lnR>
                      <a:noFill/>
                    </a:lnR>
                    <a:lnT>
                      <a:noFill/>
                    </a:lnT>
                    <a:lnB>
                      <a:noFill/>
                    </a:lnB>
                    <a:noFill/>
                  </a:tcPr>
                </a:tc>
                <a:extLst>
                  <a:ext uri="{0D108BD9-81ED-4DB2-BD59-A6C34878D82A}">
                    <a16:rowId xmlns:a16="http://schemas.microsoft.com/office/drawing/2014/main" val="37949930"/>
                  </a:ext>
                </a:extLst>
              </a:tr>
              <a:tr h="0">
                <a:tc gridSpan="10">
                  <a:txBody>
                    <a:bodyPr/>
                    <a:lstStyle/>
                    <a:p>
                      <a:pPr algn="r"/>
                      <a:endParaRPr lang="en-NL" b="0">
                        <a:solidFill>
                          <a:srgbClr val="000000"/>
                        </a:solidFill>
                        <a:effectLst/>
                        <a:latin typeface="Lucida Grande" panose="020B0600040502020204" pitchFamily="34" charset="0"/>
                      </a:endParaRPr>
                    </a:p>
                  </a:txBody>
                  <a:tcPr marL="9525" marR="9525" marT="9525" marB="9525" anchor="ctr">
                    <a:lnL>
                      <a:noFill/>
                    </a:lnL>
                    <a:lnR>
                      <a:noFill/>
                    </a:lnR>
                    <a:lnT>
                      <a:noFill/>
                    </a:lnT>
                    <a:lnB w="19050" cap="flat" cmpd="sng" algn="ctr">
                      <a:solidFill>
                        <a:srgbClr val="000000"/>
                      </a:solidFill>
                      <a:prstDash val="solid"/>
                      <a:round/>
                      <a:headEnd type="none" w="med" len="med"/>
                      <a:tailEnd type="none" w="med" len="med"/>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2230702493"/>
                  </a:ext>
                </a:extLst>
              </a:tr>
              <a:tr h="0">
                <a:tc gridSpan="10">
                  <a:txBody>
                    <a:bodyPr/>
                    <a:lstStyle/>
                    <a:p>
                      <a:pPr algn="l"/>
                      <a:r>
                        <a:rPr lang="en-GB" b="0" i="1" dirty="0">
                          <a:solidFill>
                            <a:srgbClr val="000000"/>
                          </a:solidFill>
                          <a:effectLst/>
                          <a:latin typeface="Lucida Grande" panose="020B0600040502020204" pitchFamily="34" charset="0"/>
                        </a:rPr>
                        <a:t>Note.</a:t>
                      </a:r>
                      <a:r>
                        <a:rPr lang="en-GB" b="0" dirty="0">
                          <a:solidFill>
                            <a:srgbClr val="000000"/>
                          </a:solidFill>
                          <a:effectLst/>
                          <a:latin typeface="Lucida Grande" panose="020B0600040502020204" pitchFamily="34" charset="0"/>
                        </a:rPr>
                        <a:t>  M₁ includes Adverts</a:t>
                      </a:r>
                    </a:p>
                  </a:txBody>
                  <a:tcPr marL="9525" marR="9525" marT="9525" marB="9525" anchor="ctr">
                    <a:lnL>
                      <a:noFill/>
                    </a:lnL>
                    <a:lnR>
                      <a:noFill/>
                    </a:lnR>
                    <a:lnT w="19050" cap="flat" cmpd="sng" algn="ctr">
                      <a:solidFill>
                        <a:srgbClr val="000000"/>
                      </a:solidFill>
                      <a:prstDash val="solid"/>
                      <a:round/>
                      <a:headEnd type="none" w="med" len="med"/>
                      <a:tailEnd type="none" w="med" len="med"/>
                    </a:lnT>
                    <a:lnB>
                      <a:noFill/>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950745417"/>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FE3780E-8D99-49A9-976A-877B422F2E11}"/>
              </a:ext>
            </a:extLst>
          </p:cNvPr>
          <p:cNvSpPr>
            <a:spLocks noGrp="1"/>
          </p:cNvSpPr>
          <p:nvPr>
            <p:ph type="title"/>
          </p:nvPr>
        </p:nvSpPr>
        <p:spPr/>
        <p:txBody>
          <a:bodyPr/>
          <a:lstStyle/>
          <a:p>
            <a:r>
              <a:rPr lang="en-US" dirty="0"/>
              <a:t>Multiple Regression</a:t>
            </a:r>
          </a:p>
        </p:txBody>
      </p:sp>
      <p:sp>
        <p:nvSpPr>
          <p:cNvPr id="10" name="Content Placeholder 9">
            <a:extLst>
              <a:ext uri="{FF2B5EF4-FFF2-40B4-BE49-F238E27FC236}">
                <a16:creationId xmlns:a16="http://schemas.microsoft.com/office/drawing/2014/main" id="{AD8305E0-0AE3-43CB-BCB0-41B3421F34CB}"/>
              </a:ext>
            </a:extLst>
          </p:cNvPr>
          <p:cNvSpPr>
            <a:spLocks noGrp="1"/>
          </p:cNvSpPr>
          <p:nvPr>
            <p:ph idx="1"/>
          </p:nvPr>
        </p:nvSpPr>
        <p:spPr/>
        <p:txBody>
          <a:bodyPr/>
          <a:lstStyle/>
          <a:p>
            <a:r>
              <a:rPr lang="en-GB" dirty="0"/>
              <a:t>With several predictors the model now contains multiple regression weights:</a:t>
            </a:r>
          </a:p>
          <a:p>
            <a:endParaRPr lang="en-GB" dirty="0"/>
          </a:p>
          <a:p>
            <a:pPr marL="0" indent="0">
              <a:buNone/>
            </a:pPr>
            <a:endParaRPr lang="en-GB" dirty="0"/>
          </a:p>
          <a:p>
            <a:r>
              <a:rPr lang="en-GB" i="1" dirty="0">
                <a:sym typeface="Symbol" pitchFamily="18" charset="2"/>
              </a:rPr>
              <a:t>b</a:t>
            </a:r>
            <a:r>
              <a:rPr lang="en-GB" baseline="-25000" dirty="0"/>
              <a:t>0</a:t>
            </a:r>
            <a:r>
              <a:rPr lang="en-GB" dirty="0"/>
              <a:t> is the intercept.</a:t>
            </a:r>
          </a:p>
          <a:p>
            <a:pPr lvl="1"/>
            <a:r>
              <a:rPr lang="en-GB" dirty="0"/>
              <a:t>The intercept is the value of the </a:t>
            </a:r>
            <a:r>
              <a:rPr lang="en-GB" i="1" dirty="0"/>
              <a:t>Y</a:t>
            </a:r>
            <a:r>
              <a:rPr lang="en-GB" dirty="0"/>
              <a:t> variable when all </a:t>
            </a:r>
            <a:r>
              <a:rPr lang="en-GB" i="1" dirty="0" err="1"/>
              <a:t>Xs</a:t>
            </a:r>
            <a:r>
              <a:rPr lang="en-GB" dirty="0"/>
              <a:t> = 0</a:t>
            </a:r>
          </a:p>
          <a:p>
            <a:r>
              <a:rPr lang="en-US" i="1" dirty="0"/>
              <a:t>b</a:t>
            </a:r>
            <a:r>
              <a:rPr lang="en-US" i="1" baseline="-25000" dirty="0"/>
              <a:t>1</a:t>
            </a:r>
            <a:r>
              <a:rPr lang="en-US" dirty="0"/>
              <a:t> is the coefficient for Adverts</a:t>
            </a:r>
          </a:p>
          <a:p>
            <a:r>
              <a:rPr lang="en-US" i="1" dirty="0"/>
              <a:t>b</a:t>
            </a:r>
            <a:r>
              <a:rPr lang="en-US" i="1" baseline="-25000" dirty="0"/>
              <a:t>2</a:t>
            </a:r>
            <a:r>
              <a:rPr lang="en-US" dirty="0"/>
              <a:t> is the coefficient for Airplay</a:t>
            </a:r>
          </a:p>
          <a:p>
            <a:r>
              <a:rPr lang="en-US" i="1" dirty="0"/>
              <a:t>b</a:t>
            </a:r>
            <a:r>
              <a:rPr lang="en-US" i="1" baseline="-25000" dirty="0"/>
              <a:t>n</a:t>
            </a:r>
            <a:r>
              <a:rPr lang="en-US" dirty="0"/>
              <a:t> is the coefficient for </a:t>
            </a:r>
            <a:r>
              <a:rPr lang="en-US" i="1" dirty="0"/>
              <a:t>n</a:t>
            </a:r>
            <a:r>
              <a:rPr lang="en-US" baseline="30000" dirty="0"/>
              <a:t>th</a:t>
            </a:r>
            <a:r>
              <a:rPr lang="en-US" dirty="0"/>
              <a:t> variable.</a:t>
            </a:r>
          </a:p>
          <a:p>
            <a:endParaRPr lang="en-US" dirty="0"/>
          </a:p>
        </p:txBody>
      </p:sp>
      <p:sp>
        <p:nvSpPr>
          <p:cNvPr id="5" name="Slide Number Placeholder 4">
            <a:extLst>
              <a:ext uri="{FF2B5EF4-FFF2-40B4-BE49-F238E27FC236}">
                <a16:creationId xmlns:a16="http://schemas.microsoft.com/office/drawing/2014/main" id="{5869629C-3621-41BA-AFED-F4979369C81C}"/>
              </a:ext>
            </a:extLst>
          </p:cNvPr>
          <p:cNvSpPr>
            <a:spLocks noGrp="1"/>
          </p:cNvSpPr>
          <p:nvPr>
            <p:ph type="sldNum" idx="10"/>
          </p:nvPr>
        </p:nvSpPr>
        <p:spPr>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29</a:t>
            </a:fld>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9EB34D5-2910-4C02-AB3B-D657FC0F6012}"/>
                  </a:ext>
                  <a:ext uri="{C183D7F6-B498-43B3-948B-1728B52AA6E4}">
                    <adec:decorative xmlns:adec="http://schemas.microsoft.com/office/drawing/2017/decorative" val="0"/>
                  </a:ext>
                </a:extLst>
              </p:cNvPr>
              <p:cNvSpPr txBox="1"/>
              <p:nvPr/>
            </p:nvSpPr>
            <p:spPr>
              <a:xfrm>
                <a:off x="2923617" y="2890690"/>
                <a:ext cx="5505036" cy="457200"/>
              </a:xfrm>
              <a:prstGeom prst="rect">
                <a:avLst/>
              </a:prstGeom>
            </p:spPr>
            <p:txBody>
              <a:bodyPr>
                <a:noAutofit/>
              </a:bodyPr>
              <a:lstStyle/>
              <a:p>
                <a:pPr/>
                <a14:m>
                  <m:oMathPara xmlns:m="http://schemas.openxmlformats.org/officeDocument/2006/math">
                    <m:oMathParaPr>
                      <m:jc m:val="left"/>
                    </m:oMathParaPr>
                    <m:o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𝑌</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a:solidFill>
                                    <a:srgbClr val="000000"/>
                                  </a:solidFill>
                                  <a:latin typeface="Cambria Math" panose="02040503050406030204" pitchFamily="18" charset="0"/>
                                </a:rPr>
                                <m:t>2</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i="1">
                                  <a:solidFill>
                                    <a:srgbClr val="000000"/>
                                  </a:solidFill>
                                  <a:latin typeface="Cambria Math" panose="02040503050406030204" pitchFamily="18" charset="0"/>
                                </a:rPr>
                                <m:t>𝑛</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𝑛𝑖</m:t>
                              </m:r>
                            </m:sub>
                          </m:sSub>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𝜀</m:t>
                          </m:r>
                        </m:e>
                        <m:sub>
                          <m:r>
                            <a:rPr lang="en-US" i="1">
                              <a:solidFill>
                                <a:srgbClr val="000000"/>
                              </a:solidFill>
                              <a:latin typeface="Cambria Math" panose="02040503050406030204" pitchFamily="18" charset="0"/>
                            </a:rPr>
                            <m:t>𝑖</m:t>
                          </m:r>
                        </m:sub>
                      </m:sSub>
                    </m:oMath>
                  </m:oMathPara>
                </a14:m>
                <a:endParaRPr lang="en-US" dirty="0"/>
              </a:p>
            </p:txBody>
          </p:sp>
        </mc:Choice>
        <mc:Fallback xmlns="">
          <p:sp>
            <p:nvSpPr>
              <p:cNvPr id="11" name="TextBox 10">
                <a:extLst>
                  <a:ext uri="{FF2B5EF4-FFF2-40B4-BE49-F238E27FC236}">
                    <a16:creationId xmlns:a16="http://schemas.microsoft.com/office/drawing/2014/main" id="{19EB34D5-2910-4C02-AB3B-D657FC0F6012}"/>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2923617" y="2890690"/>
                <a:ext cx="5505036" cy="457200"/>
              </a:xfrm>
              <a:prstGeom prst="rect">
                <a:avLst/>
              </a:prstGeom>
              <a:blipFill>
                <a:blip r:embed="rId3"/>
                <a:stretch>
                  <a:fillRect l="-461" b="-5405"/>
                </a:stretch>
              </a:blipFill>
            </p:spPr>
            <p:txBody>
              <a:bodyPr/>
              <a:lstStyle/>
              <a:p>
                <a:r>
                  <a:rPr lang="en-NL">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sym typeface="Symbol" pitchFamily="18" charset="2"/>
              </a:rPr>
              <a:t>A model with Several Predictors</a:t>
            </a:r>
            <a:endParaRPr lang="en-GB" dirty="0"/>
          </a:p>
        </p:txBody>
      </p:sp>
      <p:sp>
        <p:nvSpPr>
          <p:cNvPr id="9" name="Content Placeholder 8">
            <a:extLst>
              <a:ext uri="{FF2B5EF4-FFF2-40B4-BE49-F238E27FC236}">
                <a16:creationId xmlns:a16="http://schemas.microsoft.com/office/drawing/2014/main" id="{FACFF2D9-AA78-441D-AAD2-6CE955270498}"/>
              </a:ext>
            </a:extLst>
          </p:cNvPr>
          <p:cNvSpPr>
            <a:spLocks noGrp="1"/>
          </p:cNvSpPr>
          <p:nvPr>
            <p:ph idx="1"/>
          </p:nvPr>
        </p:nvSpPr>
        <p:spPr>
          <a:xfrm>
            <a:off x="2152650" y="1700808"/>
            <a:ext cx="7886700" cy="1016427"/>
          </a:xfrm>
        </p:spPr>
        <p:txBody>
          <a:bodyPr/>
          <a:lstStyle/>
          <a:p>
            <a:pPr algn="ctr"/>
            <a:r>
              <a:rPr lang="en-US" sz="2000" dirty="0"/>
              <a:t>Figure 8.11 Matrix scatterplot of the relationships between advertising budget, airplay, image rating and album sales</a:t>
            </a:r>
          </a:p>
        </p:txBody>
      </p:sp>
      <p:pic>
        <p:nvPicPr>
          <p:cNvPr id="5" name="Picture 4" descr="The matrix scatterplot contains 4 variables on the Y-axis and 4 variables on the X-axis to create 12 distinct graphs. &#10;The 4 variables are as follows.&#10;1. Album Sales, in thousands.&#10;2. Advertising Budget, in thousands.&#10;3. Number of plays on the radio.&#10;4. Band image rating, zero to 10.&#10;The data trends for each graph are as follows.&#10;Group 1. Album Sales.&#10;• Album Sales versus Album Sales, in thousands. Histogram of album sales&#10;• Album Sales versus Advertising Budget. Data points concentrated to the left of the graph. The linear trendline is angled at 35 degrees.&#10;• Album Sales versus Airplay. Data points concentrated to the left of the graph. The linear trendline is angled at 45 degrees.&#10;• Album Sales versus Band Image. Data points concentrated in vertical columns to the right of the graph. The linear trendline is angled at 30 degrees.&#10;Group 2. Advertising Budget.&#10;• Advertising Budget versus Album Sales. Data points concentrated at the centre of the graph. The linear trendline is angled at 30 degrees.&#10;• Advertising Budget versus Advertising Budget. Histogram of advertising budget&#10;• Advertising Budget versus Airplay. Data points concentrated at the centre of the graph. The linear trendline is angled at 10 degrees.&#10;• Advertising Budget versus Band Image. Data points concentrated in vertical columns to the right of the graph. The linear trendline is angled at 10 degrees.&#10;Group 3. Number of plays on the radio.&#10;• Airplay versus Album Sales. Data points concentrated at the centre of the graph. The linear trendline is angled at 30 degrees.&#10;• Airplay versus Advertising Budget. Data points concentrated at the centre of the graph. The linear trendline is angled at 10 degrees.&#10;• Airplay versus Airplay. Histogram of airplay&#10;• Airplay versus Band Image. Data points concentrated in vertical columns to the right of the graph. The linear trendline is angled at 20 degrees.&#10;Group 4. Band image rating.&#10;• Band Image versus Album Sales. Data points concentrated in horizontal lines across the graph. The linear trendline is angled at 20 degrees.&#10;• Band Image versus Advertising Budget. Data points concentrated in horizontal lines to the right side of the graph. The linear trendline is angled at 10 degrees.&#10;• Band Image versus Airplay. Data points concentrated in horizontal lines across the graph. The linear trendline is angled at 15 degrees.&#10;• Band Image versus Band Image. histogram of band image.&#10;&#10;Below the diagonal/histograms, the observed correlations are listed, including their 95% confidence intervals.&#10;Sales/adverts: 0.58&#10;Sales/airplay: 0.6&#10;Sales/image: 0.33&#10;Adverts/airplay: 0.1&#10;Adverts/image: 0.08&#10;Airplay/image: 0.18">
            <a:extLst>
              <a:ext uri="{FF2B5EF4-FFF2-40B4-BE49-F238E27FC236}">
                <a16:creationId xmlns:a16="http://schemas.microsoft.com/office/drawing/2014/main" id="{4BD270E9-896B-AE0D-B74A-B9C2FEBABB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9615" y="2878668"/>
            <a:ext cx="4392770" cy="397933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A0E659C-65D6-4588-90F3-73A9D2CADC4D}"/>
              </a:ext>
            </a:extLst>
          </p:cNvPr>
          <p:cNvSpPr>
            <a:spLocks noGrp="1"/>
          </p:cNvSpPr>
          <p:nvPr>
            <p:ph type="title"/>
          </p:nvPr>
        </p:nvSpPr>
        <p:spPr/>
        <p:txBody>
          <a:bodyPr/>
          <a:lstStyle/>
          <a:p>
            <a:r>
              <a:rPr lang="en-GB" dirty="0">
                <a:sym typeface="Symbol" pitchFamily="18" charset="2"/>
              </a:rPr>
              <a:t>Multiple Regression</a:t>
            </a:r>
            <a:endParaRPr lang="en-US" dirty="0"/>
          </a:p>
        </p:txBody>
      </p:sp>
      <p:sp>
        <p:nvSpPr>
          <p:cNvPr id="14" name="Content Placeholder 13">
            <a:extLst>
              <a:ext uri="{FF2B5EF4-FFF2-40B4-BE49-F238E27FC236}">
                <a16:creationId xmlns:a16="http://schemas.microsoft.com/office/drawing/2014/main" id="{E0FA4C3E-9670-4EC8-AE89-07E13832672B}"/>
              </a:ext>
            </a:extLst>
          </p:cNvPr>
          <p:cNvSpPr>
            <a:spLocks noGrp="1"/>
          </p:cNvSpPr>
          <p:nvPr>
            <p:ph idx="1"/>
          </p:nvPr>
        </p:nvSpPr>
        <p:spPr>
          <a:xfrm>
            <a:off x="1868604" y="2032043"/>
            <a:ext cx="8551332" cy="893890"/>
          </a:xfrm>
        </p:spPr>
        <p:txBody>
          <a:bodyPr/>
          <a:lstStyle/>
          <a:p>
            <a:pPr algn="ctr"/>
            <a:r>
              <a:rPr lang="en-US" sz="2400" dirty="0"/>
              <a:t>Figure 8.12 Main menu for block 2 of the multiple regression</a:t>
            </a:r>
          </a:p>
        </p:txBody>
      </p:sp>
      <p:pic>
        <p:nvPicPr>
          <p:cNvPr id="3" name="Picture 2" descr="Screenshot of model specification tab in JASP. On the left, the box shows available variables. On the right, each model has its own box, listing which model components are included. Here, Model 0 (top box on the right) includes Adverts. Model 1 (bottom box on the right) includes Adverts, Image, Airplay. There is a plus button for adding new models and a minus button for removing them.">
            <a:extLst>
              <a:ext uri="{FF2B5EF4-FFF2-40B4-BE49-F238E27FC236}">
                <a16:creationId xmlns:a16="http://schemas.microsoft.com/office/drawing/2014/main" id="{C32B93A2-F438-BE8A-A455-F6C7A3A863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6434" y="3089133"/>
            <a:ext cx="4919133" cy="344978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0EE7A9F-E69F-4734-9214-D3684A44ED62}"/>
              </a:ext>
            </a:extLst>
          </p:cNvPr>
          <p:cNvSpPr>
            <a:spLocks noGrp="1"/>
          </p:cNvSpPr>
          <p:nvPr>
            <p:ph type="title"/>
          </p:nvPr>
        </p:nvSpPr>
        <p:spPr/>
        <p:txBody>
          <a:bodyPr/>
          <a:lstStyle/>
          <a:p>
            <a:r>
              <a:rPr lang="en-US" sz="3200" dirty="0"/>
              <a:t>Normality of Residuals: Histograms and Q-Q Plots</a:t>
            </a:r>
          </a:p>
        </p:txBody>
      </p:sp>
      <p:sp>
        <p:nvSpPr>
          <p:cNvPr id="11" name="Content Placeholder 10">
            <a:extLst>
              <a:ext uri="{FF2B5EF4-FFF2-40B4-BE49-F238E27FC236}">
                <a16:creationId xmlns:a16="http://schemas.microsoft.com/office/drawing/2014/main" id="{DCBC82DD-AE20-4B32-99BC-78B895F7F98B}"/>
              </a:ext>
            </a:extLst>
          </p:cNvPr>
          <p:cNvSpPr>
            <a:spLocks noGrp="1"/>
          </p:cNvSpPr>
          <p:nvPr>
            <p:ph idx="1"/>
          </p:nvPr>
        </p:nvSpPr>
        <p:spPr>
          <a:xfrm>
            <a:off x="2152650" y="1988840"/>
            <a:ext cx="7886700" cy="974482"/>
          </a:xfrm>
        </p:spPr>
        <p:txBody>
          <a:bodyPr/>
          <a:lstStyle/>
          <a:p>
            <a:pPr algn="ctr"/>
            <a:r>
              <a:rPr lang="en-US" sz="1800" dirty="0"/>
              <a:t>Figure 8.17 Histogram and Q-Q plot for the residuals from our model</a:t>
            </a:r>
          </a:p>
        </p:txBody>
      </p:sp>
      <p:sp>
        <p:nvSpPr>
          <p:cNvPr id="6" name="Slide Number Placeholder 5">
            <a:extLst>
              <a:ext uri="{FF2B5EF4-FFF2-40B4-BE49-F238E27FC236}">
                <a16:creationId xmlns:a16="http://schemas.microsoft.com/office/drawing/2014/main" id="{A18625BB-ABFF-4013-880A-88E78B2275A8}"/>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32</a:t>
            </a:fld>
            <a:endParaRPr lang="en-US" dirty="0"/>
          </a:p>
        </p:txBody>
      </p:sp>
      <p:pic>
        <p:nvPicPr>
          <p:cNvPr id="3" name="Picture 2" descr="Chart 1. Histogram.&#10;The dependent variable is album sales.&#10;Density is plotted on the Y-axis. Regression Standardized Residual is plotted on the X-axis with a range from minus 4 to 4.&#10;The graph describes a centrally aligned bell curve. The peak value is at minus 0.2&#10;&#10;Chart 2. Q-Q Plot.&#10;The dependent variable is album sales.&#10;The observed quantiles are plotted on the Y-axis with a range of zero to 1. The expected quantiles are plotted on the X-axis with a range from zero to 1.&#10;A trendline is plotted from 0, 0 to 1, 1. The data points all follow the trendline closely. &#10;">
            <a:extLst>
              <a:ext uri="{FF2B5EF4-FFF2-40B4-BE49-F238E27FC236}">
                <a16:creationId xmlns:a16="http://schemas.microsoft.com/office/drawing/2014/main" id="{EC8053F6-6B8F-AF66-47E7-1119B19186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3038985"/>
            <a:ext cx="7772400" cy="349993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CEFEFAE1-6025-4228-B9F1-B3A508EF92AC}"/>
              </a:ext>
            </a:extLst>
          </p:cNvPr>
          <p:cNvSpPr>
            <a:spLocks noGrp="1"/>
          </p:cNvSpPr>
          <p:nvPr>
            <p:ph type="title"/>
          </p:nvPr>
        </p:nvSpPr>
        <p:spPr/>
        <p:txBody>
          <a:bodyPr/>
          <a:lstStyle/>
          <a:p>
            <a:r>
              <a:rPr lang="en-GB" dirty="0">
                <a:sym typeface="Symbol" pitchFamily="18" charset="2"/>
              </a:rPr>
              <a:t>Model Parameters</a:t>
            </a:r>
            <a:endParaRPr lang="en-US" dirty="0"/>
          </a:p>
        </p:txBody>
      </p:sp>
      <p:sp>
        <p:nvSpPr>
          <p:cNvPr id="9" name="Content Placeholder 8">
            <a:extLst>
              <a:ext uri="{FF2B5EF4-FFF2-40B4-BE49-F238E27FC236}">
                <a16:creationId xmlns:a16="http://schemas.microsoft.com/office/drawing/2014/main" id="{D6128C04-982D-4E19-AF3C-21D94E5804A6}"/>
              </a:ext>
            </a:extLst>
          </p:cNvPr>
          <p:cNvSpPr>
            <a:spLocks noGrp="1"/>
          </p:cNvSpPr>
          <p:nvPr>
            <p:ph idx="1"/>
          </p:nvPr>
        </p:nvSpPr>
        <p:spPr>
          <a:xfrm>
            <a:off x="2152650" y="1611002"/>
            <a:ext cx="7886700" cy="470263"/>
          </a:xfrm>
        </p:spPr>
        <p:txBody>
          <a:bodyPr/>
          <a:lstStyle/>
          <a:p>
            <a:r>
              <a:rPr lang="en-US" dirty="0"/>
              <a:t>Output 8.7</a:t>
            </a:r>
          </a:p>
        </p:txBody>
      </p:sp>
      <p:sp>
        <p:nvSpPr>
          <p:cNvPr id="6" name="Slide Number Placeholder 5">
            <a:extLst>
              <a:ext uri="{FF2B5EF4-FFF2-40B4-BE49-F238E27FC236}">
                <a16:creationId xmlns:a16="http://schemas.microsoft.com/office/drawing/2014/main" id="{0397CBD4-CBC6-4EE3-95B3-E28F7BC5539B}"/>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33</a:t>
            </a:fld>
            <a:endParaRPr lang="en-US" dirty="0"/>
          </a:p>
        </p:txBody>
      </p:sp>
      <p:pic>
        <p:nvPicPr>
          <p:cNvPr id="4" name="Picture 3" descr="A table with numbers and a number on it&#10;&#10;AI-generated content may be incorrect.">
            <a:extLst>
              <a:ext uri="{FF2B5EF4-FFF2-40B4-BE49-F238E27FC236}">
                <a16:creationId xmlns:a16="http://schemas.microsoft.com/office/drawing/2014/main" id="{FAA7F2EF-E338-AC2F-B9F3-BF57E13059DE}"/>
              </a:ext>
            </a:extLst>
          </p:cNvPr>
          <p:cNvPicPr>
            <a:picLocks noChangeAspect="1"/>
          </p:cNvPicPr>
          <p:nvPr/>
        </p:nvPicPr>
        <p:blipFill>
          <a:blip r:embed="rId2"/>
          <a:stretch>
            <a:fillRect/>
          </a:stretch>
        </p:blipFill>
        <p:spPr>
          <a:xfrm>
            <a:off x="2181068" y="2405148"/>
            <a:ext cx="8959801" cy="195995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BDAB844-990B-4C30-B49B-F9BD60478B47}"/>
              </a:ext>
            </a:extLst>
          </p:cNvPr>
          <p:cNvSpPr>
            <a:spLocks noGrp="1"/>
          </p:cNvSpPr>
          <p:nvPr>
            <p:ph type="title"/>
          </p:nvPr>
        </p:nvSpPr>
        <p:spPr/>
        <p:txBody>
          <a:bodyPr/>
          <a:lstStyle/>
          <a:p>
            <a:r>
              <a:rPr lang="en-US" dirty="0"/>
              <a:t>Interpreting Model Parameters</a:t>
            </a:r>
          </a:p>
        </p:txBody>
      </p:sp>
      <p:sp>
        <p:nvSpPr>
          <p:cNvPr id="9" name="Content Placeholder 8">
            <a:extLst>
              <a:ext uri="{FF2B5EF4-FFF2-40B4-BE49-F238E27FC236}">
                <a16:creationId xmlns:a16="http://schemas.microsoft.com/office/drawing/2014/main" id="{7357AED6-89C6-4BBF-AC3C-436B001B314C}"/>
              </a:ext>
            </a:extLst>
          </p:cNvPr>
          <p:cNvSpPr>
            <a:spLocks noGrp="1"/>
          </p:cNvSpPr>
          <p:nvPr>
            <p:ph idx="1"/>
          </p:nvPr>
        </p:nvSpPr>
        <p:spPr/>
        <p:txBody>
          <a:bodyPr/>
          <a:lstStyle/>
          <a:p>
            <a:r>
              <a:rPr lang="en-US" i="1" dirty="0"/>
              <a:t>b</a:t>
            </a:r>
            <a:r>
              <a:rPr lang="en-US" dirty="0"/>
              <a:t>-values:</a:t>
            </a:r>
          </a:p>
          <a:p>
            <a:pPr lvl="1"/>
            <a:r>
              <a:rPr lang="en-US" dirty="0"/>
              <a:t>The change in the outcome associated with a unit change in the predictor.</a:t>
            </a:r>
          </a:p>
          <a:p>
            <a:pPr lvl="1"/>
            <a:r>
              <a:rPr lang="en-US" dirty="0"/>
              <a:t>E.g., </a:t>
            </a:r>
            <a:r>
              <a:rPr lang="en-US" b="1" dirty="0"/>
              <a:t>Advertising budget</a:t>
            </a:r>
            <a:r>
              <a:rPr lang="en-US" dirty="0"/>
              <a:t>: </a:t>
            </a:r>
            <a:r>
              <a:rPr lang="en-US" i="1" dirty="0"/>
              <a:t>b</a:t>
            </a:r>
            <a:r>
              <a:rPr lang="en-US" dirty="0"/>
              <a:t> = 0.085</a:t>
            </a:r>
          </a:p>
          <a:p>
            <a:pPr lvl="2"/>
            <a:r>
              <a:rPr lang="en-US" dirty="0"/>
              <a:t>As advertising budget increases by one unit, album sales increase by 0.085 units. Both variables were measured in thousands; therefore, for every £1000 more spent on advertising, an extra 0.085 thousand albums (85 albums) are sold. This interpretation is true only if the effects of band image and airplay are held constant.</a:t>
            </a:r>
          </a:p>
        </p:txBody>
      </p:sp>
      <p:sp>
        <p:nvSpPr>
          <p:cNvPr id="4" name="Slide Number Placeholder 3">
            <a:extLst>
              <a:ext uri="{FF2B5EF4-FFF2-40B4-BE49-F238E27FC236}">
                <a16:creationId xmlns:a16="http://schemas.microsoft.com/office/drawing/2014/main" id="{D2CEE8BC-0F87-4FF8-A00B-E6A565B1125F}"/>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34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E11723-CD2B-1057-30D8-0C3F274D0C5B}"/>
              </a:ext>
            </a:extLst>
          </p:cNvPr>
          <p:cNvSpPr>
            <a:spLocks noGrp="1"/>
          </p:cNvSpPr>
          <p:nvPr>
            <p:ph type="title"/>
          </p:nvPr>
        </p:nvSpPr>
        <p:spPr/>
        <p:txBody>
          <a:bodyPr/>
          <a:lstStyle/>
          <a:p>
            <a:r>
              <a:rPr lang="en-NL" dirty="0"/>
              <a:t>Regression Exercises</a:t>
            </a:r>
          </a:p>
        </p:txBody>
      </p:sp>
      <p:pic>
        <p:nvPicPr>
          <p:cNvPr id="7" name="Picture 6" descr="Cartoon person with glasses and a hand up&#10;&#10;AI-generated content may be incorrect.">
            <a:extLst>
              <a:ext uri="{FF2B5EF4-FFF2-40B4-BE49-F238E27FC236}">
                <a16:creationId xmlns:a16="http://schemas.microsoft.com/office/drawing/2014/main" id="{C8610372-DE70-77F6-C587-6D670A8AFBE6}"/>
              </a:ext>
            </a:extLst>
          </p:cNvPr>
          <p:cNvPicPr>
            <a:picLocks noChangeAspect="1"/>
          </p:cNvPicPr>
          <p:nvPr/>
        </p:nvPicPr>
        <p:blipFill>
          <a:blip r:embed="rId2"/>
          <a:stretch>
            <a:fillRect/>
          </a:stretch>
        </p:blipFill>
        <p:spPr>
          <a:xfrm>
            <a:off x="2309153" y="2852936"/>
            <a:ext cx="7573694" cy="1768707"/>
          </a:xfrm>
          <a:prstGeom prst="rect">
            <a:avLst/>
          </a:prstGeom>
        </p:spPr>
      </p:pic>
      <p:sp>
        <p:nvSpPr>
          <p:cNvPr id="2" name="TextBox 1">
            <a:extLst>
              <a:ext uri="{FF2B5EF4-FFF2-40B4-BE49-F238E27FC236}">
                <a16:creationId xmlns:a16="http://schemas.microsoft.com/office/drawing/2014/main" id="{8413CD28-2222-A91D-B034-3DBBC754BD4A}"/>
              </a:ext>
            </a:extLst>
          </p:cNvPr>
          <p:cNvSpPr txBox="1"/>
          <p:nvPr/>
        </p:nvSpPr>
        <p:spPr bwMode="auto">
          <a:xfrm>
            <a:off x="3984030" y="5354284"/>
            <a:ext cx="4320480" cy="95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FAA26D3D-D897-4be2-8F04-BA451C77F1D7}">
              <ma14:placeholderFlag xmlns:ma14="http://schemas.microsoft.com/office/mac/drawingml/2011/main" xmlns="" val="1"/>
            </a:ext>
          </a:extLst>
        </p:spPr>
        <p:txBody>
          <a:bodyPr vert="horz" wrap="square" lIns="90000" tIns="46800" rIns="90000" bIns="46800" numCol="1" rtlCol="0" anchor="ctr" anchorCtr="0" compatLnSpc="1">
            <a:prstTxWarp prst="textNoShape">
              <a:avLst/>
            </a:prstTxWarp>
            <a:spAutoFit/>
          </a:bodyPr>
          <a:lstStyle/>
          <a:p>
            <a:pPr algn="ctr"/>
            <a:r>
              <a:rPr lang="en-NL" sz="2800" dirty="0">
                <a:solidFill>
                  <a:schemeClr val="tx2"/>
                </a:solidFill>
                <a:latin typeface="Cantarell" panose="02000603000000000000" pitchFamily="2" charset="0"/>
                <a:hlinkClick r:id="rId3"/>
              </a:rPr>
              <a:t>Alex Examples</a:t>
            </a:r>
            <a:endParaRPr lang="en-NL" sz="2800" dirty="0">
              <a:solidFill>
                <a:schemeClr val="tx2"/>
              </a:solidFill>
              <a:latin typeface="Cantarell" panose="02000603000000000000" pitchFamily="2" charset="0"/>
            </a:endParaRPr>
          </a:p>
          <a:p>
            <a:pPr algn="ctr"/>
            <a:r>
              <a:rPr lang="en-NL" sz="2800" dirty="0">
                <a:solidFill>
                  <a:schemeClr val="tx2"/>
                </a:solidFill>
                <a:latin typeface="Cantarell" panose="02000603000000000000" pitchFamily="2" charset="0"/>
                <a:hlinkClick r:id="rId3"/>
              </a:rPr>
              <a:t>Leni Examples </a:t>
            </a:r>
            <a:endParaRPr lang="en-NL" sz="2800" dirty="0">
              <a:solidFill>
                <a:schemeClr val="tx2"/>
              </a:solidFill>
              <a:latin typeface="Cantarell" panose="02000603000000000000" pitchFamily="2" charset="0"/>
            </a:endParaRPr>
          </a:p>
        </p:txBody>
      </p:sp>
    </p:spTree>
    <p:extLst>
      <p:ext uri="{BB962C8B-B14F-4D97-AF65-F5344CB8AC3E}">
        <p14:creationId xmlns:p14="http://schemas.microsoft.com/office/powerpoint/2010/main" val="15236937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Moderation</a:t>
            </a:r>
          </a:p>
        </p:txBody>
      </p:sp>
      <p:sp>
        <p:nvSpPr>
          <p:cNvPr id="6" name="Content Placeholder 5"/>
          <p:cNvSpPr>
            <a:spLocks noGrp="1"/>
          </p:cNvSpPr>
          <p:nvPr>
            <p:ph idx="1"/>
          </p:nvPr>
        </p:nvSpPr>
        <p:spPr>
          <a:xfrm>
            <a:off x="2152650" y="2020389"/>
            <a:ext cx="8695878" cy="766467"/>
          </a:xfrm>
        </p:spPr>
        <p:txBody>
          <a:bodyPr/>
          <a:lstStyle/>
          <a:p>
            <a:pPr algn="ctr"/>
            <a:r>
              <a:rPr lang="en-US" dirty="0"/>
              <a:t>Figure 10.2 Diagram of the </a:t>
            </a:r>
            <a:r>
              <a:rPr lang="en-US" i="1" dirty="0"/>
              <a:t>conceptual</a:t>
            </a:r>
            <a:r>
              <a:rPr lang="en-US" dirty="0"/>
              <a:t> moderation model</a:t>
            </a:r>
          </a:p>
        </p:txBody>
      </p:sp>
      <p:pic>
        <p:nvPicPr>
          <p:cNvPr id="5" name="Picture 4" descr="A blue box on the left-hand side is labelled, Predictor. An arrow passes from the Predictor box to the right and points to a second blue box labelled, Outcome. &#10;An orange box, labelled Moderator, is positioned above the space between the 2 blue boxes. An arrow points downwards and intersects with the right directional arrow between the 2 blue boxes. The moderator influences the outcome from the predictor.">
            <a:extLst>
              <a:ext uri="{FF2B5EF4-FFF2-40B4-BE49-F238E27FC236}">
                <a16:creationId xmlns:a16="http://schemas.microsoft.com/office/drawing/2014/main" id="{176C83ED-E9A7-465F-A42B-C5DEDB833EB4}"/>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b="24530"/>
          <a:stretch/>
        </p:blipFill>
        <p:spPr>
          <a:xfrm>
            <a:off x="1580047" y="3284984"/>
            <a:ext cx="9755805" cy="2232248"/>
          </a:xfrm>
          <a:prstGeom prst="rect">
            <a:avLst/>
          </a:prstGeom>
        </p:spPr>
      </p:pic>
      <p:sp>
        <p:nvSpPr>
          <p:cNvPr id="8" name="Slide Number Placeholder 7">
            <a:extLst>
              <a:ext uri="{FF2B5EF4-FFF2-40B4-BE49-F238E27FC236}">
                <a16:creationId xmlns:a16="http://schemas.microsoft.com/office/drawing/2014/main" id="{5F0B95C4-507C-4678-8C26-43C9850B9CFD}"/>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36</a:t>
            </a:fld>
            <a:endParaRPr lang="en-US" dirty="0"/>
          </a:p>
        </p:txBody>
      </p:sp>
    </p:spTree>
    <p:extLst>
      <p:ext uri="{BB962C8B-B14F-4D97-AF65-F5344CB8AC3E}">
        <p14:creationId xmlns:p14="http://schemas.microsoft.com/office/powerpoint/2010/main" val="3764255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dirty="0"/>
              <a:t>Do violent video games make people antisocial? </a:t>
            </a:r>
          </a:p>
          <a:p>
            <a:r>
              <a:rPr lang="en-US" dirty="0"/>
              <a:t>Participants</a:t>
            </a:r>
          </a:p>
          <a:p>
            <a:pPr lvl="1"/>
            <a:r>
              <a:rPr lang="en-US" dirty="0"/>
              <a:t>442 youths</a:t>
            </a:r>
          </a:p>
          <a:p>
            <a:r>
              <a:rPr lang="en-US" dirty="0"/>
              <a:t>Variables</a:t>
            </a:r>
          </a:p>
          <a:p>
            <a:pPr lvl="1"/>
            <a:r>
              <a:rPr lang="en-US" dirty="0"/>
              <a:t>Aggression</a:t>
            </a:r>
          </a:p>
          <a:p>
            <a:pPr lvl="1"/>
            <a:r>
              <a:rPr lang="en-US" dirty="0"/>
              <a:t>Callous unemotional traits (</a:t>
            </a:r>
            <a:r>
              <a:rPr lang="en-US" dirty="0" err="1"/>
              <a:t>CaUnTs</a:t>
            </a:r>
            <a:r>
              <a:rPr lang="en-US" dirty="0"/>
              <a:t>)</a:t>
            </a:r>
          </a:p>
          <a:p>
            <a:pPr lvl="1"/>
            <a:r>
              <a:rPr lang="en-US" dirty="0"/>
              <a:t>Number of hours spent playing video games per week</a:t>
            </a:r>
          </a:p>
          <a:p>
            <a:r>
              <a:rPr lang="en-US" dirty="0"/>
              <a:t>Is ‘</a:t>
            </a:r>
            <a:r>
              <a:rPr lang="en-US" dirty="0" err="1"/>
              <a:t>CaUnTs</a:t>
            </a:r>
            <a:r>
              <a:rPr lang="en-US" dirty="0"/>
              <a:t>’ a moderator?</a:t>
            </a:r>
          </a:p>
          <a:p>
            <a:r>
              <a:rPr lang="en-US" dirty="0"/>
              <a:t>Warning </a:t>
            </a:r>
          </a:p>
          <a:p>
            <a:pPr lvl="1"/>
            <a:r>
              <a:rPr lang="en-US" dirty="0">
                <a:hlinkClick r:id="rId2"/>
              </a:rPr>
              <a:t>That’s a Lot to Process! Pitfalls of Popular Path Models</a:t>
            </a:r>
            <a:endParaRPr lang="en-US" dirty="0"/>
          </a:p>
          <a:p>
            <a:endParaRPr lang="en-US" dirty="0"/>
          </a:p>
          <a:p>
            <a:pPr lvl="1"/>
            <a:endParaRPr lang="en-US" dirty="0"/>
          </a:p>
        </p:txBody>
      </p:sp>
      <p:sp>
        <p:nvSpPr>
          <p:cNvPr id="6" name="Slide Number Placeholder 5">
            <a:extLst>
              <a:ext uri="{FF2B5EF4-FFF2-40B4-BE49-F238E27FC236}">
                <a16:creationId xmlns:a16="http://schemas.microsoft.com/office/drawing/2014/main" id="{E59F5B6B-02B5-4CF0-A724-82768180A5BA}"/>
              </a:ext>
            </a:extLst>
          </p:cNvPr>
          <p:cNvSpPr>
            <a:spLocks noGrp="1"/>
          </p:cNvSpPr>
          <p:nvPr>
            <p:ph type="sldNum" idx="10"/>
          </p:nvPr>
        </p:nvSpPr>
        <p:spPr>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37</a:t>
            </a:fld>
            <a:endParaRPr lang="en-US" dirty="0"/>
          </a:p>
        </p:txBody>
      </p:sp>
      <p:pic>
        <p:nvPicPr>
          <p:cNvPr id="2050" name="Picture 2" descr="Free sign warning danger vector">
            <a:extLst>
              <a:ext uri="{FF2B5EF4-FFF2-40B4-BE49-F238E27FC236}">
                <a16:creationId xmlns:a16="http://schemas.microsoft.com/office/drawing/2014/main" id="{9C9C7652-416F-D6A6-1D46-00CAF8B181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6923" y="5090956"/>
            <a:ext cx="1765077" cy="1514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2526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E9CA8-5FC8-9A5D-EA29-D0736F0ECA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21A793-029D-03D4-E441-48C3EE801995}"/>
              </a:ext>
            </a:extLst>
          </p:cNvPr>
          <p:cNvSpPr>
            <a:spLocks noGrp="1"/>
          </p:cNvSpPr>
          <p:nvPr>
            <p:ph type="title"/>
          </p:nvPr>
        </p:nvSpPr>
        <p:spPr/>
        <p:txBody>
          <a:bodyPr/>
          <a:lstStyle/>
          <a:p>
            <a:r>
              <a:rPr lang="en-US" dirty="0"/>
              <a:t>Moderation</a:t>
            </a:r>
          </a:p>
        </p:txBody>
      </p:sp>
      <p:sp>
        <p:nvSpPr>
          <p:cNvPr id="6" name="Content Placeholder 5">
            <a:extLst>
              <a:ext uri="{FF2B5EF4-FFF2-40B4-BE49-F238E27FC236}">
                <a16:creationId xmlns:a16="http://schemas.microsoft.com/office/drawing/2014/main" id="{5E727E30-3AF9-DA38-1E47-559E1A73C72B}"/>
              </a:ext>
            </a:extLst>
          </p:cNvPr>
          <p:cNvSpPr>
            <a:spLocks noGrp="1"/>
          </p:cNvSpPr>
          <p:nvPr>
            <p:ph idx="1"/>
          </p:nvPr>
        </p:nvSpPr>
        <p:spPr>
          <a:xfrm>
            <a:off x="2122266" y="1507471"/>
            <a:ext cx="8695878" cy="766467"/>
          </a:xfrm>
        </p:spPr>
        <p:txBody>
          <a:bodyPr/>
          <a:lstStyle/>
          <a:p>
            <a:pPr algn="ctr"/>
            <a:r>
              <a:rPr lang="en-US" dirty="0"/>
              <a:t>Figure 10.4 Callousness as a moderator</a:t>
            </a:r>
          </a:p>
        </p:txBody>
      </p:sp>
      <p:sp>
        <p:nvSpPr>
          <p:cNvPr id="8" name="Slide Number Placeholder 7">
            <a:extLst>
              <a:ext uri="{FF2B5EF4-FFF2-40B4-BE49-F238E27FC236}">
                <a16:creationId xmlns:a16="http://schemas.microsoft.com/office/drawing/2014/main" id="{3F984A35-6322-2A77-4481-3B177A333744}"/>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38</a:t>
            </a:fld>
            <a:endParaRPr lang="en-US" dirty="0"/>
          </a:p>
        </p:txBody>
      </p:sp>
      <p:pic>
        <p:nvPicPr>
          <p:cNvPr id="2" name="Picture 1" descr="Graph 1. No moderation or Interaction.&#10;Predicted aggression is plotted on the Z-axis. Video Games are plotted on the X-axis. Callous Traits are plotted on the Y-axis.&#10;The regression plane trapezium is tilted at a right-angle along the Z-axis. Annotations state that Callous traits range from low to high along the plane on both the X and Z axes.&#10;Aggression increases in line with the number of hours playing video games and the level of callousness.&#10;Graph 2. Moderation or Interaction.&#10;Predicted aggression is plotted on the Z-axis. Video Games are plotted on the X-axis. Callous Traits are plotted on the Y-axis.&#10;The regression plane trapezium is slightly twisted along the Z-axis. Annotations state that Callous traits range from low to high along the plane on the Z axis and from medium to low on the X-axis.&#10;Aggression increases in line with the number of hours playing video games and the level of callousness, but at low callousness levels, the level of aggression decreases.&#10;">
            <a:extLst>
              <a:ext uri="{FF2B5EF4-FFF2-40B4-BE49-F238E27FC236}">
                <a16:creationId xmlns:a16="http://schemas.microsoft.com/office/drawing/2014/main" id="{49253D78-315E-AB82-5DEC-B730A48ED99B}"/>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b="8756"/>
          <a:stretch/>
        </p:blipFill>
        <p:spPr>
          <a:xfrm>
            <a:off x="2019179" y="2412910"/>
            <a:ext cx="8153641" cy="4447540"/>
          </a:xfrm>
          <a:prstGeom prst="rect">
            <a:avLst/>
          </a:prstGeom>
        </p:spPr>
      </p:pic>
    </p:spTree>
    <p:extLst>
      <p:ext uri="{BB962C8B-B14F-4D97-AF65-F5344CB8AC3E}">
        <p14:creationId xmlns:p14="http://schemas.microsoft.com/office/powerpoint/2010/main" val="4294183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Moderation Analysis in JASP</a:t>
            </a:r>
          </a:p>
        </p:txBody>
      </p:sp>
      <p:sp>
        <p:nvSpPr>
          <p:cNvPr id="7" name="Content Placeholder 6">
            <a:extLst>
              <a:ext uri="{FF2B5EF4-FFF2-40B4-BE49-F238E27FC236}">
                <a16:creationId xmlns:a16="http://schemas.microsoft.com/office/drawing/2014/main" id="{893C1FE1-938E-4362-996D-DC1AE5A497AB}"/>
              </a:ext>
            </a:extLst>
          </p:cNvPr>
          <p:cNvSpPr>
            <a:spLocks noGrp="1"/>
          </p:cNvSpPr>
          <p:nvPr>
            <p:ph idx="1"/>
          </p:nvPr>
        </p:nvSpPr>
        <p:spPr>
          <a:xfrm>
            <a:off x="2152650" y="2020388"/>
            <a:ext cx="7886700" cy="789924"/>
          </a:xfrm>
        </p:spPr>
        <p:txBody>
          <a:bodyPr/>
          <a:lstStyle/>
          <a:p>
            <a:pPr algn="ctr"/>
            <a:r>
              <a:rPr lang="en-US" dirty="0"/>
              <a:t>Figure 10.6 The main menu for running moderation analysis in the Process module</a:t>
            </a:r>
          </a:p>
          <a:p>
            <a:pPr algn="ctr"/>
            <a:endParaRPr lang="en-US" dirty="0"/>
          </a:p>
        </p:txBody>
      </p:sp>
      <p:pic>
        <p:nvPicPr>
          <p:cNvPr id="5" name="Picture 4" descr="A screenshot of a computer&#10;&#10;Description automatically generated">
            <a:extLst>
              <a:ext uri="{FF2B5EF4-FFF2-40B4-BE49-F238E27FC236}">
                <a16:creationId xmlns:a16="http://schemas.microsoft.com/office/drawing/2014/main" id="{4C07141D-049E-1DE7-EBB3-247A863BB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1568" y="3077987"/>
            <a:ext cx="5108864" cy="3356308"/>
          </a:xfrm>
          <a:prstGeom prst="rect">
            <a:avLst/>
          </a:prstGeom>
        </p:spPr>
      </p:pic>
    </p:spTree>
    <p:extLst>
      <p:ext uri="{BB962C8B-B14F-4D97-AF65-F5344CB8AC3E}">
        <p14:creationId xmlns:p14="http://schemas.microsoft.com/office/powerpoint/2010/main" val="7228544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Moderation Analysis in JASP</a:t>
            </a:r>
          </a:p>
        </p:txBody>
      </p:sp>
      <p:sp>
        <p:nvSpPr>
          <p:cNvPr id="7" name="Content Placeholder 6">
            <a:extLst>
              <a:ext uri="{FF2B5EF4-FFF2-40B4-BE49-F238E27FC236}">
                <a16:creationId xmlns:a16="http://schemas.microsoft.com/office/drawing/2014/main" id="{893C1FE1-938E-4362-996D-DC1AE5A497AB}"/>
              </a:ext>
            </a:extLst>
          </p:cNvPr>
          <p:cNvSpPr>
            <a:spLocks noGrp="1"/>
          </p:cNvSpPr>
          <p:nvPr>
            <p:ph idx="1"/>
          </p:nvPr>
        </p:nvSpPr>
        <p:spPr>
          <a:xfrm>
            <a:off x="2152650" y="2020388"/>
            <a:ext cx="7886700" cy="789924"/>
          </a:xfrm>
        </p:spPr>
        <p:txBody>
          <a:bodyPr/>
          <a:lstStyle/>
          <a:p>
            <a:pPr algn="ctr"/>
            <a:r>
              <a:rPr lang="en-US" dirty="0"/>
              <a:t>Figure 10.7 Menu for the model builder for a moderation analysis</a:t>
            </a:r>
          </a:p>
          <a:p>
            <a:pPr algn="ctr"/>
            <a:endParaRPr lang="en-US" dirty="0"/>
          </a:p>
        </p:txBody>
      </p:sp>
      <p:pic>
        <p:nvPicPr>
          <p:cNvPr id="6" name="Picture 5" descr="A screenshot of a computer&#10;&#10;Description automatically generated">
            <a:extLst>
              <a:ext uri="{FF2B5EF4-FFF2-40B4-BE49-F238E27FC236}">
                <a16:creationId xmlns:a16="http://schemas.microsoft.com/office/drawing/2014/main" id="{471E01FE-35FF-737F-3482-B34F0F1184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3300632"/>
            <a:ext cx="7772400" cy="2565400"/>
          </a:xfrm>
          <a:prstGeom prst="rect">
            <a:avLst/>
          </a:prstGeom>
        </p:spPr>
      </p:pic>
    </p:spTree>
    <p:extLst>
      <p:ext uri="{BB962C8B-B14F-4D97-AF65-F5344CB8AC3E}">
        <p14:creationId xmlns:p14="http://schemas.microsoft.com/office/powerpoint/2010/main" val="19854096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FAF3D3-15AA-4B9B-AA0D-8F91A2FB09D2}"/>
              </a:ext>
            </a:extLst>
          </p:cNvPr>
          <p:cNvSpPr>
            <a:spLocks noGrp="1"/>
          </p:cNvSpPr>
          <p:nvPr>
            <p:ph type="title"/>
          </p:nvPr>
        </p:nvSpPr>
        <p:spPr/>
        <p:txBody>
          <a:bodyPr>
            <a:noAutofit/>
          </a:bodyPr>
          <a:lstStyle/>
          <a:p>
            <a:r>
              <a:rPr lang="en-US" sz="2800" dirty="0"/>
              <a:t>Figure 10.9 </a:t>
            </a:r>
            <a:r>
              <a:rPr lang="en-GB" sz="2800" dirty="0">
                <a:effectLst/>
                <a:latin typeface="Helvetica" pitchFamily="2" charset="0"/>
              </a:rPr>
              <a:t>Plotting the interaction effect using </a:t>
            </a:r>
            <a:r>
              <a:rPr lang="en-GB" sz="2800" dirty="0" err="1">
                <a:effectLst/>
                <a:latin typeface="Helvetica" pitchFamily="2" charset="0"/>
              </a:rPr>
              <a:t>Flexplot</a:t>
            </a:r>
            <a:r>
              <a:rPr lang="en-GB" sz="2800" dirty="0">
                <a:effectLst/>
                <a:latin typeface="Helvetica" pitchFamily="2" charset="0"/>
              </a:rPr>
              <a:t>, where Callous traits is binned</a:t>
            </a:r>
            <a:endParaRPr lang="en-US" sz="2800" dirty="0"/>
          </a:p>
        </p:txBody>
      </p:sp>
      <p:sp>
        <p:nvSpPr>
          <p:cNvPr id="2" name="Slide Number Placeholder 1">
            <a:extLst>
              <a:ext uri="{FF2B5EF4-FFF2-40B4-BE49-F238E27FC236}">
                <a16:creationId xmlns:a16="http://schemas.microsoft.com/office/drawing/2014/main" id="{556F6DEB-B608-496E-8668-A009A01F5DDD}"/>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41</a:t>
            </a:fld>
            <a:endParaRPr lang="en-US" dirty="0"/>
          </a:p>
        </p:txBody>
      </p:sp>
      <p:pic>
        <p:nvPicPr>
          <p:cNvPr id="4" name="Picture 3" descr="A diagram of a video game&#10;&#10;Description automatically generated">
            <a:extLst>
              <a:ext uri="{FF2B5EF4-FFF2-40B4-BE49-F238E27FC236}">
                <a16:creationId xmlns:a16="http://schemas.microsoft.com/office/drawing/2014/main" id="{A2EBCB41-143F-BAEC-509A-F8B0399BBD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4818" y="1889706"/>
            <a:ext cx="6442364" cy="4831773"/>
          </a:xfrm>
          <a:prstGeom prst="rect">
            <a:avLst/>
          </a:prstGeom>
        </p:spPr>
      </p:pic>
    </p:spTree>
    <p:extLst>
      <p:ext uri="{BB962C8B-B14F-4D97-AF65-F5344CB8AC3E}">
        <p14:creationId xmlns:p14="http://schemas.microsoft.com/office/powerpoint/2010/main" val="81927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Mediation</a:t>
            </a:r>
          </a:p>
        </p:txBody>
      </p:sp>
      <p:sp>
        <p:nvSpPr>
          <p:cNvPr id="7" name="Content Placeholder 6">
            <a:extLst>
              <a:ext uri="{FF2B5EF4-FFF2-40B4-BE49-F238E27FC236}">
                <a16:creationId xmlns:a16="http://schemas.microsoft.com/office/drawing/2014/main" id="{115E292F-6F15-4824-AFFC-B26C0FF12716}"/>
              </a:ext>
            </a:extLst>
          </p:cNvPr>
          <p:cNvSpPr>
            <a:spLocks noGrp="1"/>
          </p:cNvSpPr>
          <p:nvPr>
            <p:ph idx="1"/>
          </p:nvPr>
        </p:nvSpPr>
        <p:spPr>
          <a:xfrm>
            <a:off x="2152650" y="2020388"/>
            <a:ext cx="7886700" cy="840258"/>
          </a:xfrm>
        </p:spPr>
        <p:txBody>
          <a:bodyPr/>
          <a:lstStyle/>
          <a:p>
            <a:pPr algn="ctr"/>
            <a:r>
              <a:rPr lang="en-US" dirty="0"/>
              <a:t>Figure 11.9 Diagram of a mediation model</a:t>
            </a:r>
          </a:p>
        </p:txBody>
      </p:sp>
      <p:pic>
        <p:nvPicPr>
          <p:cNvPr id="10" name="Picture 9" descr="Flowchart 1. Simple Relationship.&#10;A box on the left-hand side, labelled Predictor, is connected to a box, labelled Outcome, on the right-hand side, by a right directional arrow. The arrow is labelled Total Effect.&#10;Flowchart 2. Mediated Relationship.&#10;A box on the left-hand side, labelled Predictor, is connected to a box, labelled Outcome, on the right-hand side, by a right directional arrow. The arrow is labelled C. The direct link between Predictor and Outcome is known as the Direct Effect.&#10;A third box, labelled Mediator, is positioned above the gap between the 2 other boxes. An arrow, labelled A, links Predictor to Mediator. A second arrow, labelled B, links Mediator to Outcome. The inclusion of the Mediator is known as the Indirect Effect.">
            <a:extLst>
              <a:ext uri="{FF2B5EF4-FFF2-40B4-BE49-F238E27FC236}">
                <a16:creationId xmlns:a16="http://schemas.microsoft.com/office/drawing/2014/main" id="{5CF69BC1-F923-419D-ABD1-2E0E7D02B6BD}"/>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l="8495" b="10345"/>
          <a:stretch>
            <a:fillRect/>
          </a:stretch>
        </p:blipFill>
        <p:spPr>
          <a:xfrm>
            <a:off x="3381218" y="2780928"/>
            <a:ext cx="5429564" cy="3831043"/>
          </a:xfrm>
          <a:prstGeom prst="rect">
            <a:avLst/>
          </a:prstGeom>
        </p:spPr>
      </p:pic>
    </p:spTree>
    <p:extLst>
      <p:ext uri="{BB962C8B-B14F-4D97-AF65-F5344CB8AC3E}">
        <p14:creationId xmlns:p14="http://schemas.microsoft.com/office/powerpoint/2010/main" val="15894164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Mediation Example</a:t>
            </a:r>
          </a:p>
        </p:txBody>
      </p:sp>
      <p:sp>
        <p:nvSpPr>
          <p:cNvPr id="7" name="Content Placeholder 6">
            <a:extLst>
              <a:ext uri="{FF2B5EF4-FFF2-40B4-BE49-F238E27FC236}">
                <a16:creationId xmlns:a16="http://schemas.microsoft.com/office/drawing/2014/main" id="{714BB977-DACB-43AA-88B2-7D1DD3E37FB0}"/>
              </a:ext>
            </a:extLst>
          </p:cNvPr>
          <p:cNvSpPr>
            <a:spLocks noGrp="1"/>
          </p:cNvSpPr>
          <p:nvPr>
            <p:ph idx="1"/>
          </p:nvPr>
        </p:nvSpPr>
        <p:spPr>
          <a:xfrm>
            <a:off x="2152650" y="2020388"/>
            <a:ext cx="7886700" cy="1184206"/>
          </a:xfrm>
        </p:spPr>
        <p:txBody>
          <a:bodyPr/>
          <a:lstStyle/>
          <a:p>
            <a:pPr algn="ctr"/>
            <a:r>
              <a:rPr lang="en-US" dirty="0"/>
              <a:t>Figure 10.12 Diagram of a mediation model from Lambert et al. (2012)</a:t>
            </a:r>
          </a:p>
        </p:txBody>
      </p:sp>
      <p:pic>
        <p:nvPicPr>
          <p:cNvPr id="9" name="Picture 8" descr="A box on the left-hand side, labelled Pornography Consumption, is connected to a box, labelled Infidelity, on the right-hand side, by a right directional arrow. The arrow is labelled C. The direct link between Pornography Consumption and Infidelity is known as the Direct Effect.&#10;A third box, labelled Relationship Commitment, is positioned above the gap between the 2 other boxes. An arrow, labelled A, links Pornography Consumption to Relationship Commitment. A second arrow, labelled B, links Relationship Commitment to Infidelity. The inclusion of the Relationship Commitment is known as the Indirect Effect.">
            <a:extLst>
              <a:ext uri="{FF2B5EF4-FFF2-40B4-BE49-F238E27FC236}">
                <a16:creationId xmlns:a16="http://schemas.microsoft.com/office/drawing/2014/main" id="{471AB71F-FF36-4A5C-8EAC-181179FE1A77}"/>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l="11849" b="10845"/>
          <a:stretch>
            <a:fillRect/>
          </a:stretch>
        </p:blipFill>
        <p:spPr>
          <a:xfrm>
            <a:off x="3350734" y="3501008"/>
            <a:ext cx="5490532" cy="2743200"/>
          </a:xfrm>
          <a:prstGeom prst="rect">
            <a:avLst/>
          </a:prstGeom>
        </p:spPr>
      </p:pic>
    </p:spTree>
    <p:extLst>
      <p:ext uri="{BB962C8B-B14F-4D97-AF65-F5344CB8AC3E}">
        <p14:creationId xmlns:p14="http://schemas.microsoft.com/office/powerpoint/2010/main" val="32653523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Mediation Analysis in JASP</a:t>
            </a:r>
          </a:p>
        </p:txBody>
      </p:sp>
      <p:sp>
        <p:nvSpPr>
          <p:cNvPr id="7" name="Content Placeholder 6">
            <a:extLst>
              <a:ext uri="{FF2B5EF4-FFF2-40B4-BE49-F238E27FC236}">
                <a16:creationId xmlns:a16="http://schemas.microsoft.com/office/drawing/2014/main" id="{42B54595-B663-42C4-8D38-D8A0049BDBFB}"/>
              </a:ext>
            </a:extLst>
          </p:cNvPr>
          <p:cNvSpPr>
            <a:spLocks noGrp="1"/>
          </p:cNvSpPr>
          <p:nvPr>
            <p:ph idx="1"/>
          </p:nvPr>
        </p:nvSpPr>
        <p:spPr>
          <a:xfrm>
            <a:off x="2152650" y="2020389"/>
            <a:ext cx="8335838" cy="798313"/>
          </a:xfrm>
        </p:spPr>
        <p:txBody>
          <a:bodyPr/>
          <a:lstStyle/>
          <a:p>
            <a:pPr algn="ctr"/>
            <a:r>
              <a:rPr lang="en-US" dirty="0"/>
              <a:t>Figure 10.14 The menu for specifying a mediation path</a:t>
            </a:r>
          </a:p>
        </p:txBody>
      </p:sp>
      <p:pic>
        <p:nvPicPr>
          <p:cNvPr id="3" name="Picture 2" descr="Specifying the mediation path by selecting which relationship is being mediated, and which variable is the mediator. This is done using the path specifier mode">
            <a:extLst>
              <a:ext uri="{FF2B5EF4-FFF2-40B4-BE49-F238E27FC236}">
                <a16:creationId xmlns:a16="http://schemas.microsoft.com/office/drawing/2014/main" id="{100AE7CD-A4E6-30E4-4B5F-F71D8D6ECEB7}"/>
              </a:ext>
            </a:extLst>
          </p:cNvPr>
          <p:cNvPicPr>
            <a:picLocks noChangeAspect="1"/>
          </p:cNvPicPr>
          <p:nvPr/>
        </p:nvPicPr>
        <p:blipFill>
          <a:blip r:embed="rId2"/>
          <a:stretch>
            <a:fillRect/>
          </a:stretch>
        </p:blipFill>
        <p:spPr>
          <a:xfrm>
            <a:off x="3588195" y="2954954"/>
            <a:ext cx="4341801" cy="3265147"/>
          </a:xfrm>
          <a:prstGeom prst="rect">
            <a:avLst/>
          </a:prstGeom>
        </p:spPr>
      </p:pic>
    </p:spTree>
    <p:extLst>
      <p:ext uri="{BB962C8B-B14F-4D97-AF65-F5344CB8AC3E}">
        <p14:creationId xmlns:p14="http://schemas.microsoft.com/office/powerpoint/2010/main" val="40977531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Mediation Model with Two Mediators</a:t>
            </a:r>
          </a:p>
        </p:txBody>
      </p:sp>
      <p:sp>
        <p:nvSpPr>
          <p:cNvPr id="9" name="Content Placeholder 8">
            <a:extLst>
              <a:ext uri="{FF2B5EF4-FFF2-40B4-BE49-F238E27FC236}">
                <a16:creationId xmlns:a16="http://schemas.microsoft.com/office/drawing/2014/main" id="{5C54DB3D-B650-44B4-B659-6E2C464180BC}"/>
              </a:ext>
            </a:extLst>
          </p:cNvPr>
          <p:cNvSpPr>
            <a:spLocks noGrp="1"/>
          </p:cNvSpPr>
          <p:nvPr>
            <p:ph idx="1"/>
          </p:nvPr>
        </p:nvSpPr>
        <p:spPr>
          <a:xfrm>
            <a:off x="2152650" y="2020389"/>
            <a:ext cx="7886700" cy="848647"/>
          </a:xfrm>
        </p:spPr>
        <p:txBody>
          <a:bodyPr/>
          <a:lstStyle/>
          <a:p>
            <a:pPr algn="ctr"/>
            <a:r>
              <a:rPr lang="en-US" dirty="0"/>
              <a:t>Figure 10.16 A mediation model with two mediators (Bronstein, 2019)</a:t>
            </a:r>
          </a:p>
        </p:txBody>
      </p:sp>
      <p:pic>
        <p:nvPicPr>
          <p:cNvPr id="11" name="Picture 10" descr="A box on the left-hand side, labelled Delusional Thinking, is connected to a box, labelled Belief in Fake News, on the right-hand side, by a right directional arrow. This is the Direct Effect.&#10;A third box, labelled Open-minded Thinking, is positioned above the gap between the 2 main boxes. An arrow, labelled A subscript 1, links Delusional Thinking to Open-minded Thinking. A second arrow, labelled B subscript 1, links Open-minded Thinking to Belief in Fake News. This is an Indirect Effect.&#10;A fourth box, labelled Analytic Thinking, is positioned above the Open-minded Thinking box. An arrow, labelled A subscript 2, links Delusional Thinking to Analytic Thinking. A second arrow, labelled B subscript 2, links Analytic Thinking to Belief in Fake News. This is an Indirect Effect.&#10;">
            <a:extLst>
              <a:ext uri="{FF2B5EF4-FFF2-40B4-BE49-F238E27FC236}">
                <a16:creationId xmlns:a16="http://schemas.microsoft.com/office/drawing/2014/main" id="{87CB5323-102F-4F5D-9770-BB9AA74AD88C}"/>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l="12674" b="9850"/>
          <a:stretch>
            <a:fillRect/>
          </a:stretch>
        </p:blipFill>
        <p:spPr>
          <a:xfrm>
            <a:off x="3484780" y="3093808"/>
            <a:ext cx="5222440" cy="3017520"/>
          </a:xfrm>
          <a:prstGeom prst="rect">
            <a:avLst/>
          </a:prstGeom>
        </p:spPr>
      </p:pic>
      <p:sp>
        <p:nvSpPr>
          <p:cNvPr id="7" name="Slide Number Placeholder 6">
            <a:extLst>
              <a:ext uri="{FF2B5EF4-FFF2-40B4-BE49-F238E27FC236}">
                <a16:creationId xmlns:a16="http://schemas.microsoft.com/office/drawing/2014/main" id="{38BBD642-53BC-457B-B86F-485DFBD6163C}"/>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45</a:t>
            </a:fld>
            <a:endParaRPr lang="en-US" dirty="0"/>
          </a:p>
        </p:txBody>
      </p:sp>
    </p:spTree>
    <p:extLst>
      <p:ext uri="{BB962C8B-B14F-4D97-AF65-F5344CB8AC3E}">
        <p14:creationId xmlns:p14="http://schemas.microsoft.com/office/powerpoint/2010/main" val="13549677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44A19E6-E50D-48BF-8826-A4C7BB34C6FD}"/>
              </a:ext>
            </a:extLst>
          </p:cNvPr>
          <p:cNvSpPr>
            <a:spLocks noGrp="1"/>
          </p:cNvSpPr>
          <p:nvPr>
            <p:ph type="title"/>
          </p:nvPr>
        </p:nvSpPr>
        <p:spPr/>
        <p:txBody>
          <a:bodyPr>
            <a:normAutofit fontScale="90000"/>
          </a:bodyPr>
          <a:lstStyle/>
          <a:p>
            <a:r>
              <a:rPr lang="en-US" dirty="0"/>
              <a:t>Figure 10.17 The dialogue boxes for running mediation analysis with two mediators</a:t>
            </a:r>
          </a:p>
        </p:txBody>
      </p:sp>
      <p:sp>
        <p:nvSpPr>
          <p:cNvPr id="2" name="Slide Number Placeholder 1">
            <a:extLst>
              <a:ext uri="{FF2B5EF4-FFF2-40B4-BE49-F238E27FC236}">
                <a16:creationId xmlns:a16="http://schemas.microsoft.com/office/drawing/2014/main" id="{0E23629C-5A94-45D5-B22C-22F1B65A5980}"/>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46</a:t>
            </a:fld>
            <a:endParaRPr lang="en-US" dirty="0"/>
          </a:p>
        </p:txBody>
      </p:sp>
      <p:pic>
        <p:nvPicPr>
          <p:cNvPr id="4" name="Picture 3" descr="A screenshot of a computer&#10;&#10;Description automatically generated">
            <a:extLst>
              <a:ext uri="{FF2B5EF4-FFF2-40B4-BE49-F238E27FC236}">
                <a16:creationId xmlns:a16="http://schemas.microsoft.com/office/drawing/2014/main" id="{B244D929-CF79-35BD-17D7-DAFFF43348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2536537"/>
            <a:ext cx="7772400" cy="3269941"/>
          </a:xfrm>
          <a:prstGeom prst="rect">
            <a:avLst/>
          </a:prstGeom>
        </p:spPr>
      </p:pic>
    </p:spTree>
    <p:extLst>
      <p:ext uri="{BB962C8B-B14F-4D97-AF65-F5344CB8AC3E}">
        <p14:creationId xmlns:p14="http://schemas.microsoft.com/office/powerpoint/2010/main" val="30198573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242B3-4BD6-97C4-28B1-8A5A49A834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E959D8-577D-98D1-85BC-35B59D639EF0}"/>
              </a:ext>
            </a:extLst>
          </p:cNvPr>
          <p:cNvSpPr>
            <a:spLocks noGrp="1"/>
          </p:cNvSpPr>
          <p:nvPr>
            <p:ph type="title"/>
          </p:nvPr>
        </p:nvSpPr>
        <p:spPr/>
        <p:txBody>
          <a:bodyPr/>
          <a:lstStyle/>
          <a:p>
            <a:r>
              <a:rPr lang="en-NL" dirty="0"/>
              <a:t>Moderation &amp; Mediation</a:t>
            </a:r>
          </a:p>
        </p:txBody>
      </p:sp>
      <p:pic>
        <p:nvPicPr>
          <p:cNvPr id="7" name="Picture 6" descr="Cartoon person with glasses and a hand up&#10;&#10;AI-generated content may be incorrect.">
            <a:extLst>
              <a:ext uri="{FF2B5EF4-FFF2-40B4-BE49-F238E27FC236}">
                <a16:creationId xmlns:a16="http://schemas.microsoft.com/office/drawing/2014/main" id="{5C9C7249-47A6-1A82-6ED3-4F104075D84C}"/>
              </a:ext>
            </a:extLst>
          </p:cNvPr>
          <p:cNvPicPr>
            <a:picLocks noChangeAspect="1"/>
          </p:cNvPicPr>
          <p:nvPr/>
        </p:nvPicPr>
        <p:blipFill>
          <a:blip r:embed="rId2"/>
          <a:stretch>
            <a:fillRect/>
          </a:stretch>
        </p:blipFill>
        <p:spPr>
          <a:xfrm>
            <a:off x="2309153" y="2852936"/>
            <a:ext cx="7573694" cy="1768707"/>
          </a:xfrm>
          <a:prstGeom prst="rect">
            <a:avLst/>
          </a:prstGeom>
        </p:spPr>
      </p:pic>
      <p:sp>
        <p:nvSpPr>
          <p:cNvPr id="2" name="TextBox 1">
            <a:extLst>
              <a:ext uri="{FF2B5EF4-FFF2-40B4-BE49-F238E27FC236}">
                <a16:creationId xmlns:a16="http://schemas.microsoft.com/office/drawing/2014/main" id="{36C6A96D-E2D7-8389-30E7-EF9E9247F51A}"/>
              </a:ext>
            </a:extLst>
          </p:cNvPr>
          <p:cNvSpPr txBox="1"/>
          <p:nvPr/>
        </p:nvSpPr>
        <p:spPr bwMode="auto">
          <a:xfrm>
            <a:off x="3984030" y="5354284"/>
            <a:ext cx="4320480" cy="95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FAA26D3D-D897-4be2-8F04-BA451C77F1D7}">
              <ma14:placeholderFlag xmlns:ma14="http://schemas.microsoft.com/office/mac/drawingml/2011/main" xmlns="" val="1"/>
            </a:ext>
          </a:extLst>
        </p:spPr>
        <p:txBody>
          <a:bodyPr vert="horz" wrap="square" lIns="90000" tIns="46800" rIns="90000" bIns="46800" numCol="1" rtlCol="0" anchor="ctr" anchorCtr="0" compatLnSpc="1">
            <a:prstTxWarp prst="textNoShape">
              <a:avLst/>
            </a:prstTxWarp>
            <a:spAutoFit/>
          </a:bodyPr>
          <a:lstStyle/>
          <a:p>
            <a:pPr algn="ctr"/>
            <a:r>
              <a:rPr lang="en-NL" sz="2800" dirty="0">
                <a:solidFill>
                  <a:schemeClr val="tx2"/>
                </a:solidFill>
                <a:latin typeface="Cantarell" panose="02000603000000000000" pitchFamily="2" charset="0"/>
                <a:hlinkClick r:id="rId3"/>
              </a:rPr>
              <a:t>Alex Examples</a:t>
            </a:r>
            <a:endParaRPr lang="en-NL" sz="2800" dirty="0">
              <a:solidFill>
                <a:schemeClr val="tx2"/>
              </a:solidFill>
              <a:latin typeface="Cantarell" panose="02000603000000000000" pitchFamily="2" charset="0"/>
            </a:endParaRPr>
          </a:p>
          <a:p>
            <a:pPr algn="ctr"/>
            <a:r>
              <a:rPr lang="en-NL" sz="2800" dirty="0">
                <a:solidFill>
                  <a:schemeClr val="tx2"/>
                </a:solidFill>
                <a:latin typeface="Cantarell" panose="02000603000000000000" pitchFamily="2" charset="0"/>
                <a:hlinkClick r:id="rId3"/>
              </a:rPr>
              <a:t>Leni Examples </a:t>
            </a:r>
            <a:endParaRPr lang="en-NL" sz="2800" dirty="0">
              <a:solidFill>
                <a:schemeClr val="tx2"/>
              </a:solidFill>
              <a:latin typeface="Cantarell" panose="02000603000000000000" pitchFamily="2" charset="0"/>
            </a:endParaRPr>
          </a:p>
        </p:txBody>
      </p:sp>
    </p:spTree>
    <p:extLst>
      <p:ext uri="{BB962C8B-B14F-4D97-AF65-F5344CB8AC3E}">
        <p14:creationId xmlns:p14="http://schemas.microsoft.com/office/powerpoint/2010/main" val="32859558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E450B-A8AF-9158-9858-02285014F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393D5-F237-ED66-DFAF-66BC5EB5A1C8}"/>
              </a:ext>
            </a:extLst>
          </p:cNvPr>
          <p:cNvSpPr>
            <a:spLocks noGrp="1"/>
          </p:cNvSpPr>
          <p:nvPr>
            <p:ph type="title"/>
          </p:nvPr>
        </p:nvSpPr>
        <p:spPr/>
        <p:txBody>
          <a:bodyPr/>
          <a:lstStyle/>
          <a:p>
            <a:r>
              <a:rPr lang="en-NL" dirty="0"/>
              <a:t>Comparing Means</a:t>
            </a:r>
          </a:p>
        </p:txBody>
      </p:sp>
      <p:sp>
        <p:nvSpPr>
          <p:cNvPr id="3" name="Content Placeholder 2">
            <a:extLst>
              <a:ext uri="{FF2B5EF4-FFF2-40B4-BE49-F238E27FC236}">
                <a16:creationId xmlns:a16="http://schemas.microsoft.com/office/drawing/2014/main" id="{763CBC2B-7FD1-2BF1-9644-3E04F6406A8B}"/>
              </a:ext>
            </a:extLst>
          </p:cNvPr>
          <p:cNvSpPr>
            <a:spLocks noGrp="1"/>
          </p:cNvSpPr>
          <p:nvPr>
            <p:ph idx="1"/>
          </p:nvPr>
        </p:nvSpPr>
        <p:spPr>
          <a:xfrm>
            <a:off x="1488018" y="1628800"/>
            <a:ext cx="9696451" cy="4176712"/>
          </a:xfrm>
        </p:spPr>
        <p:txBody>
          <a:bodyPr/>
          <a:lstStyle/>
          <a:p>
            <a:endParaRPr lang="en-NL"/>
          </a:p>
        </p:txBody>
      </p:sp>
    </p:spTree>
    <p:extLst>
      <p:ext uri="{BB962C8B-B14F-4D97-AF65-F5344CB8AC3E}">
        <p14:creationId xmlns:p14="http://schemas.microsoft.com/office/powerpoint/2010/main" val="37967430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ANOVA: Puppy Example</a:t>
            </a:r>
          </a:p>
        </p:txBody>
      </p:sp>
      <p:sp>
        <p:nvSpPr>
          <p:cNvPr id="3" name="Content Placeholder 2"/>
          <p:cNvSpPr>
            <a:spLocks noGrp="1"/>
          </p:cNvSpPr>
          <p:nvPr>
            <p:ph idx="1"/>
          </p:nvPr>
        </p:nvSpPr>
        <p:spPr/>
        <p:txBody>
          <a:bodyPr>
            <a:normAutofit fontScale="85000" lnSpcReduction="10000"/>
          </a:bodyPr>
          <a:lstStyle/>
          <a:p>
            <a:pPr>
              <a:lnSpc>
                <a:spcPct val="120000"/>
              </a:lnSpc>
            </a:pPr>
            <a:r>
              <a:rPr lang="en-GB" dirty="0"/>
              <a:t>A puppy therapy RCT in which we randomized people into three groups:</a:t>
            </a:r>
          </a:p>
          <a:p>
            <a:pPr marL="685800" lvl="1" indent="-457200">
              <a:lnSpc>
                <a:spcPct val="120000"/>
              </a:lnSpc>
              <a:buFont typeface="+mj-lt"/>
              <a:buAutoNum type="arabicPeriod"/>
            </a:pPr>
            <a:r>
              <a:rPr lang="en-GB" dirty="0"/>
              <a:t>A control group</a:t>
            </a:r>
          </a:p>
          <a:p>
            <a:pPr marL="685800" lvl="1" indent="-457200">
              <a:lnSpc>
                <a:spcPct val="120000"/>
              </a:lnSpc>
              <a:buFont typeface="+mj-lt"/>
              <a:buAutoNum type="arabicPeriod"/>
            </a:pPr>
            <a:r>
              <a:rPr lang="en-GB" dirty="0"/>
              <a:t>15 minutes of puppy therapy</a:t>
            </a:r>
          </a:p>
          <a:p>
            <a:pPr marL="685800" lvl="1" indent="-457200">
              <a:lnSpc>
                <a:spcPct val="120000"/>
              </a:lnSpc>
              <a:buFont typeface="+mj-lt"/>
              <a:buAutoNum type="arabicPeriod"/>
            </a:pPr>
            <a:r>
              <a:rPr lang="en-GB" dirty="0"/>
              <a:t>30 minutes of puppy contact</a:t>
            </a:r>
          </a:p>
          <a:p>
            <a:pPr>
              <a:lnSpc>
                <a:spcPct val="120000"/>
              </a:lnSpc>
            </a:pPr>
            <a:r>
              <a:rPr lang="en-GB" dirty="0"/>
              <a:t>The DV is happiness (0 = unhappy) to 10 (happy)</a:t>
            </a:r>
          </a:p>
          <a:p>
            <a:pPr>
              <a:lnSpc>
                <a:spcPct val="120000"/>
              </a:lnSpc>
            </a:pPr>
            <a:r>
              <a:rPr lang="en-GB" dirty="0"/>
              <a:t>Predictions:</a:t>
            </a:r>
          </a:p>
          <a:p>
            <a:pPr marL="685800" lvl="1" indent="-457200">
              <a:lnSpc>
                <a:spcPct val="120000"/>
              </a:lnSpc>
              <a:buFont typeface="+mj-lt"/>
              <a:buAutoNum type="arabicPeriod"/>
            </a:pPr>
            <a:r>
              <a:rPr lang="en-GB" dirty="0"/>
              <a:t>Any form of puppy therapy should be better than the control (i.e. higher happiness scores).</a:t>
            </a:r>
          </a:p>
          <a:p>
            <a:pPr marL="685800" lvl="1" indent="-457200">
              <a:lnSpc>
                <a:spcPct val="120000"/>
              </a:lnSpc>
              <a:buFont typeface="+mj-lt"/>
              <a:buAutoNum type="arabicPeriod"/>
            </a:pPr>
            <a:r>
              <a:rPr lang="en-GB" dirty="0"/>
              <a:t>A dose-response hypothesis that as exposure time increases (from 15 to 30 minutes), happiness will increase too</a:t>
            </a:r>
          </a:p>
        </p:txBody>
      </p:sp>
      <p:sp>
        <p:nvSpPr>
          <p:cNvPr id="6" name="Slide Number Placeholder 5">
            <a:extLst>
              <a:ext uri="{FF2B5EF4-FFF2-40B4-BE49-F238E27FC236}">
                <a16:creationId xmlns:a16="http://schemas.microsoft.com/office/drawing/2014/main" id="{6C5B3057-627D-455A-AB12-1ABAB79BB8E4}"/>
              </a:ext>
            </a:extLst>
          </p:cNvPr>
          <p:cNvSpPr>
            <a:spLocks noGrp="1"/>
          </p:cNvSpPr>
          <p:nvPr>
            <p:ph type="sldNum" idx="10"/>
          </p:nvPr>
        </p:nvSpPr>
        <p:spPr>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49</a:t>
            </a:fld>
            <a:endParaRPr lang="en-US" dirty="0"/>
          </a:p>
        </p:txBody>
      </p:sp>
    </p:spTree>
    <p:extLst>
      <p:ext uri="{BB962C8B-B14F-4D97-AF65-F5344CB8AC3E}">
        <p14:creationId xmlns:p14="http://schemas.microsoft.com/office/powerpoint/2010/main" val="17549580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C0177-451A-B05B-5079-9912AEC72E03}"/>
              </a:ext>
            </a:extLst>
          </p:cNvPr>
          <p:cNvSpPr>
            <a:spLocks noGrp="1"/>
          </p:cNvSpPr>
          <p:nvPr>
            <p:ph type="title"/>
          </p:nvPr>
        </p:nvSpPr>
        <p:spPr/>
        <p:txBody>
          <a:bodyPr/>
          <a:lstStyle/>
          <a:p>
            <a:r>
              <a:rPr lang="en-NL" dirty="0"/>
              <a:t>ANOVA</a:t>
            </a:r>
          </a:p>
        </p:txBody>
      </p:sp>
      <p:pic>
        <p:nvPicPr>
          <p:cNvPr id="6" name="Picture 5" descr="A dog's face on a graph&#10;&#10;AI-generated content may be incorrect.">
            <a:extLst>
              <a:ext uri="{FF2B5EF4-FFF2-40B4-BE49-F238E27FC236}">
                <a16:creationId xmlns:a16="http://schemas.microsoft.com/office/drawing/2014/main" id="{3C2D7443-1F8C-FE83-74AD-BD08F7B6846A}"/>
              </a:ext>
            </a:extLst>
          </p:cNvPr>
          <p:cNvPicPr>
            <a:picLocks noChangeAspect="1"/>
          </p:cNvPicPr>
          <p:nvPr/>
        </p:nvPicPr>
        <p:blipFill>
          <a:blip r:embed="rId2"/>
          <a:stretch>
            <a:fillRect/>
          </a:stretch>
        </p:blipFill>
        <p:spPr>
          <a:xfrm>
            <a:off x="3215680" y="1373888"/>
            <a:ext cx="5586705" cy="5475764"/>
          </a:xfrm>
          <a:prstGeom prst="rect">
            <a:avLst/>
          </a:prstGeom>
        </p:spPr>
      </p:pic>
    </p:spTree>
    <p:extLst>
      <p:ext uri="{BB962C8B-B14F-4D97-AF65-F5344CB8AC3E}">
        <p14:creationId xmlns:p14="http://schemas.microsoft.com/office/powerpoint/2010/main" val="8931146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B1BB7-38E1-31A4-73FF-6A486CC3CE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DDA1B-5727-ADA9-AF4A-43789B290DB8}"/>
              </a:ext>
            </a:extLst>
          </p:cNvPr>
          <p:cNvSpPr>
            <a:spLocks noGrp="1"/>
          </p:cNvSpPr>
          <p:nvPr>
            <p:ph type="title"/>
          </p:nvPr>
        </p:nvSpPr>
        <p:spPr/>
        <p:txBody>
          <a:bodyPr/>
          <a:lstStyle/>
          <a:p>
            <a:r>
              <a:rPr lang="en-NL" dirty="0"/>
              <a:t>Contrasts</a:t>
            </a:r>
          </a:p>
        </p:txBody>
      </p:sp>
      <p:pic>
        <p:nvPicPr>
          <p:cNvPr id="4" name="Picture 3" descr="A diagram of a dog&#10;&#10;AI-generated content may be incorrect.">
            <a:extLst>
              <a:ext uri="{FF2B5EF4-FFF2-40B4-BE49-F238E27FC236}">
                <a16:creationId xmlns:a16="http://schemas.microsoft.com/office/drawing/2014/main" id="{75064788-4736-4AF8-BD33-1348481B6D65}"/>
              </a:ext>
            </a:extLst>
          </p:cNvPr>
          <p:cNvPicPr>
            <a:picLocks noChangeAspect="1"/>
          </p:cNvPicPr>
          <p:nvPr/>
        </p:nvPicPr>
        <p:blipFill>
          <a:blip r:embed="rId2"/>
          <a:stretch>
            <a:fillRect/>
          </a:stretch>
        </p:blipFill>
        <p:spPr>
          <a:xfrm>
            <a:off x="3107668" y="1484784"/>
            <a:ext cx="5976664" cy="5026967"/>
          </a:xfrm>
          <a:prstGeom prst="rect">
            <a:avLst/>
          </a:prstGeom>
        </p:spPr>
      </p:pic>
    </p:spTree>
    <p:extLst>
      <p:ext uri="{BB962C8B-B14F-4D97-AF65-F5344CB8AC3E}">
        <p14:creationId xmlns:p14="http://schemas.microsoft.com/office/powerpoint/2010/main" val="28660839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Contrasts in JASP</a:t>
            </a:r>
          </a:p>
        </p:txBody>
      </p:sp>
      <p:pic>
        <p:nvPicPr>
          <p:cNvPr id="4" name="Picture 3" descr="Screenshot 1. The One-way ANOVA Contrasts dialog box. There is a dropdown to choose which contarst to use, here it’s set to custom to set up two custom contrasts. The first compares no puppies to the other two conditions. The second compares the 15 mins condition to the 30 mins condition.">
            <a:extLst>
              <a:ext uri="{FF2B5EF4-FFF2-40B4-BE49-F238E27FC236}">
                <a16:creationId xmlns:a16="http://schemas.microsoft.com/office/drawing/2014/main" id="{19BD4F93-6168-5C3B-705B-445D689C02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7104" y="1752713"/>
            <a:ext cx="5457792" cy="4338018"/>
          </a:xfrm>
          <a:prstGeom prst="rect">
            <a:avLst/>
          </a:prstGeom>
        </p:spPr>
      </p:pic>
    </p:spTree>
    <p:extLst>
      <p:ext uri="{BB962C8B-B14F-4D97-AF65-F5344CB8AC3E}">
        <p14:creationId xmlns:p14="http://schemas.microsoft.com/office/powerpoint/2010/main" val="8687968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i="1" dirty="0"/>
              <a:t>Post Hoc </a:t>
            </a:r>
            <a:r>
              <a:rPr lang="en-US" dirty="0"/>
              <a:t>Tests</a:t>
            </a:r>
          </a:p>
        </p:txBody>
      </p:sp>
      <p:sp>
        <p:nvSpPr>
          <p:cNvPr id="4" name="Content Placeholder 3"/>
          <p:cNvSpPr>
            <a:spLocks noGrp="1"/>
          </p:cNvSpPr>
          <p:nvPr>
            <p:ph idx="1"/>
          </p:nvPr>
        </p:nvSpPr>
        <p:spPr/>
        <p:txBody>
          <a:bodyPr/>
          <a:lstStyle/>
          <a:p>
            <a:r>
              <a:rPr lang="en-GB" dirty="0"/>
              <a:t>Compare each mean against all others.</a:t>
            </a:r>
          </a:p>
          <a:p>
            <a:r>
              <a:rPr lang="en-GB" dirty="0"/>
              <a:t>In general terms, they use a stricter criterion to accept an effect as significant.</a:t>
            </a:r>
          </a:p>
          <a:p>
            <a:pPr lvl="1"/>
            <a:r>
              <a:rPr lang="en-GB" dirty="0"/>
              <a:t>Hence, control the family-wise error rate.</a:t>
            </a:r>
          </a:p>
          <a:p>
            <a:pPr lvl="1"/>
            <a:r>
              <a:rPr lang="en-GB" dirty="0"/>
              <a:t>Simplest example is the </a:t>
            </a:r>
            <a:r>
              <a:rPr lang="en-GB" dirty="0" err="1"/>
              <a:t>Bonferroni</a:t>
            </a:r>
            <a:r>
              <a:rPr lang="en-GB" dirty="0"/>
              <a:t> method:</a:t>
            </a:r>
            <a:endParaRPr lang="en-US" dirty="0"/>
          </a:p>
        </p:txBody>
      </p:sp>
      <mc:AlternateContent xmlns:mc="http://schemas.openxmlformats.org/markup-compatibility/2006" xmlns:a14="http://schemas.microsoft.com/office/drawing/2010/main">
        <mc:Choice Requires="a14">
          <p:sp>
            <p:nvSpPr>
              <p:cNvPr id="6" name="TextBox 5">
                <a:extLst>
                  <a:ext uri="{C183D7F6-B498-43B3-948B-1728B52AA6E4}">
                    <adec:decorative xmlns:adec="http://schemas.microsoft.com/office/drawing/2017/decorative" val="0"/>
                  </a:ext>
                </a:extLst>
              </p:cNvPr>
              <p:cNvSpPr txBox="1"/>
              <p:nvPr/>
            </p:nvSpPr>
            <p:spPr bwMode="auto">
              <a:xfrm>
                <a:off x="3566587" y="4035527"/>
                <a:ext cx="1177994" cy="731520"/>
              </a:xfrm>
              <a:prstGeom prst="rect">
                <a:avLst/>
              </a:prstGeom>
              <a:noFill/>
              <a:ln>
                <a:noFill/>
              </a:ln>
            </p:spPr>
            <p:txBody>
              <a:bodyPr>
                <a:normAutofit fontScale="77500" lnSpcReduction="20000"/>
              </a:bodyPr>
              <a:lstStyle/>
              <a:p>
                <a:pPr/>
                <a14:m>
                  <m:oMathPara xmlns:m="http://schemas.openxmlformats.org/officeDocument/2006/math">
                    <m:oMathParaPr>
                      <m:jc m:val="left"/>
                    </m:oMathParaPr>
                    <m:o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𝐶𝑟𝑖𝑡</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𝛼</m:t>
                          </m:r>
                        </m:num>
                        <m:den>
                          <m:r>
                            <a:rPr lang="en-US" i="1">
                              <a:solidFill>
                                <a:srgbClr val="000000"/>
                              </a:solidFill>
                              <a:latin typeface="Cambria Math" panose="02040503050406030204" pitchFamily="18" charset="0"/>
                            </a:rPr>
                            <m:t>𝐾</m:t>
                          </m:r>
                        </m:den>
                      </m:f>
                    </m:oMath>
                  </m:oMathPara>
                </a14:m>
                <a:endParaRPr lang="en-US" dirty="0"/>
              </a:p>
            </p:txBody>
          </p:sp>
        </mc:Choice>
        <mc:Fallback xmlns="">
          <p:sp>
            <p:nvSpPr>
              <p:cNvPr id="6" name="TextBox 5">
                <a:extLs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bwMode="auto">
              <a:xfrm>
                <a:off x="3566587" y="4035527"/>
                <a:ext cx="1177994" cy="731520"/>
              </a:xfrm>
              <a:prstGeom prst="rect">
                <a:avLst/>
              </a:prstGeom>
              <a:blipFill>
                <a:blip r:embed="rId3"/>
                <a:stretch>
                  <a:fillRect/>
                </a:stretch>
              </a:blipFill>
              <a:ln>
                <a:noFill/>
              </a:ln>
            </p:spPr>
            <p:txBody>
              <a:bodyPr/>
              <a:lstStyle/>
              <a:p>
                <a:r>
                  <a:rPr lang="en-NL">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Post Hoc</a:t>
            </a:r>
            <a:r>
              <a:rPr lang="en-US" dirty="0"/>
              <a:t> Tests</a:t>
            </a:r>
          </a:p>
        </p:txBody>
      </p:sp>
      <p:sp>
        <p:nvSpPr>
          <p:cNvPr id="3" name="Content Placeholder 2"/>
          <p:cNvSpPr>
            <a:spLocks noGrp="1"/>
          </p:cNvSpPr>
          <p:nvPr>
            <p:ph idx="1"/>
          </p:nvPr>
        </p:nvSpPr>
        <p:spPr/>
        <p:txBody>
          <a:bodyPr/>
          <a:lstStyle/>
          <a:p>
            <a:pPr lvl="1"/>
            <a:r>
              <a:rPr lang="en-US" dirty="0"/>
              <a:t>Assumptions met:</a:t>
            </a:r>
          </a:p>
          <a:p>
            <a:pPr lvl="2"/>
            <a:r>
              <a:rPr lang="en-US" dirty="0"/>
              <a:t>Tukey HSD</a:t>
            </a:r>
          </a:p>
          <a:p>
            <a:pPr lvl="1"/>
            <a:r>
              <a:rPr lang="en-US" dirty="0"/>
              <a:t>Safe Option:</a:t>
            </a:r>
          </a:p>
          <a:p>
            <a:pPr lvl="2"/>
            <a:r>
              <a:rPr lang="en-US" dirty="0"/>
              <a:t>Bonferroni </a:t>
            </a:r>
          </a:p>
          <a:p>
            <a:pPr lvl="1"/>
            <a:r>
              <a:rPr lang="en-US" dirty="0"/>
              <a:t>Unequal variances:</a:t>
            </a:r>
          </a:p>
          <a:p>
            <a:pPr lvl="2"/>
            <a:r>
              <a:rPr lang="en-US" dirty="0"/>
              <a:t>Games-Howell</a:t>
            </a:r>
          </a:p>
        </p:txBody>
      </p:sp>
      <p:sp>
        <p:nvSpPr>
          <p:cNvPr id="4" name="Slide Number Placeholder 3">
            <a:extLst>
              <a:ext uri="{FF2B5EF4-FFF2-40B4-BE49-F238E27FC236}">
                <a16:creationId xmlns:a16="http://schemas.microsoft.com/office/drawing/2014/main" id="{1B52F820-AEA0-42E7-A9E6-1AEC59AB950C}"/>
              </a:ext>
            </a:extLst>
          </p:cNvPr>
          <p:cNvSpPr>
            <a:spLocks noGrp="1"/>
          </p:cNvSpPr>
          <p:nvPr>
            <p:ph type="sldNum" idx="10"/>
          </p:nvPr>
        </p:nvSpPr>
        <p:spPr>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54</a:t>
            </a:fld>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a:t>ANCOVA</a:t>
            </a:r>
            <a:endParaRPr lang="en-US" dirty="0"/>
          </a:p>
        </p:txBody>
      </p:sp>
      <p:sp>
        <p:nvSpPr>
          <p:cNvPr id="6" name="Content Placeholder 5"/>
          <p:cNvSpPr>
            <a:spLocks noGrp="1"/>
          </p:cNvSpPr>
          <p:nvPr>
            <p:ph idx="1"/>
          </p:nvPr>
        </p:nvSpPr>
        <p:spPr/>
        <p:txBody>
          <a:bodyPr/>
          <a:lstStyle/>
          <a:p>
            <a:r>
              <a:rPr lang="en-US" dirty="0"/>
              <a:t>Reduces error variance</a:t>
            </a:r>
          </a:p>
          <a:p>
            <a:pPr lvl="1"/>
            <a:r>
              <a:rPr lang="en-US" dirty="0"/>
              <a:t>By explaining some of the unexplained variance (SSR) the error variance in the model can be reduced</a:t>
            </a:r>
          </a:p>
          <a:p>
            <a:r>
              <a:rPr lang="en-US" dirty="0"/>
              <a:t>Greater insight</a:t>
            </a:r>
          </a:p>
          <a:p>
            <a:pPr lvl="1"/>
            <a:r>
              <a:rPr lang="en-US" dirty="0"/>
              <a:t>By including more variables, we gain deeper insight into their interplay (e.g., interactions, shared variance)</a:t>
            </a:r>
          </a:p>
          <a:p>
            <a:r>
              <a:rPr lang="en-US" dirty="0"/>
              <a:t>Warning </a:t>
            </a:r>
          </a:p>
          <a:p>
            <a:pPr lvl="1"/>
            <a:r>
              <a:rPr lang="en-US" dirty="0">
                <a:hlinkClick r:id="rId2"/>
              </a:rPr>
              <a:t>Hidden multiplicity in exploratory multiway ANOVA: Prevalence and remedies</a:t>
            </a:r>
            <a:endParaRPr lang="en-US" dirty="0"/>
          </a:p>
          <a:p>
            <a:endParaRPr lang="en-US" dirty="0"/>
          </a:p>
        </p:txBody>
      </p:sp>
      <p:pic>
        <p:nvPicPr>
          <p:cNvPr id="2" name="Picture 2" descr="Free sign warning danger vector">
            <a:extLst>
              <a:ext uri="{FF2B5EF4-FFF2-40B4-BE49-F238E27FC236}">
                <a16:creationId xmlns:a16="http://schemas.microsoft.com/office/drawing/2014/main" id="{B67ED7B1-9265-A660-6484-29BA437293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91354" y="5227243"/>
            <a:ext cx="1765077" cy="1514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E692E-1C72-CF9B-4883-2A4B7A30F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22737-8280-019B-E273-999D4C3D9B5E}"/>
              </a:ext>
            </a:extLst>
          </p:cNvPr>
          <p:cNvSpPr>
            <a:spLocks noGrp="1"/>
          </p:cNvSpPr>
          <p:nvPr>
            <p:ph type="title"/>
          </p:nvPr>
        </p:nvSpPr>
        <p:spPr>
          <a:xfrm>
            <a:off x="2640014" y="116633"/>
            <a:ext cx="6803987" cy="1170487"/>
          </a:xfrm>
        </p:spPr>
        <p:txBody>
          <a:bodyPr/>
          <a:lstStyle/>
          <a:p>
            <a:r>
              <a:rPr lang="en-US" dirty="0"/>
              <a:t>ANCOVA</a:t>
            </a:r>
          </a:p>
        </p:txBody>
      </p:sp>
      <p:pic>
        <p:nvPicPr>
          <p:cNvPr id="5" name="Picture 4" descr="A diagram of a flowchart&#10;&#10;AI-generated content may be incorrect.">
            <a:extLst>
              <a:ext uri="{FF2B5EF4-FFF2-40B4-BE49-F238E27FC236}">
                <a16:creationId xmlns:a16="http://schemas.microsoft.com/office/drawing/2014/main" id="{B87A0D35-D2EF-00DF-B54E-54669CB15E0D}"/>
              </a:ext>
            </a:extLst>
          </p:cNvPr>
          <p:cNvPicPr>
            <a:picLocks noChangeAspect="1"/>
          </p:cNvPicPr>
          <p:nvPr/>
        </p:nvPicPr>
        <p:blipFill>
          <a:blip r:embed="rId2"/>
          <a:stretch>
            <a:fillRect/>
          </a:stretch>
        </p:blipFill>
        <p:spPr>
          <a:xfrm>
            <a:off x="3935760" y="1400862"/>
            <a:ext cx="4320480" cy="5360095"/>
          </a:xfrm>
          <a:prstGeom prst="rect">
            <a:avLst/>
          </a:prstGeom>
        </p:spPr>
      </p:pic>
      <p:sp>
        <p:nvSpPr>
          <p:cNvPr id="6" name="Content Placeholder 8">
            <a:extLst>
              <a:ext uri="{FF2B5EF4-FFF2-40B4-BE49-F238E27FC236}">
                <a16:creationId xmlns:a16="http://schemas.microsoft.com/office/drawing/2014/main" id="{2E6FAF26-0CE1-E6EA-2558-DC7A58270070}"/>
              </a:ext>
            </a:extLst>
          </p:cNvPr>
          <p:cNvSpPr>
            <a:spLocks noGrp="1"/>
          </p:cNvSpPr>
          <p:nvPr>
            <p:ph idx="1"/>
          </p:nvPr>
        </p:nvSpPr>
        <p:spPr>
          <a:xfrm>
            <a:off x="8184232" y="6074050"/>
            <a:ext cx="3816424" cy="652409"/>
          </a:xfrm>
        </p:spPr>
        <p:txBody>
          <a:bodyPr/>
          <a:lstStyle/>
          <a:p>
            <a:pPr marL="0" indent="0" algn="ctr">
              <a:buNone/>
            </a:pPr>
            <a:r>
              <a:rPr lang="en-US" sz="1800" dirty="0"/>
              <a:t>Figure 12.2 The role of the covariate in ANCOVA</a:t>
            </a:r>
          </a:p>
        </p:txBody>
      </p:sp>
    </p:spTree>
    <p:extLst>
      <p:ext uri="{BB962C8B-B14F-4D97-AF65-F5344CB8AC3E}">
        <p14:creationId xmlns:p14="http://schemas.microsoft.com/office/powerpoint/2010/main" val="16746267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Homogeneity of Slopes</a:t>
            </a:r>
          </a:p>
        </p:txBody>
      </p:sp>
      <p:sp>
        <p:nvSpPr>
          <p:cNvPr id="3" name="Content Placeholder 2"/>
          <p:cNvSpPr>
            <a:spLocks noGrp="1"/>
          </p:cNvSpPr>
          <p:nvPr>
            <p:ph idx="1"/>
          </p:nvPr>
        </p:nvSpPr>
        <p:spPr>
          <a:xfrm>
            <a:off x="2151185" y="1556792"/>
            <a:ext cx="7886700" cy="1044088"/>
          </a:xfrm>
        </p:spPr>
        <p:txBody>
          <a:bodyPr/>
          <a:lstStyle/>
          <a:p>
            <a:pPr algn="ctr"/>
            <a:r>
              <a:rPr lang="en-US" sz="2000" dirty="0"/>
              <a:t>Figure 12.3 Scatterplot and linear models of happiness against love of puppies for each therapy condition</a:t>
            </a:r>
          </a:p>
        </p:txBody>
      </p:sp>
      <p:pic>
        <p:nvPicPr>
          <p:cNvPr id="6" name="Picture 5" descr="A graph of different colored lines&#10;&#10;AI-generated content may be incorrect.">
            <a:extLst>
              <a:ext uri="{FF2B5EF4-FFF2-40B4-BE49-F238E27FC236}">
                <a16:creationId xmlns:a16="http://schemas.microsoft.com/office/drawing/2014/main" id="{6A7F4DCB-168F-5C95-0416-A0958668B04D}"/>
              </a:ext>
            </a:extLst>
          </p:cNvPr>
          <p:cNvPicPr>
            <a:picLocks noChangeAspect="1"/>
          </p:cNvPicPr>
          <p:nvPr/>
        </p:nvPicPr>
        <p:blipFill>
          <a:blip r:embed="rId2"/>
          <a:stretch>
            <a:fillRect/>
          </a:stretch>
        </p:blipFill>
        <p:spPr>
          <a:xfrm>
            <a:off x="2208335" y="2624910"/>
            <a:ext cx="7772400" cy="4116458"/>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Assessing Homogeneity of Slopes</a:t>
            </a:r>
            <a:endParaRPr lang="en-US" dirty="0"/>
          </a:p>
        </p:txBody>
      </p:sp>
      <p:sp>
        <p:nvSpPr>
          <p:cNvPr id="7" name="Content Placeholder 6"/>
          <p:cNvSpPr>
            <a:spLocks noGrp="1"/>
          </p:cNvSpPr>
          <p:nvPr>
            <p:ph idx="1"/>
          </p:nvPr>
        </p:nvSpPr>
        <p:spPr>
          <a:xfrm>
            <a:off x="2152650" y="2020388"/>
            <a:ext cx="7886700" cy="924148"/>
          </a:xfrm>
        </p:spPr>
        <p:txBody>
          <a:bodyPr/>
          <a:lstStyle/>
          <a:p>
            <a:pPr algn="ctr"/>
            <a:r>
              <a:rPr lang="en-US" dirty="0"/>
              <a:t>Figure 12.8 </a:t>
            </a:r>
            <a:r>
              <a:rPr lang="en-US" i="1" dirty="0"/>
              <a:t>Model</a:t>
            </a:r>
            <a:r>
              <a:rPr lang="en-US" dirty="0"/>
              <a:t> tab for ANCOVA</a:t>
            </a:r>
          </a:p>
        </p:txBody>
      </p:sp>
      <p:sp>
        <p:nvSpPr>
          <p:cNvPr id="2" name="Slide Number Placeholder 1"/>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58</a:t>
            </a:fld>
            <a:endParaRPr lang="en-US" dirty="0"/>
          </a:p>
        </p:txBody>
      </p:sp>
      <p:pic>
        <p:nvPicPr>
          <p:cNvPr id="5" name="Picture 4" descr="A Factors and Covariates window is available on the left-hand side of the dialog box. It contains 2 example variables, Dose and Puppy Love.&#10;A Model box is available on the right-hand side. 3 examples are listed, as follows.&#10;1. Dose.&#10;2. Puppy underscore Love.&#10;3. Dose asterisk Puppy underscore Love.&#10;Items from the Model list can be selected for the Factors list by clicking the Select button.&#10;A Sum of Squares dropdown menu is available in the lower left-hand corner. Type 3 is selected.">
            <a:extLst>
              <a:ext uri="{FF2B5EF4-FFF2-40B4-BE49-F238E27FC236}">
                <a16:creationId xmlns:a16="http://schemas.microsoft.com/office/drawing/2014/main" id="{034BE30D-4A9D-6B51-B302-3D0A4FC8E6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6950" y="2835800"/>
            <a:ext cx="7772400" cy="3595051"/>
          </a:xfrm>
          <a:prstGeom prst="rect">
            <a:avLst/>
          </a:prstGeom>
        </p:spPr>
      </p:pic>
    </p:spTree>
    <p:extLst>
      <p:ext uri="{BB962C8B-B14F-4D97-AF65-F5344CB8AC3E}">
        <p14:creationId xmlns:p14="http://schemas.microsoft.com/office/powerpoint/2010/main" val="20856412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BB6FB-DADB-CCD2-74FA-39005869C2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B4E8ED-4691-C358-BD53-763783E48AEF}"/>
              </a:ext>
            </a:extLst>
          </p:cNvPr>
          <p:cNvSpPr>
            <a:spLocks noGrp="1"/>
          </p:cNvSpPr>
          <p:nvPr>
            <p:ph type="title"/>
          </p:nvPr>
        </p:nvSpPr>
        <p:spPr/>
        <p:txBody>
          <a:bodyPr/>
          <a:lstStyle/>
          <a:p>
            <a:r>
              <a:rPr lang="en-NL" dirty="0"/>
              <a:t>ANCOVA</a:t>
            </a:r>
          </a:p>
        </p:txBody>
      </p:sp>
      <p:pic>
        <p:nvPicPr>
          <p:cNvPr id="7" name="Picture 6" descr="Cartoon person with glasses and a hand up&#10;&#10;AI-generated content may be incorrect.">
            <a:extLst>
              <a:ext uri="{FF2B5EF4-FFF2-40B4-BE49-F238E27FC236}">
                <a16:creationId xmlns:a16="http://schemas.microsoft.com/office/drawing/2014/main" id="{D5F6B0F9-B395-9068-0222-9AF600F57DB6}"/>
              </a:ext>
            </a:extLst>
          </p:cNvPr>
          <p:cNvPicPr>
            <a:picLocks noChangeAspect="1"/>
          </p:cNvPicPr>
          <p:nvPr/>
        </p:nvPicPr>
        <p:blipFill>
          <a:blip r:embed="rId2"/>
          <a:stretch>
            <a:fillRect/>
          </a:stretch>
        </p:blipFill>
        <p:spPr>
          <a:xfrm>
            <a:off x="2309153" y="2852936"/>
            <a:ext cx="7573694" cy="1768707"/>
          </a:xfrm>
          <a:prstGeom prst="rect">
            <a:avLst/>
          </a:prstGeom>
        </p:spPr>
      </p:pic>
      <p:sp>
        <p:nvSpPr>
          <p:cNvPr id="2" name="TextBox 1">
            <a:extLst>
              <a:ext uri="{FF2B5EF4-FFF2-40B4-BE49-F238E27FC236}">
                <a16:creationId xmlns:a16="http://schemas.microsoft.com/office/drawing/2014/main" id="{975EE341-64A8-D4AB-7B51-0F5364750A5B}"/>
              </a:ext>
            </a:extLst>
          </p:cNvPr>
          <p:cNvSpPr txBox="1"/>
          <p:nvPr/>
        </p:nvSpPr>
        <p:spPr bwMode="auto">
          <a:xfrm>
            <a:off x="3984030" y="5354284"/>
            <a:ext cx="4320480" cy="95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FAA26D3D-D897-4be2-8F04-BA451C77F1D7}">
              <ma14:placeholderFlag xmlns:ma14="http://schemas.microsoft.com/office/mac/drawingml/2011/main" xmlns="" val="1"/>
            </a:ext>
          </a:extLst>
        </p:spPr>
        <p:txBody>
          <a:bodyPr vert="horz" wrap="square" lIns="90000" tIns="46800" rIns="90000" bIns="46800" numCol="1" rtlCol="0" anchor="ctr" anchorCtr="0" compatLnSpc="1">
            <a:prstTxWarp prst="textNoShape">
              <a:avLst/>
            </a:prstTxWarp>
            <a:spAutoFit/>
          </a:bodyPr>
          <a:lstStyle/>
          <a:p>
            <a:pPr algn="ctr"/>
            <a:r>
              <a:rPr lang="en-NL" sz="2800" dirty="0">
                <a:solidFill>
                  <a:schemeClr val="tx2"/>
                </a:solidFill>
                <a:latin typeface="Cantarell" panose="02000603000000000000" pitchFamily="2" charset="0"/>
                <a:hlinkClick r:id="rId3"/>
              </a:rPr>
              <a:t>Alex Examples</a:t>
            </a:r>
            <a:endParaRPr lang="en-NL" sz="2800" dirty="0">
              <a:solidFill>
                <a:schemeClr val="tx2"/>
              </a:solidFill>
              <a:latin typeface="Cantarell" panose="02000603000000000000" pitchFamily="2" charset="0"/>
            </a:endParaRPr>
          </a:p>
          <a:p>
            <a:pPr algn="ctr"/>
            <a:r>
              <a:rPr lang="en-NL" sz="2800" dirty="0">
                <a:solidFill>
                  <a:schemeClr val="tx2"/>
                </a:solidFill>
                <a:latin typeface="Cantarell" panose="02000603000000000000" pitchFamily="2" charset="0"/>
                <a:hlinkClick r:id="rId3"/>
              </a:rPr>
              <a:t>Leni Examples </a:t>
            </a:r>
            <a:endParaRPr lang="en-NL" sz="2800" dirty="0">
              <a:solidFill>
                <a:schemeClr val="tx2"/>
              </a:solidFill>
              <a:latin typeface="Cantarell" panose="02000603000000000000" pitchFamily="2" charset="0"/>
            </a:endParaRPr>
          </a:p>
        </p:txBody>
      </p:sp>
    </p:spTree>
    <p:extLst>
      <p:ext uri="{BB962C8B-B14F-4D97-AF65-F5344CB8AC3E}">
        <p14:creationId xmlns:p14="http://schemas.microsoft.com/office/powerpoint/2010/main" val="22133631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CCADB-1BC2-92ED-FC20-986D041D4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003D4-1AC7-5869-517E-C35ADE151E87}"/>
              </a:ext>
            </a:extLst>
          </p:cNvPr>
          <p:cNvSpPr>
            <a:spLocks noGrp="1"/>
          </p:cNvSpPr>
          <p:nvPr>
            <p:ph type="title"/>
          </p:nvPr>
        </p:nvSpPr>
        <p:spPr>
          <a:xfrm>
            <a:off x="2640014" y="116633"/>
            <a:ext cx="6803987" cy="1170487"/>
          </a:xfrm>
        </p:spPr>
        <p:txBody>
          <a:bodyPr/>
          <a:lstStyle/>
          <a:p>
            <a:r>
              <a:rPr lang="en-US" dirty="0"/>
              <a:t>RM ANOVA</a:t>
            </a:r>
          </a:p>
        </p:txBody>
      </p:sp>
      <p:sp>
        <p:nvSpPr>
          <p:cNvPr id="3" name="Content Placeholder 2">
            <a:extLst>
              <a:ext uri="{FF2B5EF4-FFF2-40B4-BE49-F238E27FC236}">
                <a16:creationId xmlns:a16="http://schemas.microsoft.com/office/drawing/2014/main" id="{E68D3411-249E-E10A-B643-2FE122ED4154}"/>
              </a:ext>
            </a:extLst>
          </p:cNvPr>
          <p:cNvSpPr>
            <a:spLocks noGrp="1"/>
          </p:cNvSpPr>
          <p:nvPr>
            <p:ph idx="1"/>
          </p:nvPr>
        </p:nvSpPr>
        <p:spPr/>
        <p:txBody>
          <a:bodyPr/>
          <a:lstStyle/>
          <a:p>
            <a:r>
              <a:rPr lang="en-GB" dirty="0"/>
              <a:t>Advantages</a:t>
            </a:r>
          </a:p>
          <a:p>
            <a:pPr lvl="1"/>
            <a:r>
              <a:rPr lang="en-GB" dirty="0"/>
              <a:t>Unsystematic variance is reduced</a:t>
            </a:r>
          </a:p>
          <a:p>
            <a:pPr lvl="1"/>
            <a:r>
              <a:rPr lang="en-GB" dirty="0"/>
              <a:t>More sensitive to experimental effects</a:t>
            </a:r>
          </a:p>
        </p:txBody>
      </p:sp>
      <p:grpSp>
        <p:nvGrpSpPr>
          <p:cNvPr id="8" name="Group 7">
            <a:extLst>
              <a:ext uri="{FF2B5EF4-FFF2-40B4-BE49-F238E27FC236}">
                <a16:creationId xmlns:a16="http://schemas.microsoft.com/office/drawing/2014/main" id="{17D9A0CA-2DC7-DBB6-A906-6EC4C116801B}"/>
              </a:ext>
            </a:extLst>
          </p:cNvPr>
          <p:cNvGrpSpPr/>
          <p:nvPr/>
        </p:nvGrpSpPr>
        <p:grpSpPr>
          <a:xfrm>
            <a:off x="2136549" y="3357539"/>
            <a:ext cx="8399386" cy="3500461"/>
            <a:chOff x="2136549" y="3357539"/>
            <a:chExt cx="8399386" cy="3500461"/>
          </a:xfrm>
        </p:grpSpPr>
        <p:pic>
          <p:nvPicPr>
            <p:cNvPr id="6" name="Picture 5" descr="A diagram of a chart&#10;&#10;AI-generated content may be incorrect.">
              <a:extLst>
                <a:ext uri="{FF2B5EF4-FFF2-40B4-BE49-F238E27FC236}">
                  <a16:creationId xmlns:a16="http://schemas.microsoft.com/office/drawing/2014/main" id="{B0F310FC-A32D-3002-44A2-5E901100CE8B}"/>
                </a:ext>
              </a:extLst>
            </p:cNvPr>
            <p:cNvPicPr>
              <a:picLocks noChangeAspect="1"/>
            </p:cNvPicPr>
            <p:nvPr/>
          </p:nvPicPr>
          <p:blipFill>
            <a:blip r:embed="rId2"/>
            <a:stretch>
              <a:fillRect/>
            </a:stretch>
          </p:blipFill>
          <p:spPr>
            <a:xfrm>
              <a:off x="2776022" y="3902530"/>
              <a:ext cx="6639956" cy="2955470"/>
            </a:xfrm>
            <a:prstGeom prst="rect">
              <a:avLst/>
            </a:prstGeom>
          </p:spPr>
        </p:pic>
        <p:sp>
          <p:nvSpPr>
            <p:cNvPr id="7" name="Content Placeholder 6">
              <a:extLst>
                <a:ext uri="{FF2B5EF4-FFF2-40B4-BE49-F238E27FC236}">
                  <a16:creationId xmlns:a16="http://schemas.microsoft.com/office/drawing/2014/main" id="{55E02020-B4CE-7BBB-4125-AFE6FBB4918C}"/>
                </a:ext>
              </a:extLst>
            </p:cNvPr>
            <p:cNvSpPr txBox="1">
              <a:spLocks/>
            </p:cNvSpPr>
            <p:nvPr/>
          </p:nvSpPr>
          <p:spPr bwMode="auto">
            <a:xfrm>
              <a:off x="2136549" y="3357539"/>
              <a:ext cx="8399386" cy="5040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0000" tIns="46800" rIns="90000" bIns="46800" numCol="1" anchor="t" anchorCtr="0" compatLnSpc="1">
              <a:prstTxWarp prst="textNoShape">
                <a:avLst/>
              </a:prstTxWarp>
            </a:bodyPr>
            <a:lstStyle>
              <a:lvl1pPr marL="222250" indent="-222250" algn="l" defTabSz="457200" rtl="0" eaLnBrk="1" fontAlgn="base" hangingPunct="1">
                <a:spcBef>
                  <a:spcPts val="800"/>
                </a:spcBef>
                <a:spcAft>
                  <a:spcPct val="0"/>
                </a:spcAft>
                <a:buClr>
                  <a:srgbClr val="000000"/>
                </a:buClr>
                <a:buSzPct val="90000"/>
                <a:buFont typeface="LucidaGrande" charset="0"/>
                <a:buChar char="•"/>
                <a:tabLst/>
                <a:defRPr sz="2600" kern="1200" baseline="0">
                  <a:solidFill>
                    <a:srgbClr val="003366"/>
                  </a:solidFill>
                  <a:latin typeface="Helvetica" charset="0"/>
                  <a:ea typeface="+mn-ea"/>
                  <a:cs typeface="+mn-cs"/>
                </a:defRPr>
              </a:lvl1pPr>
              <a:lvl2pPr marL="800100" indent="-342900" algn="l" defTabSz="457200" rtl="0" eaLnBrk="1" fontAlgn="base" hangingPunct="1">
                <a:spcBef>
                  <a:spcPts val="700"/>
                </a:spcBef>
                <a:spcAft>
                  <a:spcPct val="0"/>
                </a:spcAft>
                <a:buClr>
                  <a:srgbClr val="000000"/>
                </a:buClr>
                <a:buSzPct val="90000"/>
                <a:buFont typeface=".AppleSystemUIFont" charset="-120"/>
                <a:buChar char="•"/>
                <a:defRPr sz="2200" kern="1200" baseline="0">
                  <a:solidFill>
                    <a:srgbClr val="003366"/>
                  </a:solidFill>
                  <a:latin typeface="Helvetica" charset="0"/>
                  <a:ea typeface="+mn-ea"/>
                  <a:cs typeface="+mn-cs"/>
                </a:defRPr>
              </a:lvl2pPr>
              <a:lvl3pPr marL="1200150" indent="-285750" algn="l" defTabSz="457200" rtl="0" eaLnBrk="1" fontAlgn="base" hangingPunct="1">
                <a:spcBef>
                  <a:spcPts val="600"/>
                </a:spcBef>
                <a:spcAft>
                  <a:spcPct val="0"/>
                </a:spcAft>
                <a:buClr>
                  <a:srgbClr val="000000"/>
                </a:buClr>
                <a:buSzPct val="90000"/>
                <a:buFont typeface=".AppleSystemUIFont" charset="-120"/>
                <a:buChar char="•"/>
                <a:defRPr sz="2000" kern="1200" baseline="0">
                  <a:solidFill>
                    <a:srgbClr val="003366"/>
                  </a:solidFill>
                  <a:latin typeface="Helvetica" charset="0"/>
                  <a:ea typeface="+mn-ea"/>
                  <a:cs typeface="+mn-cs"/>
                </a:defRPr>
              </a:lvl3pPr>
              <a:lvl4pPr marL="1657350" indent="-285750" algn="l" defTabSz="457200" rtl="0" eaLnBrk="1" fontAlgn="base" hangingPunct="1">
                <a:spcBef>
                  <a:spcPts val="500"/>
                </a:spcBef>
                <a:spcAft>
                  <a:spcPct val="0"/>
                </a:spcAft>
                <a:buClr>
                  <a:srgbClr val="000000"/>
                </a:buClr>
                <a:buSzPct val="90000"/>
                <a:buFont typeface=".AppleSystemUIFont" charset="-120"/>
                <a:buChar char="•"/>
                <a:defRPr sz="1600" kern="1200" baseline="0">
                  <a:solidFill>
                    <a:srgbClr val="003366"/>
                  </a:solidFill>
                  <a:latin typeface="Helvetica" charset="0"/>
                  <a:ea typeface="+mn-ea"/>
                  <a:cs typeface="+mn-cs"/>
                </a:defRPr>
              </a:lvl4pPr>
              <a:lvl5pPr marL="2114550" indent="-285750" algn="l" defTabSz="457200" rtl="0" eaLnBrk="1" fontAlgn="base" hangingPunct="1">
                <a:spcBef>
                  <a:spcPts val="450"/>
                </a:spcBef>
                <a:spcAft>
                  <a:spcPct val="0"/>
                </a:spcAft>
                <a:buClr>
                  <a:srgbClr val="000000"/>
                </a:buClr>
                <a:buSzPct val="90000"/>
                <a:buFont typeface=".AppleSystemUIFont" charset="-120"/>
                <a:buChar char="•"/>
                <a:defRPr sz="1400" kern="1200" baseline="0">
                  <a:solidFill>
                    <a:srgbClr val="003366"/>
                  </a:solidFill>
                  <a:latin typeface="Helvetica"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2000" dirty="0"/>
                <a:t>Figure 9.7 Same data, between-subjects (left) and within-subjects (right) </a:t>
              </a:r>
            </a:p>
          </p:txBody>
        </p:sp>
      </p:grpSp>
    </p:spTree>
    <p:extLst>
      <p:ext uri="{BB962C8B-B14F-4D97-AF65-F5344CB8AC3E}">
        <p14:creationId xmlns:p14="http://schemas.microsoft.com/office/powerpoint/2010/main" val="110756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D44E6-5F0A-737A-0CAA-09B215E16F52}"/>
              </a:ext>
            </a:extLst>
          </p:cNvPr>
          <p:cNvSpPr>
            <a:spLocks noGrp="1"/>
          </p:cNvSpPr>
          <p:nvPr>
            <p:ph type="title"/>
          </p:nvPr>
        </p:nvSpPr>
        <p:spPr/>
        <p:txBody>
          <a:bodyPr/>
          <a:lstStyle/>
          <a:p>
            <a:r>
              <a:rPr lang="en-NL" dirty="0"/>
              <a:t>RM ANOVA Example</a:t>
            </a:r>
          </a:p>
        </p:txBody>
      </p:sp>
      <p:sp>
        <p:nvSpPr>
          <p:cNvPr id="3" name="Content Placeholder 2">
            <a:extLst>
              <a:ext uri="{FF2B5EF4-FFF2-40B4-BE49-F238E27FC236}">
                <a16:creationId xmlns:a16="http://schemas.microsoft.com/office/drawing/2014/main" id="{E2FE4F7D-61ED-3AA6-3D5D-5AD6186C2A45}"/>
              </a:ext>
            </a:extLst>
          </p:cNvPr>
          <p:cNvSpPr>
            <a:spLocks noGrp="1"/>
          </p:cNvSpPr>
          <p:nvPr>
            <p:ph idx="1"/>
          </p:nvPr>
        </p:nvSpPr>
        <p:spPr/>
        <p:txBody>
          <a:bodyPr/>
          <a:lstStyle/>
          <a:p>
            <a:r>
              <a:rPr lang="en-NL" dirty="0"/>
              <a:t>T</a:t>
            </a:r>
            <a:r>
              <a:rPr lang="en-GB" dirty="0"/>
              <a:t>raining sniffer dogs to detect aliens</a:t>
            </a:r>
          </a:p>
          <a:p>
            <a:r>
              <a:rPr lang="en-GB" dirty="0"/>
              <a:t>After rigorous training, eight dogs sniffed each of four entities for 1 minute: </a:t>
            </a:r>
          </a:p>
          <a:p>
            <a:pPr lvl="1"/>
            <a:r>
              <a:rPr lang="en-GB" dirty="0"/>
              <a:t>Alien space lizard in its natural form</a:t>
            </a:r>
          </a:p>
          <a:p>
            <a:pPr lvl="1"/>
            <a:r>
              <a:rPr lang="en-GB" dirty="0"/>
              <a:t>Alien space lizard who had shapeshifted into humanoid form</a:t>
            </a:r>
          </a:p>
          <a:p>
            <a:pPr lvl="1"/>
            <a:r>
              <a:rPr lang="en-GB" dirty="0"/>
              <a:t>Human</a:t>
            </a:r>
          </a:p>
          <a:p>
            <a:pPr lvl="1"/>
            <a:r>
              <a:rPr lang="en-GB" dirty="0"/>
              <a:t>Human mannequin 	</a:t>
            </a:r>
          </a:p>
          <a:p>
            <a:pPr lvl="1"/>
            <a:endParaRPr lang="en-GB" dirty="0"/>
          </a:p>
          <a:p>
            <a:r>
              <a:rPr lang="en-GB" dirty="0"/>
              <a:t>DV: Number of vocalizations made during each 1-minute sniffing session</a:t>
            </a:r>
          </a:p>
          <a:p>
            <a:endParaRPr lang="en-NL" dirty="0"/>
          </a:p>
        </p:txBody>
      </p:sp>
    </p:spTree>
    <p:extLst>
      <p:ext uri="{BB962C8B-B14F-4D97-AF65-F5344CB8AC3E}">
        <p14:creationId xmlns:p14="http://schemas.microsoft.com/office/powerpoint/2010/main" val="2622104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CA0501F-2343-387F-0A95-1A1D2DAD249D}"/>
              </a:ext>
            </a:extLst>
          </p:cNvPr>
          <p:cNvSpPr>
            <a:spLocks noGrp="1"/>
          </p:cNvSpPr>
          <p:nvPr>
            <p:ph type="title"/>
          </p:nvPr>
        </p:nvSpPr>
        <p:spPr/>
        <p:txBody>
          <a:bodyPr/>
          <a:lstStyle/>
          <a:p>
            <a:r>
              <a:rPr lang="en-GB" dirty="0"/>
              <a:t>Data for Sniffer Dog Example</a:t>
            </a:r>
            <a:endParaRPr lang="en-US" dirty="0"/>
          </a:p>
        </p:txBody>
      </p:sp>
      <p:sp>
        <p:nvSpPr>
          <p:cNvPr id="3" name="Content Placeholder 2">
            <a:extLst>
              <a:ext uri="{FF2B5EF4-FFF2-40B4-BE49-F238E27FC236}">
                <a16:creationId xmlns:a16="http://schemas.microsoft.com/office/drawing/2014/main" id="{5E45784A-9260-42FA-AA74-1FDA99042DD1}"/>
              </a:ext>
            </a:extLst>
          </p:cNvPr>
          <p:cNvSpPr>
            <a:spLocks noGrp="1"/>
          </p:cNvSpPr>
          <p:nvPr>
            <p:ph idx="1"/>
          </p:nvPr>
        </p:nvSpPr>
        <p:spPr>
          <a:xfrm>
            <a:off x="2151688" y="1714915"/>
            <a:ext cx="7886700" cy="790193"/>
          </a:xfrm>
        </p:spPr>
        <p:txBody>
          <a:bodyPr/>
          <a:lstStyle/>
          <a:p>
            <a:pPr algn="ctr"/>
            <a:r>
              <a:rPr lang="en-US" dirty="0"/>
              <a:t>Table 14.1 Data for the sniffer-dog example</a:t>
            </a:r>
          </a:p>
        </p:txBody>
      </p:sp>
      <p:graphicFrame>
        <p:nvGraphicFramePr>
          <p:cNvPr id="2" name="Table 1">
            <a:extLst>
              <a:ext uri="{FF2B5EF4-FFF2-40B4-BE49-F238E27FC236}">
                <a16:creationId xmlns:a16="http://schemas.microsoft.com/office/drawing/2014/main" id="{9905EA6E-6B65-4CBC-AD80-E48AFB48E07E}"/>
              </a:ext>
            </a:extLst>
          </p:cNvPr>
          <p:cNvGraphicFramePr>
            <a:graphicFrameLocks noGrp="1"/>
          </p:cNvGraphicFramePr>
          <p:nvPr/>
        </p:nvGraphicFramePr>
        <p:xfrm>
          <a:off x="2107138" y="2348880"/>
          <a:ext cx="8381349" cy="4337086"/>
        </p:xfrm>
        <a:graphic>
          <a:graphicData uri="http://schemas.openxmlformats.org/drawingml/2006/table">
            <a:tbl>
              <a:tblPr firstRow="1">
                <a:tableStyleId>{21E4AEA4-8DFA-4A89-87EB-49C32662AFE0}</a:tableStyleId>
              </a:tblPr>
              <a:tblGrid>
                <a:gridCol w="1463532">
                  <a:extLst>
                    <a:ext uri="{9D8B030D-6E8A-4147-A177-3AD203B41FA5}">
                      <a16:colId xmlns:a16="http://schemas.microsoft.com/office/drawing/2014/main" val="44440667"/>
                    </a:ext>
                  </a:extLst>
                </a:gridCol>
                <a:gridCol w="1025242">
                  <a:extLst>
                    <a:ext uri="{9D8B030D-6E8A-4147-A177-3AD203B41FA5}">
                      <a16:colId xmlns:a16="http://schemas.microsoft.com/office/drawing/2014/main" val="1104228366"/>
                    </a:ext>
                  </a:extLst>
                </a:gridCol>
                <a:gridCol w="1138018">
                  <a:extLst>
                    <a:ext uri="{9D8B030D-6E8A-4147-A177-3AD203B41FA5}">
                      <a16:colId xmlns:a16="http://schemas.microsoft.com/office/drawing/2014/main" val="4202360798"/>
                    </a:ext>
                  </a:extLst>
                </a:gridCol>
                <a:gridCol w="1146931">
                  <a:extLst>
                    <a:ext uri="{9D8B030D-6E8A-4147-A177-3AD203B41FA5}">
                      <a16:colId xmlns:a16="http://schemas.microsoft.com/office/drawing/2014/main" val="620318277"/>
                    </a:ext>
                  </a:extLst>
                </a:gridCol>
                <a:gridCol w="1308688">
                  <a:extLst>
                    <a:ext uri="{9D8B030D-6E8A-4147-A177-3AD203B41FA5}">
                      <a16:colId xmlns:a16="http://schemas.microsoft.com/office/drawing/2014/main" val="2177519629"/>
                    </a:ext>
                  </a:extLst>
                </a:gridCol>
                <a:gridCol w="1101599">
                  <a:extLst>
                    <a:ext uri="{9D8B030D-6E8A-4147-A177-3AD203B41FA5}">
                      <a16:colId xmlns:a16="http://schemas.microsoft.com/office/drawing/2014/main" val="647679973"/>
                    </a:ext>
                  </a:extLst>
                </a:gridCol>
                <a:gridCol w="1197339">
                  <a:extLst>
                    <a:ext uri="{9D8B030D-6E8A-4147-A177-3AD203B41FA5}">
                      <a16:colId xmlns:a16="http://schemas.microsoft.com/office/drawing/2014/main" val="3697281344"/>
                    </a:ext>
                  </a:extLst>
                </a:gridCol>
              </a:tblGrid>
              <a:tr h="532854">
                <a:tc>
                  <a:txBody>
                    <a:bodyPr/>
                    <a:lstStyle/>
                    <a:p>
                      <a:pPr marL="0" marR="0">
                        <a:spcBef>
                          <a:spcPts val="0"/>
                        </a:spcBef>
                        <a:spcAft>
                          <a:spcPts val="0"/>
                        </a:spcAft>
                      </a:pPr>
                      <a:r>
                        <a:rPr lang="en-US" sz="1600">
                          <a:effectLst/>
                        </a:rPr>
                        <a:t>Dog</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Alien</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Human</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Mannequin</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dirty="0">
                          <a:effectLst/>
                        </a:rPr>
                        <a:t>Shapeshifter</a:t>
                      </a:r>
                      <a:endParaRPr lang="en-US" sz="1600" dirty="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Mean</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dirty="0">
                          <a:effectLst/>
                        </a:rPr>
                        <a:t>s</a:t>
                      </a:r>
                      <a:r>
                        <a:rPr lang="en-US" sz="1600" baseline="30000" dirty="0">
                          <a:effectLst/>
                        </a:rPr>
                        <a:t>2</a:t>
                      </a:r>
                      <a:endParaRPr lang="en-US" sz="1600" dirty="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30446945"/>
                  </a:ext>
                </a:extLst>
              </a:tr>
              <a:tr h="288777">
                <a:tc>
                  <a:txBody>
                    <a:bodyPr/>
                    <a:lstStyle/>
                    <a:p>
                      <a:pPr marL="0" marR="0">
                        <a:spcBef>
                          <a:spcPts val="0"/>
                        </a:spcBef>
                        <a:spcAft>
                          <a:spcPts val="0"/>
                        </a:spcAft>
                      </a:pPr>
                      <a:r>
                        <a:rPr lang="en-US" sz="1600">
                          <a:effectLst/>
                        </a:rPr>
                        <a:t>Milton</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8</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7</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1</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6</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5.50</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9.67</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14818967"/>
                  </a:ext>
                </a:extLst>
              </a:tr>
              <a:tr h="266427">
                <a:tc>
                  <a:txBody>
                    <a:bodyPr/>
                    <a:lstStyle/>
                    <a:p>
                      <a:pPr marL="0" marR="0">
                        <a:spcBef>
                          <a:spcPts val="0"/>
                        </a:spcBef>
                        <a:spcAft>
                          <a:spcPts val="0"/>
                        </a:spcAft>
                      </a:pPr>
                      <a:r>
                        <a:rPr lang="en-US" sz="1600">
                          <a:effectLst/>
                        </a:rPr>
                        <a:t>Woofy</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9</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2</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5.25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8.25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9330179"/>
                  </a:ext>
                </a:extLst>
              </a:tr>
              <a:tr h="266427">
                <a:tc>
                  <a:txBody>
                    <a:bodyPr/>
                    <a:lstStyle/>
                    <a:p>
                      <a:pPr marL="0" marR="0">
                        <a:spcBef>
                          <a:spcPts val="0"/>
                        </a:spcBef>
                        <a:spcAft>
                          <a:spcPts val="0"/>
                        </a:spcAft>
                      </a:pPr>
                      <a:r>
                        <a:rPr lang="en-US" sz="1600" dirty="0">
                          <a:effectLst/>
                        </a:rPr>
                        <a:t>Ramsey</a:t>
                      </a:r>
                      <a:endParaRPr lang="en-US" sz="1600" dirty="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6</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2</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3</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8</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4.75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7.58</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77791770"/>
                  </a:ext>
                </a:extLst>
              </a:tr>
              <a:tr h="532854">
                <a:tc>
                  <a:txBody>
                    <a:bodyPr/>
                    <a:lstStyle/>
                    <a:p>
                      <a:pPr marL="0" marR="0">
                        <a:spcBef>
                          <a:spcPts val="0"/>
                        </a:spcBef>
                        <a:spcAft>
                          <a:spcPts val="0"/>
                        </a:spcAft>
                      </a:pPr>
                      <a:r>
                        <a:rPr lang="en-US" sz="1600">
                          <a:effectLst/>
                        </a:rPr>
                        <a:t>Mr. Snifficus III</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3</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1</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9</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4.50</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11.67</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23677447"/>
                  </a:ext>
                </a:extLst>
              </a:tr>
              <a:tr h="318332">
                <a:tc>
                  <a:txBody>
                    <a:bodyPr/>
                    <a:lstStyle/>
                    <a:p>
                      <a:pPr marL="0" marR="0">
                        <a:spcBef>
                          <a:spcPts val="0"/>
                        </a:spcBef>
                        <a:spcAft>
                          <a:spcPts val="0"/>
                        </a:spcAft>
                      </a:pPr>
                      <a:r>
                        <a:rPr lang="en-US" sz="1600">
                          <a:effectLst/>
                        </a:rPr>
                        <a:t>Willock</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8</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4</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8</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6.25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4.25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3989053"/>
                  </a:ext>
                </a:extLst>
              </a:tr>
              <a:tr h="799280">
                <a:tc>
                  <a:txBody>
                    <a:bodyPr/>
                    <a:lstStyle/>
                    <a:p>
                      <a:pPr marL="0" marR="0">
                        <a:spcBef>
                          <a:spcPts val="0"/>
                        </a:spcBef>
                        <a:spcAft>
                          <a:spcPts val="0"/>
                        </a:spcAft>
                      </a:pPr>
                      <a:r>
                        <a:rPr lang="en-US" sz="1600">
                          <a:effectLst/>
                        </a:rPr>
                        <a:t>The Venerable Dr. Waggy</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7</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6</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7</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6.25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0.92</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36101463"/>
                  </a:ext>
                </a:extLst>
              </a:tr>
              <a:tr h="532854">
                <a:tc>
                  <a:txBody>
                    <a:bodyPr/>
                    <a:lstStyle/>
                    <a:p>
                      <a:pPr marL="0" marR="0">
                        <a:spcBef>
                          <a:spcPts val="0"/>
                        </a:spcBef>
                        <a:spcAft>
                          <a:spcPts val="0"/>
                        </a:spcAft>
                      </a:pPr>
                      <a:r>
                        <a:rPr lang="en-US" sz="1600">
                          <a:effectLst/>
                        </a:rPr>
                        <a:t>Lord Scenticle</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10</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2</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dirty="0">
                          <a:effectLst/>
                        </a:rPr>
                        <a:t>7</a:t>
                      </a:r>
                      <a:endParaRPr lang="en-US" sz="1600" dirty="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2</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5.25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15.58</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77858741"/>
                  </a:ext>
                </a:extLst>
              </a:tr>
              <a:tr h="532854">
                <a:tc>
                  <a:txBody>
                    <a:bodyPr/>
                    <a:lstStyle/>
                    <a:p>
                      <a:pPr marL="0" marR="0">
                        <a:spcBef>
                          <a:spcPts val="0"/>
                        </a:spcBef>
                        <a:spcAft>
                          <a:spcPts val="0"/>
                        </a:spcAft>
                      </a:pPr>
                      <a:r>
                        <a:rPr lang="en-US" sz="1600">
                          <a:effectLst/>
                        </a:rPr>
                        <a:t>Professor Nose</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12</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6</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8</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1</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6.75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20.92</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88354411"/>
                  </a:ext>
                </a:extLst>
              </a:tr>
              <a:tr h="266427">
                <a:tc>
                  <a:txBody>
                    <a:bodyPr/>
                    <a:lstStyle/>
                    <a:p>
                      <a:pPr marL="0" marR="0">
                        <a:spcBef>
                          <a:spcPts val="0"/>
                        </a:spcBef>
                        <a:spcAft>
                          <a:spcPts val="0"/>
                        </a:spcAft>
                      </a:pPr>
                      <a:r>
                        <a:rPr lang="en-US" sz="1600" b="1" dirty="0">
                          <a:effectLst/>
                        </a:rPr>
                        <a:t>Mean</a:t>
                      </a:r>
                      <a:endParaRPr lang="en-US" sz="1600" b="1" dirty="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b="1">
                          <a:effectLst/>
                        </a:rPr>
                        <a:t>8.13</a:t>
                      </a:r>
                      <a:endParaRPr lang="en-US" sz="1600" b="1">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b="1">
                          <a:effectLst/>
                        </a:rPr>
                        <a:t>4.25</a:t>
                      </a:r>
                      <a:endParaRPr lang="en-US" sz="1600" b="1">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b="1">
                          <a:effectLst/>
                        </a:rPr>
                        <a:t>4.13</a:t>
                      </a:r>
                      <a:endParaRPr lang="en-US" sz="1600" b="1">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b="1" dirty="0">
                          <a:effectLst/>
                        </a:rPr>
                        <a:t>5.75</a:t>
                      </a:r>
                      <a:endParaRPr lang="en-US" sz="1600" b="1" dirty="0">
                        <a:effectLst/>
                        <a:latin typeface="Haas Grot Disp"/>
                        <a:ea typeface="Calibri" panose="020F0502020204030204" pitchFamily="34" charset="0"/>
                        <a:cs typeface="Times New Roman" panose="02020603050405020304" pitchFamily="18" charset="0"/>
                      </a:endParaRPr>
                    </a:p>
                  </a:txBody>
                  <a:tcPr marL="68580" marR="68580" marT="0" marB="0" anchor="ctr"/>
                </a:tc>
                <a:tc gridSpan="2">
                  <a:txBody>
                    <a:bodyPr/>
                    <a:lstStyle/>
                    <a:p>
                      <a:pPr marL="0" marR="0" algn="ctr">
                        <a:spcBef>
                          <a:spcPts val="0"/>
                        </a:spcBef>
                        <a:spcAft>
                          <a:spcPts val="0"/>
                        </a:spcAft>
                      </a:pPr>
                      <a:r>
                        <a:rPr lang="en-US" sz="1600" dirty="0">
                          <a:effectLst/>
                        </a:rPr>
                        <a:t> </a:t>
                      </a:r>
                      <a:endParaRPr lang="en-US" sz="1600" dirty="0">
                        <a:effectLst/>
                        <a:latin typeface="Haas Grot Disp"/>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4140989417"/>
                  </a:ext>
                </a:extLst>
              </a:tr>
            </a:tbl>
          </a:graphicData>
        </a:graphic>
      </p:graphicFrame>
    </p:spTree>
    <p:extLst>
      <p:ext uri="{BB962C8B-B14F-4D97-AF65-F5344CB8AC3E}">
        <p14:creationId xmlns:p14="http://schemas.microsoft.com/office/powerpoint/2010/main" val="41974338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179DAF6-5C14-34B4-68DA-0ECA178AE8EF}"/>
              </a:ext>
            </a:extLst>
          </p:cNvPr>
          <p:cNvSpPr>
            <a:spLocks noGrp="1"/>
          </p:cNvSpPr>
          <p:nvPr>
            <p:ph type="title"/>
          </p:nvPr>
        </p:nvSpPr>
        <p:spPr/>
        <p:txBody>
          <a:bodyPr/>
          <a:lstStyle/>
          <a:p>
            <a:r>
              <a:rPr lang="en-GB" dirty="0"/>
              <a:t>The Assumption of Sphericity</a:t>
            </a:r>
            <a:endParaRPr lang="en-US" dirty="0"/>
          </a:p>
        </p:txBody>
      </p:sp>
      <p:sp>
        <p:nvSpPr>
          <p:cNvPr id="7" name="Content Placeholder 6">
            <a:extLst>
              <a:ext uri="{FF2B5EF4-FFF2-40B4-BE49-F238E27FC236}">
                <a16:creationId xmlns:a16="http://schemas.microsoft.com/office/drawing/2014/main" id="{74A49439-E682-1563-8F9F-34F6C69041E4}"/>
              </a:ext>
            </a:extLst>
          </p:cNvPr>
          <p:cNvSpPr>
            <a:spLocks noGrp="1"/>
          </p:cNvSpPr>
          <p:nvPr>
            <p:ph idx="1"/>
          </p:nvPr>
        </p:nvSpPr>
        <p:spPr/>
        <p:txBody>
          <a:bodyPr/>
          <a:lstStyle/>
          <a:p>
            <a:r>
              <a:rPr lang="en-US" dirty="0"/>
              <a:t>Assumes that the variances of </a:t>
            </a:r>
            <a:r>
              <a:rPr lang="en-US" i="1" dirty="0"/>
              <a:t>differences</a:t>
            </a:r>
            <a:r>
              <a:rPr lang="en-US" dirty="0"/>
              <a:t> between conditions are equal</a:t>
            </a:r>
          </a:p>
          <a:p>
            <a:r>
              <a:rPr lang="en-US" dirty="0"/>
              <a:t>Estimated and adjusted </a:t>
            </a:r>
            <a:r>
              <a:rPr lang="en-US" i="1" dirty="0" err="1"/>
              <a:t>df</a:t>
            </a:r>
            <a:r>
              <a:rPr lang="en-US" dirty="0"/>
              <a:t> using:</a:t>
            </a:r>
          </a:p>
          <a:p>
            <a:pPr lvl="1"/>
            <a:r>
              <a:rPr lang="en-US" dirty="0"/>
              <a:t>Greenhouse-Geisser estimate</a:t>
            </a:r>
          </a:p>
          <a:p>
            <a:pPr lvl="1"/>
            <a:r>
              <a:rPr lang="en-US" dirty="0"/>
              <a:t>Huynh-Feldt estimate</a:t>
            </a:r>
          </a:p>
          <a:p>
            <a:r>
              <a:rPr lang="en-US" dirty="0"/>
              <a:t>Tested using Mauchly’s test (not recommended)</a:t>
            </a:r>
          </a:p>
          <a:p>
            <a:pPr lvl="1"/>
            <a:r>
              <a:rPr lang="en-US" i="1" dirty="0"/>
              <a:t>P</a:t>
            </a:r>
            <a:r>
              <a:rPr lang="en-US" dirty="0"/>
              <a:t> &lt; .05, sphericity is violated</a:t>
            </a:r>
          </a:p>
          <a:p>
            <a:pPr lvl="1"/>
            <a:r>
              <a:rPr lang="en-US" i="1" dirty="0"/>
              <a:t>P</a:t>
            </a:r>
            <a:r>
              <a:rPr lang="en-US" dirty="0"/>
              <a:t> &gt; .05, sphericity is met</a:t>
            </a:r>
          </a:p>
          <a:p>
            <a:r>
              <a:rPr lang="en-US" dirty="0"/>
              <a:t>Rule of thumb: G-G is conservative and H-F liberal</a:t>
            </a:r>
          </a:p>
          <a:p>
            <a:endParaRPr lang="en-US" dirty="0"/>
          </a:p>
        </p:txBody>
      </p:sp>
      <p:sp>
        <p:nvSpPr>
          <p:cNvPr id="8" name="Slide Number Placeholder 7">
            <a:extLst>
              <a:ext uri="{FF2B5EF4-FFF2-40B4-BE49-F238E27FC236}">
                <a16:creationId xmlns:a16="http://schemas.microsoft.com/office/drawing/2014/main" id="{FE11A31A-CF86-714F-D707-8F0246046E41}"/>
              </a:ext>
            </a:extLst>
          </p:cNvPr>
          <p:cNvSpPr>
            <a:spLocks noGrp="1"/>
          </p:cNvSpPr>
          <p:nvPr>
            <p:ph type="sldNum" idx="10"/>
          </p:nvPr>
        </p:nvSpPr>
        <p:spPr>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7D32183-D999-279A-6E77-19D01B96517A}"/>
              </a:ext>
            </a:extLst>
          </p:cNvPr>
          <p:cNvSpPr>
            <a:spLocks noGrp="1"/>
          </p:cNvSpPr>
          <p:nvPr>
            <p:ph type="title"/>
          </p:nvPr>
        </p:nvSpPr>
        <p:spPr/>
        <p:txBody>
          <a:bodyPr/>
          <a:lstStyle/>
          <a:p>
            <a:r>
              <a:rPr lang="en-GB" dirty="0"/>
              <a:t>Defining the Repeated Factors</a:t>
            </a:r>
            <a:endParaRPr lang="en-US" dirty="0"/>
          </a:p>
        </p:txBody>
      </p:sp>
      <p:sp>
        <p:nvSpPr>
          <p:cNvPr id="3" name="Content Placeholder 2">
            <a:extLst>
              <a:ext uri="{FF2B5EF4-FFF2-40B4-BE49-F238E27FC236}">
                <a16:creationId xmlns:a16="http://schemas.microsoft.com/office/drawing/2014/main" id="{3FE6B5E0-E7A5-470D-8D69-0F43DCF56839}"/>
              </a:ext>
            </a:extLst>
          </p:cNvPr>
          <p:cNvSpPr>
            <a:spLocks noGrp="1"/>
          </p:cNvSpPr>
          <p:nvPr>
            <p:ph idx="1"/>
          </p:nvPr>
        </p:nvSpPr>
        <p:spPr>
          <a:xfrm>
            <a:off x="2152650" y="2020389"/>
            <a:ext cx="7886700" cy="831869"/>
          </a:xfrm>
        </p:spPr>
        <p:txBody>
          <a:bodyPr/>
          <a:lstStyle/>
          <a:p>
            <a:pPr algn="ctr"/>
            <a:r>
              <a:rPr lang="en-US" dirty="0"/>
              <a:t>Figure 14.6 The </a:t>
            </a:r>
            <a:r>
              <a:rPr lang="en-US" i="1" dirty="0"/>
              <a:t>Repeated Measures Factors menu</a:t>
            </a:r>
            <a:r>
              <a:rPr lang="en-US" dirty="0"/>
              <a:t> for repeated-measures ANOVA</a:t>
            </a:r>
          </a:p>
        </p:txBody>
      </p:sp>
      <p:grpSp>
        <p:nvGrpSpPr>
          <p:cNvPr id="8" name="Group 7">
            <a:extLst>
              <a:ext uri="{FF2B5EF4-FFF2-40B4-BE49-F238E27FC236}">
                <a16:creationId xmlns:a16="http://schemas.microsoft.com/office/drawing/2014/main" id="{2498F743-524D-6DF5-6194-147FA4BAC781}"/>
              </a:ext>
            </a:extLst>
          </p:cNvPr>
          <p:cNvGrpSpPr/>
          <p:nvPr/>
        </p:nvGrpSpPr>
        <p:grpSpPr>
          <a:xfrm>
            <a:off x="3340306" y="3186756"/>
            <a:ext cx="5231679" cy="3259886"/>
            <a:chOff x="1816305" y="3186756"/>
            <a:chExt cx="5231679" cy="3259886"/>
          </a:xfrm>
        </p:grpSpPr>
        <p:pic>
          <p:nvPicPr>
            <p:cNvPr id="4" name="Picture 3" descr="Screenshot 1. The Repeated Measures Define Factor dialog box is shown.&#10;The user can enter the Within-Subject Factor Name and the Number of Levels in the text boxes. Here, still the default name RM Factor 1 is shown, with Level 1 and Level 2. By clicking on it, they can be replaced with different names, see screenshot on the right.&#10;&#10;Below is a box with the current repeated measures structure, with 2 cells as of now. &#10;">
              <a:extLst>
                <a:ext uri="{FF2B5EF4-FFF2-40B4-BE49-F238E27FC236}">
                  <a16:creationId xmlns:a16="http://schemas.microsoft.com/office/drawing/2014/main" id="{446044E4-B3BA-5820-5A32-7C4A1FA53E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6305" y="3186756"/>
              <a:ext cx="2475984" cy="3259886"/>
            </a:xfrm>
            <a:prstGeom prst="rect">
              <a:avLst/>
            </a:prstGeom>
          </p:spPr>
        </p:pic>
        <p:pic>
          <p:nvPicPr>
            <p:cNvPr id="7" name="Picture 6" descr="Screenshot 2. The Defined Factor names are shown. Entity is displayed in the window. In the example there are 4 variables under Dog I D, as follows.&#10;1. Alien.&#10;2. Human.&#10;3. Mannequin.&#10;4. Shapeshifter.&#10;&#10;There are now four cells defined in the repeated measures structure box on the bottom&#10;">
              <a:extLst>
                <a:ext uri="{FF2B5EF4-FFF2-40B4-BE49-F238E27FC236}">
                  <a16:creationId xmlns:a16="http://schemas.microsoft.com/office/drawing/2014/main" id="{E06A2294-0F9D-7531-641D-80F4970D0C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3186756"/>
              <a:ext cx="2475984" cy="3259886"/>
            </a:xfrm>
            <a:prstGeom prst="rect">
              <a:avLst/>
            </a:prstGeom>
          </p:spPr>
        </p:pic>
      </p:grpSp>
    </p:spTree>
    <p:extLst>
      <p:ext uri="{BB962C8B-B14F-4D97-AF65-F5344CB8AC3E}">
        <p14:creationId xmlns:p14="http://schemas.microsoft.com/office/powerpoint/2010/main" val="35346494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Factorial: Post hoc comparisons</a:t>
            </a:r>
          </a:p>
        </p:txBody>
      </p:sp>
      <p:sp>
        <p:nvSpPr>
          <p:cNvPr id="3" name="Content Placeholder 2">
            <a:extLst>
              <a:ext uri="{FF2B5EF4-FFF2-40B4-BE49-F238E27FC236}">
                <a16:creationId xmlns:a16="http://schemas.microsoft.com/office/drawing/2014/main" id="{B82849E4-E09F-44FA-B8BD-9FB4A19558DD}"/>
              </a:ext>
            </a:extLst>
          </p:cNvPr>
          <p:cNvSpPr>
            <a:spLocks noGrp="1"/>
          </p:cNvSpPr>
          <p:nvPr>
            <p:ph idx="1"/>
          </p:nvPr>
        </p:nvSpPr>
        <p:spPr>
          <a:xfrm>
            <a:off x="2152650" y="2020389"/>
            <a:ext cx="7886700" cy="813632"/>
          </a:xfrm>
        </p:spPr>
        <p:txBody>
          <a:bodyPr/>
          <a:lstStyle/>
          <a:p>
            <a:r>
              <a:rPr lang="en-US" dirty="0"/>
              <a:t>Output 14.15</a:t>
            </a:r>
          </a:p>
        </p:txBody>
      </p:sp>
      <p:pic>
        <p:nvPicPr>
          <p:cNvPr id="6" name="Picture 5">
            <a:extLst>
              <a:ext uri="{FF2B5EF4-FFF2-40B4-BE49-F238E27FC236}">
                <a16:creationId xmlns:a16="http://schemas.microsoft.com/office/drawing/2014/main" id="{6B8EC360-0262-D61A-D59C-A63FB002173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3089407"/>
            <a:ext cx="7772400" cy="207319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E1520-89B8-C93B-6115-ACE29C6FD2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CF637E-91AB-0C4B-98A0-0D0E428A041B}"/>
              </a:ext>
            </a:extLst>
          </p:cNvPr>
          <p:cNvSpPr>
            <a:spLocks noGrp="1"/>
          </p:cNvSpPr>
          <p:nvPr>
            <p:ph type="title"/>
          </p:nvPr>
        </p:nvSpPr>
        <p:spPr/>
        <p:txBody>
          <a:bodyPr/>
          <a:lstStyle/>
          <a:p>
            <a:r>
              <a:rPr lang="en-NL" dirty="0"/>
              <a:t>RM ANOVA</a:t>
            </a:r>
          </a:p>
        </p:txBody>
      </p:sp>
      <p:pic>
        <p:nvPicPr>
          <p:cNvPr id="7" name="Picture 6" descr="Cartoon person with glasses and a hand up&#10;&#10;AI-generated content may be incorrect.">
            <a:extLst>
              <a:ext uri="{FF2B5EF4-FFF2-40B4-BE49-F238E27FC236}">
                <a16:creationId xmlns:a16="http://schemas.microsoft.com/office/drawing/2014/main" id="{BA2F1842-27B6-62BA-8496-87385BF92733}"/>
              </a:ext>
            </a:extLst>
          </p:cNvPr>
          <p:cNvPicPr>
            <a:picLocks noChangeAspect="1"/>
          </p:cNvPicPr>
          <p:nvPr/>
        </p:nvPicPr>
        <p:blipFill>
          <a:blip r:embed="rId2"/>
          <a:stretch>
            <a:fillRect/>
          </a:stretch>
        </p:blipFill>
        <p:spPr>
          <a:xfrm>
            <a:off x="2309153" y="2852936"/>
            <a:ext cx="7573694" cy="1768707"/>
          </a:xfrm>
          <a:prstGeom prst="rect">
            <a:avLst/>
          </a:prstGeom>
        </p:spPr>
      </p:pic>
      <p:sp>
        <p:nvSpPr>
          <p:cNvPr id="2" name="TextBox 1">
            <a:extLst>
              <a:ext uri="{FF2B5EF4-FFF2-40B4-BE49-F238E27FC236}">
                <a16:creationId xmlns:a16="http://schemas.microsoft.com/office/drawing/2014/main" id="{8C036663-8E16-AAEC-8672-F802C0C37A43}"/>
              </a:ext>
            </a:extLst>
          </p:cNvPr>
          <p:cNvSpPr txBox="1"/>
          <p:nvPr/>
        </p:nvSpPr>
        <p:spPr bwMode="auto">
          <a:xfrm>
            <a:off x="3984030" y="5354284"/>
            <a:ext cx="4320480" cy="95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FAA26D3D-D897-4be2-8F04-BA451C77F1D7}">
              <ma14:placeholderFlag xmlns:ma14="http://schemas.microsoft.com/office/mac/drawingml/2011/main" xmlns="" val="1"/>
            </a:ext>
          </a:extLst>
        </p:spPr>
        <p:txBody>
          <a:bodyPr vert="horz" wrap="square" lIns="90000" tIns="46800" rIns="90000" bIns="46800" numCol="1" rtlCol="0" anchor="ctr" anchorCtr="0" compatLnSpc="1">
            <a:prstTxWarp prst="textNoShape">
              <a:avLst/>
            </a:prstTxWarp>
            <a:spAutoFit/>
          </a:bodyPr>
          <a:lstStyle/>
          <a:p>
            <a:pPr algn="ctr"/>
            <a:r>
              <a:rPr lang="en-NL" sz="2800" dirty="0">
                <a:solidFill>
                  <a:schemeClr val="tx2"/>
                </a:solidFill>
                <a:latin typeface="Cantarell" panose="02000603000000000000" pitchFamily="2" charset="0"/>
                <a:hlinkClick r:id="rId3"/>
              </a:rPr>
              <a:t>Alex Examples</a:t>
            </a:r>
            <a:endParaRPr lang="en-NL" sz="2800" dirty="0">
              <a:solidFill>
                <a:schemeClr val="tx2"/>
              </a:solidFill>
              <a:latin typeface="Cantarell" panose="02000603000000000000" pitchFamily="2" charset="0"/>
            </a:endParaRPr>
          </a:p>
          <a:p>
            <a:pPr algn="ctr"/>
            <a:r>
              <a:rPr lang="en-NL" sz="2800" dirty="0">
                <a:solidFill>
                  <a:schemeClr val="tx2"/>
                </a:solidFill>
                <a:latin typeface="Cantarell" panose="02000603000000000000" pitchFamily="2" charset="0"/>
                <a:hlinkClick r:id="rId3"/>
              </a:rPr>
              <a:t>Leni Examples </a:t>
            </a:r>
            <a:endParaRPr lang="en-NL" sz="2800" dirty="0">
              <a:solidFill>
                <a:schemeClr val="tx2"/>
              </a:solidFill>
              <a:latin typeface="Cantarell" panose="02000603000000000000" pitchFamily="2" charset="0"/>
            </a:endParaRPr>
          </a:p>
        </p:txBody>
      </p:sp>
    </p:spTree>
    <p:extLst>
      <p:ext uri="{BB962C8B-B14F-4D97-AF65-F5344CB8AC3E}">
        <p14:creationId xmlns:p14="http://schemas.microsoft.com/office/powerpoint/2010/main" val="7913271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AEDE5-A0C1-5AC7-2C28-11C7CC905BAB}"/>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A936B051-F2FB-4248-B010-6E6D88DD0547}"/>
              </a:ext>
            </a:extLst>
          </p:cNvPr>
          <p:cNvGrpSpPr/>
          <p:nvPr/>
        </p:nvGrpSpPr>
        <p:grpSpPr>
          <a:xfrm>
            <a:off x="4810712" y="2636912"/>
            <a:ext cx="2930938" cy="936104"/>
            <a:chOff x="3335486" y="2677568"/>
            <a:chExt cx="2930938" cy="936104"/>
          </a:xfrm>
        </p:grpSpPr>
        <p:pic>
          <p:nvPicPr>
            <p:cNvPr id="13" name="Picture 12">
              <a:extLst>
                <a:ext uri="{FF2B5EF4-FFF2-40B4-BE49-F238E27FC236}">
                  <a16:creationId xmlns:a16="http://schemas.microsoft.com/office/drawing/2014/main" id="{6B1F0C90-BB46-5E48-BF03-507C320E19F9}"/>
                </a:ext>
              </a:extLst>
            </p:cNvPr>
            <p:cNvPicPr>
              <a:picLocks noChangeAspect="1"/>
            </p:cNvPicPr>
            <p:nvPr/>
          </p:nvPicPr>
          <p:blipFill>
            <a:blip r:embed="rId2"/>
            <a:stretch>
              <a:fillRect/>
            </a:stretch>
          </p:blipFill>
          <p:spPr>
            <a:xfrm>
              <a:off x="3335486" y="2805650"/>
              <a:ext cx="588442" cy="594636"/>
            </a:xfrm>
            <a:prstGeom prst="rect">
              <a:avLst/>
            </a:prstGeom>
          </p:spPr>
        </p:pic>
        <p:sp>
          <p:nvSpPr>
            <p:cNvPr id="14" name="Text Box 1">
              <a:extLst>
                <a:ext uri="{FF2B5EF4-FFF2-40B4-BE49-F238E27FC236}">
                  <a16:creationId xmlns:a16="http://schemas.microsoft.com/office/drawing/2014/main" id="{2E228647-8439-9272-4303-C3FB0A1492B7}"/>
                </a:ext>
              </a:extLst>
            </p:cNvPr>
            <p:cNvSpPr txBox="1">
              <a:spLocks noChangeArrowheads="1"/>
            </p:cNvSpPr>
            <p:nvPr/>
          </p:nvSpPr>
          <p:spPr bwMode="auto">
            <a:xfrm>
              <a:off x="3851920" y="2677568"/>
              <a:ext cx="2414504" cy="936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5pPr>
              <a:lvl6pPr marL="25146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6pPr>
              <a:lvl7pPr marL="29718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7pPr>
              <a:lvl8pPr marL="34290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8pPr>
              <a:lvl9pPr marL="38862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9pPr>
            </a:lstStyle>
            <a:p>
              <a:pPr algn="ctr">
                <a:lnSpc>
                  <a:spcPct val="85000"/>
                </a:lnSpc>
                <a:buClrTx/>
                <a:buFontTx/>
                <a:buNone/>
              </a:pPr>
              <a:r>
                <a:rPr lang="en-US" altLang="x-none" sz="5200" b="1" dirty="0">
                  <a:solidFill>
                    <a:srgbClr val="8CC63E"/>
                  </a:solidFill>
                  <a:latin typeface="Helvetica" charset="0"/>
                  <a:ea typeface="Helvetica" charset="0"/>
                  <a:cs typeface="Helvetica" charset="0"/>
                </a:rPr>
                <a:t>JASP</a:t>
              </a:r>
            </a:p>
          </p:txBody>
        </p:sp>
        <p:sp>
          <p:nvSpPr>
            <p:cNvPr id="15" name="Rectangle 14">
              <a:extLst>
                <a:ext uri="{FF2B5EF4-FFF2-40B4-BE49-F238E27FC236}">
                  <a16:creationId xmlns:a16="http://schemas.microsoft.com/office/drawing/2014/main" id="{9976A644-61E8-F353-C5F4-14D23B1BE364}"/>
                </a:ext>
              </a:extLst>
            </p:cNvPr>
            <p:cNvSpPr/>
            <p:nvPr/>
          </p:nvSpPr>
          <p:spPr bwMode="auto">
            <a:xfrm>
              <a:off x="4067944" y="2805650"/>
              <a:ext cx="28800" cy="594636"/>
            </a:xfrm>
            <a:prstGeom prst="rect">
              <a:avLst/>
            </a:prstGeom>
            <a:solidFill>
              <a:schemeClr val="tx1">
                <a:lumMod val="50000"/>
                <a:lumOff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grpSp>
    </p:spTree>
    <p:extLst>
      <p:ext uri="{BB962C8B-B14F-4D97-AF65-F5344CB8AC3E}">
        <p14:creationId xmlns:p14="http://schemas.microsoft.com/office/powerpoint/2010/main" val="3140981168"/>
      </p:ext>
    </p:extLst>
  </p:cSld>
  <p:clrMapOvr>
    <a:masterClrMapping/>
  </p:clrMapOvr>
</p:sld>
</file>

<file path=ppt/theme/theme1.xml><?xml version="1.0" encoding="utf-8"?>
<a:theme xmlns:a="http://schemas.openxmlformats.org/drawingml/2006/main" name="1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Theme">
      <a:majorFont>
        <a:latin typeface="Times New Roman"/>
        <a:ea typeface="Microsoft YaHei"/>
        <a:cs typeface="Microsoft YaHei"/>
      </a:majorFont>
      <a:minorFont>
        <a:latin typeface="Times New Roman"/>
        <a:ea typeface="Microsoft YaHei"/>
        <a:cs typeface="Microsoft Ya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charset="0"/>
          <a:buNone/>
          <a:tabLst/>
          <a:defRPr kumimoji="0" lang="en-GB" altLang="x-none" sz="2400" b="0" i="0" u="none" strike="noStrike" cap="none" normalizeH="0" baseline="0">
            <a:ln>
              <a:noFill/>
            </a:ln>
            <a:solidFill>
              <a:schemeClr val="bg1"/>
            </a:solidFill>
            <a:effectLst/>
            <a:latin typeface="Times New Roman"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charset="0"/>
          <a:buNone/>
          <a:tabLst/>
          <a:defRPr kumimoji="0" lang="en-GB" altLang="x-none" sz="2400" b="0" i="0" u="none" strike="noStrike" cap="none" normalizeH="0" baseline="0">
            <a:ln>
              <a:noFill/>
            </a:ln>
            <a:solidFill>
              <a:schemeClr val="bg1"/>
            </a:solidFill>
            <a:effectLst/>
            <a:latin typeface="Times New Roman" charset="0"/>
          </a:defRPr>
        </a:defPPr>
      </a:lstStyle>
    </a:lnDef>
    <a:txDef>
      <a:spPr bwMode="auto">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FAA26D3D-D897-4be2-8F04-BA451C77F1D7}">
            <ma14:placeholderFlag xmlns:ma14="http://schemas.microsoft.com/office/mac/drawingml/2011/main" xmlns="" val="1"/>
          </a:ext>
        </a:extLst>
      </a:spPr>
      <a:bodyPr vert="horz" wrap="square" lIns="90000" tIns="46800" rIns="90000" bIns="46800" numCol="1" anchor="ctr" anchorCtr="0" compatLnSpc="1">
        <a:prstTxWarp prst="textNoShape">
          <a:avLst/>
        </a:prstTxWarp>
      </a:bodyPr>
      <a:lstStyle>
        <a:defPPr>
          <a:defRPr sz="2000" dirty="0" smtClean="0"/>
        </a:defPPr>
      </a:lstStyle>
    </a:tx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JASP-powerpoint-template_04" id="{727E3A4B-0EF8-754F-9823-DDAD991497D6}" vid="{FCD4010D-9B47-2243-A3CE-46C857E6186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JASP-powerpoint-template_04</Template>
  <TotalTime>731</TotalTime>
  <Words>1972</Words>
  <Application>Microsoft Macintosh PowerPoint</Application>
  <PresentationFormat>Widescreen</PresentationFormat>
  <Paragraphs>386</Paragraphs>
  <Slides>67</Slides>
  <Notes>11</Notes>
  <HiddenSlides>2</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0</vt:i4>
      </vt:variant>
      <vt:variant>
        <vt:lpstr>Slide Titles</vt:lpstr>
      </vt:variant>
      <vt:variant>
        <vt:i4>67</vt:i4>
      </vt:variant>
    </vt:vector>
  </HeadingPairs>
  <TitlesOfParts>
    <vt:vector size="80" baseType="lpstr">
      <vt:lpstr>.AppleSystemUIFont</vt:lpstr>
      <vt:lpstr>Arial</vt:lpstr>
      <vt:lpstr>Cambria Math</vt:lpstr>
      <vt:lpstr>Cantarell</vt:lpstr>
      <vt:lpstr>Chantilly</vt:lpstr>
      <vt:lpstr>Haas Grot Disp</vt:lpstr>
      <vt:lpstr>Helvetica</vt:lpstr>
      <vt:lpstr>Lucida Grande</vt:lpstr>
      <vt:lpstr>LucidaGrande</vt:lpstr>
      <vt:lpstr>Symbol</vt:lpstr>
      <vt:lpstr>Times New Roman</vt:lpstr>
      <vt:lpstr>Verdana</vt:lpstr>
      <vt:lpstr>1_Office Theme</vt:lpstr>
      <vt:lpstr>Discovering Statistics Using JASP</vt:lpstr>
      <vt:lpstr>Outline</vt:lpstr>
      <vt:lpstr>Goals of this Workshop</vt:lpstr>
      <vt:lpstr>What is JASP?</vt:lpstr>
      <vt:lpstr>PowerPoint Presentation</vt:lpstr>
      <vt:lpstr>PowerPoint Presentation</vt:lpstr>
      <vt:lpstr>Features</vt:lpstr>
      <vt:lpstr>Feature Roadmap</vt:lpstr>
      <vt:lpstr>Other Handy Resources</vt:lpstr>
      <vt:lpstr>JASP Literature</vt:lpstr>
      <vt:lpstr>Some Examples/Demos</vt:lpstr>
      <vt:lpstr>PowerPoint Presentation</vt:lpstr>
      <vt:lpstr>Data Management</vt:lpstr>
      <vt:lpstr>The Variable View</vt:lpstr>
      <vt:lpstr>Variable Types</vt:lpstr>
      <vt:lpstr>Variable Settings</vt:lpstr>
      <vt:lpstr>Computing a New Variable</vt:lpstr>
      <vt:lpstr>Filtering Data</vt:lpstr>
      <vt:lpstr>Descriptives</vt:lpstr>
      <vt:lpstr>Output Window in JASP</vt:lpstr>
      <vt:lpstr>Visualization</vt:lpstr>
      <vt:lpstr>Correlation</vt:lpstr>
      <vt:lpstr>Basic Flow of Data Analysis in JASP</vt:lpstr>
      <vt:lpstr>Regression</vt:lpstr>
      <vt:lpstr>Regression with One Predictor</vt:lpstr>
      <vt:lpstr>The Model as an Equation</vt:lpstr>
      <vt:lpstr>Regression with One Predictor</vt:lpstr>
      <vt:lpstr>Model Summary </vt:lpstr>
      <vt:lpstr>Multiple Regression</vt:lpstr>
      <vt:lpstr>A model with Several Predictors</vt:lpstr>
      <vt:lpstr>Multiple Regression</vt:lpstr>
      <vt:lpstr>Normality of Residuals: Histograms and Q-Q Plots</vt:lpstr>
      <vt:lpstr>Model Parameters</vt:lpstr>
      <vt:lpstr>Interpreting Model Parameters</vt:lpstr>
      <vt:lpstr>Regression Exercises</vt:lpstr>
      <vt:lpstr>Moderation</vt:lpstr>
      <vt:lpstr>Example</vt:lpstr>
      <vt:lpstr>Moderation</vt:lpstr>
      <vt:lpstr>Moderation Analysis in JASP</vt:lpstr>
      <vt:lpstr>Moderation Analysis in JASP</vt:lpstr>
      <vt:lpstr>Figure 10.9 Plotting the interaction effect using Flexplot, where Callous traits is binned</vt:lpstr>
      <vt:lpstr>Mediation</vt:lpstr>
      <vt:lpstr>Mediation Example</vt:lpstr>
      <vt:lpstr>Mediation Analysis in JASP</vt:lpstr>
      <vt:lpstr>Mediation Model with Two Mediators</vt:lpstr>
      <vt:lpstr>Figure 10.17 The dialogue boxes for running mediation analysis with two mediators</vt:lpstr>
      <vt:lpstr>Moderation &amp; Mediation</vt:lpstr>
      <vt:lpstr>Comparing Means</vt:lpstr>
      <vt:lpstr>ANOVA: Puppy Example</vt:lpstr>
      <vt:lpstr>ANOVA</vt:lpstr>
      <vt:lpstr>Contrasts</vt:lpstr>
      <vt:lpstr>Contrasts in JASP</vt:lpstr>
      <vt:lpstr>Post Hoc Tests</vt:lpstr>
      <vt:lpstr>Post Hoc Tests</vt:lpstr>
      <vt:lpstr>ANCOVA</vt:lpstr>
      <vt:lpstr>ANCOVA</vt:lpstr>
      <vt:lpstr>Homogeneity of Slopes</vt:lpstr>
      <vt:lpstr>Assessing Homogeneity of Slopes</vt:lpstr>
      <vt:lpstr>ANCOVA</vt:lpstr>
      <vt:lpstr>RM ANOVA</vt:lpstr>
      <vt:lpstr>RM ANOVA Example</vt:lpstr>
      <vt:lpstr>Data for Sniffer Dog Example</vt:lpstr>
      <vt:lpstr>The Assumption of Sphericity</vt:lpstr>
      <vt:lpstr>Defining the Repeated Factors</vt:lpstr>
      <vt:lpstr>Factorial: Post hoc comparisons</vt:lpstr>
      <vt:lpstr>RM ANOVA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Benefits</dc:title>
  <dc:subject/>
  <dc:creator>Johan van der Woude</dc:creator>
  <cp:keywords/>
  <dc:description/>
  <cp:lastModifiedBy>Johnny van Doorn</cp:lastModifiedBy>
  <cp:revision>26</cp:revision>
  <cp:lastPrinted>1601-01-01T00:00:00Z</cp:lastPrinted>
  <dcterms:created xsi:type="dcterms:W3CDTF">2017-04-12T07:12:05Z</dcterms:created>
  <dcterms:modified xsi:type="dcterms:W3CDTF">2026-08-24T05:40:31Z</dcterms:modified>
</cp:coreProperties>
</file>